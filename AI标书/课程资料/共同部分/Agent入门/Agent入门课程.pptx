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326" r:id="rId16"/>
    <p:sldId id="327" r:id="rId17"/>
    <p:sldId id="329" r:id="rId18"/>
    <p:sldId id="330" r:id="rId19"/>
    <p:sldId id="331" r:id="rId20"/>
    <p:sldId id="332" r:id="rId21"/>
    <p:sldId id="333" r:id="rId22"/>
    <p:sldId id="335" r:id="rId23"/>
    <p:sldId id="336" r:id="rId24"/>
    <p:sldId id="334" r:id="rId25"/>
    <p:sldId id="337" r:id="rId26"/>
    <p:sldId id="338" r:id="rId27"/>
    <p:sldId id="339" r:id="rId28"/>
    <p:sldId id="340" r:id="rId29"/>
    <p:sldId id="268" r:id="rId30"/>
    <p:sldId id="269" r:id="rId31"/>
    <p:sldId id="270" r:id="rId32"/>
    <p:sldId id="271" r:id="rId33"/>
    <p:sldId id="272" r:id="rId34"/>
    <p:sldId id="273" r:id="rId35"/>
    <p:sldId id="274" r:id="rId36"/>
    <p:sldId id="275" r:id="rId37"/>
    <p:sldId id="341" r:id="rId38"/>
    <p:sldId id="342" r:id="rId39"/>
    <p:sldId id="345" r:id="rId40"/>
    <p:sldId id="346" r:id="rId41"/>
    <p:sldId id="347" r:id="rId42"/>
    <p:sldId id="348" r:id="rId43"/>
    <p:sldId id="349" r:id="rId44"/>
    <p:sldId id="350" r:id="rId45"/>
    <p:sldId id="276" r:id="rId46"/>
    <p:sldId id="277" r:id="rId47"/>
    <p:sldId id="278" r:id="rId48"/>
    <p:sldId id="279" r:id="rId49"/>
    <p:sldId id="280" r:id="rId50"/>
    <p:sldId id="281" r:id="rId51"/>
    <p:sldId id="282" r:id="rId52"/>
    <p:sldId id="351" r:id="rId53"/>
    <p:sldId id="352" r:id="rId54"/>
    <p:sldId id="353" r:id="rId55"/>
    <p:sldId id="354" r:id="rId56"/>
    <p:sldId id="283" r:id="rId57"/>
    <p:sldId id="284" r:id="rId58"/>
    <p:sldId id="285" r:id="rId59"/>
    <p:sldId id="286" r:id="rId60"/>
    <p:sldId id="287" r:id="rId61"/>
    <p:sldId id="288" r:id="rId62"/>
    <p:sldId id="289" r:id="rId63"/>
    <p:sldId id="357" r:id="rId64"/>
    <p:sldId id="290" r:id="rId65"/>
    <p:sldId id="291" r:id="rId66"/>
    <p:sldId id="292" r:id="rId67"/>
    <p:sldId id="293" r:id="rId68"/>
    <p:sldId id="294" r:id="rId69"/>
    <p:sldId id="295" r:id="rId70"/>
    <p:sldId id="296" r:id="rId71"/>
    <p:sldId id="355" r:id="rId72"/>
    <p:sldId id="356" r:id="rId73"/>
    <p:sldId id="358" r:id="rId74"/>
    <p:sldId id="297" r:id="rId75"/>
    <p:sldId id="298" r:id="rId76"/>
    <p:sldId id="299" r:id="rId77"/>
    <p:sldId id="300" r:id="rId78"/>
    <p:sldId id="301" r:id="rId79"/>
    <p:sldId id="302" r:id="rId80"/>
    <p:sldId id="303" r:id="rId81"/>
    <p:sldId id="304" r:id="rId82"/>
    <p:sldId id="359" r:id="rId83"/>
    <p:sldId id="305" r:id="rId84"/>
    <p:sldId id="306" r:id="rId85"/>
    <p:sldId id="307" r:id="rId86"/>
    <p:sldId id="308" r:id="rId87"/>
    <p:sldId id="309" r:id="rId88"/>
    <p:sldId id="310" r:id="rId89"/>
    <p:sldId id="311" r:id="rId90"/>
    <p:sldId id="312" r:id="rId91"/>
    <p:sldId id="313" r:id="rId92"/>
    <p:sldId id="314" r:id="rId93"/>
    <p:sldId id="315" r:id="rId94"/>
    <p:sldId id="316" r:id="rId95"/>
    <p:sldId id="317" r:id="rId96"/>
    <p:sldId id="318" r:id="rId97"/>
    <p:sldId id="319" r:id="rId98"/>
    <p:sldId id="320" r:id="rId99"/>
    <p:sldId id="321" r:id="rId100"/>
    <p:sldId id="322" r:id="rId101"/>
    <p:sldId id="323" r:id="rId102"/>
    <p:sldId id="324" r:id="rId103"/>
    <p:sldId id="325" r:id="rId10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9.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3020060" y="1355090"/>
            <a:ext cx="3810000" cy="266700"/>
          </a:xfrm>
          <a:prstGeom prst="rect">
            <a:avLst/>
          </a:prstGeom>
          <a:noFill/>
          <a:ln w="0">
            <a:noFill/>
            <a:prstDash val="solid"/>
          </a:ln>
        </p:spPr>
        <p:txBody>
          <a:bodyPr/>
          <a:lstStyle/>
          <a:p>
            <a:pPr algn="l">
              <a:defRPr sz="1125" b="1">
                <a:solidFill>
                  <a:srgbClr val="286F9E"/>
                </a:solidFill>
              </a:defRPr>
            </a:pPr>
            <a:r>
              <a:rPr sz="1125" b="1">
                <a:solidFill>
                  <a:srgbClr val="0070C0"/>
                </a:solidFill>
              </a:rPr>
              <a:t>AGENT SYSTEMS</a:t>
            </a:r>
            <a:endParaRPr sz="1125" b="1">
              <a:solidFill>
                <a:srgbClr val="0070C0"/>
              </a:solidFill>
            </a:endParaRPr>
          </a:p>
        </p:txBody>
      </p:sp>
      <p:sp>
        <p:nvSpPr>
          <p:cNvPr id="3" name="矩形 2"/>
          <p:cNvSpPr>
            <a:spLocks noGrp="1"/>
          </p:cNvSpPr>
          <p:nvPr/>
        </p:nvSpPr>
        <p:spPr>
          <a:xfrm>
            <a:off x="3020060" y="2002790"/>
            <a:ext cx="8572500" cy="781050"/>
          </a:xfrm>
          <a:prstGeom prst="rect">
            <a:avLst/>
          </a:prstGeom>
          <a:noFill/>
          <a:ln w="0">
            <a:noFill/>
            <a:prstDash val="solid"/>
          </a:ln>
        </p:spPr>
        <p:txBody>
          <a:bodyPr/>
          <a:lstStyle/>
          <a:p>
            <a:pPr algn="l">
              <a:defRPr sz="4200" b="1">
                <a:solidFill>
                  <a:srgbClr val="18212B"/>
                </a:solidFill>
              </a:defRPr>
            </a:pPr>
            <a:r>
              <a:rPr sz="4200" b="1">
                <a:solidFill>
                  <a:srgbClr val="18212B"/>
                </a:solidFill>
              </a:rPr>
              <a:t>Agent 入门课程</a:t>
            </a:r>
            <a:endParaRPr sz="4200" b="1">
              <a:solidFill>
                <a:srgbClr val="18212B"/>
              </a:solidFill>
            </a:endParaRPr>
          </a:p>
        </p:txBody>
      </p:sp>
      <p:sp>
        <p:nvSpPr>
          <p:cNvPr id="4" name="矩形 3"/>
          <p:cNvSpPr>
            <a:spLocks noGrp="1"/>
          </p:cNvSpPr>
          <p:nvPr/>
        </p:nvSpPr>
        <p:spPr>
          <a:xfrm>
            <a:off x="3039110" y="2917190"/>
            <a:ext cx="8572500" cy="438150"/>
          </a:xfrm>
          <a:prstGeom prst="rect">
            <a:avLst/>
          </a:prstGeom>
          <a:noFill/>
          <a:ln w="0">
            <a:noFill/>
            <a:prstDash val="solid"/>
          </a:ln>
        </p:spPr>
        <p:txBody>
          <a:bodyPr/>
          <a:lstStyle/>
          <a:p>
            <a:pPr algn="l">
              <a:defRPr sz="2100" b="0">
                <a:solidFill>
                  <a:srgbClr val="163A5F"/>
                </a:solidFill>
              </a:defRPr>
            </a:pPr>
            <a:r>
              <a:rPr sz="2100" b="0">
                <a:solidFill>
                  <a:schemeClr val="tx2">
                    <a:lumMod val="75000"/>
                    <a:lumOff val="25000"/>
                  </a:schemeClr>
                </a:solidFill>
              </a:rPr>
              <a:t>从模型调用到可靠、可验证、可治理的决策系统</a:t>
            </a:r>
            <a:endParaRPr sz="2100" b="0">
              <a:solidFill>
                <a:schemeClr val="tx2">
                  <a:lumMod val="75000"/>
                  <a:lumOff val="25000"/>
                </a:schemeClr>
              </a:solidFill>
            </a:endParaRPr>
          </a:p>
        </p:txBody>
      </p:sp>
      <p:sp>
        <p:nvSpPr>
          <p:cNvPr id="5" name="矩形 4"/>
          <p:cNvSpPr>
            <a:spLocks noGrp="1"/>
          </p:cNvSpPr>
          <p:nvPr/>
        </p:nvSpPr>
        <p:spPr>
          <a:xfrm>
            <a:off x="3039110" y="3717290"/>
            <a:ext cx="5873750" cy="76200"/>
          </a:xfrm>
          <a:prstGeom prst="rect">
            <a:avLst/>
          </a:prstGeom>
          <a:solidFill>
            <a:srgbClr val="0070C0"/>
          </a:solidFill>
          <a:ln w="0">
            <a:noFill/>
            <a:prstDash val="solid"/>
          </a:ln>
        </p:spPr>
      </p:sp>
      <p:sp>
        <p:nvSpPr>
          <p:cNvPr id="6" name="矩形 5"/>
          <p:cNvSpPr>
            <a:spLocks noGrp="1"/>
          </p:cNvSpPr>
          <p:nvPr/>
        </p:nvSpPr>
        <p:spPr>
          <a:xfrm>
            <a:off x="3039110" y="4041140"/>
            <a:ext cx="6191250" cy="323850"/>
          </a:xfrm>
          <a:prstGeom prst="rect">
            <a:avLst/>
          </a:prstGeom>
          <a:noFill/>
          <a:ln w="0">
            <a:noFill/>
            <a:prstDash val="solid"/>
          </a:ln>
        </p:spPr>
        <p:txBody>
          <a:bodyPr/>
          <a:lstStyle/>
          <a:p>
            <a:pPr algn="l">
              <a:defRPr sz="1650" b="0">
                <a:solidFill>
                  <a:srgbClr val="566573"/>
                </a:solidFill>
              </a:defRPr>
            </a:pPr>
            <a:r>
              <a:rPr sz="1650" b="0">
                <a:solidFill>
                  <a:srgbClr val="566573"/>
                </a:solidFill>
              </a:rPr>
              <a:t>7 个 Lesson  ·  1 个 Final Project</a:t>
            </a:r>
            <a:endParaRPr sz="1650" b="0">
              <a:solidFill>
                <a:srgbClr val="56657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这门课要建立的是“系统判断力”</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02</a:t>
            </a:r>
            <a:endParaRPr sz="825" b="0">
              <a:solidFill>
                <a:srgbClr val="7D8994"/>
              </a:solidFill>
            </a:endParaRPr>
          </a:p>
        </p:txBody>
      </p:sp>
      <p:sp>
        <p:nvSpPr>
          <p:cNvPr id="9" name="矩形 8"/>
          <p:cNvSpPr>
            <a:spLocks noGrp="1"/>
          </p:cNvSpPr>
          <p:nvPr/>
        </p:nvSpPr>
        <p:spPr>
          <a:xfrm>
            <a:off x="838200" y="1962150"/>
            <a:ext cx="4857750" cy="323850"/>
          </a:xfrm>
          <a:prstGeom prst="rect">
            <a:avLst/>
          </a:prstGeom>
          <a:noFill/>
          <a:ln w="0">
            <a:noFill/>
            <a:prstDash val="solid"/>
          </a:ln>
        </p:spPr>
        <p:txBody>
          <a:bodyPr/>
          <a:lstStyle/>
          <a:p>
            <a:pPr algn="l">
              <a:defRPr sz="1650" b="1">
                <a:solidFill>
                  <a:srgbClr val="286F9E"/>
                </a:solidFill>
              </a:defRPr>
            </a:pPr>
            <a:r>
              <a:rPr lang="zh-CN" sz="1650" b="1">
                <a:solidFill>
                  <a:srgbClr val="286F9E"/>
                </a:solidFill>
              </a:rPr>
              <a:t>我们</a:t>
            </a:r>
            <a:r>
              <a:rPr sz="1650" b="1">
                <a:solidFill>
                  <a:srgbClr val="286F9E"/>
                </a:solidFill>
              </a:rPr>
              <a:t>最终能够做什么</a:t>
            </a:r>
            <a:endParaRPr sz="1650" b="1">
              <a:solidFill>
                <a:srgbClr val="286F9E"/>
              </a:solidFill>
            </a:endParaRPr>
          </a:p>
        </p:txBody>
      </p:sp>
      <p:sp>
        <p:nvSpPr>
          <p:cNvPr id="10" name="矩形 9"/>
          <p:cNvSpPr>
            <a:spLocks noGrp="1"/>
          </p:cNvSpPr>
          <p:nvPr/>
        </p:nvSpPr>
        <p:spPr>
          <a:xfrm>
            <a:off x="838200" y="2343150"/>
            <a:ext cx="4857750" cy="2762250"/>
          </a:xfrm>
          <a:prstGeom prst="rect">
            <a:avLst/>
          </a:prstGeom>
          <a:noFill/>
          <a:ln w="0">
            <a:noFill/>
            <a:prstDash val="solid"/>
          </a:ln>
        </p:spPr>
        <p:txBody>
          <a:bodyPr/>
          <a:lstStyle/>
          <a:p>
            <a:pPr algn="l">
              <a:defRPr sz="1275" b="0">
                <a:solidFill>
                  <a:srgbClr val="18212B"/>
                </a:solidFill>
              </a:defRPr>
            </a:pPr>
            <a:r>
              <a:rPr sz="1275" b="0">
                <a:solidFill>
                  <a:srgbClr val="18212B"/>
                </a:solidFill>
              </a:rPr>
              <a:t>• 把任务建模为状态—动作—观察循环</a:t>
            </a:r>
            <a:endParaRPr sz="1275" b="0">
              <a:solidFill>
                <a:srgbClr val="18212B"/>
              </a:solidFill>
            </a:endParaRPr>
          </a:p>
          <a:p>
            <a:pPr algn="l">
              <a:defRPr sz="1275" b="0">
                <a:solidFill>
                  <a:srgbClr val="18212B"/>
                </a:solidFill>
              </a:defRPr>
            </a:pPr>
            <a:r>
              <a:rPr sz="1275" b="0">
                <a:solidFill>
                  <a:srgbClr val="18212B"/>
                </a:solidFill>
              </a:rPr>
              <a:t>• 把模型建议置于 Runtime 约束之下</a:t>
            </a:r>
            <a:endParaRPr sz="1275" b="0">
              <a:solidFill>
                <a:srgbClr val="18212B"/>
              </a:solidFill>
            </a:endParaRPr>
          </a:p>
          <a:p>
            <a:pPr algn="l">
              <a:defRPr sz="1275" b="0">
                <a:solidFill>
                  <a:srgbClr val="18212B"/>
                </a:solidFill>
              </a:defRPr>
            </a:pPr>
            <a:r>
              <a:rPr sz="1275" b="0">
                <a:solidFill>
                  <a:srgbClr val="18212B"/>
                </a:solidFill>
              </a:rPr>
              <a:t>• 让结论可回到证据与 Trace</a:t>
            </a:r>
            <a:endParaRPr sz="1275" b="0">
              <a:solidFill>
                <a:srgbClr val="18212B"/>
              </a:solidFill>
            </a:endParaRPr>
          </a:p>
          <a:p>
            <a:pPr algn="l">
              <a:defRPr sz="1275" b="0">
                <a:solidFill>
                  <a:srgbClr val="18212B"/>
                </a:solidFill>
              </a:defRPr>
            </a:pPr>
            <a:r>
              <a:rPr sz="1275" b="0">
                <a:solidFill>
                  <a:srgbClr val="18212B"/>
                </a:solidFill>
              </a:rPr>
              <a:t>• 用实验判断复杂机制是否真的有价值</a:t>
            </a:r>
            <a:endParaRPr sz="1275" b="0">
              <a:solidFill>
                <a:srgbClr val="18212B"/>
              </a:solidFill>
            </a:endParaRPr>
          </a:p>
        </p:txBody>
      </p:sp>
      <p:sp>
        <p:nvSpPr>
          <p:cNvPr id="13" name="矩形 12"/>
          <p:cNvSpPr>
            <a:spLocks noGrp="1"/>
          </p:cNvSpPr>
          <p:nvPr/>
        </p:nvSpPr>
        <p:spPr>
          <a:xfrm>
            <a:off x="6553200" y="1962150"/>
            <a:ext cx="4857750" cy="323850"/>
          </a:xfrm>
          <a:prstGeom prst="rect">
            <a:avLst/>
          </a:prstGeom>
          <a:noFill/>
          <a:ln w="0">
            <a:noFill/>
            <a:prstDash val="solid"/>
          </a:ln>
        </p:spPr>
        <p:txBody>
          <a:bodyPr/>
          <a:lstStyle/>
          <a:p>
            <a:pPr algn="l">
              <a:defRPr sz="1650" b="1">
                <a:solidFill>
                  <a:srgbClr val="2C7A7B"/>
                </a:solidFill>
              </a:defRPr>
            </a:pPr>
            <a:r>
              <a:rPr lang="zh-CN" sz="1650" b="1">
                <a:solidFill>
                  <a:srgbClr val="2C7A7B"/>
                </a:solidFill>
              </a:rPr>
              <a:t>我们</a:t>
            </a:r>
            <a:r>
              <a:rPr sz="1650" b="1">
                <a:solidFill>
                  <a:srgbClr val="2C7A7B"/>
                </a:solidFill>
              </a:rPr>
              <a:t>最终能够判断什么</a:t>
            </a:r>
            <a:endParaRPr sz="1650" b="1">
              <a:solidFill>
                <a:srgbClr val="2C7A7B"/>
              </a:solidFill>
            </a:endParaRPr>
          </a:p>
        </p:txBody>
      </p:sp>
      <p:sp>
        <p:nvSpPr>
          <p:cNvPr id="14" name="矩形 13"/>
          <p:cNvSpPr>
            <a:spLocks noGrp="1"/>
          </p:cNvSpPr>
          <p:nvPr/>
        </p:nvSpPr>
        <p:spPr>
          <a:xfrm>
            <a:off x="6553200" y="2343150"/>
            <a:ext cx="4857750" cy="2762250"/>
          </a:xfrm>
          <a:prstGeom prst="rect">
            <a:avLst/>
          </a:prstGeom>
          <a:noFill/>
          <a:ln w="0">
            <a:noFill/>
            <a:prstDash val="solid"/>
          </a:ln>
        </p:spPr>
        <p:txBody>
          <a:bodyPr/>
          <a:lstStyle/>
          <a:p>
            <a:pPr algn="l">
              <a:defRPr sz="1275" b="0">
                <a:solidFill>
                  <a:srgbClr val="18212B"/>
                </a:solidFill>
              </a:defRPr>
            </a:pPr>
            <a:r>
              <a:rPr sz="1275" b="0">
                <a:solidFill>
                  <a:srgbClr val="18212B"/>
                </a:solidFill>
              </a:rPr>
              <a:t>• 何时固定 Workflow 比 Agent 更合适</a:t>
            </a:r>
            <a:endParaRPr sz="1275" b="0">
              <a:solidFill>
                <a:srgbClr val="18212B"/>
              </a:solidFill>
            </a:endParaRPr>
          </a:p>
          <a:p>
            <a:pPr algn="l">
              <a:defRPr sz="1275" b="0">
                <a:solidFill>
                  <a:srgbClr val="18212B"/>
                </a:solidFill>
              </a:defRPr>
            </a:pPr>
            <a:r>
              <a:rPr sz="1275" b="0">
                <a:solidFill>
                  <a:srgbClr val="18212B"/>
                </a:solidFill>
              </a:rPr>
              <a:t>• 何时工具失败可以重试、何时重试更危险</a:t>
            </a:r>
            <a:endParaRPr sz="1275" b="0">
              <a:solidFill>
                <a:srgbClr val="18212B"/>
              </a:solidFill>
            </a:endParaRPr>
          </a:p>
          <a:p>
            <a:pPr algn="l">
              <a:defRPr sz="1275" b="0">
                <a:solidFill>
                  <a:srgbClr val="18212B"/>
                </a:solidFill>
              </a:defRPr>
            </a:pPr>
            <a:r>
              <a:rPr sz="1275" b="0">
                <a:solidFill>
                  <a:srgbClr val="18212B"/>
                </a:solidFill>
              </a:rPr>
              <a:t>• 何时证据不足必须拒答或升级人工</a:t>
            </a:r>
            <a:endParaRPr sz="1275" b="0">
              <a:solidFill>
                <a:srgbClr val="18212B"/>
              </a:solidFill>
            </a:endParaRPr>
          </a:p>
          <a:p>
            <a:pPr algn="l">
              <a:defRPr sz="1275" b="0">
                <a:solidFill>
                  <a:srgbClr val="18212B"/>
                </a:solidFill>
              </a:defRPr>
            </a:pPr>
            <a:r>
              <a:rPr sz="1275" b="0">
                <a:solidFill>
                  <a:srgbClr val="18212B"/>
                </a:solidFill>
              </a:rPr>
              <a:t>• 何时“更智能”只是成本更高</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核心结论：Agent 的质量由“模型能力 × 系统约束 × 证据质量 × 评测可信度”共同决定。</a:t>
            </a:r>
            <a:endParaRPr sz="1350" b="1">
              <a:solidFill>
                <a:srgbClr val="163A5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Agent 是一个受约束的闭环控制系统</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模型只负责提出候选决策，系统负责把候选变成可执行行为</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03</a:t>
            </a:r>
            <a:endParaRPr sz="825" b="0">
              <a:solidFill>
                <a:srgbClr val="7D8994"/>
              </a:solidFill>
            </a:endParaRPr>
          </a:p>
        </p:txBody>
      </p:sp>
      <p:sp>
        <p:nvSpPr>
          <p:cNvPr id="7" name="矩形 6"/>
          <p:cNvSpPr>
            <a:spLocks noGrp="1"/>
          </p:cNvSpPr>
          <p:nvPr/>
        </p:nvSpPr>
        <p:spPr>
          <a:xfrm>
            <a:off x="2707005" y="2647950"/>
            <a:ext cx="171450" cy="152400"/>
          </a:xfrm>
          <a:prstGeom prst="rect">
            <a:avLst/>
          </a:prstGeom>
          <a:solidFill>
            <a:srgbClr val="286F9E"/>
          </a:solidFill>
          <a:ln w="0">
            <a:noFill/>
            <a:prstDash val="solid"/>
          </a:ln>
        </p:spPr>
      </p:sp>
      <p:sp>
        <p:nvSpPr>
          <p:cNvPr id="8" name="矩形 7"/>
          <p:cNvSpPr>
            <a:spLocks noGrp="1"/>
          </p:cNvSpPr>
          <p:nvPr/>
        </p:nvSpPr>
        <p:spPr>
          <a:xfrm>
            <a:off x="2840355" y="2600325"/>
            <a:ext cx="95250" cy="247650"/>
          </a:xfrm>
          <a:prstGeom prst="rect">
            <a:avLst/>
          </a:prstGeom>
          <a:solidFill>
            <a:srgbClr val="286F9E"/>
          </a:solidFill>
          <a:ln w="0">
            <a:noFill/>
            <a:prstDash val="solid"/>
          </a:ln>
        </p:spPr>
      </p:sp>
      <p:sp>
        <p:nvSpPr>
          <p:cNvPr id="9" name="圆角矩形 8"/>
          <p:cNvSpPr>
            <a:spLocks noGrp="1"/>
          </p:cNvSpPr>
          <p:nvPr/>
        </p:nvSpPr>
        <p:spPr>
          <a:xfrm>
            <a:off x="723900" y="2266950"/>
            <a:ext cx="1935480" cy="914400"/>
          </a:xfrm>
          <a:prstGeom prst="roundRect">
            <a:avLst>
              <a:gd name="adj" fmla="val 8333"/>
            </a:avLst>
          </a:prstGeom>
          <a:solidFill>
            <a:srgbClr val="EAF2F8"/>
          </a:solidFill>
          <a:ln w="9525">
            <a:solidFill>
              <a:srgbClr val="D7E0E7"/>
            </a:solidFill>
            <a:prstDash val="solid"/>
          </a:ln>
        </p:spPr>
      </p:sp>
      <p:sp>
        <p:nvSpPr>
          <p:cNvPr id="10" name="矩形 9"/>
          <p:cNvSpPr>
            <a:spLocks noGrp="1"/>
          </p:cNvSpPr>
          <p:nvPr/>
        </p:nvSpPr>
        <p:spPr>
          <a:xfrm>
            <a:off x="80010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Environment</a:t>
            </a:r>
            <a:endParaRPr sz="1350" b="1">
              <a:solidFill>
                <a:srgbClr val="163A5F"/>
              </a:solidFill>
            </a:endParaRPr>
          </a:p>
          <a:p>
            <a:pPr algn="ctr">
              <a:defRPr sz="1350" b="1">
                <a:solidFill>
                  <a:srgbClr val="163A5F"/>
                </a:solidFill>
              </a:defRPr>
            </a:pPr>
            <a:r>
              <a:rPr sz="1350" b="1">
                <a:solidFill>
                  <a:srgbClr val="163A5F"/>
                </a:solidFill>
              </a:rPr>
              <a:t>真实世界</a:t>
            </a:r>
            <a:endParaRPr sz="1350" b="1">
              <a:solidFill>
                <a:srgbClr val="163A5F"/>
              </a:solidFill>
            </a:endParaRPr>
          </a:p>
        </p:txBody>
      </p:sp>
      <p:sp>
        <p:nvSpPr>
          <p:cNvPr id="11" name="矩形 10"/>
          <p:cNvSpPr>
            <a:spLocks noGrp="1"/>
          </p:cNvSpPr>
          <p:nvPr/>
        </p:nvSpPr>
        <p:spPr>
          <a:xfrm>
            <a:off x="4909185" y="2647950"/>
            <a:ext cx="171450" cy="152400"/>
          </a:xfrm>
          <a:prstGeom prst="rect">
            <a:avLst/>
          </a:prstGeom>
          <a:solidFill>
            <a:srgbClr val="286F9E"/>
          </a:solidFill>
          <a:ln w="0">
            <a:noFill/>
            <a:prstDash val="solid"/>
          </a:ln>
        </p:spPr>
      </p:sp>
      <p:sp>
        <p:nvSpPr>
          <p:cNvPr id="12" name="矩形 11"/>
          <p:cNvSpPr>
            <a:spLocks noGrp="1"/>
          </p:cNvSpPr>
          <p:nvPr/>
        </p:nvSpPr>
        <p:spPr>
          <a:xfrm>
            <a:off x="5042535" y="2600325"/>
            <a:ext cx="95250" cy="247650"/>
          </a:xfrm>
          <a:prstGeom prst="rect">
            <a:avLst/>
          </a:prstGeom>
          <a:solidFill>
            <a:srgbClr val="286F9E"/>
          </a:solidFill>
          <a:ln w="0">
            <a:noFill/>
            <a:prstDash val="solid"/>
          </a:ln>
        </p:spPr>
      </p:sp>
      <p:sp>
        <p:nvSpPr>
          <p:cNvPr id="13" name="圆角矩形 12"/>
          <p:cNvSpPr>
            <a:spLocks noGrp="1"/>
          </p:cNvSpPr>
          <p:nvPr/>
        </p:nvSpPr>
        <p:spPr>
          <a:xfrm>
            <a:off x="2926080" y="2266950"/>
            <a:ext cx="1935480" cy="914400"/>
          </a:xfrm>
          <a:prstGeom prst="roundRect">
            <a:avLst>
              <a:gd name="adj" fmla="val 8333"/>
            </a:avLst>
          </a:prstGeom>
          <a:solidFill>
            <a:srgbClr val="EAF5F4"/>
          </a:solidFill>
          <a:ln w="9525">
            <a:solidFill>
              <a:srgbClr val="D7E0E7"/>
            </a:solidFill>
            <a:prstDash val="solid"/>
          </a:ln>
        </p:spPr>
      </p:sp>
      <p:sp>
        <p:nvSpPr>
          <p:cNvPr id="14" name="矩形 13"/>
          <p:cNvSpPr>
            <a:spLocks noGrp="1"/>
          </p:cNvSpPr>
          <p:nvPr/>
        </p:nvSpPr>
        <p:spPr>
          <a:xfrm>
            <a:off x="300228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Observation</a:t>
            </a:r>
            <a:endParaRPr sz="1350" b="1">
              <a:solidFill>
                <a:srgbClr val="163A5F"/>
              </a:solidFill>
            </a:endParaRPr>
          </a:p>
          <a:p>
            <a:pPr algn="ctr">
              <a:defRPr sz="1350" b="1">
                <a:solidFill>
                  <a:srgbClr val="163A5F"/>
                </a:solidFill>
              </a:defRPr>
            </a:pPr>
            <a:r>
              <a:rPr sz="1350" b="1">
                <a:solidFill>
                  <a:srgbClr val="163A5F"/>
                </a:solidFill>
              </a:rPr>
              <a:t>环境反馈</a:t>
            </a:r>
            <a:endParaRPr sz="1350" b="1">
              <a:solidFill>
                <a:srgbClr val="163A5F"/>
              </a:solidFill>
            </a:endParaRPr>
          </a:p>
        </p:txBody>
      </p:sp>
      <p:sp>
        <p:nvSpPr>
          <p:cNvPr id="15" name="矩形 14"/>
          <p:cNvSpPr>
            <a:spLocks noGrp="1"/>
          </p:cNvSpPr>
          <p:nvPr/>
        </p:nvSpPr>
        <p:spPr>
          <a:xfrm>
            <a:off x="7111365" y="2647950"/>
            <a:ext cx="171450" cy="152400"/>
          </a:xfrm>
          <a:prstGeom prst="rect">
            <a:avLst/>
          </a:prstGeom>
          <a:solidFill>
            <a:srgbClr val="286F9E"/>
          </a:solidFill>
          <a:ln w="0">
            <a:noFill/>
            <a:prstDash val="solid"/>
          </a:ln>
        </p:spPr>
      </p:sp>
      <p:sp>
        <p:nvSpPr>
          <p:cNvPr id="16" name="矩形 15"/>
          <p:cNvSpPr>
            <a:spLocks noGrp="1"/>
          </p:cNvSpPr>
          <p:nvPr/>
        </p:nvSpPr>
        <p:spPr>
          <a:xfrm>
            <a:off x="7244715" y="2600325"/>
            <a:ext cx="95250" cy="247650"/>
          </a:xfrm>
          <a:prstGeom prst="rect">
            <a:avLst/>
          </a:prstGeom>
          <a:solidFill>
            <a:srgbClr val="286F9E"/>
          </a:solidFill>
          <a:ln w="0">
            <a:noFill/>
            <a:prstDash val="solid"/>
          </a:ln>
        </p:spPr>
      </p:sp>
      <p:sp>
        <p:nvSpPr>
          <p:cNvPr id="17" name="圆角矩形 16"/>
          <p:cNvSpPr>
            <a:spLocks noGrp="1"/>
          </p:cNvSpPr>
          <p:nvPr/>
        </p:nvSpPr>
        <p:spPr>
          <a:xfrm>
            <a:off x="5128260" y="2266950"/>
            <a:ext cx="1935480" cy="914400"/>
          </a:xfrm>
          <a:prstGeom prst="roundRect">
            <a:avLst>
              <a:gd name="adj" fmla="val 8333"/>
            </a:avLst>
          </a:prstGeom>
          <a:solidFill>
            <a:srgbClr val="EAF2F8"/>
          </a:solidFill>
          <a:ln w="9525">
            <a:solidFill>
              <a:srgbClr val="D7E0E7"/>
            </a:solidFill>
            <a:prstDash val="solid"/>
          </a:ln>
        </p:spPr>
      </p:sp>
      <p:sp>
        <p:nvSpPr>
          <p:cNvPr id="18" name="矩形 17"/>
          <p:cNvSpPr>
            <a:spLocks noGrp="1"/>
          </p:cNvSpPr>
          <p:nvPr/>
        </p:nvSpPr>
        <p:spPr>
          <a:xfrm>
            <a:off x="520446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State</a:t>
            </a:r>
            <a:endParaRPr sz="1350" b="1">
              <a:solidFill>
                <a:srgbClr val="163A5F"/>
              </a:solidFill>
            </a:endParaRPr>
          </a:p>
          <a:p>
            <a:pPr algn="ctr">
              <a:defRPr sz="1350" b="1">
                <a:solidFill>
                  <a:srgbClr val="163A5F"/>
                </a:solidFill>
              </a:defRPr>
            </a:pPr>
            <a:r>
              <a:rPr sz="1350" b="1">
                <a:solidFill>
                  <a:srgbClr val="163A5F"/>
                </a:solidFill>
              </a:rPr>
              <a:t>可用信息</a:t>
            </a:r>
            <a:endParaRPr sz="1350" b="1">
              <a:solidFill>
                <a:srgbClr val="163A5F"/>
              </a:solidFill>
            </a:endParaRPr>
          </a:p>
        </p:txBody>
      </p:sp>
      <p:sp>
        <p:nvSpPr>
          <p:cNvPr id="19" name="矩形 18"/>
          <p:cNvSpPr>
            <a:spLocks noGrp="1"/>
          </p:cNvSpPr>
          <p:nvPr/>
        </p:nvSpPr>
        <p:spPr>
          <a:xfrm>
            <a:off x="9313545" y="2647950"/>
            <a:ext cx="171450" cy="152400"/>
          </a:xfrm>
          <a:prstGeom prst="rect">
            <a:avLst/>
          </a:prstGeom>
          <a:solidFill>
            <a:srgbClr val="286F9E"/>
          </a:solidFill>
          <a:ln w="0">
            <a:noFill/>
            <a:prstDash val="solid"/>
          </a:ln>
        </p:spPr>
      </p:sp>
      <p:sp>
        <p:nvSpPr>
          <p:cNvPr id="20" name="矩形 19"/>
          <p:cNvSpPr>
            <a:spLocks noGrp="1"/>
          </p:cNvSpPr>
          <p:nvPr/>
        </p:nvSpPr>
        <p:spPr>
          <a:xfrm>
            <a:off x="9446895" y="2600325"/>
            <a:ext cx="95250" cy="247650"/>
          </a:xfrm>
          <a:prstGeom prst="rect">
            <a:avLst/>
          </a:prstGeom>
          <a:solidFill>
            <a:srgbClr val="286F9E"/>
          </a:solidFill>
          <a:ln w="0">
            <a:noFill/>
            <a:prstDash val="solid"/>
          </a:ln>
        </p:spPr>
      </p:sp>
      <p:sp>
        <p:nvSpPr>
          <p:cNvPr id="21" name="圆角矩形 20"/>
          <p:cNvSpPr>
            <a:spLocks noGrp="1"/>
          </p:cNvSpPr>
          <p:nvPr/>
        </p:nvSpPr>
        <p:spPr>
          <a:xfrm>
            <a:off x="7330440" y="2266950"/>
            <a:ext cx="1935480" cy="914400"/>
          </a:xfrm>
          <a:prstGeom prst="roundRect">
            <a:avLst>
              <a:gd name="adj" fmla="val 8333"/>
            </a:avLst>
          </a:prstGeom>
          <a:solidFill>
            <a:srgbClr val="EAF5F4"/>
          </a:solidFill>
          <a:ln w="9525">
            <a:solidFill>
              <a:srgbClr val="D7E0E7"/>
            </a:solidFill>
            <a:prstDash val="solid"/>
          </a:ln>
        </p:spPr>
      </p:sp>
      <p:sp>
        <p:nvSpPr>
          <p:cNvPr id="22" name="矩形 21"/>
          <p:cNvSpPr>
            <a:spLocks noGrp="1"/>
          </p:cNvSpPr>
          <p:nvPr/>
        </p:nvSpPr>
        <p:spPr>
          <a:xfrm>
            <a:off x="740664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Policy</a:t>
            </a:r>
            <a:endParaRPr sz="1350" b="1">
              <a:solidFill>
                <a:srgbClr val="163A5F"/>
              </a:solidFill>
            </a:endParaRPr>
          </a:p>
          <a:p>
            <a:pPr algn="ctr">
              <a:defRPr sz="1350" b="1">
                <a:solidFill>
                  <a:srgbClr val="163A5F"/>
                </a:solidFill>
              </a:defRPr>
            </a:pPr>
            <a:r>
              <a:rPr sz="1350" b="1">
                <a:solidFill>
                  <a:srgbClr val="163A5F"/>
                </a:solidFill>
              </a:rPr>
              <a:t>候选决策</a:t>
            </a:r>
            <a:endParaRPr sz="1350" b="1">
              <a:solidFill>
                <a:srgbClr val="163A5F"/>
              </a:solidFill>
            </a:endParaRPr>
          </a:p>
        </p:txBody>
      </p:sp>
      <p:sp>
        <p:nvSpPr>
          <p:cNvPr id="23" name="圆角矩形 22"/>
          <p:cNvSpPr>
            <a:spLocks noGrp="1"/>
          </p:cNvSpPr>
          <p:nvPr/>
        </p:nvSpPr>
        <p:spPr>
          <a:xfrm>
            <a:off x="9532620" y="2266950"/>
            <a:ext cx="1935480" cy="914400"/>
          </a:xfrm>
          <a:prstGeom prst="roundRect">
            <a:avLst>
              <a:gd name="adj" fmla="val 8333"/>
            </a:avLst>
          </a:prstGeom>
          <a:solidFill>
            <a:srgbClr val="EAF2F8"/>
          </a:solidFill>
          <a:ln w="9525">
            <a:solidFill>
              <a:srgbClr val="D7E0E7"/>
            </a:solidFill>
            <a:prstDash val="solid"/>
          </a:ln>
        </p:spPr>
      </p:sp>
      <p:sp>
        <p:nvSpPr>
          <p:cNvPr id="24" name="矩形 23"/>
          <p:cNvSpPr>
            <a:spLocks noGrp="1"/>
          </p:cNvSpPr>
          <p:nvPr/>
        </p:nvSpPr>
        <p:spPr>
          <a:xfrm>
            <a:off x="960882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Action</a:t>
            </a:r>
            <a:endParaRPr sz="1350" b="1">
              <a:solidFill>
                <a:srgbClr val="163A5F"/>
              </a:solidFill>
            </a:endParaRPr>
          </a:p>
          <a:p>
            <a:pPr algn="ctr">
              <a:defRPr sz="1350" b="1">
                <a:solidFill>
                  <a:srgbClr val="163A5F"/>
                </a:solidFill>
              </a:defRPr>
            </a:pPr>
            <a:r>
              <a:rPr sz="1350" b="1">
                <a:solidFill>
                  <a:srgbClr val="163A5F"/>
                </a:solidFill>
              </a:rPr>
              <a:t>外部动作</a:t>
            </a:r>
            <a:endParaRPr sz="1350" b="1">
              <a:solidFill>
                <a:srgbClr val="163A5F"/>
              </a:solidFill>
            </a:endParaRPr>
          </a:p>
        </p:txBody>
      </p:sp>
      <p:sp>
        <p:nvSpPr>
          <p:cNvPr id="25" name="矩形 24"/>
          <p:cNvSpPr>
            <a:spLocks noGrp="1"/>
          </p:cNvSpPr>
          <p:nvPr/>
        </p:nvSpPr>
        <p:spPr>
          <a:xfrm>
            <a:off x="1085850" y="3805555"/>
            <a:ext cx="9791700" cy="28575"/>
          </a:xfrm>
          <a:prstGeom prst="rect">
            <a:avLst/>
          </a:prstGeom>
          <a:solidFill>
            <a:srgbClr val="2C7A7B"/>
          </a:solidFill>
          <a:ln w="0">
            <a:noFill/>
            <a:prstDash val="solid"/>
          </a:ln>
        </p:spPr>
      </p:sp>
      <p:sp>
        <p:nvSpPr>
          <p:cNvPr id="26" name="矩形 25"/>
          <p:cNvSpPr>
            <a:spLocks noGrp="1"/>
          </p:cNvSpPr>
          <p:nvPr/>
        </p:nvSpPr>
        <p:spPr>
          <a:xfrm>
            <a:off x="2533650" y="3471545"/>
            <a:ext cx="7143750" cy="400050"/>
          </a:xfrm>
          <a:prstGeom prst="rect">
            <a:avLst/>
          </a:prstGeom>
          <a:noFill/>
          <a:ln w="0">
            <a:noFill/>
            <a:prstDash val="solid"/>
          </a:ln>
        </p:spPr>
        <p:txBody>
          <a:bodyPr/>
          <a:lstStyle/>
          <a:p>
            <a:pPr algn="ctr">
              <a:defRPr sz="1650" b="1">
                <a:solidFill>
                  <a:srgbClr val="2C7A7B"/>
                </a:solidFill>
              </a:defRPr>
            </a:pPr>
            <a:r>
              <a:rPr sz="1650" b="1">
                <a:solidFill>
                  <a:srgbClr val="2C7A7B"/>
                </a:solidFill>
              </a:rPr>
              <a:t>Runtime：校验 · 授权 · 预算 · 执行 · 记录 · 终止</a:t>
            </a:r>
            <a:endParaRPr sz="1650" b="1">
              <a:solidFill>
                <a:srgbClr val="2C7A7B"/>
              </a:solidFill>
            </a:endParaRPr>
          </a:p>
        </p:txBody>
      </p:sp>
      <p:sp>
        <p:nvSpPr>
          <p:cNvPr id="27" name="圆角矩形 26"/>
          <p:cNvSpPr>
            <a:spLocks noGrp="1"/>
          </p:cNvSpPr>
          <p:nvPr/>
        </p:nvSpPr>
        <p:spPr>
          <a:xfrm>
            <a:off x="952500" y="4371975"/>
            <a:ext cx="76200" cy="76200"/>
          </a:xfrm>
          <a:prstGeom prst="roundRect">
            <a:avLst>
              <a:gd name="adj" fmla="val 50000"/>
            </a:avLst>
          </a:prstGeom>
          <a:solidFill>
            <a:srgbClr val="286F9E"/>
          </a:solidFill>
          <a:ln w="0">
            <a:noFill/>
            <a:prstDash val="solid"/>
          </a:ln>
        </p:spPr>
      </p:sp>
      <p:sp>
        <p:nvSpPr>
          <p:cNvPr id="28" name="矩形 27"/>
          <p:cNvSpPr>
            <a:spLocks noGrp="1"/>
          </p:cNvSpPr>
          <p:nvPr/>
        </p:nvSpPr>
        <p:spPr>
          <a:xfrm>
            <a:off x="1162050" y="4286250"/>
            <a:ext cx="10077450" cy="333375"/>
          </a:xfrm>
          <a:prstGeom prst="rect">
            <a:avLst/>
          </a:prstGeom>
          <a:noFill/>
          <a:ln w="0">
            <a:noFill/>
            <a:prstDash val="solid"/>
          </a:ln>
        </p:spPr>
        <p:txBody>
          <a:bodyPr/>
          <a:lstStyle/>
          <a:p>
            <a:pPr algn="l">
              <a:defRPr sz="1350" b="0">
                <a:solidFill>
                  <a:srgbClr val="18212B"/>
                </a:solidFill>
              </a:defRPr>
            </a:pPr>
            <a:r>
              <a:rPr sz="1350" b="0">
                <a:solidFill>
                  <a:srgbClr val="18212B"/>
                </a:solidFill>
              </a:rPr>
              <a:t>模型输出不是事实：它可能格式错误、引用不存在、声称执行了未执行的动作。</a:t>
            </a:r>
            <a:endParaRPr sz="1350" b="0">
              <a:solidFill>
                <a:srgbClr val="18212B"/>
              </a:solidFill>
            </a:endParaRPr>
          </a:p>
        </p:txBody>
      </p:sp>
      <p:sp>
        <p:nvSpPr>
          <p:cNvPr id="29" name="圆角矩形 28"/>
          <p:cNvSpPr>
            <a:spLocks noGrp="1"/>
          </p:cNvSpPr>
          <p:nvPr/>
        </p:nvSpPr>
        <p:spPr>
          <a:xfrm>
            <a:off x="952500" y="4800600"/>
            <a:ext cx="76200" cy="76200"/>
          </a:xfrm>
          <a:prstGeom prst="roundRect">
            <a:avLst>
              <a:gd name="adj" fmla="val 50000"/>
            </a:avLst>
          </a:prstGeom>
          <a:solidFill>
            <a:srgbClr val="286F9E"/>
          </a:solidFill>
          <a:ln w="0">
            <a:noFill/>
            <a:prstDash val="solid"/>
          </a:ln>
        </p:spPr>
      </p:sp>
      <p:sp>
        <p:nvSpPr>
          <p:cNvPr id="30" name="矩形 29"/>
          <p:cNvSpPr>
            <a:spLocks noGrp="1"/>
          </p:cNvSpPr>
          <p:nvPr/>
        </p:nvSpPr>
        <p:spPr>
          <a:xfrm>
            <a:off x="1162050" y="4714875"/>
            <a:ext cx="10077450" cy="333375"/>
          </a:xfrm>
          <a:prstGeom prst="rect">
            <a:avLst/>
          </a:prstGeom>
          <a:noFill/>
          <a:ln w="0">
            <a:noFill/>
            <a:prstDash val="solid"/>
          </a:ln>
        </p:spPr>
        <p:txBody>
          <a:bodyPr/>
          <a:lstStyle/>
          <a:p>
            <a:pPr algn="l">
              <a:defRPr sz="1350" b="0">
                <a:solidFill>
                  <a:srgbClr val="18212B"/>
                </a:solidFill>
              </a:defRPr>
            </a:pPr>
            <a:r>
              <a:rPr sz="1350" b="0">
                <a:solidFill>
                  <a:srgbClr val="18212B"/>
                </a:solidFill>
              </a:rPr>
              <a:t>环境反馈才是事实：工具结果、用户回复、权限拒绝和超时都属于 Observation。</a:t>
            </a:r>
            <a:endParaRPr sz="1350" b="0">
              <a:solidFill>
                <a:srgbClr val="18212B"/>
              </a:solidFill>
            </a:endParaRPr>
          </a:p>
        </p:txBody>
      </p:sp>
      <p:sp>
        <p:nvSpPr>
          <p:cNvPr id="31" name="圆角矩形 30"/>
          <p:cNvSpPr>
            <a:spLocks noGrp="1"/>
          </p:cNvSpPr>
          <p:nvPr/>
        </p:nvSpPr>
        <p:spPr>
          <a:xfrm>
            <a:off x="952500" y="5229225"/>
            <a:ext cx="76200" cy="76200"/>
          </a:xfrm>
          <a:prstGeom prst="roundRect">
            <a:avLst>
              <a:gd name="adj" fmla="val 50000"/>
            </a:avLst>
          </a:prstGeom>
          <a:solidFill>
            <a:srgbClr val="286F9E"/>
          </a:solidFill>
          <a:ln w="0">
            <a:noFill/>
            <a:prstDash val="solid"/>
          </a:ln>
        </p:spPr>
      </p:sp>
      <p:sp>
        <p:nvSpPr>
          <p:cNvPr id="32" name="矩形 31"/>
          <p:cNvSpPr>
            <a:spLocks noGrp="1"/>
          </p:cNvSpPr>
          <p:nvPr/>
        </p:nvSpPr>
        <p:spPr>
          <a:xfrm>
            <a:off x="1162050" y="5143500"/>
            <a:ext cx="10077450" cy="333375"/>
          </a:xfrm>
          <a:prstGeom prst="rect">
            <a:avLst/>
          </a:prstGeom>
          <a:noFill/>
          <a:ln w="0">
            <a:noFill/>
            <a:prstDash val="solid"/>
          </a:ln>
        </p:spPr>
        <p:txBody>
          <a:bodyPr/>
          <a:lstStyle/>
          <a:p>
            <a:pPr algn="l">
              <a:defRPr sz="1350" b="0">
                <a:solidFill>
                  <a:srgbClr val="18212B"/>
                </a:solidFill>
              </a:defRPr>
            </a:pPr>
            <a:r>
              <a:rPr sz="1350" b="0">
                <a:solidFill>
                  <a:srgbClr val="18212B"/>
                </a:solidFill>
              </a:rPr>
              <a:t>Runtime 拥有最终控制权：任何外部副作用都必须经过程序化检查。</a:t>
            </a:r>
            <a:endParaRPr sz="1350"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用控制系统视角学习 Agent，会自然得到状态、反馈、约束、稳定性与停止条件。</a:t>
            </a:r>
            <a:endParaRPr sz="1350" b="1">
              <a:solidFill>
                <a:srgbClr val="163A5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 name="矩形 39"/>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七个 Lesson 是一条逐层加固的系统链</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每一层解决上一层暴露出的新失败模式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04</a:t>
            </a:r>
            <a:endParaRPr sz="825" b="0">
              <a:solidFill>
                <a:srgbClr val="7D8994"/>
              </a:solidFill>
            </a:endParaRPr>
          </a:p>
        </p:txBody>
      </p:sp>
      <p:sp>
        <p:nvSpPr>
          <p:cNvPr id="7" name="圆角矩形 6"/>
          <p:cNvSpPr>
            <a:spLocks noGrp="1"/>
          </p:cNvSpPr>
          <p:nvPr/>
        </p:nvSpPr>
        <p:spPr>
          <a:xfrm>
            <a:off x="647700" y="2047875"/>
            <a:ext cx="1352550" cy="1714500"/>
          </a:xfrm>
          <a:prstGeom prst="roundRect">
            <a:avLst>
              <a:gd name="adj" fmla="val 5634"/>
            </a:avLst>
          </a:prstGeom>
          <a:solidFill>
            <a:srgbClr val="EAF2F8"/>
          </a:solidFill>
          <a:ln w="9525">
            <a:solidFill>
              <a:srgbClr val="D7E0E7"/>
            </a:solidFill>
            <a:prstDash val="solid"/>
          </a:ln>
        </p:spPr>
      </p:sp>
      <p:sp>
        <p:nvSpPr>
          <p:cNvPr id="8" name="矩形 7"/>
          <p:cNvSpPr>
            <a:spLocks noGrp="1"/>
          </p:cNvSpPr>
          <p:nvPr/>
        </p:nvSpPr>
        <p:spPr>
          <a:xfrm>
            <a:off x="7429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1 建模</a:t>
            </a:r>
            <a:endParaRPr sz="1500" b="1">
              <a:solidFill>
                <a:srgbClr val="286F9E"/>
              </a:solidFill>
            </a:endParaRPr>
          </a:p>
        </p:txBody>
      </p:sp>
      <p:sp>
        <p:nvSpPr>
          <p:cNvPr id="9" name="矩形 8"/>
          <p:cNvSpPr>
            <a:spLocks noGrp="1"/>
          </p:cNvSpPr>
          <p:nvPr/>
        </p:nvSpPr>
        <p:spPr>
          <a:xfrm>
            <a:off x="7620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决策边界</a:t>
            </a:r>
            <a:endParaRPr sz="1275" b="1">
              <a:solidFill>
                <a:srgbClr val="18212B"/>
              </a:solidFill>
            </a:endParaRPr>
          </a:p>
        </p:txBody>
      </p:sp>
      <p:sp>
        <p:nvSpPr>
          <p:cNvPr id="10" name="矩形 9"/>
          <p:cNvSpPr>
            <a:spLocks noGrp="1"/>
          </p:cNvSpPr>
          <p:nvPr/>
        </p:nvSpPr>
        <p:spPr>
          <a:xfrm>
            <a:off x="2000250" y="2838450"/>
            <a:ext cx="209550" cy="76200"/>
          </a:xfrm>
          <a:prstGeom prst="rect">
            <a:avLst/>
          </a:prstGeom>
          <a:solidFill>
            <a:srgbClr val="163A5F"/>
          </a:solidFill>
          <a:ln w="0">
            <a:noFill/>
            <a:prstDash val="solid"/>
          </a:ln>
        </p:spPr>
      </p:sp>
      <p:sp>
        <p:nvSpPr>
          <p:cNvPr id="11" name="圆角矩形 10"/>
          <p:cNvSpPr>
            <a:spLocks noGrp="1"/>
          </p:cNvSpPr>
          <p:nvPr/>
        </p:nvSpPr>
        <p:spPr>
          <a:xfrm>
            <a:off x="2209800" y="2047875"/>
            <a:ext cx="1352550" cy="1714500"/>
          </a:xfrm>
          <a:prstGeom prst="roundRect">
            <a:avLst>
              <a:gd name="adj" fmla="val 5634"/>
            </a:avLst>
          </a:prstGeom>
          <a:solidFill>
            <a:srgbClr val="EAF5F4"/>
          </a:solidFill>
          <a:ln w="9525">
            <a:solidFill>
              <a:srgbClr val="D7E0E7"/>
            </a:solidFill>
            <a:prstDash val="solid"/>
          </a:ln>
        </p:spPr>
      </p:sp>
      <p:sp>
        <p:nvSpPr>
          <p:cNvPr id="12" name="矩形 11"/>
          <p:cNvSpPr>
            <a:spLocks noGrp="1"/>
          </p:cNvSpPr>
          <p:nvPr/>
        </p:nvSpPr>
        <p:spPr>
          <a:xfrm>
            <a:off x="2305050" y="2305050"/>
            <a:ext cx="1162050" cy="342900"/>
          </a:xfrm>
          <a:prstGeom prst="rect">
            <a:avLst/>
          </a:prstGeom>
          <a:noFill/>
          <a:ln w="0">
            <a:noFill/>
            <a:prstDash val="solid"/>
          </a:ln>
        </p:spPr>
        <p:txBody>
          <a:bodyPr/>
          <a:lstStyle/>
          <a:p>
            <a:pPr algn="ctr">
              <a:defRPr sz="1500" b="1">
                <a:solidFill>
                  <a:srgbClr val="2C7A7B"/>
                </a:solidFill>
              </a:defRPr>
            </a:pPr>
            <a:r>
              <a:rPr sz="1500" b="1">
                <a:solidFill>
                  <a:srgbClr val="2C7A7B"/>
                </a:solidFill>
              </a:rPr>
              <a:t>2 Runtime</a:t>
            </a:r>
            <a:endParaRPr sz="1500" b="1">
              <a:solidFill>
                <a:srgbClr val="2C7A7B"/>
              </a:solidFill>
            </a:endParaRPr>
          </a:p>
        </p:txBody>
      </p:sp>
      <p:sp>
        <p:nvSpPr>
          <p:cNvPr id="13" name="矩形 12"/>
          <p:cNvSpPr>
            <a:spLocks noGrp="1"/>
          </p:cNvSpPr>
          <p:nvPr/>
        </p:nvSpPr>
        <p:spPr>
          <a:xfrm>
            <a:off x="23241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预算与终止</a:t>
            </a:r>
            <a:endParaRPr sz="1275" b="1">
              <a:solidFill>
                <a:srgbClr val="18212B"/>
              </a:solidFill>
            </a:endParaRPr>
          </a:p>
        </p:txBody>
      </p:sp>
      <p:sp>
        <p:nvSpPr>
          <p:cNvPr id="14" name="矩形 13"/>
          <p:cNvSpPr>
            <a:spLocks noGrp="1"/>
          </p:cNvSpPr>
          <p:nvPr/>
        </p:nvSpPr>
        <p:spPr>
          <a:xfrm>
            <a:off x="3562350" y="2838450"/>
            <a:ext cx="209550" cy="76200"/>
          </a:xfrm>
          <a:prstGeom prst="rect">
            <a:avLst/>
          </a:prstGeom>
          <a:solidFill>
            <a:srgbClr val="163A5F"/>
          </a:solidFill>
          <a:ln w="0">
            <a:noFill/>
            <a:prstDash val="solid"/>
          </a:ln>
        </p:spPr>
      </p:sp>
      <p:sp>
        <p:nvSpPr>
          <p:cNvPr id="15" name="圆角矩形 14"/>
          <p:cNvSpPr>
            <a:spLocks noGrp="1"/>
          </p:cNvSpPr>
          <p:nvPr/>
        </p:nvSpPr>
        <p:spPr>
          <a:xfrm>
            <a:off x="3771900" y="2047875"/>
            <a:ext cx="1352550" cy="1714500"/>
          </a:xfrm>
          <a:prstGeom prst="roundRect">
            <a:avLst>
              <a:gd name="adj" fmla="val 5634"/>
            </a:avLst>
          </a:prstGeom>
          <a:solidFill>
            <a:srgbClr val="EAF2F8"/>
          </a:solidFill>
          <a:ln w="9525">
            <a:solidFill>
              <a:srgbClr val="D7E0E7"/>
            </a:solidFill>
            <a:prstDash val="solid"/>
          </a:ln>
        </p:spPr>
      </p:sp>
      <p:sp>
        <p:nvSpPr>
          <p:cNvPr id="16" name="矩形 15"/>
          <p:cNvSpPr>
            <a:spLocks noGrp="1"/>
          </p:cNvSpPr>
          <p:nvPr/>
        </p:nvSpPr>
        <p:spPr>
          <a:xfrm>
            <a:off x="38671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3 Tool</a:t>
            </a:r>
            <a:endParaRPr sz="1500" b="1">
              <a:solidFill>
                <a:srgbClr val="286F9E"/>
              </a:solidFill>
            </a:endParaRPr>
          </a:p>
        </p:txBody>
      </p:sp>
      <p:sp>
        <p:nvSpPr>
          <p:cNvPr id="17" name="矩形 16"/>
          <p:cNvSpPr>
            <a:spLocks noGrp="1"/>
          </p:cNvSpPr>
          <p:nvPr/>
        </p:nvSpPr>
        <p:spPr>
          <a:xfrm>
            <a:off x="38862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权限与恢复</a:t>
            </a:r>
            <a:endParaRPr sz="1275" b="1">
              <a:solidFill>
                <a:srgbClr val="18212B"/>
              </a:solidFill>
            </a:endParaRPr>
          </a:p>
        </p:txBody>
      </p:sp>
      <p:sp>
        <p:nvSpPr>
          <p:cNvPr id="18" name="矩形 17"/>
          <p:cNvSpPr>
            <a:spLocks noGrp="1"/>
          </p:cNvSpPr>
          <p:nvPr/>
        </p:nvSpPr>
        <p:spPr>
          <a:xfrm>
            <a:off x="5124450" y="2838450"/>
            <a:ext cx="209550" cy="76200"/>
          </a:xfrm>
          <a:prstGeom prst="rect">
            <a:avLst/>
          </a:prstGeom>
          <a:solidFill>
            <a:srgbClr val="163A5F"/>
          </a:solidFill>
          <a:ln w="0">
            <a:noFill/>
            <a:prstDash val="solid"/>
          </a:ln>
        </p:spPr>
      </p:sp>
      <p:sp>
        <p:nvSpPr>
          <p:cNvPr id="19" name="圆角矩形 18"/>
          <p:cNvSpPr>
            <a:spLocks noGrp="1"/>
          </p:cNvSpPr>
          <p:nvPr/>
        </p:nvSpPr>
        <p:spPr>
          <a:xfrm>
            <a:off x="5334000" y="2047875"/>
            <a:ext cx="1352550" cy="1714500"/>
          </a:xfrm>
          <a:prstGeom prst="roundRect">
            <a:avLst>
              <a:gd name="adj" fmla="val 5634"/>
            </a:avLst>
          </a:prstGeom>
          <a:solidFill>
            <a:srgbClr val="EAF5F4"/>
          </a:solidFill>
          <a:ln w="9525">
            <a:solidFill>
              <a:srgbClr val="D7E0E7"/>
            </a:solidFill>
            <a:prstDash val="solid"/>
          </a:ln>
        </p:spPr>
      </p:sp>
      <p:sp>
        <p:nvSpPr>
          <p:cNvPr id="20" name="矩形 19"/>
          <p:cNvSpPr>
            <a:spLocks noGrp="1"/>
          </p:cNvSpPr>
          <p:nvPr/>
        </p:nvSpPr>
        <p:spPr>
          <a:xfrm>
            <a:off x="5429250" y="2305050"/>
            <a:ext cx="1162050" cy="342900"/>
          </a:xfrm>
          <a:prstGeom prst="rect">
            <a:avLst/>
          </a:prstGeom>
          <a:noFill/>
          <a:ln w="0">
            <a:noFill/>
            <a:prstDash val="solid"/>
          </a:ln>
        </p:spPr>
        <p:txBody>
          <a:bodyPr/>
          <a:lstStyle/>
          <a:p>
            <a:pPr algn="ctr">
              <a:defRPr sz="1500" b="1">
                <a:solidFill>
                  <a:srgbClr val="2C7A7B"/>
                </a:solidFill>
              </a:defRPr>
            </a:pPr>
            <a:r>
              <a:rPr sz="1500" b="1">
                <a:solidFill>
                  <a:srgbClr val="2C7A7B"/>
                </a:solidFill>
              </a:rPr>
              <a:t>4 Evidence</a:t>
            </a:r>
            <a:endParaRPr sz="1500" b="1">
              <a:solidFill>
                <a:srgbClr val="2C7A7B"/>
              </a:solidFill>
            </a:endParaRPr>
          </a:p>
        </p:txBody>
      </p:sp>
      <p:sp>
        <p:nvSpPr>
          <p:cNvPr id="21" name="矩形 20"/>
          <p:cNvSpPr>
            <a:spLocks noGrp="1"/>
          </p:cNvSpPr>
          <p:nvPr/>
        </p:nvSpPr>
        <p:spPr>
          <a:xfrm>
            <a:off x="54483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可核验结论</a:t>
            </a:r>
            <a:endParaRPr sz="1275" b="1">
              <a:solidFill>
                <a:srgbClr val="18212B"/>
              </a:solidFill>
            </a:endParaRPr>
          </a:p>
        </p:txBody>
      </p:sp>
      <p:sp>
        <p:nvSpPr>
          <p:cNvPr id="22" name="矩形 21"/>
          <p:cNvSpPr>
            <a:spLocks noGrp="1"/>
          </p:cNvSpPr>
          <p:nvPr/>
        </p:nvSpPr>
        <p:spPr>
          <a:xfrm>
            <a:off x="6686550" y="2838450"/>
            <a:ext cx="209550" cy="76200"/>
          </a:xfrm>
          <a:prstGeom prst="rect">
            <a:avLst/>
          </a:prstGeom>
          <a:solidFill>
            <a:srgbClr val="163A5F"/>
          </a:solidFill>
          <a:ln w="0">
            <a:noFill/>
            <a:prstDash val="solid"/>
          </a:ln>
        </p:spPr>
      </p:sp>
      <p:sp>
        <p:nvSpPr>
          <p:cNvPr id="23" name="圆角矩形 22"/>
          <p:cNvSpPr>
            <a:spLocks noGrp="1"/>
          </p:cNvSpPr>
          <p:nvPr/>
        </p:nvSpPr>
        <p:spPr>
          <a:xfrm>
            <a:off x="6896100" y="2047875"/>
            <a:ext cx="1352550" cy="1714500"/>
          </a:xfrm>
          <a:prstGeom prst="roundRect">
            <a:avLst>
              <a:gd name="adj" fmla="val 5634"/>
            </a:avLst>
          </a:prstGeom>
          <a:solidFill>
            <a:srgbClr val="EAF2F8"/>
          </a:solidFill>
          <a:ln w="9525">
            <a:solidFill>
              <a:srgbClr val="D7E0E7"/>
            </a:solidFill>
            <a:prstDash val="solid"/>
          </a:ln>
        </p:spPr>
      </p:sp>
      <p:sp>
        <p:nvSpPr>
          <p:cNvPr id="24" name="矩形 23"/>
          <p:cNvSpPr>
            <a:spLocks noGrp="1"/>
          </p:cNvSpPr>
          <p:nvPr/>
        </p:nvSpPr>
        <p:spPr>
          <a:xfrm>
            <a:off x="69913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5 Planning</a:t>
            </a:r>
            <a:endParaRPr sz="1500" b="1">
              <a:solidFill>
                <a:srgbClr val="286F9E"/>
              </a:solidFill>
            </a:endParaRPr>
          </a:p>
        </p:txBody>
      </p:sp>
      <p:sp>
        <p:nvSpPr>
          <p:cNvPr id="25" name="矩形 24"/>
          <p:cNvSpPr>
            <a:spLocks noGrp="1"/>
          </p:cNvSpPr>
          <p:nvPr/>
        </p:nvSpPr>
        <p:spPr>
          <a:xfrm>
            <a:off x="70104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依赖与重规划</a:t>
            </a:r>
            <a:endParaRPr sz="1275" b="1">
              <a:solidFill>
                <a:srgbClr val="18212B"/>
              </a:solidFill>
            </a:endParaRPr>
          </a:p>
        </p:txBody>
      </p:sp>
      <p:sp>
        <p:nvSpPr>
          <p:cNvPr id="26" name="矩形 25"/>
          <p:cNvSpPr>
            <a:spLocks noGrp="1"/>
          </p:cNvSpPr>
          <p:nvPr/>
        </p:nvSpPr>
        <p:spPr>
          <a:xfrm>
            <a:off x="8248650" y="2838450"/>
            <a:ext cx="209550" cy="76200"/>
          </a:xfrm>
          <a:prstGeom prst="rect">
            <a:avLst/>
          </a:prstGeom>
          <a:solidFill>
            <a:srgbClr val="163A5F"/>
          </a:solidFill>
          <a:ln w="0">
            <a:noFill/>
            <a:prstDash val="solid"/>
          </a:ln>
        </p:spPr>
      </p:sp>
      <p:sp>
        <p:nvSpPr>
          <p:cNvPr id="27" name="圆角矩形 26"/>
          <p:cNvSpPr>
            <a:spLocks noGrp="1"/>
          </p:cNvSpPr>
          <p:nvPr/>
        </p:nvSpPr>
        <p:spPr>
          <a:xfrm>
            <a:off x="8458200" y="2047875"/>
            <a:ext cx="1352550" cy="1714500"/>
          </a:xfrm>
          <a:prstGeom prst="roundRect">
            <a:avLst>
              <a:gd name="adj" fmla="val 5634"/>
            </a:avLst>
          </a:prstGeom>
          <a:solidFill>
            <a:srgbClr val="EAF5F4"/>
          </a:solidFill>
          <a:ln w="9525">
            <a:solidFill>
              <a:srgbClr val="D7E0E7"/>
            </a:solidFill>
            <a:prstDash val="solid"/>
          </a:ln>
        </p:spPr>
      </p:sp>
      <p:sp>
        <p:nvSpPr>
          <p:cNvPr id="28" name="矩形 27"/>
          <p:cNvSpPr>
            <a:spLocks noGrp="1"/>
          </p:cNvSpPr>
          <p:nvPr/>
        </p:nvSpPr>
        <p:spPr>
          <a:xfrm>
            <a:off x="8553450" y="2305050"/>
            <a:ext cx="1162050" cy="342900"/>
          </a:xfrm>
          <a:prstGeom prst="rect">
            <a:avLst/>
          </a:prstGeom>
          <a:noFill/>
          <a:ln w="0">
            <a:noFill/>
            <a:prstDash val="solid"/>
          </a:ln>
        </p:spPr>
        <p:txBody>
          <a:bodyPr/>
          <a:lstStyle/>
          <a:p>
            <a:pPr algn="ctr">
              <a:defRPr sz="1500" b="1">
                <a:solidFill>
                  <a:srgbClr val="2C7A7B"/>
                </a:solidFill>
              </a:defRPr>
            </a:pPr>
            <a:r>
              <a:rPr sz="1500" b="1">
                <a:solidFill>
                  <a:srgbClr val="2C7A7B"/>
                </a:solidFill>
              </a:rPr>
              <a:t>6 Evaluation</a:t>
            </a:r>
            <a:endParaRPr sz="1500" b="1">
              <a:solidFill>
                <a:srgbClr val="2C7A7B"/>
              </a:solidFill>
            </a:endParaRPr>
          </a:p>
        </p:txBody>
      </p:sp>
      <p:sp>
        <p:nvSpPr>
          <p:cNvPr id="29" name="矩形 28"/>
          <p:cNvSpPr>
            <a:spLocks noGrp="1"/>
          </p:cNvSpPr>
          <p:nvPr/>
        </p:nvSpPr>
        <p:spPr>
          <a:xfrm>
            <a:off x="85725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证明而非展示</a:t>
            </a:r>
            <a:endParaRPr sz="1275" b="1">
              <a:solidFill>
                <a:srgbClr val="18212B"/>
              </a:solidFill>
            </a:endParaRPr>
          </a:p>
        </p:txBody>
      </p:sp>
      <p:sp>
        <p:nvSpPr>
          <p:cNvPr id="30" name="矩形 29"/>
          <p:cNvSpPr>
            <a:spLocks noGrp="1"/>
          </p:cNvSpPr>
          <p:nvPr/>
        </p:nvSpPr>
        <p:spPr>
          <a:xfrm>
            <a:off x="9810750" y="2838450"/>
            <a:ext cx="209550" cy="76200"/>
          </a:xfrm>
          <a:prstGeom prst="rect">
            <a:avLst/>
          </a:prstGeom>
          <a:solidFill>
            <a:srgbClr val="163A5F"/>
          </a:solidFill>
          <a:ln w="0">
            <a:noFill/>
            <a:prstDash val="solid"/>
          </a:ln>
        </p:spPr>
      </p:sp>
      <p:sp>
        <p:nvSpPr>
          <p:cNvPr id="31" name="圆角矩形 30"/>
          <p:cNvSpPr>
            <a:spLocks noGrp="1"/>
          </p:cNvSpPr>
          <p:nvPr/>
        </p:nvSpPr>
        <p:spPr>
          <a:xfrm>
            <a:off x="10020300" y="2047875"/>
            <a:ext cx="1352550" cy="1714500"/>
          </a:xfrm>
          <a:prstGeom prst="roundRect">
            <a:avLst>
              <a:gd name="adj" fmla="val 5634"/>
            </a:avLst>
          </a:prstGeom>
          <a:solidFill>
            <a:srgbClr val="EAF2F8"/>
          </a:solidFill>
          <a:ln w="9525">
            <a:solidFill>
              <a:srgbClr val="D7E0E7"/>
            </a:solidFill>
            <a:prstDash val="solid"/>
          </a:ln>
        </p:spPr>
      </p:sp>
      <p:sp>
        <p:nvSpPr>
          <p:cNvPr id="32" name="矩形 31"/>
          <p:cNvSpPr>
            <a:spLocks noGrp="1"/>
          </p:cNvSpPr>
          <p:nvPr/>
        </p:nvSpPr>
        <p:spPr>
          <a:xfrm>
            <a:off x="101155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7 Memory</a:t>
            </a:r>
            <a:endParaRPr sz="1500" b="1">
              <a:solidFill>
                <a:srgbClr val="286F9E"/>
              </a:solidFill>
            </a:endParaRPr>
          </a:p>
        </p:txBody>
      </p:sp>
      <p:sp>
        <p:nvSpPr>
          <p:cNvPr id="33" name="矩形 32"/>
          <p:cNvSpPr>
            <a:spLocks noGrp="1"/>
          </p:cNvSpPr>
          <p:nvPr/>
        </p:nvSpPr>
        <p:spPr>
          <a:xfrm>
            <a:off x="101346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长期治理</a:t>
            </a:r>
            <a:endParaRPr sz="1275" b="1">
              <a:solidFill>
                <a:srgbClr val="18212B"/>
              </a:solidFill>
            </a:endParaRPr>
          </a:p>
        </p:txBody>
      </p:sp>
      <p:sp>
        <p:nvSpPr>
          <p:cNvPr id="34" name="圆角矩形 33"/>
          <p:cNvSpPr>
            <a:spLocks noGrp="1"/>
          </p:cNvSpPr>
          <p:nvPr/>
        </p:nvSpPr>
        <p:spPr>
          <a:xfrm>
            <a:off x="1562100" y="4324350"/>
            <a:ext cx="9067800" cy="1066800"/>
          </a:xfrm>
          <a:prstGeom prst="roundRect">
            <a:avLst>
              <a:gd name="adj" fmla="val 7143"/>
            </a:avLst>
          </a:prstGeom>
          <a:solidFill>
            <a:srgbClr val="F3F6F8"/>
          </a:solidFill>
          <a:ln w="9525">
            <a:solidFill>
              <a:srgbClr val="D7E0E7"/>
            </a:solidFill>
            <a:prstDash val="solid"/>
          </a:ln>
        </p:spPr>
      </p:sp>
      <p:sp>
        <p:nvSpPr>
          <p:cNvPr id="35" name="圆角矩形 34"/>
          <p:cNvSpPr>
            <a:spLocks noGrp="1"/>
          </p:cNvSpPr>
          <p:nvPr/>
        </p:nvSpPr>
        <p:spPr>
          <a:xfrm>
            <a:off x="1562100" y="4324350"/>
            <a:ext cx="66675" cy="1066800"/>
          </a:xfrm>
          <a:prstGeom prst="roundRect">
            <a:avLst>
              <a:gd name="adj" fmla="val 50000"/>
            </a:avLst>
          </a:prstGeom>
          <a:solidFill>
            <a:srgbClr val="163A5F"/>
          </a:solidFill>
          <a:ln w="0">
            <a:noFill/>
            <a:prstDash val="solid"/>
          </a:ln>
        </p:spPr>
      </p:sp>
      <p:sp>
        <p:nvSpPr>
          <p:cNvPr id="36" name="矩形 35"/>
          <p:cNvSpPr>
            <a:spLocks noGrp="1"/>
          </p:cNvSpPr>
          <p:nvPr/>
        </p:nvSpPr>
        <p:spPr>
          <a:xfrm>
            <a:off x="1790700" y="4495800"/>
            <a:ext cx="86677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Final Project</a:t>
            </a:r>
            <a:endParaRPr sz="1650" b="1">
              <a:solidFill>
                <a:srgbClr val="163A5F"/>
              </a:solidFill>
            </a:endParaRPr>
          </a:p>
        </p:txBody>
      </p:sp>
      <p:sp>
        <p:nvSpPr>
          <p:cNvPr id="37" name="矩形 36"/>
          <p:cNvSpPr>
            <a:spLocks noGrp="1"/>
          </p:cNvSpPr>
          <p:nvPr/>
        </p:nvSpPr>
        <p:spPr>
          <a:xfrm>
            <a:off x="1790700" y="4876800"/>
            <a:ext cx="866775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Evidence-First 标书风险审查 Agent：把七层机制组合成可运行、可评测、可解释、可升级人工的系统。</a:t>
            </a:r>
            <a:endParaRPr sz="1275" b="0">
              <a:solidFill>
                <a:srgbClr val="18212B"/>
              </a:solidFill>
            </a:endParaRPr>
          </a:p>
        </p:txBody>
      </p:sp>
      <p:sp>
        <p:nvSpPr>
          <p:cNvPr id="38" name="圆角矩形 37"/>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9" name="矩形 38"/>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课程不是横向收集名词，而是纵向建立可靠性：每加一层，都必须有可观察收益和新增成本。</a:t>
            </a:r>
            <a:endParaRPr sz="1350" b="1">
              <a:solidFill>
                <a:srgbClr val="163A5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学习方式：实现核心机制，AI 分担机械工作</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理解来自不变量、反例和实验，而不是逐字符手敲</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05</a:t>
            </a:r>
            <a:endParaRPr sz="825" b="0">
              <a:solidFill>
                <a:srgbClr val="7D8994"/>
              </a:solidFill>
            </a:endParaRPr>
          </a:p>
        </p:txBody>
      </p:sp>
      <p:sp>
        <p:nvSpPr>
          <p:cNvPr id="7" name="矩形 6"/>
          <p:cNvSpPr>
            <a:spLocks noGrp="1"/>
          </p:cNvSpPr>
          <p:nvPr/>
        </p:nvSpPr>
        <p:spPr>
          <a:xfrm>
            <a:off x="2314575" y="2286000"/>
            <a:ext cx="171450" cy="152400"/>
          </a:xfrm>
          <a:prstGeom prst="rect">
            <a:avLst/>
          </a:prstGeom>
          <a:solidFill>
            <a:srgbClr val="286F9E"/>
          </a:solidFill>
          <a:ln w="0">
            <a:noFill/>
            <a:prstDash val="solid"/>
          </a:ln>
        </p:spPr>
      </p:sp>
      <p:sp>
        <p:nvSpPr>
          <p:cNvPr id="8" name="矩形 7"/>
          <p:cNvSpPr>
            <a:spLocks noGrp="1"/>
          </p:cNvSpPr>
          <p:nvPr/>
        </p:nvSpPr>
        <p:spPr>
          <a:xfrm>
            <a:off x="2447925" y="2238375"/>
            <a:ext cx="95250" cy="247650"/>
          </a:xfrm>
          <a:prstGeom prst="rect">
            <a:avLst/>
          </a:prstGeom>
          <a:solidFill>
            <a:srgbClr val="286F9E"/>
          </a:solidFill>
          <a:ln w="0">
            <a:noFill/>
            <a:prstDash val="solid"/>
          </a:ln>
        </p:spPr>
      </p:sp>
      <p:sp>
        <p:nvSpPr>
          <p:cNvPr id="9" name="圆角矩形 8"/>
          <p:cNvSpPr>
            <a:spLocks noGrp="1"/>
          </p:cNvSpPr>
          <p:nvPr/>
        </p:nvSpPr>
        <p:spPr>
          <a:xfrm>
            <a:off x="685800" y="2000250"/>
            <a:ext cx="1581150" cy="723900"/>
          </a:xfrm>
          <a:prstGeom prst="roundRect">
            <a:avLst>
              <a:gd name="adj" fmla="val 10526"/>
            </a:avLst>
          </a:prstGeom>
          <a:solidFill>
            <a:srgbClr val="EAF2F8"/>
          </a:solidFill>
          <a:ln w="9525">
            <a:solidFill>
              <a:srgbClr val="D7E0E7"/>
            </a:solidFill>
            <a:prstDash val="solid"/>
          </a:ln>
        </p:spPr>
      </p:sp>
      <p:sp>
        <p:nvSpPr>
          <p:cNvPr id="10" name="矩形 9"/>
          <p:cNvSpPr>
            <a:spLocks noGrp="1"/>
          </p:cNvSpPr>
          <p:nvPr/>
        </p:nvSpPr>
        <p:spPr>
          <a:xfrm>
            <a:off x="76200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先写不变量</a:t>
            </a:r>
            <a:endParaRPr sz="1350" b="1">
              <a:solidFill>
                <a:srgbClr val="163A5F"/>
              </a:solidFill>
            </a:endParaRPr>
          </a:p>
        </p:txBody>
      </p:sp>
      <p:sp>
        <p:nvSpPr>
          <p:cNvPr id="11" name="矩形 10"/>
          <p:cNvSpPr>
            <a:spLocks noGrp="1"/>
          </p:cNvSpPr>
          <p:nvPr/>
        </p:nvSpPr>
        <p:spPr>
          <a:xfrm>
            <a:off x="4162425" y="2286000"/>
            <a:ext cx="171450" cy="152400"/>
          </a:xfrm>
          <a:prstGeom prst="rect">
            <a:avLst/>
          </a:prstGeom>
          <a:solidFill>
            <a:srgbClr val="286F9E"/>
          </a:solidFill>
          <a:ln w="0">
            <a:noFill/>
            <a:prstDash val="solid"/>
          </a:ln>
        </p:spPr>
      </p:sp>
      <p:sp>
        <p:nvSpPr>
          <p:cNvPr id="12" name="矩形 11"/>
          <p:cNvSpPr>
            <a:spLocks noGrp="1"/>
          </p:cNvSpPr>
          <p:nvPr/>
        </p:nvSpPr>
        <p:spPr>
          <a:xfrm>
            <a:off x="4295775" y="2238375"/>
            <a:ext cx="95250" cy="247650"/>
          </a:xfrm>
          <a:prstGeom prst="rect">
            <a:avLst/>
          </a:prstGeom>
          <a:solidFill>
            <a:srgbClr val="286F9E"/>
          </a:solidFill>
          <a:ln w="0">
            <a:noFill/>
            <a:prstDash val="solid"/>
          </a:ln>
        </p:spPr>
      </p:sp>
      <p:sp>
        <p:nvSpPr>
          <p:cNvPr id="13" name="圆角矩形 12"/>
          <p:cNvSpPr>
            <a:spLocks noGrp="1"/>
          </p:cNvSpPr>
          <p:nvPr/>
        </p:nvSpPr>
        <p:spPr>
          <a:xfrm>
            <a:off x="2533650" y="2000250"/>
            <a:ext cx="1581150" cy="723900"/>
          </a:xfrm>
          <a:prstGeom prst="roundRect">
            <a:avLst>
              <a:gd name="adj" fmla="val 10526"/>
            </a:avLst>
          </a:prstGeom>
          <a:solidFill>
            <a:srgbClr val="EAF5F4"/>
          </a:solidFill>
          <a:ln w="9525">
            <a:solidFill>
              <a:srgbClr val="D7E0E7"/>
            </a:solidFill>
            <a:prstDash val="solid"/>
          </a:ln>
        </p:spPr>
      </p:sp>
      <p:sp>
        <p:nvSpPr>
          <p:cNvPr id="14" name="矩形 13"/>
          <p:cNvSpPr>
            <a:spLocks noGrp="1"/>
          </p:cNvSpPr>
          <p:nvPr/>
        </p:nvSpPr>
        <p:spPr>
          <a:xfrm>
            <a:off x="260985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实现 Baseline</a:t>
            </a:r>
            <a:endParaRPr sz="1350" b="1">
              <a:solidFill>
                <a:srgbClr val="163A5F"/>
              </a:solidFill>
            </a:endParaRPr>
          </a:p>
        </p:txBody>
      </p:sp>
      <p:sp>
        <p:nvSpPr>
          <p:cNvPr id="15" name="矩形 14"/>
          <p:cNvSpPr>
            <a:spLocks noGrp="1"/>
          </p:cNvSpPr>
          <p:nvPr/>
        </p:nvSpPr>
        <p:spPr>
          <a:xfrm>
            <a:off x="6010275" y="2286000"/>
            <a:ext cx="171450" cy="152400"/>
          </a:xfrm>
          <a:prstGeom prst="rect">
            <a:avLst/>
          </a:prstGeom>
          <a:solidFill>
            <a:srgbClr val="286F9E"/>
          </a:solidFill>
          <a:ln w="0">
            <a:noFill/>
            <a:prstDash val="solid"/>
          </a:ln>
        </p:spPr>
      </p:sp>
      <p:sp>
        <p:nvSpPr>
          <p:cNvPr id="16" name="矩形 15"/>
          <p:cNvSpPr>
            <a:spLocks noGrp="1"/>
          </p:cNvSpPr>
          <p:nvPr/>
        </p:nvSpPr>
        <p:spPr>
          <a:xfrm>
            <a:off x="6143625" y="2238375"/>
            <a:ext cx="95250" cy="247650"/>
          </a:xfrm>
          <a:prstGeom prst="rect">
            <a:avLst/>
          </a:prstGeom>
          <a:solidFill>
            <a:srgbClr val="286F9E"/>
          </a:solidFill>
          <a:ln w="0">
            <a:noFill/>
            <a:prstDash val="solid"/>
          </a:ln>
        </p:spPr>
      </p:sp>
      <p:sp>
        <p:nvSpPr>
          <p:cNvPr id="17" name="圆角矩形 16"/>
          <p:cNvSpPr>
            <a:spLocks noGrp="1"/>
          </p:cNvSpPr>
          <p:nvPr/>
        </p:nvSpPr>
        <p:spPr>
          <a:xfrm>
            <a:off x="4381500" y="2000250"/>
            <a:ext cx="1581150" cy="723900"/>
          </a:xfrm>
          <a:prstGeom prst="roundRect">
            <a:avLst>
              <a:gd name="adj" fmla="val 10526"/>
            </a:avLst>
          </a:prstGeom>
          <a:solidFill>
            <a:srgbClr val="EAF2F8"/>
          </a:solidFill>
          <a:ln w="9525">
            <a:solidFill>
              <a:srgbClr val="D7E0E7"/>
            </a:solidFill>
            <a:prstDash val="solid"/>
          </a:ln>
        </p:spPr>
      </p:sp>
      <p:sp>
        <p:nvSpPr>
          <p:cNvPr id="18" name="矩形 17"/>
          <p:cNvSpPr>
            <a:spLocks noGrp="1"/>
          </p:cNvSpPr>
          <p:nvPr/>
        </p:nvSpPr>
        <p:spPr>
          <a:xfrm>
            <a:off x="445770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让 AI 补局部代码</a:t>
            </a:r>
            <a:endParaRPr sz="1350" b="1">
              <a:solidFill>
                <a:srgbClr val="163A5F"/>
              </a:solidFill>
            </a:endParaRPr>
          </a:p>
        </p:txBody>
      </p:sp>
      <p:sp>
        <p:nvSpPr>
          <p:cNvPr id="19" name="矩形 18"/>
          <p:cNvSpPr>
            <a:spLocks noGrp="1"/>
          </p:cNvSpPr>
          <p:nvPr/>
        </p:nvSpPr>
        <p:spPr>
          <a:xfrm>
            <a:off x="7858125" y="2286000"/>
            <a:ext cx="171450" cy="152400"/>
          </a:xfrm>
          <a:prstGeom prst="rect">
            <a:avLst/>
          </a:prstGeom>
          <a:solidFill>
            <a:srgbClr val="286F9E"/>
          </a:solidFill>
          <a:ln w="0">
            <a:noFill/>
            <a:prstDash val="solid"/>
          </a:ln>
        </p:spPr>
      </p:sp>
      <p:sp>
        <p:nvSpPr>
          <p:cNvPr id="20" name="矩形 19"/>
          <p:cNvSpPr>
            <a:spLocks noGrp="1"/>
          </p:cNvSpPr>
          <p:nvPr/>
        </p:nvSpPr>
        <p:spPr>
          <a:xfrm>
            <a:off x="7991475" y="2238375"/>
            <a:ext cx="95250" cy="247650"/>
          </a:xfrm>
          <a:prstGeom prst="rect">
            <a:avLst/>
          </a:prstGeom>
          <a:solidFill>
            <a:srgbClr val="286F9E"/>
          </a:solidFill>
          <a:ln w="0">
            <a:noFill/>
            <a:prstDash val="solid"/>
          </a:ln>
        </p:spPr>
      </p:sp>
      <p:sp>
        <p:nvSpPr>
          <p:cNvPr id="21" name="圆角矩形 20"/>
          <p:cNvSpPr>
            <a:spLocks noGrp="1"/>
          </p:cNvSpPr>
          <p:nvPr/>
        </p:nvSpPr>
        <p:spPr>
          <a:xfrm>
            <a:off x="6229350" y="2000250"/>
            <a:ext cx="1581150" cy="723900"/>
          </a:xfrm>
          <a:prstGeom prst="roundRect">
            <a:avLst>
              <a:gd name="adj" fmla="val 10526"/>
            </a:avLst>
          </a:prstGeom>
          <a:solidFill>
            <a:srgbClr val="EAF5F4"/>
          </a:solidFill>
          <a:ln w="9525">
            <a:solidFill>
              <a:srgbClr val="D7E0E7"/>
            </a:solidFill>
            <a:prstDash val="solid"/>
          </a:ln>
        </p:spPr>
      </p:sp>
      <p:sp>
        <p:nvSpPr>
          <p:cNvPr id="22" name="矩形 21"/>
          <p:cNvSpPr>
            <a:spLocks noGrp="1"/>
          </p:cNvSpPr>
          <p:nvPr/>
        </p:nvSpPr>
        <p:spPr>
          <a:xfrm>
            <a:off x="630555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故障注入</a:t>
            </a:r>
            <a:endParaRPr sz="1350" b="1">
              <a:solidFill>
                <a:srgbClr val="163A5F"/>
              </a:solidFill>
            </a:endParaRPr>
          </a:p>
        </p:txBody>
      </p:sp>
      <p:sp>
        <p:nvSpPr>
          <p:cNvPr id="23" name="矩形 22"/>
          <p:cNvSpPr>
            <a:spLocks noGrp="1"/>
          </p:cNvSpPr>
          <p:nvPr/>
        </p:nvSpPr>
        <p:spPr>
          <a:xfrm>
            <a:off x="9705975" y="2286000"/>
            <a:ext cx="171450" cy="152400"/>
          </a:xfrm>
          <a:prstGeom prst="rect">
            <a:avLst/>
          </a:prstGeom>
          <a:solidFill>
            <a:srgbClr val="286F9E"/>
          </a:solidFill>
          <a:ln w="0">
            <a:noFill/>
            <a:prstDash val="solid"/>
          </a:ln>
        </p:spPr>
      </p:sp>
      <p:sp>
        <p:nvSpPr>
          <p:cNvPr id="24" name="矩形 23"/>
          <p:cNvSpPr>
            <a:spLocks noGrp="1"/>
          </p:cNvSpPr>
          <p:nvPr/>
        </p:nvSpPr>
        <p:spPr>
          <a:xfrm>
            <a:off x="9839325" y="2238375"/>
            <a:ext cx="95250" cy="247650"/>
          </a:xfrm>
          <a:prstGeom prst="rect">
            <a:avLst/>
          </a:prstGeom>
          <a:solidFill>
            <a:srgbClr val="286F9E"/>
          </a:solidFill>
          <a:ln w="0">
            <a:noFill/>
            <a:prstDash val="solid"/>
          </a:ln>
        </p:spPr>
      </p:sp>
      <p:sp>
        <p:nvSpPr>
          <p:cNvPr id="25" name="圆角矩形 24"/>
          <p:cNvSpPr>
            <a:spLocks noGrp="1"/>
          </p:cNvSpPr>
          <p:nvPr/>
        </p:nvSpPr>
        <p:spPr>
          <a:xfrm>
            <a:off x="8077200" y="2000250"/>
            <a:ext cx="1581150" cy="723900"/>
          </a:xfrm>
          <a:prstGeom prst="roundRect">
            <a:avLst>
              <a:gd name="adj" fmla="val 10526"/>
            </a:avLst>
          </a:prstGeom>
          <a:solidFill>
            <a:srgbClr val="EAF2F8"/>
          </a:solidFill>
          <a:ln w="9525">
            <a:solidFill>
              <a:srgbClr val="D7E0E7"/>
            </a:solidFill>
            <a:prstDash val="solid"/>
          </a:ln>
        </p:spPr>
      </p:sp>
      <p:sp>
        <p:nvSpPr>
          <p:cNvPr id="26" name="矩形 25"/>
          <p:cNvSpPr>
            <a:spLocks noGrp="1"/>
          </p:cNvSpPr>
          <p:nvPr/>
        </p:nvSpPr>
        <p:spPr>
          <a:xfrm>
            <a:off x="815340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同集比较</a:t>
            </a:r>
            <a:endParaRPr sz="1350" b="1">
              <a:solidFill>
                <a:srgbClr val="163A5F"/>
              </a:solidFill>
            </a:endParaRPr>
          </a:p>
        </p:txBody>
      </p:sp>
      <p:sp>
        <p:nvSpPr>
          <p:cNvPr id="27" name="圆角矩形 26"/>
          <p:cNvSpPr>
            <a:spLocks noGrp="1"/>
          </p:cNvSpPr>
          <p:nvPr/>
        </p:nvSpPr>
        <p:spPr>
          <a:xfrm>
            <a:off x="9925050" y="2000250"/>
            <a:ext cx="1581150" cy="723900"/>
          </a:xfrm>
          <a:prstGeom prst="roundRect">
            <a:avLst>
              <a:gd name="adj" fmla="val 10526"/>
            </a:avLst>
          </a:prstGeom>
          <a:solidFill>
            <a:srgbClr val="EAF5F4"/>
          </a:solidFill>
          <a:ln w="9525">
            <a:solidFill>
              <a:srgbClr val="D7E0E7"/>
            </a:solidFill>
            <a:prstDash val="solid"/>
          </a:ln>
        </p:spPr>
      </p:sp>
      <p:sp>
        <p:nvSpPr>
          <p:cNvPr id="28" name="矩形 27"/>
          <p:cNvSpPr>
            <a:spLocks noGrp="1"/>
          </p:cNvSpPr>
          <p:nvPr/>
        </p:nvSpPr>
        <p:spPr>
          <a:xfrm>
            <a:off x="1000125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解释边界</a:t>
            </a:r>
            <a:endParaRPr sz="1350" b="1">
              <a:solidFill>
                <a:srgbClr val="163A5F"/>
              </a:solidFill>
            </a:endParaRPr>
          </a:p>
        </p:txBody>
      </p:sp>
      <p:sp>
        <p:nvSpPr>
          <p:cNvPr id="29" name="圆角矩形 28"/>
          <p:cNvSpPr>
            <a:spLocks noGrp="1"/>
          </p:cNvSpPr>
          <p:nvPr/>
        </p:nvSpPr>
        <p:spPr>
          <a:xfrm>
            <a:off x="609600" y="3238500"/>
            <a:ext cx="5257800" cy="2000250"/>
          </a:xfrm>
          <a:prstGeom prst="roundRect">
            <a:avLst>
              <a:gd name="adj" fmla="val 3810"/>
            </a:avLst>
          </a:prstGeom>
          <a:solidFill>
            <a:srgbClr val="F3F6F8"/>
          </a:solidFill>
          <a:ln w="9525">
            <a:solidFill>
              <a:srgbClr val="D7E0E7"/>
            </a:solidFill>
            <a:prstDash val="solid"/>
          </a:ln>
        </p:spPr>
      </p:sp>
      <p:sp>
        <p:nvSpPr>
          <p:cNvPr id="30" name="圆角矩形 29"/>
          <p:cNvSpPr>
            <a:spLocks noGrp="1"/>
          </p:cNvSpPr>
          <p:nvPr/>
        </p:nvSpPr>
        <p:spPr>
          <a:xfrm>
            <a:off x="609600" y="3238500"/>
            <a:ext cx="66675" cy="2000250"/>
          </a:xfrm>
          <a:prstGeom prst="roundRect">
            <a:avLst>
              <a:gd name="adj" fmla="val 50000"/>
            </a:avLst>
          </a:prstGeom>
          <a:solidFill>
            <a:srgbClr val="286F9E"/>
          </a:solidFill>
          <a:ln w="0">
            <a:noFill/>
            <a:prstDash val="solid"/>
          </a:ln>
        </p:spPr>
      </p:sp>
      <p:sp>
        <p:nvSpPr>
          <p:cNvPr id="31" name="矩形 30"/>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可以交给 AI</a:t>
            </a:r>
            <a:endParaRPr sz="1650" b="1">
              <a:solidFill>
                <a:srgbClr val="286F9E"/>
              </a:solidFill>
            </a:endParaRPr>
          </a:p>
        </p:txBody>
      </p:sp>
      <p:sp>
        <p:nvSpPr>
          <p:cNvPr id="32" name="矩形 31"/>
          <p:cNvSpPr>
            <a:spLocks noGrp="1"/>
          </p:cNvSpPr>
          <p:nvPr/>
        </p:nvSpPr>
        <p:spPr>
          <a:xfrm>
            <a:off x="838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Cargo 与模块样板、重复 match、JSONL loader、fixture 候选、测试模板、报表排版与局部重构。</a:t>
            </a:r>
            <a:endParaRPr sz="1275" b="0">
              <a:solidFill>
                <a:srgbClr val="18212B"/>
              </a:solidFill>
            </a:endParaRPr>
          </a:p>
        </p:txBody>
      </p:sp>
      <p:sp>
        <p:nvSpPr>
          <p:cNvPr id="33" name="圆角矩形 32"/>
          <p:cNvSpPr>
            <a:spLocks noGrp="1"/>
          </p:cNvSpPr>
          <p:nvPr/>
        </p:nvSpPr>
        <p:spPr>
          <a:xfrm>
            <a:off x="6324600" y="3238500"/>
            <a:ext cx="5257800" cy="2000250"/>
          </a:xfrm>
          <a:prstGeom prst="roundRect">
            <a:avLst>
              <a:gd name="adj" fmla="val 3810"/>
            </a:avLst>
          </a:prstGeom>
          <a:solidFill>
            <a:srgbClr val="F3F6F8"/>
          </a:solidFill>
          <a:ln w="9525">
            <a:solidFill>
              <a:srgbClr val="D7E0E7"/>
            </a:solidFill>
            <a:prstDash val="solid"/>
          </a:ln>
        </p:spPr>
      </p:sp>
      <p:sp>
        <p:nvSpPr>
          <p:cNvPr id="34" name="圆角矩形 33"/>
          <p:cNvSpPr>
            <a:spLocks noGrp="1"/>
          </p:cNvSpPr>
          <p:nvPr/>
        </p:nvSpPr>
        <p:spPr>
          <a:xfrm>
            <a:off x="6324600" y="3238500"/>
            <a:ext cx="66675" cy="2000250"/>
          </a:xfrm>
          <a:prstGeom prst="roundRect">
            <a:avLst>
              <a:gd name="adj" fmla="val 50000"/>
            </a:avLst>
          </a:prstGeom>
          <a:solidFill>
            <a:srgbClr val="2C7A7B"/>
          </a:solidFill>
          <a:ln w="0">
            <a:noFill/>
            <a:prstDash val="solid"/>
          </a:ln>
        </p:spPr>
      </p:sp>
      <p:sp>
        <p:nvSpPr>
          <p:cNvPr id="35" name="矩形 34"/>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不能交给 AI</a:t>
            </a:r>
            <a:endParaRPr sz="1650" b="1">
              <a:solidFill>
                <a:srgbClr val="2C7A7B"/>
              </a:solidFill>
            </a:endParaRPr>
          </a:p>
        </p:txBody>
      </p:sp>
      <p:sp>
        <p:nvSpPr>
          <p:cNvPr id="36" name="矩形 35"/>
          <p:cNvSpPr>
            <a:spLocks noGrp="1"/>
          </p:cNvSpPr>
          <p:nvPr/>
        </p:nvSpPr>
        <p:spPr>
          <a:xfrm>
            <a:off x="6553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状态/动作边界、终止语义、权限与重试策略、证据支持关系、Ground Truth、实验结论与系统责任。</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验收不是“代码是不是 AI 写的”，而是你能否解释、攻击、修复，并预测修改后的系统行为。</a:t>
            </a:r>
            <a:endParaRPr sz="1350" b="1">
              <a:solidFill>
                <a:srgbClr val="163A5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163A5F"/>
                </a:solidFill>
              </a:defRPr>
            </a:pPr>
            <a:r>
              <a:rPr sz="6000" b="1">
                <a:solidFill>
                  <a:srgbClr val="163A5F"/>
                </a:solidFill>
              </a:rPr>
              <a:t>01</a:t>
            </a:r>
            <a:endParaRPr sz="6000" b="1">
              <a:solidFill>
                <a:srgbClr val="163A5F"/>
              </a:solidFill>
            </a:endParaRPr>
          </a:p>
        </p:txBody>
      </p:sp>
      <p:sp>
        <p:nvSpPr>
          <p:cNvPr id="3" name="矩形 2"/>
          <p:cNvSpPr>
            <a:spLocks noGrp="1"/>
          </p:cNvSpPr>
          <p:nvPr/>
        </p:nvSpPr>
        <p:spPr>
          <a:xfrm>
            <a:off x="800100" y="2266950"/>
            <a:ext cx="1714500" cy="38100"/>
          </a:xfrm>
          <a:prstGeom prst="rect">
            <a:avLst/>
          </a:prstGeom>
          <a:solidFill>
            <a:srgbClr val="163A5F"/>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Agent 建模与边界</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把“会聊天”重新定义为一个可检查、可终止的决策过程。</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163A5F"/>
                </a:solidFill>
              </a:defRPr>
            </a:pPr>
            <a:r>
              <a:rPr sz="1350" b="1">
                <a:solidFill>
                  <a:srgbClr val="163A5F"/>
                </a:solidFill>
              </a:rPr>
              <a:t>原理  →  实现  →  故障  →  评测</a:t>
            </a:r>
            <a:endParaRPr sz="1350" b="1">
              <a:solidFill>
                <a:srgbClr val="163A5F"/>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06</a:t>
            </a:r>
            <a:endParaRPr sz="825" b="0">
              <a:solidFill>
                <a:srgbClr val="7D899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LLM 是策略组件，不是完整 Agent</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Agent 的定义来自运行时决策权，而不是是否使用大模型</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07</a:t>
            </a:r>
            <a:endParaRPr sz="825" b="0">
              <a:solidFill>
                <a:srgbClr val="7D8994"/>
              </a:solidFill>
            </a:endParaRPr>
          </a:p>
        </p:txBody>
      </p:sp>
      <p:sp>
        <p:nvSpPr>
          <p:cNvPr id="7" name="圆角矩形 6"/>
          <p:cNvSpPr>
            <a:spLocks noGrp="1"/>
          </p:cNvSpPr>
          <p:nvPr/>
        </p:nvSpPr>
        <p:spPr>
          <a:xfrm>
            <a:off x="609600" y="1952625"/>
            <a:ext cx="3276600" cy="3143250"/>
          </a:xfrm>
          <a:prstGeom prst="roundRect">
            <a:avLst>
              <a:gd name="adj" fmla="val 2424"/>
            </a:avLst>
          </a:prstGeom>
          <a:solidFill>
            <a:srgbClr val="F3F6F8"/>
          </a:solidFill>
          <a:ln w="9525">
            <a:solidFill>
              <a:srgbClr val="D7E0E7"/>
            </a:solidFill>
            <a:prstDash val="solid"/>
          </a:ln>
        </p:spPr>
      </p:sp>
      <p:sp>
        <p:nvSpPr>
          <p:cNvPr id="8" name="圆角矩形 7"/>
          <p:cNvSpPr>
            <a:spLocks noGrp="1"/>
          </p:cNvSpPr>
          <p:nvPr/>
        </p:nvSpPr>
        <p:spPr>
          <a:xfrm>
            <a:off x="609600" y="1952625"/>
            <a:ext cx="66675" cy="31432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2124075"/>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LLM</a:t>
            </a:r>
            <a:endParaRPr sz="1650" b="1">
              <a:solidFill>
                <a:srgbClr val="286F9E"/>
              </a:solidFill>
            </a:endParaRPr>
          </a:p>
        </p:txBody>
      </p:sp>
      <p:sp>
        <p:nvSpPr>
          <p:cNvPr id="10" name="矩形 9"/>
          <p:cNvSpPr>
            <a:spLocks noGrp="1"/>
          </p:cNvSpPr>
          <p:nvPr/>
        </p:nvSpPr>
        <p:spPr>
          <a:xfrm>
            <a:off x="8382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输入一段上下文，生成候选输出。</a:t>
            </a:r>
            <a:endParaRPr sz="1275" b="0">
              <a:solidFill>
                <a:srgbClr val="18212B"/>
              </a:solidFill>
            </a:endParaRPr>
          </a:p>
          <a:p>
            <a:endParaRPr sz="1275"/>
          </a:p>
          <a:p>
            <a:pPr algn="l">
              <a:defRPr sz="1275" b="0">
                <a:solidFill>
                  <a:srgbClr val="18212B"/>
                </a:solidFill>
              </a:defRPr>
            </a:pPr>
            <a:r>
              <a:rPr sz="1275" b="0">
                <a:solidFill>
                  <a:srgbClr val="18212B"/>
                </a:solidFill>
              </a:rPr>
              <a:t>没有环境权限，也不会自动知道动作是否执行。</a:t>
            </a:r>
            <a:endParaRPr sz="1275" b="0">
              <a:solidFill>
                <a:srgbClr val="18212B"/>
              </a:solidFill>
            </a:endParaRPr>
          </a:p>
        </p:txBody>
      </p:sp>
      <p:sp>
        <p:nvSpPr>
          <p:cNvPr id="11" name="圆角矩形 10"/>
          <p:cNvSpPr>
            <a:spLocks noGrp="1"/>
          </p:cNvSpPr>
          <p:nvPr/>
        </p:nvSpPr>
        <p:spPr>
          <a:xfrm>
            <a:off x="4343400" y="1952625"/>
            <a:ext cx="3276600" cy="3143250"/>
          </a:xfrm>
          <a:prstGeom prst="roundRect">
            <a:avLst>
              <a:gd name="adj" fmla="val 2424"/>
            </a:avLst>
          </a:prstGeom>
          <a:solidFill>
            <a:srgbClr val="F3F6F8"/>
          </a:solidFill>
          <a:ln w="9525">
            <a:solidFill>
              <a:srgbClr val="D7E0E7"/>
            </a:solidFill>
            <a:prstDash val="solid"/>
          </a:ln>
        </p:spPr>
      </p:sp>
      <p:sp>
        <p:nvSpPr>
          <p:cNvPr id="12" name="圆角矩形 11"/>
          <p:cNvSpPr>
            <a:spLocks noGrp="1"/>
          </p:cNvSpPr>
          <p:nvPr/>
        </p:nvSpPr>
        <p:spPr>
          <a:xfrm>
            <a:off x="4343400" y="1952625"/>
            <a:ext cx="66675" cy="31432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2124075"/>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Policy</a:t>
            </a:r>
            <a:endParaRPr sz="1650" b="1">
              <a:solidFill>
                <a:srgbClr val="2C7A7B"/>
              </a:solidFill>
            </a:endParaRPr>
          </a:p>
        </p:txBody>
      </p:sp>
      <p:sp>
        <p:nvSpPr>
          <p:cNvPr id="14" name="矩形 13"/>
          <p:cNvSpPr>
            <a:spLocks noGrp="1"/>
          </p:cNvSpPr>
          <p:nvPr/>
        </p:nvSpPr>
        <p:spPr>
          <a:xfrm>
            <a:off x="45720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依据 State 选择下一 Action。</a:t>
            </a:r>
            <a:endParaRPr sz="1275" b="0">
              <a:solidFill>
                <a:srgbClr val="18212B"/>
              </a:solidFill>
            </a:endParaRPr>
          </a:p>
          <a:p>
            <a:endParaRPr sz="1275"/>
          </a:p>
          <a:p>
            <a:pPr algn="l">
              <a:defRPr sz="1275" b="0">
                <a:solidFill>
                  <a:srgbClr val="18212B"/>
                </a:solidFill>
              </a:defRPr>
            </a:pPr>
            <a:r>
              <a:rPr sz="1275" b="0">
                <a:solidFill>
                  <a:srgbClr val="18212B"/>
                </a:solidFill>
              </a:rPr>
              <a:t>可以是规则、LLM，或规则与模型的组合。</a:t>
            </a:r>
            <a:endParaRPr sz="1275" b="0">
              <a:solidFill>
                <a:srgbClr val="18212B"/>
              </a:solidFill>
            </a:endParaRPr>
          </a:p>
        </p:txBody>
      </p:sp>
      <p:sp>
        <p:nvSpPr>
          <p:cNvPr id="15" name="圆角矩形 14"/>
          <p:cNvSpPr>
            <a:spLocks noGrp="1"/>
          </p:cNvSpPr>
          <p:nvPr/>
        </p:nvSpPr>
        <p:spPr>
          <a:xfrm>
            <a:off x="8077200" y="1952625"/>
            <a:ext cx="3276600" cy="3143250"/>
          </a:xfrm>
          <a:prstGeom prst="roundRect">
            <a:avLst>
              <a:gd name="adj" fmla="val 2424"/>
            </a:avLst>
          </a:prstGeom>
          <a:solidFill>
            <a:srgbClr val="F3F6F8"/>
          </a:solidFill>
          <a:ln w="9525">
            <a:solidFill>
              <a:srgbClr val="D7E0E7"/>
            </a:solidFill>
            <a:prstDash val="solid"/>
          </a:ln>
        </p:spPr>
      </p:sp>
      <p:sp>
        <p:nvSpPr>
          <p:cNvPr id="16" name="圆角矩形 15"/>
          <p:cNvSpPr>
            <a:spLocks noGrp="1"/>
          </p:cNvSpPr>
          <p:nvPr/>
        </p:nvSpPr>
        <p:spPr>
          <a:xfrm>
            <a:off x="8077200" y="1952625"/>
            <a:ext cx="66675" cy="3143250"/>
          </a:xfrm>
          <a:prstGeom prst="roundRect">
            <a:avLst>
              <a:gd name="adj" fmla="val 50000"/>
            </a:avLst>
          </a:prstGeom>
          <a:solidFill>
            <a:srgbClr val="163A5F"/>
          </a:solidFill>
          <a:ln w="0">
            <a:noFill/>
            <a:prstDash val="solid"/>
          </a:ln>
        </p:spPr>
      </p:sp>
      <p:sp>
        <p:nvSpPr>
          <p:cNvPr id="17" name="矩形 16"/>
          <p:cNvSpPr>
            <a:spLocks noGrp="1"/>
          </p:cNvSpPr>
          <p:nvPr/>
        </p:nvSpPr>
        <p:spPr>
          <a:xfrm>
            <a:off x="8305800" y="2124075"/>
            <a:ext cx="28765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Agent</a:t>
            </a:r>
            <a:endParaRPr sz="1650" b="1">
              <a:solidFill>
                <a:srgbClr val="163A5F"/>
              </a:solidFill>
            </a:endParaRPr>
          </a:p>
        </p:txBody>
      </p:sp>
      <p:sp>
        <p:nvSpPr>
          <p:cNvPr id="18" name="矩形 17"/>
          <p:cNvSpPr>
            <a:spLocks noGrp="1"/>
          </p:cNvSpPr>
          <p:nvPr/>
        </p:nvSpPr>
        <p:spPr>
          <a:xfrm>
            <a:off x="83058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Policy 被放入受约束循环：观察、更新、行动、反馈、停止。</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一个没有 LLM 的避障机器人可以是 Agent；一个每步都调用 LLM 的固定流水线仍可能只是 Workflow。</a:t>
            </a:r>
            <a:endParaRPr sz="1350" b="1">
              <a:solidFill>
                <a:srgbClr val="163A5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六要素模型让任何 Agent 都可被审查</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把模糊的“智能”改写为可定位的设计问题</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08</a:t>
            </a:r>
            <a:endParaRPr sz="825" b="0">
              <a:solidFill>
                <a:srgbClr val="7D8994"/>
              </a:solidFill>
            </a:endParaRPr>
          </a:p>
        </p:txBody>
      </p:sp>
      <p:sp>
        <p:nvSpPr>
          <p:cNvPr id="7" name="圆角矩形 6"/>
          <p:cNvSpPr>
            <a:spLocks noGrp="1"/>
          </p:cNvSpPr>
          <p:nvPr/>
        </p:nvSpPr>
        <p:spPr>
          <a:xfrm>
            <a:off x="609600" y="1762125"/>
            <a:ext cx="3352800" cy="1333500"/>
          </a:xfrm>
          <a:prstGeom prst="roundRect">
            <a:avLst>
              <a:gd name="adj" fmla="val 5714"/>
            </a:avLst>
          </a:prstGeom>
          <a:solidFill>
            <a:srgbClr val="F3F6F8"/>
          </a:solidFill>
          <a:ln w="9525">
            <a:solidFill>
              <a:srgbClr val="D7E0E7"/>
            </a:solidFill>
            <a:prstDash val="solid"/>
          </a:ln>
        </p:spPr>
      </p:sp>
      <p:sp>
        <p:nvSpPr>
          <p:cNvPr id="8" name="圆角矩形 7"/>
          <p:cNvSpPr>
            <a:spLocks noGrp="1"/>
          </p:cNvSpPr>
          <p:nvPr/>
        </p:nvSpPr>
        <p:spPr>
          <a:xfrm>
            <a:off x="609600" y="1762125"/>
            <a:ext cx="66675" cy="13335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33575"/>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Environment</a:t>
            </a:r>
            <a:endParaRPr sz="1650" b="1">
              <a:solidFill>
                <a:srgbClr val="286F9E"/>
              </a:solidFill>
            </a:endParaRPr>
          </a:p>
        </p:txBody>
      </p:sp>
      <p:sp>
        <p:nvSpPr>
          <p:cNvPr id="10" name="矩形 9"/>
          <p:cNvSpPr>
            <a:spLocks noGrp="1"/>
          </p:cNvSpPr>
          <p:nvPr/>
        </p:nvSpPr>
        <p:spPr>
          <a:xfrm>
            <a:off x="838200" y="231457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它在哪个世界行动？</a:t>
            </a:r>
            <a:endParaRPr sz="1275" b="0">
              <a:solidFill>
                <a:srgbClr val="18212B"/>
              </a:solidFill>
            </a:endParaRPr>
          </a:p>
        </p:txBody>
      </p:sp>
      <p:sp>
        <p:nvSpPr>
          <p:cNvPr id="11" name="圆角矩形 10"/>
          <p:cNvSpPr>
            <a:spLocks noGrp="1"/>
          </p:cNvSpPr>
          <p:nvPr/>
        </p:nvSpPr>
        <p:spPr>
          <a:xfrm>
            <a:off x="4343400" y="1762125"/>
            <a:ext cx="3352800" cy="1333500"/>
          </a:xfrm>
          <a:prstGeom prst="roundRect">
            <a:avLst>
              <a:gd name="adj" fmla="val 5714"/>
            </a:avLst>
          </a:prstGeom>
          <a:solidFill>
            <a:srgbClr val="F3F6F8"/>
          </a:solidFill>
          <a:ln w="9525">
            <a:solidFill>
              <a:srgbClr val="D7E0E7"/>
            </a:solidFill>
            <a:prstDash val="solid"/>
          </a:ln>
        </p:spPr>
      </p:sp>
      <p:sp>
        <p:nvSpPr>
          <p:cNvPr id="12" name="圆角矩形 11"/>
          <p:cNvSpPr>
            <a:spLocks noGrp="1"/>
          </p:cNvSpPr>
          <p:nvPr/>
        </p:nvSpPr>
        <p:spPr>
          <a:xfrm>
            <a:off x="4343400" y="1762125"/>
            <a:ext cx="66675" cy="133350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33575"/>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State</a:t>
            </a:r>
            <a:endParaRPr sz="1650" b="1">
              <a:solidFill>
                <a:srgbClr val="2C7A7B"/>
              </a:solidFill>
            </a:endParaRPr>
          </a:p>
        </p:txBody>
      </p:sp>
      <p:sp>
        <p:nvSpPr>
          <p:cNvPr id="14" name="矩形 13"/>
          <p:cNvSpPr>
            <a:spLocks noGrp="1"/>
          </p:cNvSpPr>
          <p:nvPr/>
        </p:nvSpPr>
        <p:spPr>
          <a:xfrm>
            <a:off x="4572000" y="231457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当前保存了哪些事实与资源？</a:t>
            </a:r>
            <a:endParaRPr sz="1275" b="0">
              <a:solidFill>
                <a:srgbClr val="18212B"/>
              </a:solidFill>
            </a:endParaRPr>
          </a:p>
        </p:txBody>
      </p:sp>
      <p:sp>
        <p:nvSpPr>
          <p:cNvPr id="15" name="圆角矩形 14"/>
          <p:cNvSpPr>
            <a:spLocks noGrp="1"/>
          </p:cNvSpPr>
          <p:nvPr/>
        </p:nvSpPr>
        <p:spPr>
          <a:xfrm>
            <a:off x="8077200" y="1762125"/>
            <a:ext cx="3352800" cy="1333500"/>
          </a:xfrm>
          <a:prstGeom prst="roundRect">
            <a:avLst>
              <a:gd name="adj" fmla="val 5714"/>
            </a:avLst>
          </a:prstGeom>
          <a:solidFill>
            <a:srgbClr val="F3F6F8"/>
          </a:solidFill>
          <a:ln w="9525">
            <a:solidFill>
              <a:srgbClr val="D7E0E7"/>
            </a:solidFill>
            <a:prstDash val="solid"/>
          </a:ln>
        </p:spPr>
      </p:sp>
      <p:sp>
        <p:nvSpPr>
          <p:cNvPr id="16" name="圆角矩形 15"/>
          <p:cNvSpPr>
            <a:spLocks noGrp="1"/>
          </p:cNvSpPr>
          <p:nvPr/>
        </p:nvSpPr>
        <p:spPr>
          <a:xfrm>
            <a:off x="8077200" y="1762125"/>
            <a:ext cx="66675" cy="133350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33575"/>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Observation</a:t>
            </a:r>
            <a:endParaRPr sz="1650" b="1">
              <a:solidFill>
                <a:srgbClr val="B7791F"/>
              </a:solidFill>
            </a:endParaRPr>
          </a:p>
        </p:txBody>
      </p:sp>
      <p:sp>
        <p:nvSpPr>
          <p:cNvPr id="18" name="矩形 17"/>
          <p:cNvSpPr>
            <a:spLocks noGrp="1"/>
          </p:cNvSpPr>
          <p:nvPr/>
        </p:nvSpPr>
        <p:spPr>
          <a:xfrm>
            <a:off x="8305800" y="231457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环境刚刚真实返回了什么？</a:t>
            </a:r>
            <a:endParaRPr sz="1275" b="0">
              <a:solidFill>
                <a:srgbClr val="18212B"/>
              </a:solidFill>
            </a:endParaRPr>
          </a:p>
        </p:txBody>
      </p:sp>
      <p:sp>
        <p:nvSpPr>
          <p:cNvPr id="19" name="圆角矩形 18"/>
          <p:cNvSpPr>
            <a:spLocks noGrp="1"/>
          </p:cNvSpPr>
          <p:nvPr/>
        </p:nvSpPr>
        <p:spPr>
          <a:xfrm>
            <a:off x="609600" y="3457575"/>
            <a:ext cx="3352800" cy="1333500"/>
          </a:xfrm>
          <a:prstGeom prst="roundRect">
            <a:avLst>
              <a:gd name="adj" fmla="val 5714"/>
            </a:avLst>
          </a:prstGeom>
          <a:solidFill>
            <a:srgbClr val="F3F6F8"/>
          </a:solidFill>
          <a:ln w="9525">
            <a:solidFill>
              <a:srgbClr val="D7E0E7"/>
            </a:solidFill>
            <a:prstDash val="solid"/>
          </a:ln>
        </p:spPr>
      </p:sp>
      <p:sp>
        <p:nvSpPr>
          <p:cNvPr id="20" name="圆角矩形 19"/>
          <p:cNvSpPr>
            <a:spLocks noGrp="1"/>
          </p:cNvSpPr>
          <p:nvPr/>
        </p:nvSpPr>
        <p:spPr>
          <a:xfrm>
            <a:off x="609600" y="3457575"/>
            <a:ext cx="66675" cy="1333500"/>
          </a:xfrm>
          <a:prstGeom prst="roundRect">
            <a:avLst>
              <a:gd name="adj" fmla="val 50000"/>
            </a:avLst>
          </a:prstGeom>
          <a:solidFill>
            <a:srgbClr val="286F9E"/>
          </a:solidFill>
          <a:ln w="0">
            <a:noFill/>
            <a:prstDash val="solid"/>
          </a:ln>
        </p:spPr>
      </p:sp>
      <p:sp>
        <p:nvSpPr>
          <p:cNvPr id="21" name="矩形 20"/>
          <p:cNvSpPr>
            <a:spLocks noGrp="1"/>
          </p:cNvSpPr>
          <p:nvPr/>
        </p:nvSpPr>
        <p:spPr>
          <a:xfrm>
            <a:off x="838200" y="3629025"/>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Action</a:t>
            </a:r>
            <a:endParaRPr sz="1650" b="1">
              <a:solidFill>
                <a:srgbClr val="286F9E"/>
              </a:solidFill>
            </a:endParaRPr>
          </a:p>
        </p:txBody>
      </p:sp>
      <p:sp>
        <p:nvSpPr>
          <p:cNvPr id="22" name="矩形 21"/>
          <p:cNvSpPr>
            <a:spLocks noGrp="1"/>
          </p:cNvSpPr>
          <p:nvPr/>
        </p:nvSpPr>
        <p:spPr>
          <a:xfrm>
            <a:off x="838200" y="401002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它被允许做哪些外部动作？</a:t>
            </a:r>
            <a:endParaRPr sz="1275" b="0">
              <a:solidFill>
                <a:srgbClr val="18212B"/>
              </a:solidFill>
            </a:endParaRPr>
          </a:p>
        </p:txBody>
      </p:sp>
      <p:sp>
        <p:nvSpPr>
          <p:cNvPr id="23" name="圆角矩形 22"/>
          <p:cNvSpPr>
            <a:spLocks noGrp="1"/>
          </p:cNvSpPr>
          <p:nvPr/>
        </p:nvSpPr>
        <p:spPr>
          <a:xfrm>
            <a:off x="4343400" y="3457575"/>
            <a:ext cx="3352800" cy="1333500"/>
          </a:xfrm>
          <a:prstGeom prst="roundRect">
            <a:avLst>
              <a:gd name="adj" fmla="val 5714"/>
            </a:avLst>
          </a:prstGeom>
          <a:solidFill>
            <a:srgbClr val="F3F6F8"/>
          </a:solidFill>
          <a:ln w="9525">
            <a:solidFill>
              <a:srgbClr val="D7E0E7"/>
            </a:solidFill>
            <a:prstDash val="solid"/>
          </a:ln>
        </p:spPr>
      </p:sp>
      <p:sp>
        <p:nvSpPr>
          <p:cNvPr id="24" name="圆角矩形 23"/>
          <p:cNvSpPr>
            <a:spLocks noGrp="1"/>
          </p:cNvSpPr>
          <p:nvPr/>
        </p:nvSpPr>
        <p:spPr>
          <a:xfrm>
            <a:off x="4343400" y="3457575"/>
            <a:ext cx="66675" cy="1333500"/>
          </a:xfrm>
          <a:prstGeom prst="roundRect">
            <a:avLst>
              <a:gd name="adj" fmla="val 50000"/>
            </a:avLst>
          </a:prstGeom>
          <a:solidFill>
            <a:srgbClr val="2C7A7B"/>
          </a:solidFill>
          <a:ln w="0">
            <a:noFill/>
            <a:prstDash val="solid"/>
          </a:ln>
        </p:spPr>
      </p:sp>
      <p:sp>
        <p:nvSpPr>
          <p:cNvPr id="25" name="矩形 24"/>
          <p:cNvSpPr>
            <a:spLocks noGrp="1"/>
          </p:cNvSpPr>
          <p:nvPr/>
        </p:nvSpPr>
        <p:spPr>
          <a:xfrm>
            <a:off x="4572000" y="3629025"/>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Policy</a:t>
            </a:r>
            <a:endParaRPr sz="1650" b="1">
              <a:solidFill>
                <a:srgbClr val="2C7A7B"/>
              </a:solidFill>
            </a:endParaRPr>
          </a:p>
        </p:txBody>
      </p:sp>
      <p:sp>
        <p:nvSpPr>
          <p:cNvPr id="26" name="矩形 25"/>
          <p:cNvSpPr>
            <a:spLocks noGrp="1"/>
          </p:cNvSpPr>
          <p:nvPr/>
        </p:nvSpPr>
        <p:spPr>
          <a:xfrm>
            <a:off x="4572000" y="401002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如何依据状态选择动作？</a:t>
            </a:r>
            <a:endParaRPr sz="1275" b="0">
              <a:solidFill>
                <a:srgbClr val="18212B"/>
              </a:solidFill>
            </a:endParaRPr>
          </a:p>
        </p:txBody>
      </p:sp>
      <p:sp>
        <p:nvSpPr>
          <p:cNvPr id="27" name="圆角矩形 26"/>
          <p:cNvSpPr>
            <a:spLocks noGrp="1"/>
          </p:cNvSpPr>
          <p:nvPr/>
        </p:nvSpPr>
        <p:spPr>
          <a:xfrm>
            <a:off x="8077200" y="3457575"/>
            <a:ext cx="3352800" cy="1333500"/>
          </a:xfrm>
          <a:prstGeom prst="roundRect">
            <a:avLst>
              <a:gd name="adj" fmla="val 5714"/>
            </a:avLst>
          </a:prstGeom>
          <a:solidFill>
            <a:srgbClr val="F3F6F8"/>
          </a:solidFill>
          <a:ln w="9525">
            <a:solidFill>
              <a:srgbClr val="D7E0E7"/>
            </a:solidFill>
            <a:prstDash val="solid"/>
          </a:ln>
        </p:spPr>
      </p:sp>
      <p:sp>
        <p:nvSpPr>
          <p:cNvPr id="28" name="圆角矩形 27"/>
          <p:cNvSpPr>
            <a:spLocks noGrp="1"/>
          </p:cNvSpPr>
          <p:nvPr/>
        </p:nvSpPr>
        <p:spPr>
          <a:xfrm>
            <a:off x="8077200" y="3457575"/>
            <a:ext cx="66675" cy="1333500"/>
          </a:xfrm>
          <a:prstGeom prst="roundRect">
            <a:avLst>
              <a:gd name="adj" fmla="val 50000"/>
            </a:avLst>
          </a:prstGeom>
          <a:solidFill>
            <a:srgbClr val="B7791F"/>
          </a:solidFill>
          <a:ln w="0">
            <a:noFill/>
            <a:prstDash val="solid"/>
          </a:ln>
        </p:spPr>
      </p:sp>
      <p:sp>
        <p:nvSpPr>
          <p:cNvPr id="29" name="矩形 28"/>
          <p:cNvSpPr>
            <a:spLocks noGrp="1"/>
          </p:cNvSpPr>
          <p:nvPr/>
        </p:nvSpPr>
        <p:spPr>
          <a:xfrm>
            <a:off x="8305800" y="3629025"/>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Termination</a:t>
            </a:r>
            <a:endParaRPr sz="1650" b="1">
              <a:solidFill>
                <a:srgbClr val="B7791F"/>
              </a:solidFill>
            </a:endParaRPr>
          </a:p>
        </p:txBody>
      </p:sp>
      <p:sp>
        <p:nvSpPr>
          <p:cNvPr id="30" name="矩形 29"/>
          <p:cNvSpPr>
            <a:spLocks noGrp="1"/>
          </p:cNvSpPr>
          <p:nvPr/>
        </p:nvSpPr>
        <p:spPr>
          <a:xfrm>
            <a:off x="8305800" y="401002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何时成功、失败或停止？</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审查顺序：先看 State 与 Action 是否定义清楚，再讨论 Prompt；否则 Prompt 只是在掩盖系统边界不清。</a:t>
            </a:r>
            <a:endParaRPr sz="1350" b="1">
              <a:solidFill>
                <a:srgbClr val="163A5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Chatbot、Workflow 与 Agent 的差异在控制权</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三者没有高低之分，只有任务结构与控制成本是否匹配</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09</a:t>
            </a:r>
            <a:endParaRPr sz="825" b="0">
              <a:solidFill>
                <a:srgbClr val="7D8994"/>
              </a:solidFill>
            </a:endParaRPr>
          </a:p>
        </p:txBody>
      </p:sp>
      <p:sp>
        <p:nvSpPr>
          <p:cNvPr id="7" name="圆角矩形 6"/>
          <p:cNvSpPr>
            <a:spLocks noGrp="1"/>
          </p:cNvSpPr>
          <p:nvPr>
            <p:custDataLst>
              <p:tags r:id="rId1"/>
            </p:custDataLst>
          </p:nvPr>
        </p:nvSpPr>
        <p:spPr>
          <a:xfrm>
            <a:off x="609600" y="1809750"/>
            <a:ext cx="3276600" cy="3476625"/>
          </a:xfrm>
          <a:prstGeom prst="roundRect">
            <a:avLst>
              <a:gd name="adj" fmla="val 2326"/>
            </a:avLst>
          </a:prstGeom>
          <a:solidFill>
            <a:srgbClr val="F3F6F8"/>
          </a:solidFill>
          <a:ln w="9525">
            <a:solidFill>
              <a:srgbClr val="D7E0E7"/>
            </a:solidFill>
            <a:prstDash val="solid"/>
          </a:ln>
        </p:spPr>
      </p:sp>
      <p:sp>
        <p:nvSpPr>
          <p:cNvPr id="9" name="矩形 8"/>
          <p:cNvSpPr>
            <a:spLocks noGrp="1"/>
          </p:cNvSpPr>
          <p:nvPr>
            <p:custDataLst>
              <p:tags r:id="rId2"/>
            </p:custDataLst>
          </p:nvPr>
        </p:nvSpPr>
        <p:spPr>
          <a:xfrm>
            <a:off x="8382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Chatbot</a:t>
            </a:r>
            <a:endParaRPr sz="1650" b="1">
              <a:solidFill>
                <a:srgbClr val="286F9E"/>
              </a:solidFill>
            </a:endParaRPr>
          </a:p>
        </p:txBody>
      </p:sp>
      <p:sp>
        <p:nvSpPr>
          <p:cNvPr id="10" name="矩形 9"/>
          <p:cNvSpPr>
            <a:spLocks noGrp="1"/>
          </p:cNvSpPr>
          <p:nvPr>
            <p:custDataLst>
              <p:tags r:id="rId3"/>
            </p:custDataLst>
          </p:nvPr>
        </p:nvSpPr>
        <p:spPr>
          <a:xfrm>
            <a:off x="838200" y="2362200"/>
            <a:ext cx="2876550" cy="2809875"/>
          </a:xfrm>
          <a:prstGeom prst="rect">
            <a:avLst/>
          </a:prstGeom>
          <a:noFill/>
          <a:ln w="0">
            <a:noFill/>
            <a:prstDash val="solid"/>
          </a:ln>
        </p:spPr>
        <p:txBody>
          <a:bodyPr/>
          <a:lstStyle/>
          <a:p>
            <a:pPr algn="l">
              <a:defRPr sz="1275" b="0">
                <a:solidFill>
                  <a:srgbClr val="18212B"/>
                </a:solidFill>
              </a:defRPr>
            </a:pPr>
            <a:r>
              <a:rPr sz="1275" b="0">
                <a:solidFill>
                  <a:srgbClr val="18212B"/>
                </a:solidFill>
              </a:rPr>
              <a:t>控制结构：单轮/多轮文本生成</a:t>
            </a:r>
            <a:endParaRPr sz="1275" b="0">
              <a:solidFill>
                <a:srgbClr val="18212B"/>
              </a:solidFill>
            </a:endParaRPr>
          </a:p>
          <a:p>
            <a:pPr algn="l">
              <a:defRPr sz="1275" b="0">
                <a:solidFill>
                  <a:srgbClr val="18212B"/>
                </a:solidFill>
              </a:defRPr>
            </a:pPr>
            <a:r>
              <a:rPr sz="1275" b="0">
                <a:solidFill>
                  <a:srgbClr val="18212B"/>
                </a:solidFill>
              </a:rPr>
              <a:t>优势：交互自然、成本低</a:t>
            </a:r>
            <a:endParaRPr sz="1275" b="0">
              <a:solidFill>
                <a:srgbClr val="18212B"/>
              </a:solidFill>
            </a:endParaRPr>
          </a:p>
          <a:p>
            <a:pPr algn="l">
              <a:defRPr sz="1275" b="0">
                <a:solidFill>
                  <a:srgbClr val="18212B"/>
                </a:solidFill>
              </a:defRPr>
            </a:pPr>
            <a:r>
              <a:rPr sz="1275" b="0">
                <a:solidFill>
                  <a:srgbClr val="18212B"/>
                </a:solidFill>
              </a:rPr>
              <a:t>边界：不保证外部动作发生</a:t>
            </a:r>
            <a:endParaRPr sz="1275" b="0">
              <a:solidFill>
                <a:srgbClr val="18212B"/>
              </a:solidFill>
            </a:endParaRPr>
          </a:p>
        </p:txBody>
      </p:sp>
      <p:sp>
        <p:nvSpPr>
          <p:cNvPr id="11" name="圆角矩形 10"/>
          <p:cNvSpPr>
            <a:spLocks noGrp="1"/>
          </p:cNvSpPr>
          <p:nvPr>
            <p:custDataLst>
              <p:tags r:id="rId4"/>
            </p:custDataLst>
          </p:nvPr>
        </p:nvSpPr>
        <p:spPr>
          <a:xfrm>
            <a:off x="4343400" y="1809750"/>
            <a:ext cx="3276600" cy="3476625"/>
          </a:xfrm>
          <a:prstGeom prst="roundRect">
            <a:avLst>
              <a:gd name="adj" fmla="val 2326"/>
            </a:avLst>
          </a:prstGeom>
          <a:solidFill>
            <a:srgbClr val="F3F6F8"/>
          </a:solidFill>
          <a:ln w="9525">
            <a:solidFill>
              <a:srgbClr val="D7E0E7"/>
            </a:solidFill>
            <a:prstDash val="solid"/>
          </a:ln>
        </p:spPr>
      </p:sp>
      <p:sp>
        <p:nvSpPr>
          <p:cNvPr id="13" name="矩形 12"/>
          <p:cNvSpPr>
            <a:spLocks noGrp="1"/>
          </p:cNvSpPr>
          <p:nvPr>
            <p:custDataLst>
              <p:tags r:id="rId5"/>
            </p:custDataLst>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Workflow</a:t>
            </a:r>
            <a:endParaRPr sz="1650" b="1">
              <a:solidFill>
                <a:srgbClr val="2C7A7B"/>
              </a:solidFill>
            </a:endParaRPr>
          </a:p>
        </p:txBody>
      </p:sp>
      <p:sp>
        <p:nvSpPr>
          <p:cNvPr id="14" name="矩形 13"/>
          <p:cNvSpPr>
            <a:spLocks noGrp="1"/>
          </p:cNvSpPr>
          <p:nvPr>
            <p:custDataLst>
              <p:tags r:id="rId6"/>
            </p:custDataLst>
          </p:nvPr>
        </p:nvSpPr>
        <p:spPr>
          <a:xfrm>
            <a:off x="4572000" y="2362200"/>
            <a:ext cx="2876550" cy="2809875"/>
          </a:xfrm>
          <a:prstGeom prst="rect">
            <a:avLst/>
          </a:prstGeom>
          <a:noFill/>
          <a:ln w="0">
            <a:noFill/>
            <a:prstDash val="solid"/>
          </a:ln>
        </p:spPr>
        <p:txBody>
          <a:bodyPr/>
          <a:lstStyle/>
          <a:p>
            <a:pPr algn="l">
              <a:defRPr sz="1275" b="0">
                <a:solidFill>
                  <a:srgbClr val="18212B"/>
                </a:solidFill>
              </a:defRPr>
            </a:pPr>
            <a:r>
              <a:rPr sz="1275" b="0">
                <a:solidFill>
                  <a:srgbClr val="18212B"/>
                </a:solidFill>
              </a:rPr>
              <a:t>控制结构：步骤预先确定</a:t>
            </a:r>
            <a:endParaRPr sz="1275" b="0">
              <a:solidFill>
                <a:srgbClr val="18212B"/>
              </a:solidFill>
            </a:endParaRPr>
          </a:p>
          <a:p>
            <a:pPr algn="l">
              <a:defRPr sz="1275" b="0">
                <a:solidFill>
                  <a:srgbClr val="18212B"/>
                </a:solidFill>
              </a:defRPr>
            </a:pPr>
            <a:r>
              <a:rPr sz="1275" b="0">
                <a:solidFill>
                  <a:srgbClr val="18212B"/>
                </a:solidFill>
              </a:rPr>
              <a:t>优势：稳定、可复现、易审计</a:t>
            </a:r>
            <a:endParaRPr sz="1275" b="0">
              <a:solidFill>
                <a:srgbClr val="18212B"/>
              </a:solidFill>
            </a:endParaRPr>
          </a:p>
          <a:p>
            <a:pPr algn="l">
              <a:defRPr sz="1275" b="0">
                <a:solidFill>
                  <a:srgbClr val="18212B"/>
                </a:solidFill>
              </a:defRPr>
            </a:pPr>
            <a:r>
              <a:rPr sz="1275" b="0">
                <a:solidFill>
                  <a:srgbClr val="18212B"/>
                </a:solidFill>
              </a:rPr>
              <a:t>边界：对开放变化适应较弱</a:t>
            </a:r>
            <a:endParaRPr sz="1275" b="0">
              <a:solidFill>
                <a:srgbClr val="18212B"/>
              </a:solidFill>
            </a:endParaRPr>
          </a:p>
        </p:txBody>
      </p:sp>
      <p:sp>
        <p:nvSpPr>
          <p:cNvPr id="15" name="圆角矩形 14"/>
          <p:cNvSpPr>
            <a:spLocks noGrp="1"/>
          </p:cNvSpPr>
          <p:nvPr>
            <p:custDataLst>
              <p:tags r:id="rId7"/>
            </p:custDataLst>
          </p:nvPr>
        </p:nvSpPr>
        <p:spPr>
          <a:xfrm>
            <a:off x="8077200" y="1809750"/>
            <a:ext cx="3276600" cy="3476625"/>
          </a:xfrm>
          <a:prstGeom prst="roundRect">
            <a:avLst>
              <a:gd name="adj" fmla="val 2326"/>
            </a:avLst>
          </a:prstGeom>
          <a:solidFill>
            <a:srgbClr val="F3F6F8"/>
          </a:solidFill>
          <a:ln w="9525">
            <a:solidFill>
              <a:srgbClr val="D7E0E7"/>
            </a:solidFill>
            <a:prstDash val="solid"/>
          </a:ln>
        </p:spPr>
      </p:sp>
      <p:sp>
        <p:nvSpPr>
          <p:cNvPr id="17" name="矩形 16"/>
          <p:cNvSpPr>
            <a:spLocks noGrp="1"/>
          </p:cNvSpPr>
          <p:nvPr>
            <p:custDataLst>
              <p:tags r:id="rId8"/>
            </p:custDataLst>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Agent</a:t>
            </a:r>
            <a:endParaRPr sz="1650" b="1">
              <a:solidFill>
                <a:srgbClr val="B7791F"/>
              </a:solidFill>
            </a:endParaRPr>
          </a:p>
        </p:txBody>
      </p:sp>
      <p:sp>
        <p:nvSpPr>
          <p:cNvPr id="18" name="矩形 17"/>
          <p:cNvSpPr>
            <a:spLocks noGrp="1"/>
          </p:cNvSpPr>
          <p:nvPr>
            <p:custDataLst>
              <p:tags r:id="rId9"/>
            </p:custDataLst>
          </p:nvPr>
        </p:nvSpPr>
        <p:spPr>
          <a:xfrm>
            <a:off x="8305800" y="2362200"/>
            <a:ext cx="2876550" cy="2809875"/>
          </a:xfrm>
          <a:prstGeom prst="rect">
            <a:avLst/>
          </a:prstGeom>
          <a:noFill/>
          <a:ln w="0">
            <a:noFill/>
            <a:prstDash val="solid"/>
          </a:ln>
        </p:spPr>
        <p:txBody>
          <a:bodyPr/>
          <a:lstStyle/>
          <a:p>
            <a:pPr algn="l">
              <a:defRPr sz="1275" b="0">
                <a:solidFill>
                  <a:srgbClr val="18212B"/>
                </a:solidFill>
              </a:defRPr>
            </a:pPr>
            <a:r>
              <a:rPr sz="1275" b="0">
                <a:solidFill>
                  <a:srgbClr val="18212B"/>
                </a:solidFill>
              </a:rPr>
              <a:t>控制结构：运行时选择下一步</a:t>
            </a:r>
            <a:endParaRPr sz="1275" b="0">
              <a:solidFill>
                <a:srgbClr val="18212B"/>
              </a:solidFill>
            </a:endParaRPr>
          </a:p>
          <a:p>
            <a:pPr algn="l">
              <a:defRPr sz="1275" b="0">
                <a:solidFill>
                  <a:srgbClr val="18212B"/>
                </a:solidFill>
              </a:defRPr>
            </a:pPr>
            <a:r>
              <a:rPr sz="1275" b="0">
                <a:solidFill>
                  <a:srgbClr val="18212B"/>
                </a:solidFill>
              </a:rPr>
              <a:t>优势：应对缺失信息与环境变化</a:t>
            </a:r>
            <a:endParaRPr sz="1275" b="0">
              <a:solidFill>
                <a:srgbClr val="18212B"/>
              </a:solidFill>
            </a:endParaRPr>
          </a:p>
          <a:p>
            <a:pPr algn="l">
              <a:defRPr sz="1275" b="0">
                <a:solidFill>
                  <a:srgbClr val="18212B"/>
                </a:solidFill>
              </a:defRPr>
            </a:pPr>
            <a:r>
              <a:rPr sz="1275" b="0">
                <a:solidFill>
                  <a:srgbClr val="18212B"/>
                </a:solidFill>
              </a:rPr>
              <a:t>边界：更难测试、更易失控</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选择原则：任务路径越稳定、约束越明确，越应优先 Workflow；只有运行时不确定性值得时才引入 Agent。</a:t>
            </a:r>
            <a:endParaRPr sz="1350" b="1">
              <a:solidFill>
                <a:srgbClr val="163A5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部分可观察性决定了 Agent 必须会“先问再做”</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现实任务中，State 通常只是环境真实状态的一部分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10</a:t>
            </a:r>
            <a:endParaRPr sz="825" b="0">
              <a:solidFill>
                <a:srgbClr val="7D8994"/>
              </a:solidFill>
            </a:endParaRPr>
          </a:p>
        </p:txBody>
      </p:sp>
      <p:sp>
        <p:nvSpPr>
          <p:cNvPr id="7" name="圆角矩形 6"/>
          <p:cNvSpPr>
            <a:spLocks noGrp="1"/>
          </p:cNvSpPr>
          <p:nvPr/>
        </p:nvSpPr>
        <p:spPr>
          <a:xfrm>
            <a:off x="609600" y="1809750"/>
            <a:ext cx="4591050" cy="2857500"/>
          </a:xfrm>
          <a:prstGeom prst="roundRect">
            <a:avLst>
              <a:gd name="adj" fmla="val 2667"/>
            </a:avLst>
          </a:prstGeom>
          <a:solidFill>
            <a:srgbClr val="F6F8FA"/>
          </a:solidFill>
          <a:ln w="9525">
            <a:solidFill>
              <a:srgbClr val="D7E0E7"/>
            </a:solidFill>
            <a:prstDash val="solid"/>
          </a:ln>
        </p:spPr>
      </p:sp>
      <p:sp>
        <p:nvSpPr>
          <p:cNvPr id="8" name="矩形 7"/>
          <p:cNvSpPr>
            <a:spLocks noGrp="1"/>
          </p:cNvSpPr>
          <p:nvPr/>
        </p:nvSpPr>
        <p:spPr>
          <a:xfrm>
            <a:off x="819150" y="1981200"/>
            <a:ext cx="4171950" cy="2533650"/>
          </a:xfrm>
          <a:prstGeom prst="rect">
            <a:avLst/>
          </a:prstGeom>
          <a:noFill/>
          <a:ln w="0">
            <a:noFill/>
            <a:prstDash val="solid"/>
          </a:ln>
        </p:spPr>
        <p:txBody>
          <a:bodyPr/>
          <a:lstStyle/>
          <a:p>
            <a:pPr algn="l">
              <a:defRPr sz="1350" b="0">
                <a:solidFill>
                  <a:srgbClr val="263238"/>
                </a:solidFill>
              </a:defRPr>
            </a:pPr>
            <a:r>
              <a:rPr sz="1350" b="0">
                <a:solidFill>
                  <a:srgbClr val="263238"/>
                </a:solidFill>
              </a:rPr>
              <a:t>目标：总结会议材料</a:t>
            </a:r>
            <a:endParaRPr sz="1350" b="0">
              <a:solidFill>
                <a:srgbClr val="263238"/>
              </a:solidFill>
            </a:endParaRPr>
          </a:p>
          <a:p>
            <a:endParaRPr sz="1350"/>
          </a:p>
          <a:p>
            <a:pPr algn="l">
              <a:defRPr sz="1350" b="0">
                <a:solidFill>
                  <a:srgbClr val="263238"/>
                </a:solidFill>
              </a:defRPr>
            </a:pPr>
            <a:r>
              <a:rPr sz="1350" b="0">
                <a:solidFill>
                  <a:srgbClr val="263238"/>
                </a:solidFill>
              </a:rPr>
              <a:t>已知：主题、参与者</a:t>
            </a:r>
            <a:endParaRPr sz="1350" b="0">
              <a:solidFill>
                <a:srgbClr val="263238"/>
              </a:solidFill>
            </a:endParaRPr>
          </a:p>
          <a:p>
            <a:pPr algn="l">
              <a:defRPr sz="1350" b="0">
                <a:solidFill>
                  <a:srgbClr val="263238"/>
                </a:solidFill>
              </a:defRPr>
            </a:pPr>
            <a:r>
              <a:rPr sz="1350" b="0">
                <a:solidFill>
                  <a:srgbClr val="263238"/>
                </a:solidFill>
              </a:rPr>
              <a:t>未知：会议日期、材料路径</a:t>
            </a:r>
            <a:endParaRPr sz="1350" b="0">
              <a:solidFill>
                <a:srgbClr val="263238"/>
              </a:solidFill>
            </a:endParaRPr>
          </a:p>
          <a:p>
            <a:endParaRPr sz="1350"/>
          </a:p>
          <a:p>
            <a:pPr algn="l">
              <a:defRPr sz="1350" b="0">
                <a:solidFill>
                  <a:srgbClr val="263238"/>
                </a:solidFill>
              </a:defRPr>
            </a:pPr>
            <a:r>
              <a:rPr sz="1350" b="0">
                <a:solidFill>
                  <a:srgbClr val="263238"/>
                </a:solidFill>
              </a:rPr>
              <a:t>错误动作：猜路径并继续</a:t>
            </a:r>
            <a:endParaRPr sz="1350" b="0">
              <a:solidFill>
                <a:srgbClr val="263238"/>
              </a:solidFill>
            </a:endParaRPr>
          </a:p>
          <a:p>
            <a:pPr algn="l">
              <a:defRPr sz="1350" b="0">
                <a:solidFill>
                  <a:srgbClr val="263238"/>
                </a:solidFill>
              </a:defRPr>
            </a:pPr>
            <a:r>
              <a:rPr sz="1350" b="0">
                <a:solidFill>
                  <a:srgbClr val="263238"/>
                </a:solidFill>
              </a:rPr>
              <a:t>合理动作：AskForDate → AskForMaterialPath</a:t>
            </a:r>
            <a:endParaRPr sz="1350" b="0">
              <a:solidFill>
                <a:srgbClr val="263238"/>
              </a:solidFill>
            </a:endParaRPr>
          </a:p>
        </p:txBody>
      </p:sp>
      <p:sp>
        <p:nvSpPr>
          <p:cNvPr id="9" name="矩形 8"/>
          <p:cNvSpPr>
            <a:spLocks noGrp="1"/>
          </p:cNvSpPr>
          <p:nvPr/>
        </p:nvSpPr>
        <p:spPr>
          <a:xfrm>
            <a:off x="6562725" y="2343150"/>
            <a:ext cx="171450" cy="152400"/>
          </a:xfrm>
          <a:prstGeom prst="rect">
            <a:avLst/>
          </a:prstGeom>
          <a:solidFill>
            <a:srgbClr val="286F9E"/>
          </a:solidFill>
          <a:ln w="0">
            <a:noFill/>
            <a:prstDash val="solid"/>
          </a:ln>
        </p:spPr>
      </p:sp>
      <p:sp>
        <p:nvSpPr>
          <p:cNvPr id="10" name="矩形 9"/>
          <p:cNvSpPr>
            <a:spLocks noGrp="1"/>
          </p:cNvSpPr>
          <p:nvPr/>
        </p:nvSpPr>
        <p:spPr>
          <a:xfrm>
            <a:off x="6696075" y="2295525"/>
            <a:ext cx="95250" cy="247650"/>
          </a:xfrm>
          <a:prstGeom prst="rect">
            <a:avLst/>
          </a:prstGeom>
          <a:solidFill>
            <a:srgbClr val="286F9E"/>
          </a:solidFill>
          <a:ln w="0">
            <a:noFill/>
            <a:prstDash val="solid"/>
          </a:ln>
        </p:spPr>
      </p:sp>
      <p:sp>
        <p:nvSpPr>
          <p:cNvPr id="11" name="圆角矩形 10"/>
          <p:cNvSpPr>
            <a:spLocks noGrp="1"/>
          </p:cNvSpPr>
          <p:nvPr/>
        </p:nvSpPr>
        <p:spPr>
          <a:xfrm>
            <a:off x="5600700" y="2057400"/>
            <a:ext cx="914400" cy="723900"/>
          </a:xfrm>
          <a:prstGeom prst="roundRect">
            <a:avLst>
              <a:gd name="adj" fmla="val 10526"/>
            </a:avLst>
          </a:prstGeom>
          <a:solidFill>
            <a:srgbClr val="EAF2F8"/>
          </a:solidFill>
          <a:ln w="9525">
            <a:solidFill>
              <a:srgbClr val="D7E0E7"/>
            </a:solidFill>
            <a:prstDash val="solid"/>
          </a:ln>
        </p:spPr>
      </p:sp>
      <p:sp>
        <p:nvSpPr>
          <p:cNvPr id="12" name="矩形 11"/>
          <p:cNvSpPr>
            <a:spLocks noGrp="1"/>
          </p:cNvSpPr>
          <p:nvPr/>
        </p:nvSpPr>
        <p:spPr>
          <a:xfrm>
            <a:off x="56769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缺日期</a:t>
            </a:r>
            <a:endParaRPr sz="1350" b="1">
              <a:solidFill>
                <a:srgbClr val="163A5F"/>
              </a:solidFill>
            </a:endParaRPr>
          </a:p>
        </p:txBody>
      </p:sp>
      <p:sp>
        <p:nvSpPr>
          <p:cNvPr id="13" name="矩形 12"/>
          <p:cNvSpPr>
            <a:spLocks noGrp="1"/>
          </p:cNvSpPr>
          <p:nvPr/>
        </p:nvSpPr>
        <p:spPr>
          <a:xfrm>
            <a:off x="7743825" y="2343150"/>
            <a:ext cx="171450" cy="152400"/>
          </a:xfrm>
          <a:prstGeom prst="rect">
            <a:avLst/>
          </a:prstGeom>
          <a:solidFill>
            <a:srgbClr val="286F9E"/>
          </a:solidFill>
          <a:ln w="0">
            <a:noFill/>
            <a:prstDash val="solid"/>
          </a:ln>
        </p:spPr>
      </p:sp>
      <p:sp>
        <p:nvSpPr>
          <p:cNvPr id="14" name="矩形 13"/>
          <p:cNvSpPr>
            <a:spLocks noGrp="1"/>
          </p:cNvSpPr>
          <p:nvPr/>
        </p:nvSpPr>
        <p:spPr>
          <a:xfrm>
            <a:off x="7877175" y="2295525"/>
            <a:ext cx="95250" cy="247650"/>
          </a:xfrm>
          <a:prstGeom prst="rect">
            <a:avLst/>
          </a:prstGeom>
          <a:solidFill>
            <a:srgbClr val="286F9E"/>
          </a:solidFill>
          <a:ln w="0">
            <a:noFill/>
            <a:prstDash val="solid"/>
          </a:ln>
        </p:spPr>
      </p:sp>
      <p:sp>
        <p:nvSpPr>
          <p:cNvPr id="15" name="圆角矩形 14"/>
          <p:cNvSpPr>
            <a:spLocks noGrp="1"/>
          </p:cNvSpPr>
          <p:nvPr/>
        </p:nvSpPr>
        <p:spPr>
          <a:xfrm>
            <a:off x="6781800" y="2057400"/>
            <a:ext cx="914400" cy="723900"/>
          </a:xfrm>
          <a:prstGeom prst="roundRect">
            <a:avLst>
              <a:gd name="adj" fmla="val 10526"/>
            </a:avLst>
          </a:prstGeom>
          <a:solidFill>
            <a:srgbClr val="EAF5F4"/>
          </a:solidFill>
          <a:ln w="9525">
            <a:solidFill>
              <a:srgbClr val="D7E0E7"/>
            </a:solidFill>
            <a:prstDash val="solid"/>
          </a:ln>
        </p:spPr>
      </p:sp>
      <p:sp>
        <p:nvSpPr>
          <p:cNvPr id="16" name="矩形 15"/>
          <p:cNvSpPr>
            <a:spLocks noGrp="1"/>
          </p:cNvSpPr>
          <p:nvPr/>
        </p:nvSpPr>
        <p:spPr>
          <a:xfrm>
            <a:off x="68580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询问用户</a:t>
            </a:r>
            <a:endParaRPr sz="1350" b="1">
              <a:solidFill>
                <a:srgbClr val="163A5F"/>
              </a:solidFill>
            </a:endParaRPr>
          </a:p>
        </p:txBody>
      </p:sp>
      <p:sp>
        <p:nvSpPr>
          <p:cNvPr id="17" name="矩形 16"/>
          <p:cNvSpPr>
            <a:spLocks noGrp="1"/>
          </p:cNvSpPr>
          <p:nvPr/>
        </p:nvSpPr>
        <p:spPr>
          <a:xfrm>
            <a:off x="8924925" y="2343150"/>
            <a:ext cx="171450" cy="152400"/>
          </a:xfrm>
          <a:prstGeom prst="rect">
            <a:avLst/>
          </a:prstGeom>
          <a:solidFill>
            <a:srgbClr val="286F9E"/>
          </a:solidFill>
          <a:ln w="0">
            <a:noFill/>
            <a:prstDash val="solid"/>
          </a:ln>
        </p:spPr>
      </p:sp>
      <p:sp>
        <p:nvSpPr>
          <p:cNvPr id="18" name="矩形 17"/>
          <p:cNvSpPr>
            <a:spLocks noGrp="1"/>
          </p:cNvSpPr>
          <p:nvPr/>
        </p:nvSpPr>
        <p:spPr>
          <a:xfrm>
            <a:off x="9058275" y="2295525"/>
            <a:ext cx="95250" cy="247650"/>
          </a:xfrm>
          <a:prstGeom prst="rect">
            <a:avLst/>
          </a:prstGeom>
          <a:solidFill>
            <a:srgbClr val="286F9E"/>
          </a:solidFill>
          <a:ln w="0">
            <a:noFill/>
            <a:prstDash val="solid"/>
          </a:ln>
        </p:spPr>
      </p:sp>
      <p:sp>
        <p:nvSpPr>
          <p:cNvPr id="19" name="圆角矩形 18"/>
          <p:cNvSpPr>
            <a:spLocks noGrp="1"/>
          </p:cNvSpPr>
          <p:nvPr/>
        </p:nvSpPr>
        <p:spPr>
          <a:xfrm>
            <a:off x="7962900" y="2057400"/>
            <a:ext cx="914400" cy="723900"/>
          </a:xfrm>
          <a:prstGeom prst="roundRect">
            <a:avLst>
              <a:gd name="adj" fmla="val 10526"/>
            </a:avLst>
          </a:prstGeom>
          <a:solidFill>
            <a:srgbClr val="EAF2F8"/>
          </a:solidFill>
          <a:ln w="9525">
            <a:solidFill>
              <a:srgbClr val="D7E0E7"/>
            </a:solidFill>
            <a:prstDash val="solid"/>
          </a:ln>
        </p:spPr>
      </p:sp>
      <p:sp>
        <p:nvSpPr>
          <p:cNvPr id="20" name="矩形 19"/>
          <p:cNvSpPr>
            <a:spLocks noGrp="1"/>
          </p:cNvSpPr>
          <p:nvPr/>
        </p:nvSpPr>
        <p:spPr>
          <a:xfrm>
            <a:off x="80391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获得日期</a:t>
            </a:r>
            <a:endParaRPr sz="1350" b="1">
              <a:solidFill>
                <a:srgbClr val="163A5F"/>
              </a:solidFill>
            </a:endParaRPr>
          </a:p>
        </p:txBody>
      </p:sp>
      <p:sp>
        <p:nvSpPr>
          <p:cNvPr id="21" name="矩形 20"/>
          <p:cNvSpPr>
            <a:spLocks noGrp="1"/>
          </p:cNvSpPr>
          <p:nvPr/>
        </p:nvSpPr>
        <p:spPr>
          <a:xfrm>
            <a:off x="10106025" y="2343150"/>
            <a:ext cx="171450" cy="152400"/>
          </a:xfrm>
          <a:prstGeom prst="rect">
            <a:avLst/>
          </a:prstGeom>
          <a:solidFill>
            <a:srgbClr val="286F9E"/>
          </a:solidFill>
          <a:ln w="0">
            <a:noFill/>
            <a:prstDash val="solid"/>
          </a:ln>
        </p:spPr>
      </p:sp>
      <p:sp>
        <p:nvSpPr>
          <p:cNvPr id="22" name="矩形 21"/>
          <p:cNvSpPr>
            <a:spLocks noGrp="1"/>
          </p:cNvSpPr>
          <p:nvPr/>
        </p:nvSpPr>
        <p:spPr>
          <a:xfrm>
            <a:off x="10239375" y="2295525"/>
            <a:ext cx="95250" cy="247650"/>
          </a:xfrm>
          <a:prstGeom prst="rect">
            <a:avLst/>
          </a:prstGeom>
          <a:solidFill>
            <a:srgbClr val="286F9E"/>
          </a:solidFill>
          <a:ln w="0">
            <a:noFill/>
            <a:prstDash val="solid"/>
          </a:ln>
        </p:spPr>
      </p:sp>
      <p:sp>
        <p:nvSpPr>
          <p:cNvPr id="23" name="圆角矩形 22"/>
          <p:cNvSpPr>
            <a:spLocks noGrp="1"/>
          </p:cNvSpPr>
          <p:nvPr/>
        </p:nvSpPr>
        <p:spPr>
          <a:xfrm>
            <a:off x="9144000" y="2057400"/>
            <a:ext cx="914400" cy="723900"/>
          </a:xfrm>
          <a:prstGeom prst="roundRect">
            <a:avLst>
              <a:gd name="adj" fmla="val 10526"/>
            </a:avLst>
          </a:prstGeom>
          <a:solidFill>
            <a:srgbClr val="EAF5F4"/>
          </a:solidFill>
          <a:ln w="9525">
            <a:solidFill>
              <a:srgbClr val="D7E0E7"/>
            </a:solidFill>
            <a:prstDash val="solid"/>
          </a:ln>
        </p:spPr>
      </p:sp>
      <p:sp>
        <p:nvSpPr>
          <p:cNvPr id="24" name="矩形 23"/>
          <p:cNvSpPr>
            <a:spLocks noGrp="1"/>
          </p:cNvSpPr>
          <p:nvPr/>
        </p:nvSpPr>
        <p:spPr>
          <a:xfrm>
            <a:off x="92202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缺路径</a:t>
            </a:r>
            <a:endParaRPr sz="1350" b="1">
              <a:solidFill>
                <a:srgbClr val="163A5F"/>
              </a:solidFill>
            </a:endParaRPr>
          </a:p>
        </p:txBody>
      </p:sp>
      <p:sp>
        <p:nvSpPr>
          <p:cNvPr id="25" name="圆角矩形 24"/>
          <p:cNvSpPr>
            <a:spLocks noGrp="1"/>
          </p:cNvSpPr>
          <p:nvPr/>
        </p:nvSpPr>
        <p:spPr>
          <a:xfrm>
            <a:off x="10325100" y="2057400"/>
            <a:ext cx="914400" cy="723900"/>
          </a:xfrm>
          <a:prstGeom prst="roundRect">
            <a:avLst>
              <a:gd name="adj" fmla="val 10526"/>
            </a:avLst>
          </a:prstGeom>
          <a:solidFill>
            <a:srgbClr val="EAF2F8"/>
          </a:solidFill>
          <a:ln w="9525">
            <a:solidFill>
              <a:srgbClr val="D7E0E7"/>
            </a:solidFill>
            <a:prstDash val="solid"/>
          </a:ln>
        </p:spPr>
      </p:sp>
      <p:sp>
        <p:nvSpPr>
          <p:cNvPr id="26" name="矩形 25"/>
          <p:cNvSpPr>
            <a:spLocks noGrp="1"/>
          </p:cNvSpPr>
          <p:nvPr/>
        </p:nvSpPr>
        <p:spPr>
          <a:xfrm>
            <a:off x="104013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询问或停止</a:t>
            </a:r>
            <a:endParaRPr sz="1350" b="1">
              <a:solidFill>
                <a:srgbClr val="163A5F"/>
              </a:solidFill>
            </a:endParaRPr>
          </a:p>
        </p:txBody>
      </p:sp>
      <p:sp>
        <p:nvSpPr>
          <p:cNvPr id="27" name="圆角矩形 26"/>
          <p:cNvSpPr>
            <a:spLocks noGrp="1"/>
          </p:cNvSpPr>
          <p:nvPr/>
        </p:nvSpPr>
        <p:spPr>
          <a:xfrm>
            <a:off x="5600700" y="3238500"/>
            <a:ext cx="5638800" cy="1428750"/>
          </a:xfrm>
          <a:prstGeom prst="roundRect">
            <a:avLst>
              <a:gd name="adj" fmla="val 5333"/>
            </a:avLst>
          </a:prstGeom>
          <a:solidFill>
            <a:srgbClr val="EAF5F4"/>
          </a:solidFill>
          <a:ln w="9525">
            <a:solidFill>
              <a:srgbClr val="D7E0E7"/>
            </a:solidFill>
            <a:prstDash val="solid"/>
          </a:ln>
        </p:spPr>
      </p:sp>
      <p:sp>
        <p:nvSpPr>
          <p:cNvPr id="28" name="圆角矩形 27"/>
          <p:cNvSpPr>
            <a:spLocks noGrp="1"/>
          </p:cNvSpPr>
          <p:nvPr/>
        </p:nvSpPr>
        <p:spPr>
          <a:xfrm>
            <a:off x="5600700" y="3238500"/>
            <a:ext cx="66675" cy="1428750"/>
          </a:xfrm>
          <a:prstGeom prst="roundRect">
            <a:avLst>
              <a:gd name="adj" fmla="val 50000"/>
            </a:avLst>
          </a:prstGeom>
          <a:solidFill>
            <a:srgbClr val="2C7A7B"/>
          </a:solidFill>
          <a:ln w="0">
            <a:noFill/>
            <a:prstDash val="solid"/>
          </a:ln>
        </p:spPr>
      </p:sp>
      <p:sp>
        <p:nvSpPr>
          <p:cNvPr id="29" name="矩形 28"/>
          <p:cNvSpPr>
            <a:spLocks noGrp="1"/>
          </p:cNvSpPr>
          <p:nvPr/>
        </p:nvSpPr>
        <p:spPr>
          <a:xfrm>
            <a:off x="5829300" y="3409950"/>
            <a:ext cx="5238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关键思想：信息动作也是动作</a:t>
            </a:r>
            <a:endParaRPr sz="1650" b="1">
              <a:solidFill>
                <a:srgbClr val="2C7A7B"/>
              </a:solidFill>
            </a:endParaRPr>
          </a:p>
        </p:txBody>
      </p:sp>
      <p:sp>
        <p:nvSpPr>
          <p:cNvPr id="30" name="矩形 29"/>
          <p:cNvSpPr>
            <a:spLocks noGrp="1"/>
          </p:cNvSpPr>
          <p:nvPr/>
        </p:nvSpPr>
        <p:spPr>
          <a:xfrm>
            <a:off x="5829300" y="3790950"/>
            <a:ext cx="52387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AskUser 不是失败，而是面对不完全信息时的理性行为。用户拒绝提供信息，也是一种合法的终止原因。</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高质量 Agent 不只是会回答；它能识别“当前不足以行动”，并选择获取信息、降级或停止。</a:t>
            </a:r>
            <a:endParaRPr sz="1350" b="1">
              <a:solidFill>
                <a:srgbClr val="163A5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Action 是意图，Observation 是环境事实</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二者混淆会让系统把“想做”误当成“做成了”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11</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Action</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ReadDocument { path }</a:t>
            </a:r>
            <a:endParaRPr sz="1275" b="0">
              <a:solidFill>
                <a:srgbClr val="18212B"/>
              </a:solidFill>
            </a:endParaRPr>
          </a:p>
          <a:p>
            <a:pPr algn="l">
              <a:defRPr sz="1275" b="0">
                <a:solidFill>
                  <a:srgbClr val="18212B"/>
                </a:solidFill>
              </a:defRPr>
            </a:pPr>
            <a:r>
              <a:rPr sz="1275" b="0">
                <a:solidFill>
                  <a:srgbClr val="18212B"/>
                </a:solidFill>
              </a:rPr>
              <a:t>AskUser { question }</a:t>
            </a:r>
            <a:endParaRPr sz="1275" b="0">
              <a:solidFill>
                <a:srgbClr val="18212B"/>
              </a:solidFill>
            </a:endParaRPr>
          </a:p>
          <a:p>
            <a:pPr algn="l">
              <a:defRPr sz="1275" b="0">
                <a:solidFill>
                  <a:srgbClr val="18212B"/>
                </a:solidFill>
              </a:defRPr>
            </a:pPr>
            <a:r>
              <a:rPr sz="1275" b="0">
                <a:solidFill>
                  <a:srgbClr val="18212B"/>
                </a:solidFill>
              </a:rPr>
              <a:t>ProduceAnswer { text }</a:t>
            </a:r>
            <a:endParaRPr sz="1275" b="0">
              <a:solidFill>
                <a:srgbClr val="18212B"/>
              </a:solidFill>
            </a:endParaRPr>
          </a:p>
          <a:p>
            <a:pPr algn="l">
              <a:defRPr sz="1275" b="0">
                <a:solidFill>
                  <a:srgbClr val="18212B"/>
                </a:solidFill>
              </a:defRPr>
            </a:pPr>
            <a:r>
              <a:rPr sz="1275" b="0">
                <a:solidFill>
                  <a:srgbClr val="18212B"/>
                </a:solidFill>
              </a:rPr>
              <a:t>Stop { reason }</a:t>
            </a:r>
            <a:endParaRPr sz="1275" b="0">
              <a:solidFill>
                <a:srgbClr val="18212B"/>
              </a:solidFill>
            </a:endParaRPr>
          </a:p>
          <a:p>
            <a:endParaRPr sz="1275"/>
          </a:p>
          <a:p>
            <a:pPr algn="l">
              <a:defRPr sz="1275" b="0">
                <a:solidFill>
                  <a:srgbClr val="18212B"/>
                </a:solidFill>
              </a:defRPr>
            </a:pPr>
            <a:r>
              <a:rPr sz="1275" b="0">
                <a:solidFill>
                  <a:srgbClr val="18212B"/>
                </a:solidFill>
              </a:rPr>
              <a:t>由 Policy 提出，尚未改变世界。</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Observation</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DocumentLoaded { text }</a:t>
            </a:r>
            <a:endParaRPr sz="1275" b="0">
              <a:solidFill>
                <a:srgbClr val="18212B"/>
              </a:solidFill>
            </a:endParaRPr>
          </a:p>
          <a:p>
            <a:pPr algn="l">
              <a:defRPr sz="1275" b="0">
                <a:solidFill>
                  <a:srgbClr val="18212B"/>
                </a:solidFill>
              </a:defRPr>
            </a:pPr>
            <a:r>
              <a:rPr sz="1275" b="0">
                <a:solidFill>
                  <a:srgbClr val="18212B"/>
                </a:solidFill>
              </a:rPr>
              <a:t>FileNotFound { path }</a:t>
            </a:r>
            <a:endParaRPr sz="1275" b="0">
              <a:solidFill>
                <a:srgbClr val="18212B"/>
              </a:solidFill>
            </a:endParaRPr>
          </a:p>
          <a:p>
            <a:pPr algn="l">
              <a:defRPr sz="1275" b="0">
                <a:solidFill>
                  <a:srgbClr val="18212B"/>
                </a:solidFill>
              </a:defRPr>
            </a:pPr>
            <a:r>
              <a:rPr sz="1275" b="0">
                <a:solidFill>
                  <a:srgbClr val="18212B"/>
                </a:solidFill>
              </a:rPr>
              <a:t>UserReply { value }</a:t>
            </a:r>
            <a:endParaRPr sz="1275" b="0">
              <a:solidFill>
                <a:srgbClr val="18212B"/>
              </a:solidFill>
            </a:endParaRPr>
          </a:p>
          <a:p>
            <a:pPr algn="l">
              <a:defRPr sz="1275" b="0">
                <a:solidFill>
                  <a:srgbClr val="18212B"/>
                </a:solidFill>
              </a:defRPr>
            </a:pPr>
            <a:r>
              <a:rPr sz="1275" b="0">
                <a:solidFill>
                  <a:srgbClr val="18212B"/>
                </a:solidFill>
              </a:rPr>
              <a:t>PermissionDenied</a:t>
            </a:r>
            <a:endParaRPr sz="1275" b="0">
              <a:solidFill>
                <a:srgbClr val="18212B"/>
              </a:solidFill>
            </a:endParaRPr>
          </a:p>
          <a:p>
            <a:endParaRPr sz="1275"/>
          </a:p>
          <a:p>
            <a:pPr algn="l">
              <a:defRPr sz="1275" b="0">
                <a:solidFill>
                  <a:srgbClr val="18212B"/>
                </a:solidFill>
              </a:defRPr>
            </a:pPr>
            <a:r>
              <a:rPr sz="1275" b="0">
                <a:solidFill>
                  <a:srgbClr val="18212B"/>
                </a:solidFill>
              </a:rPr>
              <a:t>由 Environment 返回，才可更新 State。</a:t>
            </a:r>
            <a:endParaRPr sz="1275" b="0">
              <a:solidFill>
                <a:srgbClr val="18212B"/>
              </a:solidFill>
            </a:endParaRPr>
          </a:p>
        </p:txBody>
      </p:sp>
      <p:sp>
        <p:nvSpPr>
          <p:cNvPr id="15" name="圆角矩形 14"/>
          <p:cNvSpPr>
            <a:spLocks noGrp="1"/>
          </p:cNvSpPr>
          <p:nvPr/>
        </p:nvSpPr>
        <p:spPr>
          <a:xfrm>
            <a:off x="3714750" y="5381625"/>
            <a:ext cx="4762500" cy="666750"/>
          </a:xfrm>
          <a:prstGeom prst="roundRect">
            <a:avLst>
              <a:gd name="adj" fmla="val 11429"/>
            </a:avLst>
          </a:prstGeom>
          <a:solidFill>
            <a:srgbClr val="F6F8FA"/>
          </a:solidFill>
          <a:ln w="9525">
            <a:solidFill>
              <a:srgbClr val="D7E0E7"/>
            </a:solidFill>
            <a:prstDash val="solid"/>
          </a:ln>
        </p:spPr>
      </p:sp>
      <p:sp>
        <p:nvSpPr>
          <p:cNvPr id="16" name="矩形 15"/>
          <p:cNvSpPr>
            <a:spLocks noGrp="1"/>
          </p:cNvSpPr>
          <p:nvPr/>
        </p:nvSpPr>
        <p:spPr>
          <a:xfrm>
            <a:off x="3924300" y="5553075"/>
            <a:ext cx="4343400" cy="342900"/>
          </a:xfrm>
          <a:prstGeom prst="rect">
            <a:avLst/>
          </a:prstGeom>
          <a:noFill/>
          <a:ln w="0">
            <a:noFill/>
            <a:prstDash val="solid"/>
          </a:ln>
        </p:spPr>
        <p:txBody>
          <a:bodyPr/>
          <a:lstStyle/>
          <a:p>
            <a:pPr algn="l">
              <a:defRPr sz="1500" b="0">
                <a:solidFill>
                  <a:srgbClr val="263238"/>
                </a:solidFill>
              </a:defRPr>
            </a:pPr>
            <a:r>
              <a:rPr sz="1500" b="0">
                <a:solidFill>
                  <a:srgbClr val="263238"/>
                </a:solidFill>
              </a:rPr>
              <a:t>State' = reduce(State, Observation)</a:t>
            </a:r>
            <a:endParaRPr sz="1500" b="0">
              <a:solidFill>
                <a:srgbClr val="263238"/>
              </a:solidFill>
            </a:endParaRPr>
          </a:p>
          <a:p>
            <a:pPr algn="l">
              <a:defRPr sz="1500" b="0">
                <a:solidFill>
                  <a:srgbClr val="263238"/>
                </a:solidFill>
              </a:defRPr>
            </a:pPr>
            <a:r>
              <a:rPr sz="1500" b="0">
                <a:solidFill>
                  <a:srgbClr val="263238"/>
                </a:solidFill>
              </a:rPr>
              <a:t>Action  = Policy(State')</a:t>
            </a:r>
            <a:endParaRPr sz="1500" b="0">
              <a:solidFill>
                <a:srgbClr val="26323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最小实现的深度在终止不变量</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先用确定规则验证状态机，再替换为模型 Policy</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圆角矩形 6"/>
          <p:cNvSpPr>
            <a:spLocks noGrp="1"/>
          </p:cNvSpPr>
          <p:nvPr/>
        </p:nvSpPr>
        <p:spPr>
          <a:xfrm>
            <a:off x="704850" y="1895475"/>
            <a:ext cx="76200" cy="76200"/>
          </a:xfrm>
          <a:prstGeom prst="roundRect">
            <a:avLst>
              <a:gd name="adj" fmla="val 50000"/>
            </a:avLst>
          </a:prstGeom>
          <a:solidFill>
            <a:srgbClr val="286F9E"/>
          </a:solidFill>
          <a:ln w="0">
            <a:noFill/>
            <a:prstDash val="solid"/>
          </a:ln>
        </p:spPr>
      </p:sp>
      <p:sp>
        <p:nvSpPr>
          <p:cNvPr id="8" name="矩形 7"/>
          <p:cNvSpPr>
            <a:spLocks noGrp="1"/>
          </p:cNvSpPr>
          <p:nvPr/>
        </p:nvSpPr>
        <p:spPr>
          <a:xfrm>
            <a:off x="914400" y="180975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有限动作集合：模型不能创造未注册能力。</a:t>
            </a:r>
            <a:endParaRPr sz="1425" b="0">
              <a:solidFill>
                <a:srgbClr val="18212B"/>
              </a:solidFill>
            </a:endParaRPr>
          </a:p>
        </p:txBody>
      </p:sp>
      <p:sp>
        <p:nvSpPr>
          <p:cNvPr id="9" name="圆角矩形 8"/>
          <p:cNvSpPr>
            <a:spLocks noGrp="1"/>
          </p:cNvSpPr>
          <p:nvPr/>
        </p:nvSpPr>
        <p:spPr>
          <a:xfrm>
            <a:off x="704850" y="256222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914400" y="247650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显式状态更新：所有事实变化都来自 Observation。</a:t>
            </a:r>
            <a:endParaRPr sz="1425" b="0">
              <a:solidFill>
                <a:srgbClr val="18212B"/>
              </a:solidFill>
            </a:endParaRPr>
          </a:p>
        </p:txBody>
      </p:sp>
      <p:sp>
        <p:nvSpPr>
          <p:cNvPr id="11" name="圆角矩形 10"/>
          <p:cNvSpPr>
            <a:spLocks noGrp="1"/>
          </p:cNvSpPr>
          <p:nvPr/>
        </p:nvSpPr>
        <p:spPr>
          <a:xfrm>
            <a:off x="704850" y="322897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914400" y="314325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硬步骤预算：无论用户怎样回答，Loop 都必须有限。</a:t>
            </a:r>
            <a:endParaRPr sz="1425" b="0">
              <a:solidFill>
                <a:srgbClr val="18212B"/>
              </a:solidFill>
            </a:endParaRPr>
          </a:p>
        </p:txBody>
      </p:sp>
      <p:sp>
        <p:nvSpPr>
          <p:cNvPr id="13" name="圆角矩形 12"/>
          <p:cNvSpPr>
            <a:spLocks noGrp="1"/>
          </p:cNvSpPr>
          <p:nvPr/>
        </p:nvSpPr>
        <p:spPr>
          <a:xfrm>
            <a:off x="704850" y="389572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914400" y="381000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终止后不可继续：Completed/Stopped 状态拒绝新观察。</a:t>
            </a:r>
            <a:endParaRPr sz="1425" b="0">
              <a:solidFill>
                <a:srgbClr val="18212B"/>
              </a:solidFill>
            </a:endParaRPr>
          </a:p>
        </p:txBody>
      </p:sp>
      <p:sp>
        <p:nvSpPr>
          <p:cNvPr id="15" name="圆角矩形 14"/>
          <p:cNvSpPr>
            <a:spLocks noGrp="1"/>
          </p:cNvSpPr>
          <p:nvPr/>
        </p:nvSpPr>
        <p:spPr>
          <a:xfrm>
            <a:off x="704850" y="456247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914400" y="447675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同输入三架构对照：用证据决定是否保留 Agent。</a:t>
            </a:r>
            <a:endParaRPr sz="1425" b="0">
              <a:solidFill>
                <a:srgbClr val="18212B"/>
              </a:solidFill>
            </a:endParaRPr>
          </a:p>
        </p:txBody>
      </p:sp>
      <p:sp>
        <p:nvSpPr>
          <p:cNvPr id="17" name="圆角矩形 16"/>
          <p:cNvSpPr>
            <a:spLocks noGrp="1"/>
          </p:cNvSpPr>
          <p:nvPr/>
        </p:nvSpPr>
        <p:spPr>
          <a:xfrm>
            <a:off x="6610350" y="2000250"/>
            <a:ext cx="4572000" cy="2381250"/>
          </a:xfrm>
          <a:prstGeom prst="roundRect">
            <a:avLst>
              <a:gd name="adj" fmla="val 3200"/>
            </a:avLst>
          </a:prstGeom>
          <a:solidFill>
            <a:srgbClr val="F6F8FA"/>
          </a:solidFill>
          <a:ln w="9525">
            <a:solidFill>
              <a:srgbClr val="D7E0E7"/>
            </a:solidFill>
            <a:prstDash val="solid"/>
          </a:ln>
        </p:spPr>
      </p:sp>
      <p:sp>
        <p:nvSpPr>
          <p:cNvPr id="18" name="矩形 17"/>
          <p:cNvSpPr>
            <a:spLocks noGrp="1"/>
          </p:cNvSpPr>
          <p:nvPr/>
        </p:nvSpPr>
        <p:spPr>
          <a:xfrm>
            <a:off x="6819900" y="2171700"/>
            <a:ext cx="4152900" cy="2057400"/>
          </a:xfrm>
          <a:prstGeom prst="rect">
            <a:avLst/>
          </a:prstGeom>
          <a:noFill/>
          <a:ln w="0">
            <a:noFill/>
            <a:prstDash val="solid"/>
          </a:ln>
        </p:spPr>
        <p:txBody>
          <a:bodyPr/>
          <a:lstStyle/>
          <a:p>
            <a:pPr algn="l">
              <a:defRPr sz="1350" b="0">
                <a:solidFill>
                  <a:srgbClr val="263238"/>
                </a:solidFill>
              </a:defRPr>
            </a:pPr>
            <a:r>
              <a:rPr sz="1350" b="0">
                <a:solidFill>
                  <a:srgbClr val="263238"/>
                </a:solidFill>
              </a:rPr>
              <a:t>while state.running() {</a:t>
            </a:r>
            <a:endParaRPr sz="1350" b="0">
              <a:solidFill>
                <a:srgbClr val="263238"/>
              </a:solidFill>
            </a:endParaRPr>
          </a:p>
          <a:p>
            <a:pPr algn="l">
              <a:defRPr sz="1350" b="0">
                <a:solidFill>
                  <a:srgbClr val="263238"/>
                </a:solidFill>
              </a:defRPr>
            </a:pPr>
            <a:r>
              <a:rPr sz="1350" b="0">
                <a:solidFill>
                  <a:srgbClr val="263238"/>
                </a:solidFill>
              </a:rPr>
              <a:t>  assert!(state.steps &lt; max_steps);</a:t>
            </a:r>
            <a:endParaRPr sz="1350" b="0">
              <a:solidFill>
                <a:srgbClr val="263238"/>
              </a:solidFill>
            </a:endParaRPr>
          </a:p>
          <a:p>
            <a:pPr algn="l">
              <a:defRPr sz="1350" b="0">
                <a:solidFill>
                  <a:srgbClr val="263238"/>
                </a:solidFill>
              </a:defRPr>
            </a:pPr>
            <a:r>
              <a:rPr sz="1350" b="0">
                <a:solidFill>
                  <a:srgbClr val="263238"/>
                </a:solidFill>
              </a:rPr>
              <a:t>  let action = policy.decide(&amp;state);</a:t>
            </a:r>
            <a:endParaRPr sz="1350" b="0">
              <a:solidFill>
                <a:srgbClr val="263238"/>
              </a:solidFill>
            </a:endParaRPr>
          </a:p>
          <a:p>
            <a:pPr algn="l">
              <a:defRPr sz="1350" b="0">
                <a:solidFill>
                  <a:srgbClr val="263238"/>
                </a:solidFill>
              </a:defRPr>
            </a:pPr>
            <a:r>
              <a:rPr sz="1350" b="0">
                <a:solidFill>
                  <a:srgbClr val="263238"/>
                </a:solidFill>
              </a:rPr>
              <a:t>  let obs = env.execute(action)?;</a:t>
            </a:r>
            <a:endParaRPr sz="1350" b="0">
              <a:solidFill>
                <a:srgbClr val="263238"/>
              </a:solidFill>
            </a:endParaRPr>
          </a:p>
          <a:p>
            <a:pPr algn="l">
              <a:defRPr sz="1350" b="0">
                <a:solidFill>
                  <a:srgbClr val="263238"/>
                </a:solidFill>
              </a:defRPr>
            </a:pPr>
            <a:r>
              <a:rPr sz="1350" b="0">
                <a:solidFill>
                  <a:srgbClr val="263238"/>
                </a:solidFill>
              </a:rPr>
              <a:t>  reduce(&amp;mut state, obs);</a:t>
            </a:r>
            <a:endParaRPr sz="1350" b="0">
              <a:solidFill>
                <a:srgbClr val="263238"/>
              </a:solidFill>
            </a:endParaRPr>
          </a:p>
          <a:p>
            <a:pPr algn="l">
              <a:defRPr sz="1350" b="0">
                <a:solidFill>
                  <a:srgbClr val="263238"/>
                </a:solidFill>
              </a:defRPr>
            </a:pPr>
            <a:r>
              <a:rPr sz="1350" b="0">
                <a:solidFill>
                  <a:srgbClr val="263238"/>
                </a:solidFill>
              </a:rPr>
              <a:t>}</a:t>
            </a:r>
            <a:endParaRPr sz="1350" b="0">
              <a:solidFill>
                <a:srgbClr val="263238"/>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第 1 课的产物不是一个“聪明助手”，而是一套能证明自己不会凭空行动、不会无限运行的最小 Agent 语义。</a:t>
            </a:r>
            <a:endParaRPr sz="1350" b="1">
              <a:solidFill>
                <a:srgbClr val="163A5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7228205" cy="368300"/>
          </a:xfrm>
          <a:prstGeom prst="rect">
            <a:avLst/>
          </a:prstGeom>
          <a:noFill/>
        </p:spPr>
        <p:txBody>
          <a:bodyPr wrap="square" rtlCol="0">
            <a:spAutoFit/>
          </a:bodyPr>
          <a:p>
            <a:r>
              <a:rPr lang="zh-CN" altLang="en-US"/>
              <a:t>我们根据</a:t>
            </a:r>
            <a:r>
              <a:rPr lang="en-US" altLang="zh-CN"/>
              <a:t>TDD</a:t>
            </a:r>
            <a:r>
              <a:rPr lang="zh-CN" altLang="en-US">
                <a:ea typeface="宋体" panose="02010600030101010101" pitchFamily="2" charset="-122"/>
              </a:rPr>
              <a:t>（</a:t>
            </a:r>
            <a:r>
              <a:rPr lang="en-US" altLang="zh-CN">
                <a:ea typeface="宋体" panose="02010600030101010101" pitchFamily="2" charset="-122"/>
              </a:rPr>
              <a:t>Test Drive Develop</a:t>
            </a:r>
            <a:r>
              <a:rPr lang="zh-CN" altLang="en-US">
                <a:ea typeface="宋体" panose="02010600030101010101" pitchFamily="2" charset="-122"/>
              </a:rPr>
              <a:t>）测试驱动开发来驱动</a:t>
            </a:r>
            <a:r>
              <a:rPr lang="en-US" altLang="zh-CN">
                <a:ea typeface="宋体" panose="02010600030101010101" pitchFamily="2" charset="-122"/>
              </a:rPr>
              <a:t>Lesson1</a:t>
            </a:r>
            <a:r>
              <a:rPr lang="zh-CN" altLang="en-US">
                <a:ea typeface="宋体" panose="02010600030101010101" pitchFamily="2" charset="-122"/>
              </a:rPr>
              <a:t>的</a:t>
            </a:r>
            <a:r>
              <a:rPr lang="zh-CN" altLang="en-US">
                <a:ea typeface="宋体" panose="02010600030101010101" pitchFamily="2" charset="-122"/>
              </a:rPr>
              <a:t>开发。</a:t>
            </a:r>
            <a:endParaRPr lang="zh-CN" altLang="en-US">
              <a:ea typeface="宋体" panose="02010600030101010101" pitchFamily="2" charset="-122"/>
            </a:endParaRPr>
          </a:p>
        </p:txBody>
      </p:sp>
      <p:sp>
        <p:nvSpPr>
          <p:cNvPr id="23" name="文本框 22"/>
          <p:cNvSpPr txBox="1"/>
          <p:nvPr/>
        </p:nvSpPr>
        <p:spPr>
          <a:xfrm>
            <a:off x="609600" y="1973580"/>
            <a:ext cx="9432290" cy="922020"/>
          </a:xfrm>
          <a:prstGeom prst="rect">
            <a:avLst/>
          </a:prstGeom>
          <a:noFill/>
        </p:spPr>
        <p:txBody>
          <a:bodyPr wrap="square" rtlCol="0">
            <a:spAutoFit/>
          </a:bodyPr>
          <a:p>
            <a:r>
              <a:rPr lang="zh-CN" altLang="en-US"/>
              <a:t>在开始写代码</a:t>
            </a:r>
            <a:r>
              <a:rPr lang="zh-CN" altLang="en-US"/>
              <a:t>之前，</a:t>
            </a:r>
            <a:endParaRPr lang="zh-CN" altLang="en-US"/>
          </a:p>
          <a:p>
            <a:r>
              <a:rPr lang="en-US" altLang="zh-CN"/>
              <a:t>lesson1</a:t>
            </a:r>
            <a:r>
              <a:rPr lang="zh-CN" altLang="en-US"/>
              <a:t>定义了很多个抽象的东西（也就是</a:t>
            </a:r>
            <a:r>
              <a:rPr lang="en-US" altLang="zh-CN"/>
              <a:t>lib</a:t>
            </a:r>
            <a:r>
              <a:rPr lang="zh-CN" altLang="en-US"/>
              <a:t>面那些结构体），我们需要先把每个东西</a:t>
            </a:r>
            <a:r>
              <a:rPr lang="en-US" altLang="zh-CN"/>
              <a:t>“</a:t>
            </a:r>
            <a:r>
              <a:rPr lang="zh-CN" altLang="en-US"/>
              <a:t>应该怎么行为</a:t>
            </a:r>
            <a:r>
              <a:rPr lang="en-US" altLang="zh-CN"/>
              <a:t>”</a:t>
            </a:r>
            <a:r>
              <a:rPr lang="zh-CN" altLang="en-US"/>
              <a:t>想清楚写下来</a:t>
            </a:r>
            <a:r>
              <a:rPr lang="en-US" altLang="zh-CN"/>
              <a:t>——</a:t>
            </a:r>
            <a:r>
              <a:rPr lang="zh-CN" altLang="en-US">
                <a:highlight>
                  <a:srgbClr val="FFFF00"/>
                </a:highlight>
              </a:rPr>
              <a:t>定义行为契约。</a:t>
            </a:r>
            <a:endParaRPr lang="zh-CN" altLang="en-US">
              <a:highlight>
                <a:srgbClr val="FFFF00"/>
              </a:highlight>
            </a:endParaRPr>
          </a:p>
        </p:txBody>
      </p:sp>
      <p:graphicFrame>
        <p:nvGraphicFramePr>
          <p:cNvPr id="26" name="表格 25"/>
          <p:cNvGraphicFramePr/>
          <p:nvPr/>
        </p:nvGraphicFramePr>
        <p:xfrm>
          <a:off x="407670" y="3212465"/>
          <a:ext cx="2963545" cy="2880360"/>
        </p:xfrm>
        <a:graphic>
          <a:graphicData uri="http://schemas.openxmlformats.org/drawingml/2006/table">
            <a:tbl>
              <a:tblPr/>
              <a:tblGrid>
                <a:gridCol w="911225"/>
                <a:gridCol w="2052320"/>
              </a:tblGrid>
              <a:tr h="0">
                <a:tc gridSpan="2">
                  <a:txBody>
                    <a:bodyPr/>
                    <a:p>
                      <a:pPr marL="0" indent="0" latinLnBrk="0">
                        <a:buNone/>
                      </a:pPr>
                      <a:r>
                        <a:rPr lang="en-US" altLang="zh-CN" sz="1100" b="1" i="0">
                          <a:solidFill>
                            <a:srgbClr val="000000"/>
                          </a:solidFill>
                          <a:latin typeface="Helvetica Neue"/>
                          <a:ea typeface="Helvetica Neue"/>
                        </a:rPr>
                        <a:t>State </a:t>
                      </a:r>
                      <a:r>
                        <a:rPr lang="zh-CN" altLang="en-US" sz="1100" b="1" i="0">
                          <a:solidFill>
                            <a:srgbClr val="000000"/>
                          </a:solidFill>
                          <a:latin typeface="Helvetica Neue"/>
                          <a:ea typeface="Helvetica Neue"/>
                        </a:rPr>
                        <a:t>字段含义</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solidFill>
                      <a:srgbClr val="00B050"/>
                    </a:solidFill>
                  </a:tcPr>
                </a:tc>
                <a:tc hMerge="1">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1" i="0">
                          <a:solidFill>
                            <a:srgbClr val="000000"/>
                          </a:solidFill>
                          <a:latin typeface="Helvetica Neue"/>
                          <a:ea typeface="Helvetica Neue"/>
                        </a:rPr>
                        <a:t>字段</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1" i="0">
                          <a:solidFill>
                            <a:srgbClr val="000000"/>
                          </a:solidFill>
                          <a:latin typeface="Helvetica Neue"/>
                          <a:ea typeface="Helvetica Neue"/>
                        </a:rPr>
                        <a:t>含义</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turns</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000000"/>
                          </a:solidFill>
                          <a:latin typeface="Helvetica Neue"/>
                          <a:ea typeface="Helvetica Neue"/>
                        </a:rPr>
                        <a:t>已处理的 </a:t>
                      </a:r>
                      <a:r>
                        <a:rPr lang="en-US" altLang="zh-CN" sz="1100" b="0" i="0">
                          <a:solidFill>
                            <a:srgbClr val="000000"/>
                          </a:solidFill>
                          <a:latin typeface="Helvetica Neue"/>
                          <a:ea typeface="Helvetica Neue"/>
                        </a:rPr>
                        <a:t>Observation </a:t>
                      </a:r>
                      <a:r>
                        <a:rPr lang="zh-CN" altLang="en-US" sz="1100" b="0" i="0">
                          <a:solidFill>
                            <a:srgbClr val="000000"/>
                          </a:solidFill>
                          <a:latin typeface="Helvetica Neue"/>
                          <a:ea typeface="Helvetica Neue"/>
                        </a:rPr>
                        <a:t>数量</a:t>
                      </a:r>
                      <a:r>
                        <a:rPr lang="zh-CN" altLang="en-US" sz="1100" b="0" i="0">
                          <a:solidFill>
                            <a:srgbClr val="333333"/>
                          </a:solidFill>
                          <a:latin typeface="Helvetica Neue"/>
                          <a:ea typeface="Helvetica Neue"/>
                        </a:rPr>
                        <a:t>（不是 </a:t>
                      </a:r>
                      <a:r>
                        <a:rPr lang="en-US" altLang="zh-CN" sz="1100" b="0" i="0">
                          <a:solidFill>
                            <a:srgbClr val="333333"/>
                          </a:solidFill>
                          <a:latin typeface="Helvetica Neue"/>
                          <a:ea typeface="Helvetica Neue"/>
                        </a:rPr>
                        <a:t>API </a:t>
                      </a:r>
                      <a:r>
                        <a:rPr lang="zh-CN" altLang="en-US" sz="1100" b="0" i="0">
                          <a:solidFill>
                            <a:srgbClr val="333333"/>
                          </a:solidFill>
                          <a:latin typeface="Helvetica Neue"/>
                          <a:ea typeface="Helvetica Neue"/>
                        </a:rPr>
                        <a:t>调用次数！每调用一次</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apply_observation</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成功，</a:t>
                      </a:r>
                      <a:r>
                        <a:rPr lang="en-US" altLang="zh-CN" sz="1100" b="0" i="0">
                          <a:solidFill>
                            <a:srgbClr val="333333"/>
                          </a:solidFill>
                          <a:latin typeface="Helvetica Neue"/>
                          <a:ea typeface="Helvetica Neue"/>
                        </a:rPr>
                        <a:t>+1</a:t>
                      </a:r>
                      <a:r>
                        <a:rPr lang="zh-CN" altLang="en-US" sz="1100" b="0" i="0">
                          <a:solidFill>
                            <a:srgbClr val="333333"/>
                          </a:solidFill>
                          <a:latin typeface="Helvetica Neue"/>
                          <a:ea typeface="Helvetica Neue"/>
                        </a:rPr>
                        <a:t>）</a:t>
                      </a:r>
                      <a:endParaRPr lang="zh-CN" altLang="en-US"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goal</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用户明确提供的目标，由</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UserGoal(text)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设置</a:t>
                      </a:r>
                      <a:endParaRPr lang="zh-CN" altLang="en-US"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notes</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环境返回的事实列表，按接收顺序存储</a:t>
                      </a:r>
                      <a:endParaRPr lang="zh-CN" altLang="en-US"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input_closed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环境已明确表示</a:t>
                      </a:r>
                      <a:r>
                        <a:rPr lang="en-US" altLang="zh-CN" sz="1100" b="0" i="0">
                          <a:solidFill>
                            <a:srgbClr val="333333"/>
                          </a:solidFill>
                          <a:latin typeface="Helvetica Neue"/>
                          <a:ea typeface="Helvetica Neue"/>
                        </a:rPr>
                        <a:t>"</a:t>
                      </a:r>
                      <a:r>
                        <a:rPr lang="zh-CN" altLang="en-US" sz="1100" b="0" i="0">
                          <a:solidFill>
                            <a:srgbClr val="333333"/>
                          </a:solidFill>
                          <a:latin typeface="Helvetica Neue"/>
                          <a:ea typeface="Helvetica Neue"/>
                        </a:rPr>
                        <a:t>没有更多输入了</a:t>
                      </a:r>
                      <a:r>
                        <a:rPr lang="en-US" altLang="zh-CN" sz="1100" b="0" i="0">
                          <a:solidFill>
                            <a:srgbClr val="333333"/>
                          </a:solidFill>
                          <a:latin typeface="Helvetica Neue"/>
                          <a:ea typeface="Helvetica Neue"/>
                        </a:rPr>
                        <a:t>"</a:t>
                      </a:r>
                      <a:endParaRPr lang="en-US" altLang="zh-CN"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completed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已输出最终结果，</a:t>
                      </a:r>
                      <a:r>
                        <a:rPr lang="zh-CN" altLang="en-US" sz="1100" b="0" i="0">
                          <a:solidFill>
                            <a:srgbClr val="000000"/>
                          </a:solidFill>
                          <a:latin typeface="Helvetica Neue"/>
                          <a:ea typeface="Helvetica Neue"/>
                        </a:rPr>
                        <a:t>状态不可再修改</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bl>
          </a:graphicData>
        </a:graphic>
      </p:graphicFrame>
      <p:graphicFrame>
        <p:nvGraphicFramePr>
          <p:cNvPr id="28" name="表格 27"/>
          <p:cNvGraphicFramePr/>
          <p:nvPr/>
        </p:nvGraphicFramePr>
        <p:xfrm>
          <a:off x="3503930" y="3242945"/>
          <a:ext cx="0" cy="0"/>
        </p:xfrm>
        <a:graphic>
          <a:graphicData uri="http://schemas.openxmlformats.org/drawingml/2006/table">
            <a:tbl>
              <a:tblPr/>
              <a:tblGrid>
                <a:gridCol w="1024890"/>
                <a:gridCol w="2190115"/>
              </a:tblGrid>
              <a:tr h="0">
                <a:tc gridSpan="2">
                  <a:txBody>
                    <a:bodyPr/>
                    <a:p>
                      <a:pPr marL="0" indent="0" latinLnBrk="0">
                        <a:buNone/>
                      </a:pPr>
                      <a:r>
                        <a:rPr lang="en-US" altLang="zh-CN" sz="1100" b="1" i="0">
                          <a:solidFill>
                            <a:srgbClr val="000000"/>
                          </a:solidFill>
                          <a:latin typeface="Helvetica Neue"/>
                          <a:ea typeface="Helvetica Neue"/>
                        </a:rPr>
                        <a:t>Observation</a:t>
                      </a:r>
                      <a:r>
                        <a:rPr lang="zh-CN" altLang="en-US" sz="1100" b="1" i="0">
                          <a:solidFill>
                            <a:srgbClr val="000000"/>
                          </a:solidFill>
                          <a:latin typeface="Helvetica Neue"/>
                          <a:ea typeface="Helvetica Neue"/>
                        </a:rPr>
                        <a:t>更新</a:t>
                      </a:r>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solidFill>
                      <a:srgbClr val="00B050"/>
                    </a:solidFill>
                  </a:tcPr>
                </a:tc>
                <a:tc hMerge="1">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1100" b="1" i="0">
                          <a:solidFill>
                            <a:srgbClr val="000000"/>
                          </a:solidFill>
                          <a:latin typeface="Helvetica Neue"/>
                          <a:ea typeface="Helvetica Neue"/>
                        </a:rPr>
                        <a:t>Observation</a:t>
                      </a:r>
                      <a:endParaRPr lang="en-US" altLang="zh-CN"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UserGoal(text)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goal"))</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state.goal = Some(text)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Fact(text)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fact"))</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state.notes.push(text)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NoMoreInput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state.input_closed = true</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前置条件</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state.completed == true</a:t>
                      </a:r>
                      <a:r>
                        <a:rPr lang="en-US" altLang="zh-CN" sz="1100" b="0" i="0">
                          <a:solidFill>
                            <a:srgbClr val="333333"/>
                          </a:solidFill>
                          <a:latin typeface="Helvetica Neue"/>
                          <a:ea typeface="Helvetica Neue"/>
                        </a:rPr>
                        <a:t> </a:t>
                      </a:r>
                      <a:r>
                        <a:rPr lang="en-US" altLang="zh-CN" sz="1100" b="0" i="0">
                          <a:solidFill>
                            <a:srgbClr val="333333"/>
                          </a:solidFill>
                          <a:latin typeface="Helvetica Neue"/>
                          <a:ea typeface="Helvetica Neue"/>
                        </a:rPr>
                        <a:t>→</a:t>
                      </a:r>
                      <a:r>
                        <a:rPr lang="en-US" altLang="zh-CN" sz="1100" b="0" i="0">
                          <a:solidFill>
                            <a:srgbClr val="333333"/>
                          </a:solidFill>
                          <a:latin typeface="Helvetica Neue"/>
                          <a:ea typeface="Helvetica Neue"/>
                        </a:rPr>
                        <a:t> </a:t>
                      </a:r>
                      <a:r>
                        <a:rPr lang="zh-CN" altLang="en-US" sz="1100" b="0" i="0">
                          <a:solidFill>
                            <a:srgbClr val="000000"/>
                          </a:solidFill>
                          <a:latin typeface="Helvetica Neue"/>
                          <a:ea typeface="Helvetica Neue"/>
                        </a:rPr>
                        <a:t>拒绝所有 </a:t>
                      </a:r>
                      <a:r>
                        <a:rPr lang="en-US" altLang="zh-CN" sz="1100" b="0" i="0">
                          <a:solidFill>
                            <a:srgbClr val="000000"/>
                          </a:solidFill>
                          <a:latin typeface="Helvetica Neue"/>
                          <a:ea typeface="Helvetica Neue"/>
                        </a:rPr>
                        <a:t>Observation</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Err(InvalidTransition("already completed"))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每次成功</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state.turns += 1</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bl>
          </a:graphicData>
        </a:graphic>
      </p:graphicFrame>
      <p:sp>
        <p:nvSpPr>
          <p:cNvPr id="29" name="文本框 28"/>
          <p:cNvSpPr txBox="1"/>
          <p:nvPr/>
        </p:nvSpPr>
        <p:spPr>
          <a:xfrm>
            <a:off x="7104380" y="2708910"/>
            <a:ext cx="4820920" cy="1614805"/>
          </a:xfrm>
          <a:prstGeom prst="rect">
            <a:avLst/>
          </a:prstGeom>
          <a:noFill/>
        </p:spPr>
        <p:txBody>
          <a:bodyPr wrap="square" rtlCol="0">
            <a:spAutoFit/>
          </a:bodyPr>
          <a:p>
            <a:r>
              <a:rPr lang="en-US" altLang="zh-CN" sz="1100" kern="0">
                <a:solidFill>
                  <a:srgbClr val="333333"/>
                </a:solidFill>
                <a:highlight>
                  <a:srgbClr val="00FF00"/>
                </a:highlight>
                <a:latin typeface="Helvetica Neue"/>
                <a:ea typeface="Helvetica Neue"/>
                <a:cs typeface="+mn-lt"/>
              </a:rPr>
              <a:t>Policy</a:t>
            </a:r>
            <a:r>
              <a:rPr lang="zh-CN" altLang="en-US" sz="1100" kern="0">
                <a:solidFill>
                  <a:srgbClr val="333333"/>
                </a:solidFill>
                <a:highlight>
                  <a:srgbClr val="00FF00"/>
                </a:highlight>
                <a:latin typeface="Helvetica Neue"/>
                <a:ea typeface="Helvetica Neue"/>
                <a:cs typeface="+mn-lt"/>
              </a:rPr>
              <a:t>优先级</a:t>
            </a:r>
            <a:endParaRPr lang="zh-CN" altLang="en-US" sz="1100" kern="0">
              <a:solidFill>
                <a:srgbClr val="333333"/>
              </a:solidFill>
              <a:highlight>
                <a:srgbClr val="00FF00"/>
              </a:highlight>
              <a:latin typeface="Helvetica Neue"/>
              <a:ea typeface="Helvetica Neue"/>
              <a:cs typeface="+mn-lt"/>
            </a:endParaRPr>
          </a:p>
          <a:p>
            <a:endParaRPr lang="zh-CN" altLang="en-US" sz="1100" kern="0">
              <a:solidFill>
                <a:srgbClr val="333333"/>
              </a:solidFill>
              <a:highlight>
                <a:srgbClr val="00FF00"/>
              </a:highlight>
              <a:latin typeface="Helvetica Neue"/>
              <a:ea typeface="Helvetica Neue"/>
              <a:cs typeface="+mn-lt"/>
            </a:endParaRPr>
          </a:p>
          <a:p>
            <a:r>
              <a:rPr lang="zh-CN" altLang="en-US" sz="1100" kern="0">
                <a:solidFill>
                  <a:srgbClr val="333333"/>
                </a:solidFill>
                <a:latin typeface="Helvetica Neue"/>
                <a:ea typeface="Helvetica Neue"/>
                <a:cs typeface="+mn-lt"/>
              </a:rPr>
              <a:t>1. completed == true                     → Stop("already_completed")</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2. turns &gt;= max_turns                    → Stop("turn_budget")</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3. goal 为 None                          → AskForGoal</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4. input_closed == false（输入还没关闭）  → Record(把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5. input_closed == true &amp;&amp; notes 非空    → Finish(把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6. input_closed == true &amp;&amp; notes 为空    → Stop("insufficient_input")</a:t>
            </a:r>
            <a:endParaRPr lang="zh-CN" altLang="en-US" sz="1100" kern="0">
              <a:solidFill>
                <a:srgbClr val="333333"/>
              </a:solidFill>
              <a:latin typeface="Helvetica Neue"/>
              <a:ea typeface="Helvetica Neue"/>
              <a:cs typeface="+mn-lt"/>
            </a:endParaRPr>
          </a:p>
        </p:txBody>
      </p:sp>
      <p:sp>
        <p:nvSpPr>
          <p:cNvPr id="30" name="文本框 29"/>
          <p:cNvSpPr txBox="1"/>
          <p:nvPr/>
        </p:nvSpPr>
        <p:spPr>
          <a:xfrm>
            <a:off x="7176135" y="4652645"/>
            <a:ext cx="4660900" cy="1783715"/>
          </a:xfrm>
          <a:prstGeom prst="rect">
            <a:avLst/>
          </a:prstGeom>
          <a:noFill/>
        </p:spPr>
        <p:txBody>
          <a:bodyPr wrap="square" rtlCol="0">
            <a:spAutoFit/>
          </a:bodyPr>
          <a:p>
            <a:pPr algn="l">
              <a:buClrTx/>
              <a:buSzTx/>
              <a:buNone/>
            </a:pPr>
            <a:r>
              <a:rPr lang="en-US" altLang="zh-CN" sz="1100" kern="0">
                <a:solidFill>
                  <a:srgbClr val="333333"/>
                </a:solidFill>
                <a:highlight>
                  <a:srgbClr val="00FF00"/>
                </a:highlight>
                <a:latin typeface="Helvetica Neue"/>
                <a:ea typeface="Helvetica Neue"/>
                <a:cs typeface="+mn-lt"/>
              </a:rPr>
              <a:t>run_scripted</a:t>
            </a:r>
            <a:r>
              <a:rPr lang="zh-CN" altLang="en-US" sz="1100" kern="0">
                <a:solidFill>
                  <a:srgbClr val="333333"/>
                </a:solidFill>
                <a:highlight>
                  <a:srgbClr val="00FF00"/>
                </a:highlight>
                <a:latin typeface="Helvetica Neue"/>
                <a:ea typeface="Helvetica Neue"/>
                <a:cs typeface="+mn-lt"/>
              </a:rPr>
              <a:t>循环结构</a:t>
            </a:r>
            <a:endParaRPr lang="zh-CN" altLang="en-US" sz="1100" kern="0">
              <a:solidFill>
                <a:srgbClr val="333333"/>
              </a:solidFill>
              <a:highlight>
                <a:srgbClr val="00FF00"/>
              </a:highlight>
              <a:latin typeface="Helvetica Neue"/>
              <a:ea typeface="Helvetica Neue"/>
              <a:cs typeface="+mn-lt"/>
            </a:endParaRPr>
          </a:p>
          <a:p>
            <a:pPr algn="l">
              <a:buClrTx/>
              <a:buSzTx/>
              <a:buNone/>
            </a:pPr>
            <a:endParaRPr lang="zh-CN" altLang="en-US" sz="1100" kern="0">
              <a:solidFill>
                <a:srgbClr val="333333"/>
              </a:solidFill>
              <a:highlight>
                <a:srgbClr val="00FF00"/>
              </a:highlight>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1. 初始：choose_action(&amp;state, max_turns)  → 得到第一个 action</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2. 如果初始 action 就是 Finish/Stop → 直接返回 [action]</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3. 遍历 observations：</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a. apply_observation(&amp;mut state, obs)</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b. choose_action(&amp;state, max_turns) → 得到新 action</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c. 把新 action 加入结果列表</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d. 如果新 action 是 Finish 或 Stop → 立即结束循环</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4. 返回所有 action 的列表</a:t>
            </a:r>
            <a:endParaRPr lang="zh-CN" altLang="en-US" sz="1100" kern="0">
              <a:solidFill>
                <a:srgbClr val="333333"/>
              </a:solidFill>
              <a:latin typeface="Helvetica Neue"/>
              <a:ea typeface="Helvetica Neue"/>
              <a:cs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上一页我们定义了行为契约，接下来需要编写测试，保证后续开发的代码行为符合预期。</a:t>
            </a:r>
            <a:endParaRPr lang="zh-CN" altLang="en-US"/>
          </a:p>
        </p:txBody>
      </p:sp>
      <p:sp>
        <p:nvSpPr>
          <p:cNvPr id="7" name="文本框 6"/>
          <p:cNvSpPr txBox="1"/>
          <p:nvPr/>
        </p:nvSpPr>
        <p:spPr>
          <a:xfrm>
            <a:off x="623570" y="1845310"/>
            <a:ext cx="4064000" cy="368300"/>
          </a:xfrm>
          <a:prstGeom prst="rect">
            <a:avLst/>
          </a:prstGeom>
          <a:noFill/>
        </p:spPr>
        <p:txBody>
          <a:bodyPr wrap="square" rtlCol="0">
            <a:spAutoFit/>
          </a:bodyPr>
          <a:p>
            <a:r>
              <a:rPr lang="zh-CN" altLang="en-US"/>
              <a:t>测试</a:t>
            </a:r>
            <a:r>
              <a:rPr lang="zh-CN" altLang="en-US"/>
              <a:t>怎么写？</a:t>
            </a:r>
            <a:endParaRPr lang="zh-CN" altLang="en-US"/>
          </a:p>
        </p:txBody>
      </p:sp>
      <p:sp>
        <p:nvSpPr>
          <p:cNvPr id="8" name="文本框 7"/>
          <p:cNvSpPr txBox="1"/>
          <p:nvPr/>
        </p:nvSpPr>
        <p:spPr>
          <a:xfrm>
            <a:off x="623570" y="2421255"/>
            <a:ext cx="6042025" cy="1322070"/>
          </a:xfrm>
          <a:prstGeom prst="rect">
            <a:avLst/>
          </a:prstGeom>
          <a:noFill/>
        </p:spPr>
        <p:txBody>
          <a:bodyPr wrap="square" rtlCol="0">
            <a:spAutoFit/>
          </a:bodyPr>
          <a:p>
            <a:r>
              <a:rPr lang="en-US" altLang="zh-CN" sz="1600"/>
              <a:t>Rust</a:t>
            </a:r>
            <a:r>
              <a:rPr lang="zh-CN" altLang="en-US" sz="1600"/>
              <a:t>测试就是一个带</a:t>
            </a:r>
            <a:r>
              <a:rPr lang="en-US" altLang="zh-CN" sz="1600"/>
              <a:t>#[test]</a:t>
            </a:r>
            <a:r>
              <a:rPr lang="zh-CN" altLang="en-US" sz="1600"/>
              <a:t>的函数。写测试的三板斧：</a:t>
            </a:r>
            <a:endParaRPr lang="zh-CN" altLang="en-US" sz="1600"/>
          </a:p>
          <a:p>
            <a:r>
              <a:rPr lang="en-US" altLang="zh-CN" sz="1600"/>
              <a:t>1</a:t>
            </a:r>
            <a:r>
              <a:rPr lang="zh-CN" altLang="en-US" sz="1600">
                <a:ea typeface="宋体" panose="02010600030101010101" pitchFamily="2" charset="-122"/>
              </a:rPr>
              <a:t>、准备（</a:t>
            </a:r>
            <a:r>
              <a:rPr lang="en-US" altLang="zh-CN" sz="1600">
                <a:ea typeface="宋体" panose="02010600030101010101" pitchFamily="2" charset="-122"/>
              </a:rPr>
              <a:t>Arrange</a:t>
            </a:r>
            <a:r>
              <a:rPr lang="zh-CN" altLang="en-US" sz="1600">
                <a:ea typeface="宋体" panose="02010600030101010101" pitchFamily="2" charset="-122"/>
              </a:rPr>
              <a:t>）</a:t>
            </a:r>
            <a:r>
              <a:rPr lang="en-US" altLang="zh-CN" sz="1600">
                <a:ea typeface="宋体" panose="02010600030101010101" pitchFamily="2" charset="-122"/>
              </a:rPr>
              <a:t> ——</a:t>
            </a:r>
            <a:r>
              <a:rPr lang="zh-CN" altLang="en-US" sz="1600">
                <a:ea typeface="宋体" panose="02010600030101010101" pitchFamily="2" charset="-122"/>
              </a:rPr>
              <a:t>构造输入数据</a:t>
            </a:r>
            <a:endParaRPr lang="zh-CN" altLang="en-US" sz="1600">
              <a:ea typeface="宋体" panose="02010600030101010101" pitchFamily="2" charset="-122"/>
            </a:endParaRPr>
          </a:p>
          <a:p>
            <a:r>
              <a:rPr lang="en-US" altLang="zh-CN" sz="1600">
                <a:ea typeface="宋体" panose="02010600030101010101" pitchFamily="2" charset="-122"/>
              </a:rPr>
              <a:t>2</a:t>
            </a:r>
            <a:r>
              <a:rPr lang="zh-CN" altLang="en-US" sz="1600">
                <a:ea typeface="宋体" panose="02010600030101010101" pitchFamily="2" charset="-122"/>
              </a:rPr>
              <a:t>、执行（</a:t>
            </a:r>
            <a:r>
              <a:rPr lang="en-US" altLang="zh-CN" sz="1600">
                <a:ea typeface="宋体" panose="02010600030101010101" pitchFamily="2" charset="-122"/>
              </a:rPr>
              <a:t>Act</a:t>
            </a:r>
            <a:r>
              <a:rPr lang="zh-CN" altLang="en-US" sz="1600">
                <a:ea typeface="宋体" panose="02010600030101010101" pitchFamily="2" charset="-122"/>
              </a:rPr>
              <a:t>）</a:t>
            </a:r>
            <a:r>
              <a:rPr lang="en-US" altLang="zh-CN" sz="1600">
                <a:ea typeface="宋体" panose="02010600030101010101" pitchFamily="2" charset="-122"/>
              </a:rPr>
              <a:t> ——</a:t>
            </a:r>
            <a:r>
              <a:rPr lang="zh-CN" altLang="en-US" sz="1600">
                <a:ea typeface="宋体" panose="02010600030101010101" pitchFamily="2" charset="-122"/>
              </a:rPr>
              <a:t>调用被测函数</a:t>
            </a:r>
            <a:endParaRPr lang="zh-CN" altLang="en-US" sz="1600">
              <a:ea typeface="宋体" panose="02010600030101010101" pitchFamily="2" charset="-122"/>
            </a:endParaRPr>
          </a:p>
          <a:p>
            <a:r>
              <a:rPr lang="en-US" altLang="zh-CN" sz="1600">
                <a:ea typeface="宋体" panose="02010600030101010101" pitchFamily="2" charset="-122"/>
              </a:rPr>
              <a:t>3</a:t>
            </a:r>
            <a:r>
              <a:rPr lang="zh-CN" altLang="en-US" sz="1600">
                <a:ea typeface="宋体" panose="02010600030101010101" pitchFamily="2" charset="-122"/>
              </a:rPr>
              <a:t>、断言（</a:t>
            </a:r>
            <a:r>
              <a:rPr lang="en-US" altLang="zh-CN" sz="1600">
                <a:ea typeface="宋体" panose="02010600030101010101" pitchFamily="2" charset="-122"/>
              </a:rPr>
              <a:t>Assert</a:t>
            </a:r>
            <a:r>
              <a:rPr lang="zh-CN" altLang="en-US" sz="1600">
                <a:ea typeface="宋体" panose="02010600030101010101" pitchFamily="2" charset="-122"/>
              </a:rPr>
              <a:t>）</a:t>
            </a:r>
            <a:r>
              <a:rPr lang="en-US" altLang="zh-CN" sz="1600">
                <a:ea typeface="宋体" panose="02010600030101010101" pitchFamily="2" charset="-122"/>
              </a:rPr>
              <a:t> ——</a:t>
            </a:r>
            <a:r>
              <a:rPr lang="zh-CN" altLang="en-US" sz="1600">
                <a:ea typeface="宋体" panose="02010600030101010101" pitchFamily="2" charset="-122"/>
              </a:rPr>
              <a:t>检查结果是否符合预期</a:t>
            </a:r>
            <a:endParaRPr lang="zh-CN" altLang="en-US" sz="1600">
              <a:ea typeface="宋体" panose="02010600030101010101" pitchFamily="2" charset="-122"/>
            </a:endParaRPr>
          </a:p>
          <a:p>
            <a:endParaRPr lang="zh-CN" altLang="en-US" sz="1600">
              <a:ea typeface="宋体" panose="02010600030101010101" pitchFamily="2" charset="-122"/>
            </a:endParaRPr>
          </a:p>
        </p:txBody>
      </p:sp>
      <p:sp>
        <p:nvSpPr>
          <p:cNvPr id="9" name="文本框 8"/>
          <p:cNvSpPr txBox="1"/>
          <p:nvPr/>
        </p:nvSpPr>
        <p:spPr>
          <a:xfrm>
            <a:off x="6311900" y="2132330"/>
            <a:ext cx="4943475" cy="4092575"/>
          </a:xfrm>
          <a:prstGeom prst="rect">
            <a:avLst/>
          </a:prstGeom>
          <a:noFill/>
          <a:ln>
            <a:solidFill>
              <a:srgbClr val="0070C0"/>
            </a:solidFill>
          </a:ln>
        </p:spPr>
        <p:txBody>
          <a:bodyPr wrap="square" rtlCol="0">
            <a:spAutoFit/>
          </a:bodyPr>
          <a:p>
            <a:r>
              <a:rPr lang="zh-CN" altLang="en-US" sz="1600"/>
              <a:t>以 budget_has_priority_over_continuation 为例：</a:t>
            </a:r>
            <a:endParaRPr lang="zh-CN" altLang="en-US" sz="1600"/>
          </a:p>
          <a:p>
            <a:endParaRPr lang="zh-CN" altLang="en-US" sz="1600"/>
          </a:p>
          <a:p>
            <a:r>
              <a:rPr lang="en-US" altLang="zh-CN" sz="1200">
                <a:highlight>
                  <a:srgbClr val="00FF00"/>
                </a:highlight>
              </a:rPr>
              <a:t>#[test]</a:t>
            </a:r>
            <a:endParaRPr lang="en-US" altLang="zh-CN" sz="1200">
              <a:highlight>
                <a:srgbClr val="00FF00"/>
              </a:highlight>
            </a:endParaRPr>
          </a:p>
          <a:p>
            <a:r>
              <a:rPr lang="en-US" altLang="zh-CN" sz="1200"/>
              <a:t>fn budget_has_priority_over_continuation() {</a:t>
            </a:r>
            <a:endParaRPr lang="en-US" altLang="zh-CN" sz="1200"/>
          </a:p>
          <a:p>
            <a:r>
              <a:rPr lang="en-US" altLang="zh-CN" sz="1200"/>
              <a:t>    </a:t>
            </a:r>
            <a:r>
              <a:rPr lang="en-US" altLang="zh-CN" sz="1200">
                <a:solidFill>
                  <a:schemeClr val="accent6">
                    <a:lumMod val="75000"/>
                  </a:schemeClr>
                </a:solidFill>
              </a:rPr>
              <a:t>// </a:t>
            </a:r>
            <a:r>
              <a:rPr lang="en-US" altLang="en-US" sz="1200">
                <a:solidFill>
                  <a:schemeClr val="accent6">
                    <a:lumMod val="75000"/>
                  </a:schemeClr>
                </a:solidFill>
              </a:rPr>
              <a:t>①</a:t>
            </a:r>
            <a:r>
              <a:rPr lang="en-US" altLang="zh-CN" sz="1200">
                <a:solidFill>
                  <a:schemeClr val="accent6">
                    <a:lumMod val="75000"/>
                  </a:schemeClr>
                </a:solidFill>
              </a:rPr>
              <a:t> </a:t>
            </a:r>
            <a:r>
              <a:rPr lang="zh-CN" altLang="en-US" sz="1200">
                <a:solidFill>
                  <a:schemeClr val="accent6">
                    <a:lumMod val="75000"/>
                  </a:schemeClr>
                </a:solidFill>
              </a:rPr>
              <a:t>准备：构造一个</a:t>
            </a:r>
            <a:r>
              <a:rPr lang="en-US" altLang="zh-CN" sz="1200">
                <a:solidFill>
                  <a:schemeClr val="accent6">
                    <a:lumMod val="75000"/>
                  </a:schemeClr>
                </a:solidFill>
              </a:rPr>
              <a:t>"</a:t>
            </a:r>
            <a:r>
              <a:rPr lang="zh-CN" altLang="en-US" sz="1200">
                <a:solidFill>
                  <a:schemeClr val="accent6">
                    <a:lumMod val="75000"/>
                  </a:schemeClr>
                </a:solidFill>
              </a:rPr>
              <a:t>轮数已用完，但还有很多事可做</a:t>
            </a:r>
            <a:r>
              <a:rPr lang="en-US" altLang="zh-CN" sz="1200">
                <a:solidFill>
                  <a:schemeClr val="accent6">
                    <a:lumMod val="75000"/>
                  </a:schemeClr>
                </a:solidFill>
              </a:rPr>
              <a:t>"</a:t>
            </a:r>
            <a:r>
              <a:rPr lang="zh-CN" altLang="en-US" sz="1200">
                <a:solidFill>
                  <a:schemeClr val="accent6">
                    <a:lumMod val="75000"/>
                  </a:schemeClr>
                </a:solidFill>
              </a:rPr>
              <a:t>的状态</a:t>
            </a:r>
            <a:endParaRPr lang="zh-CN" altLang="en-US" sz="1200"/>
          </a:p>
          <a:p>
            <a:r>
              <a:rPr lang="en-US" altLang="zh-CN" sz="1200"/>
              <a:t>    let state = AgentState {</a:t>
            </a:r>
            <a:endParaRPr lang="en-US" altLang="zh-CN" sz="1200"/>
          </a:p>
          <a:p>
            <a:r>
              <a:rPr lang="en-US" altLang="zh-CN" sz="1200"/>
              <a:t>        turns: 5,                          // </a:t>
            </a:r>
            <a:r>
              <a:rPr lang="zh-CN" altLang="en-US" sz="1200"/>
              <a:t>已处理</a:t>
            </a:r>
            <a:r>
              <a:rPr lang="en-US" altLang="zh-CN" sz="1200"/>
              <a:t> 5 </a:t>
            </a:r>
            <a:r>
              <a:rPr lang="zh-CN" altLang="en-US" sz="1200"/>
              <a:t>个</a:t>
            </a:r>
            <a:r>
              <a:rPr lang="en-US" altLang="zh-CN" sz="1200"/>
              <a:t> Observation</a:t>
            </a:r>
            <a:endParaRPr lang="en-US" altLang="zh-CN" sz="1200"/>
          </a:p>
          <a:p>
            <a:r>
              <a:rPr lang="en-US" altLang="zh-CN" sz="1200"/>
              <a:t>        goal: Some("</a:t>
            </a:r>
            <a:r>
              <a:rPr lang="zh-CN" altLang="en-US" sz="1200"/>
              <a:t>目标</a:t>
            </a:r>
            <a:r>
              <a:rPr lang="en-US" altLang="zh-CN" sz="1200"/>
              <a:t>".into()),          // </a:t>
            </a:r>
            <a:r>
              <a:rPr lang="zh-CN" altLang="en-US" sz="1200"/>
              <a:t>有目标</a:t>
            </a:r>
            <a:endParaRPr lang="zh-CN" altLang="en-US" sz="1200"/>
          </a:p>
          <a:p>
            <a:r>
              <a:rPr lang="en-US" altLang="zh-CN" sz="1200"/>
              <a:t>        notes: vec!["</a:t>
            </a:r>
            <a:r>
              <a:rPr lang="zh-CN" altLang="en-US" sz="1200"/>
              <a:t>还有很多事实</a:t>
            </a:r>
            <a:r>
              <a:rPr lang="en-US" altLang="zh-CN" sz="1200"/>
              <a:t>".into()], // </a:t>
            </a:r>
            <a:r>
              <a:rPr lang="zh-CN" altLang="en-US" sz="1200"/>
              <a:t>有事实</a:t>
            </a:r>
            <a:endParaRPr lang="zh-CN" altLang="en-US" sz="1200"/>
          </a:p>
          <a:p>
            <a:r>
              <a:rPr lang="en-US" altLang="zh-CN" sz="1200"/>
              <a:t>        input_closed: false,               // </a:t>
            </a:r>
            <a:r>
              <a:rPr lang="zh-CN" altLang="en-US" sz="1200"/>
              <a:t>输入还没关闭！</a:t>
            </a:r>
            <a:endParaRPr lang="zh-CN" altLang="en-US" sz="1200"/>
          </a:p>
          <a:p>
            <a:r>
              <a:rPr lang="en-US" altLang="zh-CN" sz="1200"/>
              <a:t>        completed: false,</a:t>
            </a:r>
            <a:endParaRPr lang="en-US" altLang="zh-CN" sz="1200"/>
          </a:p>
          <a:p>
            <a:r>
              <a:rPr lang="en-US" altLang="zh-CN" sz="1200"/>
              <a:t>    };</a:t>
            </a:r>
            <a:endParaRPr lang="en-US" altLang="zh-CN" sz="1200"/>
          </a:p>
          <a:p>
            <a:endParaRPr lang="en-US" altLang="zh-CN" sz="1200"/>
          </a:p>
          <a:p>
            <a:r>
              <a:rPr lang="en-US" altLang="zh-CN" sz="1200"/>
              <a:t>    </a:t>
            </a:r>
            <a:r>
              <a:rPr lang="en-US" altLang="zh-CN" sz="1200">
                <a:solidFill>
                  <a:schemeClr val="accent6">
                    <a:lumMod val="75000"/>
                  </a:schemeClr>
                </a:solidFill>
              </a:rPr>
              <a:t>// </a:t>
            </a:r>
            <a:r>
              <a:rPr lang="en-US" altLang="en-US" sz="1200">
                <a:solidFill>
                  <a:schemeClr val="accent6">
                    <a:lumMod val="75000"/>
                  </a:schemeClr>
                </a:solidFill>
              </a:rPr>
              <a:t>②</a:t>
            </a:r>
            <a:r>
              <a:rPr lang="en-US" altLang="zh-CN" sz="1200">
                <a:solidFill>
                  <a:schemeClr val="accent6">
                    <a:lumMod val="75000"/>
                  </a:schemeClr>
                </a:solidFill>
              </a:rPr>
              <a:t> </a:t>
            </a:r>
            <a:r>
              <a:rPr lang="zh-CN" altLang="en-US" sz="1200">
                <a:solidFill>
                  <a:schemeClr val="accent6">
                    <a:lumMod val="75000"/>
                  </a:schemeClr>
                </a:solidFill>
              </a:rPr>
              <a:t>执行：调用被测函数</a:t>
            </a:r>
            <a:endParaRPr lang="zh-CN" altLang="en-US" sz="1200"/>
          </a:p>
          <a:p>
            <a:r>
              <a:rPr lang="en-US" altLang="zh-CN" sz="1200"/>
              <a:t>    let action = choose_action(&amp;state, 5).unwrap();</a:t>
            </a:r>
            <a:endParaRPr lang="en-US" altLang="zh-CN" sz="1200"/>
          </a:p>
          <a:p>
            <a:endParaRPr lang="en-US" altLang="zh-CN" sz="1200"/>
          </a:p>
          <a:p>
            <a:r>
              <a:rPr lang="en-US" altLang="zh-CN" sz="1200"/>
              <a:t>    </a:t>
            </a:r>
            <a:r>
              <a:rPr lang="en-US" altLang="zh-CN" sz="1200">
                <a:solidFill>
                  <a:schemeClr val="accent6">
                    <a:lumMod val="75000"/>
                  </a:schemeClr>
                </a:solidFill>
              </a:rPr>
              <a:t>// </a:t>
            </a:r>
            <a:r>
              <a:rPr lang="en-US" altLang="en-US" sz="1200">
                <a:solidFill>
                  <a:schemeClr val="accent6">
                    <a:lumMod val="75000"/>
                  </a:schemeClr>
                </a:solidFill>
              </a:rPr>
              <a:t>③</a:t>
            </a:r>
            <a:r>
              <a:rPr lang="en-US" altLang="zh-CN" sz="1200">
                <a:solidFill>
                  <a:schemeClr val="accent6">
                    <a:lumMod val="75000"/>
                  </a:schemeClr>
                </a:solidFill>
              </a:rPr>
              <a:t> </a:t>
            </a:r>
            <a:r>
              <a:rPr lang="zh-CN" altLang="en-US" sz="1200">
                <a:solidFill>
                  <a:schemeClr val="accent6">
                    <a:lumMod val="75000"/>
                  </a:schemeClr>
                </a:solidFill>
              </a:rPr>
              <a:t>断言：必须返回</a:t>
            </a:r>
            <a:r>
              <a:rPr lang="en-US" altLang="zh-CN" sz="1200">
                <a:solidFill>
                  <a:schemeClr val="accent6">
                    <a:lumMod val="75000"/>
                  </a:schemeClr>
                </a:solidFill>
              </a:rPr>
              <a:t> Stop("turn_budget")</a:t>
            </a:r>
            <a:r>
              <a:rPr lang="zh-CN" altLang="en-US" sz="1200">
                <a:solidFill>
                  <a:schemeClr val="accent6">
                    <a:lumMod val="75000"/>
                  </a:schemeClr>
                </a:solidFill>
              </a:rPr>
              <a:t>，哪怕</a:t>
            </a:r>
            <a:r>
              <a:rPr lang="en-US" altLang="zh-CN" sz="1200">
                <a:solidFill>
                  <a:schemeClr val="accent6">
                    <a:lumMod val="75000"/>
                  </a:schemeClr>
                </a:solidFill>
              </a:rPr>
              <a:t> input_closed=false</a:t>
            </a:r>
            <a:endParaRPr lang="en-US" altLang="zh-CN" sz="1200"/>
          </a:p>
          <a:p>
            <a:r>
              <a:rPr lang="en-US" altLang="zh-CN" sz="1200"/>
              <a:t>    assert_eq!(action, Action::Stop("turn_budget"),</a:t>
            </a:r>
            <a:endParaRPr lang="en-US" altLang="zh-CN" sz="1200"/>
          </a:p>
          <a:p>
            <a:r>
              <a:rPr lang="en-US" altLang="zh-CN" sz="1200"/>
              <a:t>        "</a:t>
            </a:r>
            <a:r>
              <a:rPr lang="zh-CN" altLang="en-US" sz="1200"/>
              <a:t>预算耗尽时必须优先于继续处理</a:t>
            </a:r>
            <a:r>
              <a:rPr lang="en-US" altLang="zh-CN" sz="1200"/>
              <a:t>");</a:t>
            </a:r>
            <a:endParaRPr lang="en-US" altLang="zh-CN" sz="1200"/>
          </a:p>
          <a:p>
            <a:r>
              <a:rPr lang="en-US" altLang="zh-CN" sz="1200"/>
              <a:t>}</a:t>
            </a:r>
            <a:endParaRPr lang="en-US" altLang="zh-CN" sz="1200"/>
          </a:p>
          <a:p>
            <a:endParaRPr lang="en-US" altLang="zh-CN" sz="1200"/>
          </a:p>
        </p:txBody>
      </p:sp>
      <p:graphicFrame>
        <p:nvGraphicFramePr>
          <p:cNvPr id="11" name="表格 10"/>
          <p:cNvGraphicFramePr/>
          <p:nvPr/>
        </p:nvGraphicFramePr>
        <p:xfrm>
          <a:off x="620395" y="4292600"/>
          <a:ext cx="5560695" cy="965200"/>
        </p:xfrm>
        <a:graphic>
          <a:graphicData uri="http://schemas.openxmlformats.org/drawingml/2006/table">
            <a:tbl>
              <a:tblPr/>
              <a:tblGrid>
                <a:gridCol w="1753870"/>
                <a:gridCol w="908685"/>
                <a:gridCol w="2898140"/>
              </a:tblGrid>
              <a:tr h="0">
                <a:tc>
                  <a:txBody>
                    <a:bodyPr/>
                    <a:p>
                      <a:r>
                        <a:rPr lang="zh-CN" altLang="en-US" sz="1100" b="0" i="0">
                          <a:solidFill>
                            <a:schemeClr val="tx1"/>
                          </a:solidFill>
                          <a:latin typeface="-apple-system"/>
                          <a:ea typeface="-apple-system"/>
                        </a:rPr>
                        <a:t>宏</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用途</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示例</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assert!(</a:t>
                      </a:r>
                      <a:r>
                        <a:rPr lang="zh-CN" altLang="en-US" sz="900" b="0" i="0">
                          <a:solidFill>
                            <a:schemeClr val="tx1"/>
                          </a:solidFill>
                          <a:latin typeface="-apple-system"/>
                          <a:ea typeface="-apple-system"/>
                        </a:rPr>
                        <a:t>条件</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条件为真</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assert!(state.input_closed)</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assert_eq!(</a:t>
                      </a:r>
                      <a:r>
                        <a:rPr lang="zh-CN" altLang="en-US" sz="900" b="0" i="0">
                          <a:solidFill>
                            <a:schemeClr val="tx1"/>
                          </a:solidFill>
                          <a:latin typeface="-apple-system"/>
                          <a:ea typeface="-apple-system"/>
                        </a:rPr>
                        <a:t>左</a:t>
                      </a:r>
                      <a:r>
                        <a:rPr lang="en-US" altLang="zh-CN" sz="900" b="0" i="0">
                          <a:solidFill>
                            <a:schemeClr val="tx1"/>
                          </a:solidFill>
                          <a:latin typeface="-apple-system"/>
                          <a:ea typeface="-apple-system"/>
                        </a:rPr>
                        <a:t>, </a:t>
                      </a:r>
                      <a:r>
                        <a:rPr lang="zh-CN" altLang="en-US" sz="900" b="0" i="0">
                          <a:solidFill>
                            <a:schemeClr val="tx1"/>
                          </a:solidFill>
                          <a:latin typeface="-apple-system"/>
                          <a:ea typeface="-apple-system"/>
                        </a:rPr>
                        <a:t>右</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两边相等</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assert_eq!(action, Action::Stop("..."))</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assert!(result.is_err())</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结果是错误</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assert!(apply_observation(...).is_err())</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matches!(</a:t>
                      </a:r>
                      <a:r>
                        <a:rPr lang="zh-CN" altLang="en-US" sz="900" b="0" i="0">
                          <a:solidFill>
                            <a:schemeClr val="tx1"/>
                          </a:solidFill>
                          <a:latin typeface="-apple-system"/>
                          <a:ea typeface="-apple-system"/>
                        </a:rPr>
                        <a:t>值</a:t>
                      </a:r>
                      <a:r>
                        <a:rPr lang="en-US" altLang="zh-CN" sz="900" b="0" i="0">
                          <a:solidFill>
                            <a:schemeClr val="tx1"/>
                          </a:solidFill>
                          <a:latin typeface="-apple-system"/>
                          <a:ea typeface="-apple-system"/>
                        </a:rPr>
                        <a:t>, </a:t>
                      </a:r>
                      <a:r>
                        <a:rPr lang="zh-CN" altLang="en-US" sz="900" b="0" i="0">
                          <a:solidFill>
                            <a:schemeClr val="tx1"/>
                          </a:solidFill>
                          <a:latin typeface="-apple-system"/>
                          <a:ea typeface="-apple-system"/>
                        </a:rPr>
                        <a:t>模式</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匹配枚举变体</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matches!(action, Action::Finish(_))</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bl>
          </a:graphicData>
        </a:graphic>
      </p:graphicFrame>
      <p:sp>
        <p:nvSpPr>
          <p:cNvPr id="12" name="文本框 11"/>
          <p:cNvSpPr txBox="1"/>
          <p:nvPr/>
        </p:nvSpPr>
        <p:spPr>
          <a:xfrm>
            <a:off x="623570" y="3789045"/>
            <a:ext cx="4064000" cy="368300"/>
          </a:xfrm>
          <a:prstGeom prst="rect">
            <a:avLst/>
          </a:prstGeom>
          <a:noFill/>
        </p:spPr>
        <p:txBody>
          <a:bodyPr wrap="square" rtlCol="0">
            <a:spAutoFit/>
          </a:bodyPr>
          <a:p>
            <a:r>
              <a:rPr lang="zh-CN" altLang="en-US"/>
              <a:t>常用的断言</a:t>
            </a:r>
            <a:r>
              <a:rPr lang="zh-CN" altLang="en-US"/>
              <a:t>宏：</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上</a:t>
            </a:r>
            <a:r>
              <a:rPr lang="zh-CN" altLang="en-US"/>
              <a:t>上页我们定义了行为契约，接下来需要编写测试，保证后续开发的代码行为符合预期。</a:t>
            </a:r>
            <a:endParaRPr lang="zh-CN" altLang="en-US"/>
          </a:p>
        </p:txBody>
      </p:sp>
      <p:sp>
        <p:nvSpPr>
          <p:cNvPr id="7" name="文本框 6"/>
          <p:cNvSpPr txBox="1"/>
          <p:nvPr/>
        </p:nvSpPr>
        <p:spPr>
          <a:xfrm>
            <a:off x="623570" y="1845310"/>
            <a:ext cx="4064000" cy="368300"/>
          </a:xfrm>
          <a:prstGeom prst="rect">
            <a:avLst/>
          </a:prstGeom>
          <a:noFill/>
        </p:spPr>
        <p:txBody>
          <a:bodyPr wrap="square" rtlCol="0">
            <a:spAutoFit/>
          </a:bodyPr>
          <a:p>
            <a:r>
              <a:rPr lang="zh-CN" altLang="en-US"/>
              <a:t>对于我们的契约，我们</a:t>
            </a:r>
            <a:r>
              <a:rPr lang="zh-CN" altLang="en-US"/>
              <a:t>的测试</a:t>
            </a:r>
            <a:r>
              <a:rPr lang="zh-CN" altLang="en-US"/>
              <a:t>怎么写？</a:t>
            </a:r>
            <a:endParaRPr lang="zh-CN" altLang="en-US"/>
          </a:p>
        </p:txBody>
      </p:sp>
      <p:sp>
        <p:nvSpPr>
          <p:cNvPr id="10" name="文本框 9"/>
          <p:cNvSpPr txBox="1"/>
          <p:nvPr/>
        </p:nvSpPr>
        <p:spPr>
          <a:xfrm>
            <a:off x="5181600" y="1845310"/>
            <a:ext cx="5665470" cy="2553335"/>
          </a:xfrm>
          <a:prstGeom prst="rect">
            <a:avLst/>
          </a:prstGeom>
          <a:noFill/>
        </p:spPr>
        <p:txBody>
          <a:bodyPr wrap="square" rtlCol="0">
            <a:spAutoFit/>
          </a:bodyPr>
          <a:p>
            <a:r>
              <a:rPr lang="zh-CN" altLang="en-US" sz="1000">
                <a:highlight>
                  <a:srgbClr val="00FF00"/>
                </a:highlight>
              </a:rPr>
              <a:t>测试：破坏优先级执行</a:t>
            </a:r>
            <a:endParaRPr lang="en-US" altLang="zh-CN" sz="1000">
              <a:highlight>
                <a:srgbClr val="00FF00"/>
              </a:highlight>
            </a:endParaRPr>
          </a:p>
          <a:p>
            <a:r>
              <a:rPr lang="en-US" altLang="zh-CN" sz="1000"/>
              <a:t>#[test]</a:t>
            </a:r>
            <a:endParaRPr lang="en-US" altLang="zh-CN" sz="1000"/>
          </a:p>
          <a:p>
            <a:r>
              <a:rPr lang="en-US" altLang="zh-CN" sz="1000"/>
              <a:t>fn closed_input_without_fact_stops() {</a:t>
            </a:r>
            <a:endParaRPr lang="en-US" altLang="zh-CN" sz="1000"/>
          </a:p>
          <a:p>
            <a:r>
              <a:rPr lang="en-US" altLang="zh-CN" sz="1000"/>
              <a:t>    let state = AgentState {</a:t>
            </a:r>
            <a:endParaRPr lang="en-US" altLang="zh-CN" sz="1000"/>
          </a:p>
          <a:p>
            <a:r>
              <a:rPr lang="en-US" altLang="zh-CN" sz="1000"/>
              <a:t>        goal: Some("</a:t>
            </a:r>
            <a:r>
              <a:rPr lang="zh-CN" altLang="en-US" sz="1000"/>
              <a:t>总结会议</a:t>
            </a:r>
            <a:r>
              <a:rPr lang="en-US" altLang="zh-CN" sz="1000"/>
              <a:t>".into()),</a:t>
            </a:r>
            <a:endParaRPr lang="en-US" altLang="zh-CN" sz="1000"/>
          </a:p>
          <a:p>
            <a:r>
              <a:rPr lang="en-US" altLang="zh-CN" sz="1000"/>
              <a:t>        notes: vec![], // </a:t>
            </a:r>
            <a:r>
              <a:rPr lang="zh-CN" altLang="en-US" sz="1000"/>
              <a:t>没有事实</a:t>
            </a:r>
            <a:endParaRPr lang="zh-CN" altLang="en-US" sz="1000"/>
          </a:p>
          <a:p>
            <a:r>
              <a:rPr lang="en-US" altLang="zh-CN" sz="1000"/>
              <a:t>        input_closed: true,</a:t>
            </a:r>
            <a:endParaRPr lang="en-US" altLang="zh-CN" sz="1000"/>
          </a:p>
          <a:p>
            <a:r>
              <a:rPr lang="en-US" altLang="zh-CN" sz="1000"/>
              <a:t>        ..Default::default()</a:t>
            </a:r>
            <a:endParaRPr lang="en-US" altLang="zh-CN" sz="1000"/>
          </a:p>
          <a:p>
            <a:r>
              <a:rPr lang="en-US" altLang="zh-CN" sz="1000"/>
              <a:t>    };</a:t>
            </a:r>
            <a:endParaRPr lang="en-US" altLang="zh-CN" sz="1000"/>
          </a:p>
          <a:p>
            <a:r>
              <a:rPr lang="en-US" altLang="zh-CN" sz="1000"/>
              <a:t>    let action = choose_action(&amp;state, 10).unwrap();</a:t>
            </a:r>
            <a:endParaRPr lang="en-US" altLang="zh-CN" sz="1000"/>
          </a:p>
          <a:p>
            <a:r>
              <a:rPr lang="en-US" altLang="zh-CN" sz="1000"/>
              <a:t>    assert_eq!(</a:t>
            </a:r>
            <a:endParaRPr lang="en-US" altLang="zh-CN" sz="1000"/>
          </a:p>
          <a:p>
            <a:r>
              <a:rPr lang="en-US" altLang="zh-CN" sz="1000"/>
              <a:t>        action,</a:t>
            </a:r>
            <a:endParaRPr lang="en-US" altLang="zh-CN" sz="1000"/>
          </a:p>
          <a:p>
            <a:r>
              <a:rPr lang="en-US" altLang="zh-CN" sz="1000"/>
              <a:t>        Action::Stop("insufficient_input"),</a:t>
            </a:r>
            <a:endParaRPr lang="en-US" altLang="zh-CN" sz="1000"/>
          </a:p>
          <a:p>
            <a:r>
              <a:rPr lang="en-US" altLang="zh-CN" sz="1000"/>
              <a:t>        "</a:t>
            </a:r>
            <a:r>
              <a:rPr lang="zh-CN" altLang="en-US" sz="1000"/>
              <a:t>输入关闭但没有事实时，应该</a:t>
            </a:r>
            <a:r>
              <a:rPr lang="en-US" altLang="zh-CN" sz="1000"/>
              <a:t> Stop"</a:t>
            </a:r>
            <a:endParaRPr lang="en-US" altLang="zh-CN" sz="1000"/>
          </a:p>
          <a:p>
            <a:r>
              <a:rPr lang="en-US" altLang="zh-CN" sz="1000"/>
              <a:t>    );</a:t>
            </a:r>
            <a:endParaRPr lang="en-US" altLang="zh-CN" sz="1000"/>
          </a:p>
          <a:p>
            <a:r>
              <a:rPr lang="en-US" altLang="zh-CN" sz="1000"/>
              <a:t>}</a:t>
            </a:r>
            <a:endParaRPr lang="en-US" altLang="zh-CN" sz="1000"/>
          </a:p>
        </p:txBody>
      </p:sp>
      <p:sp>
        <p:nvSpPr>
          <p:cNvPr id="14" name="文本框 13"/>
          <p:cNvSpPr txBox="1"/>
          <p:nvPr/>
        </p:nvSpPr>
        <p:spPr>
          <a:xfrm>
            <a:off x="5231765" y="4398645"/>
            <a:ext cx="4064000" cy="1476375"/>
          </a:xfrm>
          <a:prstGeom prst="rect">
            <a:avLst/>
          </a:prstGeom>
          <a:noFill/>
        </p:spPr>
        <p:txBody>
          <a:bodyPr wrap="square" rtlCol="0">
            <a:spAutoFit/>
          </a:bodyPr>
          <a:p>
            <a:r>
              <a:rPr lang="zh-CN" altLang="en-US" sz="1000">
                <a:highlight>
                  <a:srgbClr val="00FF00"/>
                </a:highlight>
              </a:rPr>
              <a:t>测试：空目标时被拒绝</a:t>
            </a:r>
            <a:endParaRPr lang="en-US" altLang="zh-CN" sz="1000">
              <a:highlight>
                <a:srgbClr val="00FF00"/>
              </a:highlight>
            </a:endParaRPr>
          </a:p>
          <a:p>
            <a:r>
              <a:rPr lang="zh-CN" altLang="en-US" sz="1000"/>
              <a:t>验证：</a:t>
            </a:r>
            <a:r>
              <a:rPr lang="en-US" altLang="zh-CN" sz="1000"/>
              <a:t>UserGoal("") </a:t>
            </a:r>
            <a:r>
              <a:rPr lang="zh-CN" altLang="en-US" sz="1000"/>
              <a:t>不能静默写入，必须返回错误</a:t>
            </a:r>
            <a:endParaRPr lang="en-US" altLang="zh-CN" sz="1000"/>
          </a:p>
          <a:p>
            <a:r>
              <a:rPr lang="en-US" altLang="zh-CN" sz="1000"/>
              <a:t>#[test]</a:t>
            </a:r>
            <a:endParaRPr lang="en-US" altLang="zh-CN" sz="1000"/>
          </a:p>
          <a:p>
            <a:r>
              <a:rPr lang="en-US" altLang="zh-CN" sz="1000"/>
              <a:t>fn empty_goal_is_rejected() {</a:t>
            </a:r>
            <a:endParaRPr lang="en-US" altLang="zh-CN" sz="1000"/>
          </a:p>
          <a:p>
            <a:r>
              <a:rPr lang="en-US" altLang="zh-CN" sz="1000"/>
              <a:t>    let mut state = AgentState::default();</a:t>
            </a:r>
            <a:endParaRPr lang="en-US" altLang="zh-CN" sz="1000"/>
          </a:p>
          <a:p>
            <a:r>
              <a:rPr lang="en-US" altLang="zh-CN" sz="1000"/>
              <a:t>    let result = apply_observation(&amp;mut state, Observation::UserGoal("".into()));</a:t>
            </a:r>
            <a:endParaRPr lang="en-US" altLang="zh-CN" sz="1000"/>
          </a:p>
          <a:p>
            <a:r>
              <a:rPr lang="en-US" altLang="zh-CN" sz="1000"/>
              <a:t>    assert!(result.is_err(), "</a:t>
            </a:r>
            <a:r>
              <a:rPr lang="zh-CN" altLang="en-US" sz="1000"/>
              <a:t>空目标应该被拒绝，但成功了</a:t>
            </a:r>
            <a:r>
              <a:rPr lang="en-US" altLang="zh-CN" sz="1000"/>
              <a:t>");</a:t>
            </a:r>
            <a:endParaRPr lang="en-US" altLang="zh-CN" sz="1000"/>
          </a:p>
          <a:p>
            <a:r>
              <a:rPr lang="en-US" altLang="zh-CN" sz="1000"/>
              <a:t>}</a:t>
            </a:r>
            <a:endParaRPr lang="en-US" altLang="zh-CN" sz="1000"/>
          </a:p>
        </p:txBody>
      </p:sp>
      <p:cxnSp>
        <p:nvCxnSpPr>
          <p:cNvPr id="15" name="直接箭头连接符 14"/>
          <p:cNvCxnSpPr/>
          <p:nvPr/>
        </p:nvCxnSpPr>
        <p:spPr>
          <a:xfrm>
            <a:off x="3575685" y="3644900"/>
            <a:ext cx="1656080" cy="1151890"/>
          </a:xfrm>
          <a:prstGeom prst="straightConnector1">
            <a:avLst/>
          </a:prstGeom>
          <a:ln>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5231765" y="5732780"/>
            <a:ext cx="4064000" cy="922020"/>
          </a:xfrm>
          <a:prstGeom prst="rect">
            <a:avLst/>
          </a:prstGeom>
          <a:noFill/>
        </p:spPr>
        <p:txBody>
          <a:bodyPr wrap="square" rtlCol="0">
            <a:spAutoFit/>
          </a:bodyPr>
          <a:p>
            <a:r>
              <a:rPr lang="en-US" altLang="zh-CN"/>
              <a:t>......</a:t>
            </a:r>
            <a:endParaRPr lang="zh-CN" altLang="en-US"/>
          </a:p>
          <a:p>
            <a:r>
              <a:rPr lang="zh-CN" altLang="en-US"/>
              <a:t>继续围绕契约应该出现的预期和不期望它出现的情况编写</a:t>
            </a:r>
            <a:r>
              <a:rPr lang="en-US" altLang="zh-CN"/>
              <a:t> # [ test ]</a:t>
            </a:r>
            <a:endParaRPr lang="zh-CN" altLang="en-US">
              <a:ea typeface="宋体" panose="02010600030101010101" pitchFamily="2" charset="-122"/>
            </a:endParaRPr>
          </a:p>
        </p:txBody>
      </p:sp>
      <p:graphicFrame>
        <p:nvGraphicFramePr>
          <p:cNvPr id="28" name="表格 27"/>
          <p:cNvGraphicFramePr/>
          <p:nvPr/>
        </p:nvGraphicFramePr>
        <p:xfrm>
          <a:off x="430530" y="2708910"/>
          <a:ext cx="3215005" cy="0"/>
        </p:xfrm>
        <a:graphic>
          <a:graphicData uri="http://schemas.openxmlformats.org/drawingml/2006/table">
            <a:tbl>
              <a:tblPr/>
              <a:tblGrid>
                <a:gridCol w="1024890"/>
                <a:gridCol w="2190115"/>
              </a:tblGrid>
              <a:tr h="0">
                <a:tc gridSpan="2">
                  <a:txBody>
                    <a:bodyPr/>
                    <a:p>
                      <a:pPr marL="0" indent="0" latinLnBrk="0">
                        <a:buNone/>
                      </a:pPr>
                      <a:r>
                        <a:rPr lang="en-US" altLang="zh-CN" sz="1100" b="1" i="0">
                          <a:solidFill>
                            <a:srgbClr val="000000"/>
                          </a:solidFill>
                          <a:latin typeface="Helvetica Neue"/>
                          <a:ea typeface="Helvetica Neue"/>
                        </a:rPr>
                        <a:t>Observation</a:t>
                      </a:r>
                      <a:r>
                        <a:rPr lang="zh-CN" altLang="en-US" sz="1100" b="1" i="0">
                          <a:solidFill>
                            <a:srgbClr val="000000"/>
                          </a:solidFill>
                          <a:latin typeface="Helvetica Neue"/>
                          <a:ea typeface="Helvetica Neue"/>
                        </a:rPr>
                        <a:t>更新</a:t>
                      </a:r>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solidFill>
                      <a:srgbClr val="00B050"/>
                    </a:solidFill>
                  </a:tcPr>
                </a:tc>
                <a:tc hMerge="1">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1100" b="1" i="0">
                          <a:solidFill>
                            <a:srgbClr val="000000"/>
                          </a:solidFill>
                          <a:latin typeface="Helvetica Neue"/>
                          <a:ea typeface="Helvetica Neue"/>
                        </a:rPr>
                        <a:t>Observation</a:t>
                      </a:r>
                      <a:endParaRPr lang="en-US" altLang="zh-CN"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UserGoal(text)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goal"))</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state.goal = Some(text)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Fact(text)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fact"))</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state.notes.push(text)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NoMoreInput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state.input_closed = true</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前置条件</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state.completed == true</a:t>
                      </a:r>
                      <a:r>
                        <a:rPr lang="en-US" altLang="zh-CN" sz="1100" b="0" i="0">
                          <a:solidFill>
                            <a:srgbClr val="333333"/>
                          </a:solidFill>
                          <a:latin typeface="Helvetica Neue"/>
                          <a:ea typeface="Helvetica Neue"/>
                        </a:rPr>
                        <a:t> </a:t>
                      </a:r>
                      <a:r>
                        <a:rPr lang="en-US" altLang="zh-CN" sz="1100" b="0" i="0">
                          <a:solidFill>
                            <a:srgbClr val="333333"/>
                          </a:solidFill>
                          <a:latin typeface="Helvetica Neue"/>
                          <a:ea typeface="Helvetica Neue"/>
                        </a:rPr>
                        <a:t>→</a:t>
                      </a:r>
                      <a:r>
                        <a:rPr lang="en-US" altLang="zh-CN" sz="1100" b="0" i="0">
                          <a:solidFill>
                            <a:srgbClr val="333333"/>
                          </a:solidFill>
                          <a:latin typeface="Helvetica Neue"/>
                          <a:ea typeface="Helvetica Neue"/>
                        </a:rPr>
                        <a:t> </a:t>
                      </a:r>
                      <a:r>
                        <a:rPr lang="zh-CN" altLang="en-US" sz="1100" b="0" i="0">
                          <a:solidFill>
                            <a:srgbClr val="000000"/>
                          </a:solidFill>
                          <a:latin typeface="Helvetica Neue"/>
                          <a:ea typeface="Helvetica Neue"/>
                        </a:rPr>
                        <a:t>拒绝所有 </a:t>
                      </a:r>
                      <a:r>
                        <a:rPr lang="en-US" altLang="zh-CN" sz="1100" b="0" i="0">
                          <a:solidFill>
                            <a:srgbClr val="000000"/>
                          </a:solidFill>
                          <a:latin typeface="Helvetica Neue"/>
                          <a:ea typeface="Helvetica Neue"/>
                        </a:rPr>
                        <a:t>Observation</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Err(InvalidTransition("already completed"))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每次成功</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state.turns += 1</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bl>
          </a:graphicData>
        </a:graphic>
      </p:graphicFrame>
      <p:sp>
        <p:nvSpPr>
          <p:cNvPr id="29" name="文本框 28"/>
          <p:cNvSpPr txBox="1"/>
          <p:nvPr/>
        </p:nvSpPr>
        <p:spPr>
          <a:xfrm>
            <a:off x="8328025" y="1780540"/>
            <a:ext cx="3697605" cy="2291715"/>
          </a:xfrm>
          <a:prstGeom prst="rect">
            <a:avLst/>
          </a:prstGeom>
          <a:noFill/>
          <a:ln>
            <a:solidFill>
              <a:schemeClr val="accent1">
                <a:lumMod val="60000"/>
                <a:lumOff val="40000"/>
              </a:schemeClr>
            </a:solidFill>
          </a:ln>
        </p:spPr>
        <p:txBody>
          <a:bodyPr wrap="square" rtlCol="0">
            <a:spAutoFit/>
          </a:bodyPr>
          <a:p>
            <a:r>
              <a:rPr lang="en-US" altLang="zh-CN" sz="1100" kern="0">
                <a:solidFill>
                  <a:srgbClr val="333333"/>
                </a:solidFill>
                <a:highlight>
                  <a:srgbClr val="00FF00"/>
                </a:highlight>
                <a:latin typeface="Helvetica Neue"/>
                <a:ea typeface="Helvetica Neue"/>
                <a:cs typeface="+mn-lt"/>
              </a:rPr>
              <a:t>Policy</a:t>
            </a:r>
            <a:r>
              <a:rPr lang="zh-CN" altLang="en-US" sz="1100" kern="0">
                <a:solidFill>
                  <a:srgbClr val="333333"/>
                </a:solidFill>
                <a:highlight>
                  <a:srgbClr val="00FF00"/>
                </a:highlight>
                <a:latin typeface="Helvetica Neue"/>
                <a:ea typeface="Helvetica Neue"/>
                <a:cs typeface="+mn-lt"/>
              </a:rPr>
              <a:t>优先级</a:t>
            </a:r>
            <a:endParaRPr lang="zh-CN" altLang="en-US" sz="1100" kern="0">
              <a:solidFill>
                <a:srgbClr val="333333"/>
              </a:solidFill>
              <a:highlight>
                <a:srgbClr val="00FF00"/>
              </a:highlight>
              <a:latin typeface="Helvetica Neue"/>
              <a:ea typeface="Helvetica Neue"/>
              <a:cs typeface="+mn-lt"/>
            </a:endParaRPr>
          </a:p>
          <a:p>
            <a:endParaRPr lang="zh-CN" altLang="en-US" sz="1100" kern="0">
              <a:solidFill>
                <a:srgbClr val="333333"/>
              </a:solidFill>
              <a:highlight>
                <a:srgbClr val="00FF00"/>
              </a:highlight>
              <a:latin typeface="Helvetica Neue"/>
              <a:ea typeface="Helvetica Neue"/>
              <a:cs typeface="+mn-lt"/>
            </a:endParaRPr>
          </a:p>
          <a:p>
            <a:r>
              <a:rPr lang="zh-CN" altLang="en-US" sz="1100" kern="0">
                <a:solidFill>
                  <a:srgbClr val="333333"/>
                </a:solidFill>
                <a:latin typeface="Helvetica Neue"/>
                <a:ea typeface="Helvetica Neue"/>
                <a:cs typeface="+mn-lt"/>
              </a:rPr>
              <a:t>1. completed == true                     → Stop("already_completed")</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2. turns &gt;= max_turns                    → Stop("turn_budget")</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3. goal 为 None                          → AskForGoal</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4. input_closed == false（输入还没关闭）  → Record(把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5. input_closed == true &amp;&amp; notes 非空    → Finish(把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6. input_closed == true &amp;&amp; notes 为空    → Stop("insufficient_input")</a:t>
            </a:r>
            <a:endParaRPr lang="zh-CN" altLang="en-US" sz="1100" kern="0">
              <a:solidFill>
                <a:srgbClr val="333333"/>
              </a:solidFill>
              <a:latin typeface="Helvetica Neue"/>
              <a:ea typeface="Helvetica Neue"/>
              <a:cs typeface="+mn-lt"/>
            </a:endParaRPr>
          </a:p>
        </p:txBody>
      </p:sp>
      <p:cxnSp>
        <p:nvCxnSpPr>
          <p:cNvPr id="8" name="直接箭头连接符 7"/>
          <p:cNvCxnSpPr/>
          <p:nvPr/>
        </p:nvCxnSpPr>
        <p:spPr>
          <a:xfrm flipH="1" flipV="1">
            <a:off x="6743700" y="1988820"/>
            <a:ext cx="1591945" cy="310515"/>
          </a:xfrm>
          <a:prstGeom prst="straightConnector1">
            <a:avLst/>
          </a:prstGeom>
          <a:ln>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写完测试就进入到实现阶段，我们来编写最小的</a:t>
            </a:r>
            <a:r>
              <a:rPr lang="en-US" altLang="zh-CN"/>
              <a:t>Agent Loop</a:t>
            </a:r>
            <a:r>
              <a:rPr lang="zh-CN" altLang="en-US">
                <a:ea typeface="宋体" panose="02010600030101010101" pitchFamily="2" charset="-122"/>
              </a:rPr>
              <a:t>。</a:t>
            </a:r>
            <a:endParaRPr lang="zh-CN" altLang="en-US">
              <a:ea typeface="宋体" panose="02010600030101010101" pitchFamily="2" charset="-122"/>
            </a:endParaRPr>
          </a:p>
        </p:txBody>
      </p:sp>
      <p:sp>
        <p:nvSpPr>
          <p:cNvPr id="7" name="文本框 6"/>
          <p:cNvSpPr txBox="1"/>
          <p:nvPr/>
        </p:nvSpPr>
        <p:spPr>
          <a:xfrm>
            <a:off x="623570" y="1845310"/>
            <a:ext cx="4064000" cy="645160"/>
          </a:xfrm>
          <a:prstGeom prst="rect">
            <a:avLst/>
          </a:prstGeom>
          <a:noFill/>
        </p:spPr>
        <p:txBody>
          <a:bodyPr wrap="square" rtlCol="0">
            <a:spAutoFit/>
          </a:bodyPr>
          <a:p>
            <a:r>
              <a:rPr lang="zh-CN" altLang="en-US"/>
              <a:t>最小的</a:t>
            </a:r>
            <a:r>
              <a:rPr lang="en-US" altLang="zh-CN"/>
              <a:t>Agent Loop</a:t>
            </a:r>
            <a:r>
              <a:rPr lang="zh-CN" altLang="en-US"/>
              <a:t>结构应该长什么样</a:t>
            </a:r>
            <a:r>
              <a:rPr lang="zh-CN" altLang="en-US"/>
              <a:t>呢？</a:t>
            </a:r>
            <a:endParaRPr lang="zh-CN" altLang="en-US"/>
          </a:p>
          <a:p>
            <a:r>
              <a:rPr lang="zh-CN" altLang="en-US"/>
              <a:t>比如可以这样：</a:t>
            </a:r>
            <a:endParaRPr lang="zh-CN" altLang="en-US"/>
          </a:p>
        </p:txBody>
      </p:sp>
      <p:sp>
        <p:nvSpPr>
          <p:cNvPr id="9" name="矩形 8"/>
          <p:cNvSpPr/>
          <p:nvPr/>
        </p:nvSpPr>
        <p:spPr>
          <a:xfrm>
            <a:off x="2870835" y="2348865"/>
            <a:ext cx="824230" cy="50419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初始化</a:t>
            </a:r>
            <a:endParaRPr lang="zh-CN" altLang="en-US" sz="1600"/>
          </a:p>
        </p:txBody>
      </p:sp>
      <p:sp>
        <p:nvSpPr>
          <p:cNvPr id="11" name="文本框 10"/>
          <p:cNvSpPr txBox="1"/>
          <p:nvPr/>
        </p:nvSpPr>
        <p:spPr>
          <a:xfrm>
            <a:off x="5951855" y="2727960"/>
            <a:ext cx="4064000" cy="2861310"/>
          </a:xfrm>
          <a:prstGeom prst="rect">
            <a:avLst/>
          </a:prstGeom>
          <a:noFill/>
        </p:spPr>
        <p:txBody>
          <a:bodyPr wrap="square" rtlCol="0">
            <a:spAutoFit/>
          </a:bodyPr>
          <a:p>
            <a:r>
              <a:rPr lang="en-US" altLang="zh-CN">
                <a:sym typeface="+mn-ea"/>
              </a:rPr>
              <a:t>initial action</a:t>
            </a:r>
            <a:endParaRPr lang="en-US" altLang="zh-CN"/>
          </a:p>
          <a:p>
            <a:r>
              <a:rPr lang="en-US" altLang="zh-CN">
                <a:sym typeface="+mn-ea"/>
              </a:rPr>
              <a:t>    </a:t>
            </a:r>
            <a:r>
              <a:rPr lang="en-US" altLang="en-US">
                <a:sym typeface="+mn-ea"/>
              </a:rPr>
              <a:t>↓</a:t>
            </a:r>
            <a:endParaRPr lang="en-US" altLang="en-US"/>
          </a:p>
          <a:p>
            <a:r>
              <a:rPr lang="en-US" altLang="zh-CN">
                <a:sym typeface="+mn-ea"/>
              </a:rPr>
              <a:t>for observation in observations</a:t>
            </a:r>
            <a:endParaRPr lang="en-US" altLang="zh-CN"/>
          </a:p>
          <a:p>
            <a:r>
              <a:rPr lang="en-US" altLang="zh-CN">
                <a:sym typeface="+mn-ea"/>
              </a:rPr>
              <a:t>    </a:t>
            </a:r>
            <a:r>
              <a:rPr lang="en-US" altLang="en-US">
                <a:sym typeface="+mn-ea"/>
              </a:rPr>
              <a:t>↓</a:t>
            </a:r>
            <a:endParaRPr lang="en-US" altLang="en-US"/>
          </a:p>
          <a:p>
            <a:r>
              <a:rPr lang="en-US" altLang="zh-CN">
                <a:sym typeface="+mn-ea"/>
              </a:rPr>
              <a:t>apply_observation</a:t>
            </a:r>
            <a:endParaRPr lang="en-US" altLang="zh-CN"/>
          </a:p>
          <a:p>
            <a:r>
              <a:rPr lang="en-US" altLang="zh-CN">
                <a:sym typeface="+mn-ea"/>
              </a:rPr>
              <a:t>    </a:t>
            </a:r>
            <a:r>
              <a:rPr lang="en-US" altLang="en-US">
                <a:sym typeface="+mn-ea"/>
              </a:rPr>
              <a:t>↓</a:t>
            </a:r>
            <a:endParaRPr lang="en-US" altLang="en-US"/>
          </a:p>
          <a:p>
            <a:r>
              <a:rPr lang="en-US" altLang="zh-CN">
                <a:sym typeface="+mn-ea"/>
              </a:rPr>
              <a:t>choose_action</a:t>
            </a:r>
            <a:endParaRPr lang="en-US" altLang="zh-CN"/>
          </a:p>
          <a:p>
            <a:r>
              <a:rPr lang="en-US" altLang="zh-CN">
                <a:sym typeface="+mn-ea"/>
              </a:rPr>
              <a:t>    </a:t>
            </a:r>
            <a:r>
              <a:rPr lang="en-US" altLang="en-US">
                <a:sym typeface="+mn-ea"/>
              </a:rPr>
              <a:t>↓</a:t>
            </a:r>
            <a:endParaRPr lang="en-US" altLang="en-US"/>
          </a:p>
          <a:p>
            <a:r>
              <a:rPr lang="en-US" altLang="zh-CN">
                <a:sym typeface="+mn-ea"/>
              </a:rPr>
              <a:t>Finish / Stop ? </a:t>
            </a:r>
            <a:r>
              <a:rPr lang="zh-CN" altLang="en-US">
                <a:sym typeface="+mn-ea"/>
              </a:rPr>
              <a:t>结束</a:t>
            </a:r>
            <a:r>
              <a:rPr lang="en-US" altLang="zh-CN">
                <a:sym typeface="+mn-ea"/>
              </a:rPr>
              <a:t> : </a:t>
            </a:r>
            <a:r>
              <a:rPr lang="zh-CN" altLang="en-US">
                <a:sym typeface="+mn-ea"/>
              </a:rPr>
              <a:t>继续</a:t>
            </a:r>
            <a:endParaRPr lang="zh-CN" altLang="en-US"/>
          </a:p>
          <a:p>
            <a:endParaRPr lang="zh-CN" altLang="en-US"/>
          </a:p>
        </p:txBody>
      </p:sp>
      <p:sp>
        <p:nvSpPr>
          <p:cNvPr id="12" name="矩形 11"/>
          <p:cNvSpPr/>
          <p:nvPr/>
        </p:nvSpPr>
        <p:spPr>
          <a:xfrm>
            <a:off x="2825750" y="3101340"/>
            <a:ext cx="914400" cy="38608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观察</a:t>
            </a:r>
            <a:endParaRPr lang="zh-CN" altLang="en-US"/>
          </a:p>
        </p:txBody>
      </p:sp>
      <p:sp>
        <p:nvSpPr>
          <p:cNvPr id="13" name="矩形 12"/>
          <p:cNvSpPr/>
          <p:nvPr/>
        </p:nvSpPr>
        <p:spPr>
          <a:xfrm>
            <a:off x="2825750" y="3821430"/>
            <a:ext cx="914400" cy="42735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行动</a:t>
            </a:r>
            <a:endParaRPr lang="zh-CN" altLang="en-US"/>
          </a:p>
        </p:txBody>
      </p:sp>
      <p:sp>
        <p:nvSpPr>
          <p:cNvPr id="17" name="矩形 16"/>
          <p:cNvSpPr/>
          <p:nvPr/>
        </p:nvSpPr>
        <p:spPr>
          <a:xfrm>
            <a:off x="2825750" y="5589270"/>
            <a:ext cx="914400" cy="73660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结束</a:t>
            </a:r>
            <a:endParaRPr lang="zh-CN" altLang="en-US"/>
          </a:p>
        </p:txBody>
      </p:sp>
      <p:cxnSp>
        <p:nvCxnSpPr>
          <p:cNvPr id="18" name="直接箭头连接符 17"/>
          <p:cNvCxnSpPr>
            <a:stCxn id="9" idx="2"/>
            <a:endCxn id="12" idx="0"/>
          </p:cNvCxnSpPr>
          <p:nvPr/>
        </p:nvCxnSpPr>
        <p:spPr>
          <a:xfrm>
            <a:off x="3282950" y="2853055"/>
            <a:ext cx="0" cy="2482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12" idx="2"/>
            <a:endCxn id="13" idx="0"/>
          </p:cNvCxnSpPr>
          <p:nvPr/>
        </p:nvCxnSpPr>
        <p:spPr>
          <a:xfrm>
            <a:off x="3282950" y="3487420"/>
            <a:ext cx="0" cy="3340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3" name="流程图: 决策 22"/>
          <p:cNvSpPr/>
          <p:nvPr/>
        </p:nvSpPr>
        <p:spPr>
          <a:xfrm>
            <a:off x="2559685" y="4652645"/>
            <a:ext cx="1446530" cy="576580"/>
          </a:xfrm>
          <a:prstGeom prst="flowChartDecision">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判断</a:t>
            </a:r>
            <a:endParaRPr lang="zh-CN" altLang="en-US"/>
          </a:p>
        </p:txBody>
      </p:sp>
      <p:cxnSp>
        <p:nvCxnSpPr>
          <p:cNvPr id="24" name="直接箭头连接符 23"/>
          <p:cNvCxnSpPr>
            <a:stCxn id="13" idx="2"/>
            <a:endCxn id="23" idx="0"/>
          </p:cNvCxnSpPr>
          <p:nvPr/>
        </p:nvCxnSpPr>
        <p:spPr>
          <a:xfrm>
            <a:off x="3282950" y="4248785"/>
            <a:ext cx="0" cy="4038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a:stCxn id="23" idx="2"/>
            <a:endCxn id="17" idx="0"/>
          </p:cNvCxnSpPr>
          <p:nvPr/>
        </p:nvCxnSpPr>
        <p:spPr>
          <a:xfrm>
            <a:off x="3282950" y="5229225"/>
            <a:ext cx="0" cy="3600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肘形连接符 25"/>
          <p:cNvCxnSpPr>
            <a:stCxn id="23" idx="3"/>
            <a:endCxn id="12" idx="3"/>
          </p:cNvCxnSpPr>
          <p:nvPr/>
        </p:nvCxnSpPr>
        <p:spPr>
          <a:xfrm flipH="1" flipV="1">
            <a:off x="3740150" y="3294380"/>
            <a:ext cx="266065" cy="1646555"/>
          </a:xfrm>
          <a:prstGeom prst="bentConnector3">
            <a:avLst>
              <a:gd name="adj1" fmla="val -89499"/>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有了骨架，我们就可以根据我们的契约规则来实现</a:t>
            </a:r>
            <a:r>
              <a:rPr lang="zh-CN" altLang="en-US"/>
              <a:t>血肉</a:t>
            </a:r>
            <a:endParaRPr lang="zh-CN" altLang="en-US"/>
          </a:p>
        </p:txBody>
      </p:sp>
      <p:sp>
        <p:nvSpPr>
          <p:cNvPr id="8" name="文本框 7"/>
          <p:cNvSpPr txBox="1"/>
          <p:nvPr/>
        </p:nvSpPr>
        <p:spPr>
          <a:xfrm>
            <a:off x="622935" y="1988185"/>
            <a:ext cx="3392170" cy="3937000"/>
          </a:xfrm>
          <a:prstGeom prst="rect">
            <a:avLst/>
          </a:prstGeom>
          <a:noFill/>
          <a:ln>
            <a:solidFill>
              <a:schemeClr val="accent6">
                <a:lumMod val="75000"/>
              </a:schemeClr>
            </a:solidFill>
          </a:ln>
        </p:spPr>
        <p:txBody>
          <a:bodyPr wrap="square" rtlCol="0">
            <a:noAutofit/>
          </a:bodyPr>
          <a:p>
            <a:r>
              <a:rPr lang="en-US" altLang="zh-CN" sz="1000">
                <a:highlight>
                  <a:srgbClr val="00FF00"/>
                </a:highlight>
              </a:rPr>
              <a:t>1</a:t>
            </a:r>
            <a:r>
              <a:rPr lang="zh-CN" altLang="en-US" sz="1000">
                <a:highlight>
                  <a:srgbClr val="00FF00"/>
                </a:highlight>
                <a:ea typeface="宋体" panose="02010600030101010101" pitchFamily="2" charset="-122"/>
              </a:rPr>
              <a:t>、</a:t>
            </a:r>
            <a:r>
              <a:rPr lang="en-US" altLang="zh-CN" sz="1000">
                <a:highlight>
                  <a:srgbClr val="00FF00"/>
                </a:highlight>
                <a:ea typeface="宋体" panose="02010600030101010101" pitchFamily="2" charset="-122"/>
              </a:rPr>
              <a:t>apply_observation — </a:t>
            </a:r>
            <a:r>
              <a:rPr lang="zh-CN" altLang="en-US" sz="1000">
                <a:highlight>
                  <a:srgbClr val="00FF00"/>
                </a:highlight>
                <a:ea typeface="宋体" panose="02010600030101010101" pitchFamily="2" charset="-122"/>
              </a:rPr>
              <a:t>纯状态更新</a:t>
            </a:r>
            <a:endParaRPr lang="zh-CN" altLang="en-US" sz="1000">
              <a:highlight>
                <a:srgbClr val="00FF00"/>
              </a:highlight>
              <a:ea typeface="宋体" panose="02010600030101010101" pitchFamily="2" charset="-122"/>
            </a:endParaRPr>
          </a:p>
          <a:p>
            <a:endParaRPr lang="zh-CN" altLang="en-US" sz="1000">
              <a:highlight>
                <a:srgbClr val="00FF00"/>
              </a:highlight>
              <a:ea typeface="宋体" panose="02010600030101010101" pitchFamily="2" charset="-122"/>
            </a:endParaRPr>
          </a:p>
          <a:p>
            <a:r>
              <a:rPr lang="en-US" altLang="zh-CN" sz="1000">
                <a:ea typeface="宋体" panose="02010600030101010101" pitchFamily="2" charset="-122"/>
              </a:rPr>
              <a:t>pub fn apply_observation(state: &amp;mut AgentState, observation: Observation) -&gt; Result&lt;(), LabError&gt;{}</a:t>
            </a:r>
            <a:endParaRPr lang="en-US" altLang="zh-CN" sz="1000">
              <a:ea typeface="宋体" panose="02010600030101010101" pitchFamily="2" charset="-122"/>
            </a:endParaRPr>
          </a:p>
          <a:p>
            <a:r>
              <a:rPr lang="zh-CN" altLang="en-US" sz="1000">
                <a:ea typeface="宋体" panose="02010600030101010101" pitchFamily="2" charset="-122"/>
              </a:rPr>
              <a:t>这个函数只做一件事：根据</a:t>
            </a:r>
            <a:r>
              <a:rPr lang="en-US" altLang="zh-CN" sz="1000">
                <a:ea typeface="宋体" panose="02010600030101010101" pitchFamily="2" charset="-122"/>
              </a:rPr>
              <a:t> Observation </a:t>
            </a:r>
            <a:r>
              <a:rPr lang="zh-CN" altLang="en-US" sz="1000">
                <a:ea typeface="宋体" panose="02010600030101010101" pitchFamily="2" charset="-122"/>
              </a:rPr>
              <a:t>修改</a:t>
            </a:r>
            <a:r>
              <a:rPr lang="en-US" altLang="zh-CN" sz="1000">
                <a:ea typeface="宋体" panose="02010600030101010101" pitchFamily="2" charset="-122"/>
              </a:rPr>
              <a:t> State</a:t>
            </a:r>
            <a:r>
              <a:rPr lang="zh-CN" altLang="en-US" sz="1000">
                <a:ea typeface="宋体" panose="02010600030101010101" pitchFamily="2" charset="-122"/>
              </a:rPr>
              <a:t>。不涉及任何决策。</a:t>
            </a:r>
            <a:endParaRPr lang="zh-CN" altLang="en-US" sz="1000">
              <a:ea typeface="宋体" panose="02010600030101010101" pitchFamily="2" charset="-122"/>
            </a:endParaRPr>
          </a:p>
          <a:p>
            <a:endParaRPr lang="en-US" altLang="zh-CN" sz="1000">
              <a:ea typeface="宋体" panose="02010600030101010101" pitchFamily="2" charset="-122"/>
            </a:endParaRPr>
          </a:p>
          <a:p>
            <a:endParaRPr lang="en-US" altLang="zh-CN" sz="1000">
              <a:ea typeface="宋体" panose="02010600030101010101" pitchFamily="2" charset="-122"/>
            </a:endParaRPr>
          </a:p>
          <a:p>
            <a:r>
              <a:rPr lang="zh-CN" altLang="en-US" sz="1000">
                <a:ea typeface="宋体" panose="02010600030101010101" pitchFamily="2" charset="-122"/>
              </a:rPr>
              <a:t>结构：</a:t>
            </a:r>
            <a:endParaRPr lang="zh-CN" altLang="en-US" sz="1000">
              <a:ea typeface="宋体" panose="02010600030101010101" pitchFamily="2" charset="-122"/>
            </a:endParaRPr>
          </a:p>
          <a:p>
            <a:r>
              <a:rPr lang="en-US" altLang="zh-CN" sz="1000">
                <a:ea typeface="宋体" panose="02010600030101010101" pitchFamily="2" charset="-122"/>
              </a:rPr>
              <a:t>  </a:t>
            </a:r>
            <a:r>
              <a:rPr lang="zh-CN" altLang="en-US" sz="1000">
                <a:ea typeface="宋体" panose="02010600030101010101" pitchFamily="2" charset="-122"/>
              </a:rPr>
              <a:t>前置检查</a:t>
            </a:r>
            <a:r>
              <a:rPr lang="en-US" altLang="zh-CN" sz="1000">
                <a:ea typeface="宋体" panose="02010600030101010101" pitchFamily="2" charset="-122"/>
              </a:rPr>
              <a:t> </a:t>
            </a:r>
            <a:r>
              <a:rPr lang="en-US" altLang="en-US" sz="1000">
                <a:ea typeface="宋体" panose="02010600030101010101" pitchFamily="2" charset="-122"/>
              </a:rPr>
              <a:t>→</a:t>
            </a:r>
            <a:r>
              <a:rPr lang="en-US" altLang="zh-CN" sz="1000">
                <a:ea typeface="宋体" panose="02010600030101010101" pitchFamily="2" charset="-122"/>
              </a:rPr>
              <a:t> completed?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拒绝一切，返回</a:t>
            </a:r>
            <a:r>
              <a:rPr lang="en-US" altLang="zh-CN" sz="1000">
                <a:ea typeface="宋体" panose="02010600030101010101" pitchFamily="2" charset="-122"/>
              </a:rPr>
              <a:t> Err</a:t>
            </a:r>
            <a:endParaRPr lang="en-US" altLang="zh-CN" sz="1000">
              <a:ea typeface="宋体" panose="02010600030101010101" pitchFamily="2" charset="-122"/>
            </a:endParaRPr>
          </a:p>
          <a:p>
            <a:r>
              <a:rPr lang="en-US" altLang="zh-CN" sz="1000">
                <a:ea typeface="宋体" panose="02010600030101010101" pitchFamily="2" charset="-122"/>
              </a:rPr>
              <a:t>      </a:t>
            </a:r>
            <a:r>
              <a:rPr lang="en-US" altLang="en-US" sz="1000">
                <a:ea typeface="宋体" panose="02010600030101010101" pitchFamily="2" charset="-122"/>
              </a:rPr>
              <a:t>↓</a:t>
            </a:r>
            <a:endParaRPr lang="en-US" altLang="en-US" sz="1000">
              <a:ea typeface="宋体" panose="02010600030101010101" pitchFamily="2" charset="-122"/>
            </a:endParaRPr>
          </a:p>
          <a:p>
            <a:r>
              <a:rPr lang="en-US" altLang="zh-CN" sz="1000">
                <a:ea typeface="宋体" panose="02010600030101010101" pitchFamily="2" charset="-122"/>
              </a:rPr>
              <a:t>  match observation:</a:t>
            </a:r>
            <a:endParaRPr lang="en-US" altLang="zh-CN" sz="1000">
              <a:ea typeface="宋体" panose="02010600030101010101" pitchFamily="2" charset="-122"/>
            </a:endParaRPr>
          </a:p>
          <a:p>
            <a:r>
              <a:rPr lang="en-US" altLang="zh-CN" sz="1000">
                <a:ea typeface="宋体" panose="02010600030101010101" pitchFamily="2" charset="-122"/>
              </a:rPr>
              <a:t>    UserGoal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空</a:t>
            </a:r>
            <a:r>
              <a:rPr lang="en-US" altLang="zh-CN" sz="1000">
                <a:ea typeface="宋体" panose="02010600030101010101" pitchFamily="2" charset="-122"/>
              </a:rPr>
              <a:t>? Err : </a:t>
            </a:r>
            <a:r>
              <a:rPr lang="zh-CN" altLang="en-US" sz="1000">
                <a:ea typeface="宋体" panose="02010600030101010101" pitchFamily="2" charset="-122"/>
              </a:rPr>
              <a:t>写入</a:t>
            </a:r>
            <a:r>
              <a:rPr lang="en-US" altLang="zh-CN" sz="1000">
                <a:ea typeface="宋体" panose="02010600030101010101" pitchFamily="2" charset="-122"/>
              </a:rPr>
              <a:t> goal</a:t>
            </a:r>
            <a:endParaRPr lang="en-US" altLang="zh-CN" sz="1000">
              <a:ea typeface="宋体" panose="02010600030101010101" pitchFamily="2" charset="-122"/>
            </a:endParaRPr>
          </a:p>
          <a:p>
            <a:r>
              <a:rPr lang="en-US" altLang="zh-CN" sz="1000">
                <a:ea typeface="宋体" panose="02010600030101010101" pitchFamily="2" charset="-122"/>
              </a:rPr>
              <a:t>    Fact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空</a:t>
            </a:r>
            <a:r>
              <a:rPr lang="en-US" altLang="zh-CN" sz="1000">
                <a:ea typeface="宋体" panose="02010600030101010101" pitchFamily="2" charset="-122"/>
              </a:rPr>
              <a:t>? Err : </a:t>
            </a:r>
            <a:r>
              <a:rPr lang="zh-CN" altLang="en-US" sz="1000">
                <a:ea typeface="宋体" panose="02010600030101010101" pitchFamily="2" charset="-122"/>
              </a:rPr>
              <a:t>追加到</a:t>
            </a:r>
            <a:r>
              <a:rPr lang="en-US" altLang="zh-CN" sz="1000">
                <a:ea typeface="宋体" panose="02010600030101010101" pitchFamily="2" charset="-122"/>
              </a:rPr>
              <a:t> notes</a:t>
            </a:r>
            <a:endParaRPr lang="en-US" altLang="zh-CN" sz="1000">
              <a:ea typeface="宋体" panose="02010600030101010101" pitchFamily="2" charset="-122"/>
            </a:endParaRPr>
          </a:p>
          <a:p>
            <a:r>
              <a:rPr lang="en-US" altLang="zh-CN" sz="1000">
                <a:ea typeface="宋体" panose="02010600030101010101" pitchFamily="2" charset="-122"/>
              </a:rPr>
              <a:t>    NoMoreInput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设置</a:t>
            </a:r>
            <a:r>
              <a:rPr lang="en-US" altLang="zh-CN" sz="1000">
                <a:ea typeface="宋体" panose="02010600030101010101" pitchFamily="2" charset="-122"/>
              </a:rPr>
              <a:t> input_closed = true</a:t>
            </a:r>
            <a:endParaRPr lang="en-US" altLang="zh-CN" sz="1000">
              <a:ea typeface="宋体" panose="02010600030101010101" pitchFamily="2" charset="-122"/>
            </a:endParaRPr>
          </a:p>
          <a:p>
            <a:r>
              <a:rPr lang="en-US" altLang="zh-CN" sz="1000">
                <a:ea typeface="宋体" panose="02010600030101010101" pitchFamily="2" charset="-122"/>
              </a:rPr>
              <a:t>      </a:t>
            </a:r>
            <a:r>
              <a:rPr lang="en-US" altLang="en-US" sz="1000">
                <a:ea typeface="宋体" panose="02010600030101010101" pitchFamily="2" charset="-122"/>
              </a:rPr>
              <a:t>↓</a:t>
            </a:r>
            <a:endParaRPr lang="en-US" altLang="en-US" sz="1000">
              <a:ea typeface="宋体" panose="02010600030101010101" pitchFamily="2" charset="-122"/>
            </a:endParaRPr>
          </a:p>
          <a:p>
            <a:r>
              <a:rPr lang="en-US" altLang="zh-CN" sz="1000">
                <a:ea typeface="宋体" panose="02010600030101010101" pitchFamily="2" charset="-122"/>
              </a:rPr>
              <a:t>  turns += 1  </a:t>
            </a:r>
            <a:r>
              <a:rPr lang="en-US" altLang="en-US" sz="1000">
                <a:ea typeface="宋体" panose="02010600030101010101" pitchFamily="2" charset="-122"/>
              </a:rPr>
              <a:t>→</a:t>
            </a:r>
            <a:r>
              <a:rPr lang="en-US" altLang="zh-CN" sz="1000">
                <a:ea typeface="宋体" panose="02010600030101010101" pitchFamily="2" charset="-122"/>
              </a:rPr>
              <a:t> Ok(())</a:t>
            </a:r>
            <a:endParaRPr lang="en-US" altLang="zh-CN" sz="1000">
              <a:ea typeface="宋体" panose="02010600030101010101" pitchFamily="2" charset="-122"/>
            </a:endParaRPr>
          </a:p>
          <a:p>
            <a:endParaRPr lang="en-US" altLang="zh-CN" sz="1000">
              <a:ea typeface="宋体" panose="02010600030101010101" pitchFamily="2" charset="-122"/>
            </a:endParaRPr>
          </a:p>
          <a:p>
            <a:r>
              <a:rPr lang="zh-CN" altLang="en-US" sz="1000">
                <a:ea typeface="宋体" panose="02010600030101010101" pitchFamily="2" charset="-122"/>
              </a:rPr>
              <a:t>写法要点：</a:t>
            </a:r>
            <a:endParaRPr lang="en-US" altLang="zh-CN" sz="1000">
              <a:ea typeface="宋体" panose="02010600030101010101" pitchFamily="2" charset="-122"/>
            </a:endParaRPr>
          </a:p>
          <a:p>
            <a:r>
              <a:rPr lang="en-US" altLang="zh-CN" sz="1000">
                <a:ea typeface="宋体" panose="02010600030101010101" pitchFamily="2" charset="-122"/>
              </a:rPr>
              <a:t>state.completed </a:t>
            </a:r>
            <a:r>
              <a:rPr lang="zh-CN" altLang="en-US" sz="1000">
                <a:ea typeface="宋体" panose="02010600030101010101" pitchFamily="2" charset="-122"/>
              </a:rPr>
              <a:t>是最先检查的</a:t>
            </a:r>
            <a:r>
              <a:rPr lang="en-US" altLang="zh-CN" sz="1000">
                <a:ea typeface="宋体" panose="02010600030101010101" pitchFamily="2" charset="-122"/>
              </a:rPr>
              <a:t>——</a:t>
            </a:r>
            <a:r>
              <a:rPr lang="zh-CN" altLang="en-US" sz="1000">
                <a:ea typeface="宋体" panose="02010600030101010101" pitchFamily="2" charset="-122"/>
              </a:rPr>
              <a:t>这是</a:t>
            </a:r>
            <a:r>
              <a:rPr lang="en-US" altLang="zh-CN" sz="1000">
                <a:ea typeface="宋体" panose="02010600030101010101" pitchFamily="2" charset="-122"/>
              </a:rPr>
              <a:t>"completed </a:t>
            </a:r>
            <a:r>
              <a:rPr lang="zh-CN" altLang="en-US" sz="1000">
                <a:ea typeface="宋体" panose="02010600030101010101" pitchFamily="2" charset="-122"/>
              </a:rPr>
              <a:t>后不可修改</a:t>
            </a:r>
            <a:r>
              <a:rPr lang="en-US" altLang="zh-CN" sz="1000">
                <a:ea typeface="宋体" panose="02010600030101010101" pitchFamily="2" charset="-122"/>
              </a:rPr>
              <a:t>"</a:t>
            </a:r>
            <a:r>
              <a:rPr lang="zh-CN" altLang="en-US" sz="1000">
                <a:ea typeface="宋体" panose="02010600030101010101" pitchFamily="2" charset="-122"/>
              </a:rPr>
              <a:t>的契约</a:t>
            </a:r>
            <a:endParaRPr lang="zh-CN" altLang="en-US" sz="1000">
              <a:ea typeface="宋体" panose="02010600030101010101" pitchFamily="2" charset="-122"/>
            </a:endParaRPr>
          </a:p>
          <a:p>
            <a:r>
              <a:rPr lang="en-US" altLang="zh-CN" sz="1000">
                <a:ea typeface="宋体" panose="02010600030101010101" pitchFamily="2" charset="-122"/>
              </a:rPr>
              <a:t>text.is_empty() </a:t>
            </a:r>
            <a:r>
              <a:rPr lang="zh-CN" altLang="en-US" sz="1000">
                <a:ea typeface="宋体" panose="02010600030101010101" pitchFamily="2" charset="-122"/>
              </a:rPr>
              <a:t>防止空字符串静默写入</a:t>
            </a:r>
            <a:endParaRPr lang="zh-CN" altLang="en-US" sz="1000">
              <a:ea typeface="宋体" panose="02010600030101010101" pitchFamily="2" charset="-122"/>
            </a:endParaRPr>
          </a:p>
          <a:p>
            <a:r>
              <a:rPr lang="en-US" altLang="zh-CN" sz="1000">
                <a:ea typeface="宋体" panose="02010600030101010101" pitchFamily="2" charset="-122"/>
              </a:rPr>
              <a:t>state.turns += 1 </a:t>
            </a:r>
            <a:r>
              <a:rPr lang="zh-CN" altLang="en-US" sz="1000">
                <a:ea typeface="宋体" panose="02010600030101010101" pitchFamily="2" charset="-122"/>
              </a:rPr>
              <a:t>在最后统一执行，不需每个分支各写一遍</a:t>
            </a:r>
            <a:endParaRPr lang="zh-CN" altLang="en-US" sz="1000">
              <a:ea typeface="宋体" panose="02010600030101010101" pitchFamily="2" charset="-122"/>
            </a:endParaRPr>
          </a:p>
        </p:txBody>
      </p:sp>
      <p:sp>
        <p:nvSpPr>
          <p:cNvPr id="10" name="文本框 9"/>
          <p:cNvSpPr txBox="1"/>
          <p:nvPr/>
        </p:nvSpPr>
        <p:spPr>
          <a:xfrm>
            <a:off x="4223385" y="1975485"/>
            <a:ext cx="3763645" cy="3950335"/>
          </a:xfrm>
          <a:prstGeom prst="rect">
            <a:avLst/>
          </a:prstGeom>
          <a:noFill/>
          <a:ln>
            <a:solidFill>
              <a:schemeClr val="accent6">
                <a:lumMod val="75000"/>
              </a:schemeClr>
            </a:solidFill>
          </a:ln>
        </p:spPr>
        <p:txBody>
          <a:bodyPr wrap="square" rtlCol="0">
            <a:noAutofit/>
          </a:bodyPr>
          <a:p>
            <a:r>
              <a:rPr lang="en-US" altLang="zh-CN" sz="1000">
                <a:highlight>
                  <a:srgbClr val="00FF00"/>
                </a:highlight>
              </a:rPr>
              <a:t>2</a:t>
            </a:r>
            <a:r>
              <a:rPr lang="zh-CN" altLang="en-US" sz="1000">
                <a:highlight>
                  <a:srgbClr val="00FF00"/>
                </a:highlight>
                <a:ea typeface="宋体" panose="02010600030101010101" pitchFamily="2" charset="-122"/>
              </a:rPr>
              <a:t>、</a:t>
            </a:r>
            <a:r>
              <a:rPr lang="en-US" altLang="zh-CN" sz="1000">
                <a:highlight>
                  <a:srgbClr val="00FF00"/>
                </a:highlight>
                <a:ea typeface="宋体" panose="02010600030101010101" pitchFamily="2" charset="-122"/>
              </a:rPr>
              <a:t>choose_action — </a:t>
            </a:r>
            <a:r>
              <a:rPr lang="zh-CN" altLang="en-US" sz="1000">
                <a:highlight>
                  <a:srgbClr val="00FF00"/>
                </a:highlight>
                <a:ea typeface="宋体" panose="02010600030101010101" pitchFamily="2" charset="-122"/>
              </a:rPr>
              <a:t>读状态、按优先级返回动作</a:t>
            </a:r>
            <a:endParaRPr lang="zh-CN" altLang="en-US" sz="1000">
              <a:highlight>
                <a:srgbClr val="00FF00"/>
              </a:highlight>
              <a:ea typeface="宋体" panose="02010600030101010101" pitchFamily="2" charset="-122"/>
            </a:endParaRPr>
          </a:p>
          <a:p>
            <a:endParaRPr lang="zh-CN" altLang="en-US" sz="1000">
              <a:ea typeface="宋体" panose="02010600030101010101" pitchFamily="2" charset="-122"/>
            </a:endParaRPr>
          </a:p>
          <a:p>
            <a:r>
              <a:rPr lang="en-US" altLang="zh-CN" sz="1000">
                <a:ea typeface="宋体" panose="02010600030101010101" pitchFamily="2" charset="-122"/>
              </a:rPr>
              <a:t>pub fn choose_action(state: &amp;AgentState, max_turns: usize) -&gt; Result&lt;Action, LabError&gt;{}</a:t>
            </a:r>
            <a:endParaRPr lang="en-US" altLang="zh-CN" sz="1000">
              <a:ea typeface="宋体" panose="02010600030101010101" pitchFamily="2" charset="-122"/>
            </a:endParaRPr>
          </a:p>
          <a:p>
            <a:r>
              <a:rPr lang="zh-CN" altLang="en-US" sz="1000">
                <a:ea typeface="宋体" panose="02010600030101010101" pitchFamily="2" charset="-122"/>
              </a:rPr>
              <a:t>这个函数只读不改</a:t>
            </a:r>
            <a:r>
              <a:rPr lang="en-US" altLang="zh-CN" sz="1000">
                <a:ea typeface="宋体" panose="02010600030101010101" pitchFamily="2" charset="-122"/>
              </a:rPr>
              <a:t> State</a:t>
            </a:r>
            <a:r>
              <a:rPr lang="zh-CN" altLang="en-US" sz="1000">
                <a:ea typeface="宋体" panose="02010600030101010101" pitchFamily="2" charset="-122"/>
              </a:rPr>
              <a:t>。核心是一个</a:t>
            </a:r>
            <a:r>
              <a:rPr lang="en-US" altLang="zh-CN" sz="1000">
                <a:ea typeface="宋体" panose="02010600030101010101" pitchFamily="2" charset="-122"/>
              </a:rPr>
              <a:t> 6 </a:t>
            </a:r>
            <a:r>
              <a:rPr lang="zh-CN" altLang="en-US" sz="1000">
                <a:ea typeface="宋体" panose="02010600030101010101" pitchFamily="2" charset="-122"/>
              </a:rPr>
              <a:t>级</a:t>
            </a:r>
            <a:r>
              <a:rPr lang="en-US" altLang="zh-CN" sz="1000">
                <a:ea typeface="宋体" panose="02010600030101010101" pitchFamily="2" charset="-122"/>
              </a:rPr>
              <a:t> if-else </a:t>
            </a:r>
            <a:r>
              <a:rPr lang="zh-CN" altLang="en-US" sz="1000">
                <a:ea typeface="宋体" panose="02010600030101010101" pitchFamily="2" charset="-122"/>
              </a:rPr>
              <a:t>链：</a:t>
            </a:r>
            <a:endParaRPr lang="zh-CN" altLang="en-US" sz="1000">
              <a:ea typeface="宋体" panose="02010600030101010101" pitchFamily="2" charset="-122"/>
            </a:endParaRPr>
          </a:p>
          <a:p>
            <a:endParaRPr lang="en-US" altLang="zh-CN" sz="1000">
              <a:ea typeface="宋体" panose="02010600030101010101" pitchFamily="2" charset="-122"/>
            </a:endParaRPr>
          </a:p>
          <a:p>
            <a:endParaRPr lang="en-US" altLang="zh-CN" sz="1000">
              <a:ea typeface="宋体" panose="02010600030101010101" pitchFamily="2" charset="-122"/>
            </a:endParaRPr>
          </a:p>
          <a:p>
            <a:r>
              <a:rPr lang="en-US" altLang="zh-CN" sz="1000">
                <a:ea typeface="宋体" panose="02010600030101010101" pitchFamily="2" charset="-122"/>
              </a:rPr>
              <a:t>if completed       </a:t>
            </a:r>
            <a:r>
              <a:rPr lang="en-US" altLang="en-US" sz="1000">
                <a:ea typeface="宋体" panose="02010600030101010101" pitchFamily="2" charset="-122"/>
              </a:rPr>
              <a:t>→</a:t>
            </a:r>
            <a:r>
              <a:rPr lang="en-US" altLang="zh-CN" sz="1000">
                <a:ea typeface="宋体" panose="02010600030101010101" pitchFamily="2" charset="-122"/>
              </a:rPr>
              <a:t> Stop("already_completed")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1</a:t>
            </a:r>
            <a:endParaRPr lang="en-US" altLang="zh-CN" sz="1000">
              <a:ea typeface="宋体" panose="02010600030101010101" pitchFamily="2" charset="-122"/>
            </a:endParaRPr>
          </a:p>
          <a:p>
            <a:r>
              <a:rPr lang="en-US" altLang="zh-CN" sz="1000">
                <a:ea typeface="宋体" panose="02010600030101010101" pitchFamily="2" charset="-122"/>
              </a:rPr>
              <a:t>elif turns &gt;= max   </a:t>
            </a:r>
            <a:r>
              <a:rPr lang="en-US" altLang="en-US" sz="1000">
                <a:ea typeface="宋体" panose="02010600030101010101" pitchFamily="2" charset="-122"/>
              </a:rPr>
              <a:t>→</a:t>
            </a:r>
            <a:r>
              <a:rPr lang="en-US" altLang="zh-CN" sz="1000">
                <a:ea typeface="宋体" panose="02010600030101010101" pitchFamily="2" charset="-122"/>
              </a:rPr>
              <a:t> Stop("turn_budget")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2</a:t>
            </a:r>
            <a:r>
              <a:rPr lang="zh-CN" altLang="en-US" sz="1000">
                <a:ea typeface="宋体" panose="02010600030101010101" pitchFamily="2" charset="-122"/>
              </a:rPr>
              <a:t>（硬预算！）</a:t>
            </a:r>
            <a:endParaRPr lang="zh-CN" altLang="en-US" sz="1000">
              <a:ea typeface="宋体" panose="02010600030101010101" pitchFamily="2" charset="-122"/>
            </a:endParaRPr>
          </a:p>
          <a:p>
            <a:r>
              <a:rPr lang="en-US" altLang="zh-CN" sz="1000">
                <a:ea typeface="宋体" panose="02010600030101010101" pitchFamily="2" charset="-122"/>
              </a:rPr>
              <a:t>elif goal </a:t>
            </a:r>
            <a:r>
              <a:rPr lang="zh-CN" altLang="en-US" sz="1000">
                <a:ea typeface="宋体" panose="02010600030101010101" pitchFamily="2" charset="-122"/>
              </a:rPr>
              <a:t>为空</a:t>
            </a:r>
            <a:r>
              <a:rPr lang="en-US" altLang="zh-CN" sz="1000">
                <a:ea typeface="宋体" panose="02010600030101010101" pitchFamily="2" charset="-122"/>
              </a:rPr>
              <a:t>        </a:t>
            </a:r>
            <a:r>
              <a:rPr lang="en-US" altLang="en-US" sz="1000">
                <a:ea typeface="宋体" panose="02010600030101010101" pitchFamily="2" charset="-122"/>
              </a:rPr>
              <a:t>→</a:t>
            </a:r>
            <a:r>
              <a:rPr lang="en-US" altLang="zh-CN" sz="1000">
                <a:ea typeface="宋体" panose="02010600030101010101" pitchFamily="2" charset="-122"/>
              </a:rPr>
              <a:t> AskForGoal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3</a:t>
            </a:r>
            <a:endParaRPr lang="en-US" altLang="zh-CN" sz="1000">
              <a:ea typeface="宋体" panose="02010600030101010101" pitchFamily="2" charset="-122"/>
            </a:endParaRPr>
          </a:p>
          <a:p>
            <a:r>
              <a:rPr lang="en-US" altLang="zh-CN" sz="1000">
                <a:ea typeface="宋体" panose="02010600030101010101" pitchFamily="2" charset="-122"/>
              </a:rPr>
              <a:t>elif !input_closed    </a:t>
            </a:r>
            <a:r>
              <a:rPr lang="en-US" altLang="en-US" sz="1000">
                <a:ea typeface="宋体" panose="02010600030101010101" pitchFamily="2" charset="-122"/>
              </a:rPr>
              <a:t>→</a:t>
            </a:r>
            <a:r>
              <a:rPr lang="en-US" altLang="zh-CN" sz="1000">
                <a:ea typeface="宋体" panose="02010600030101010101" pitchFamily="2" charset="-122"/>
              </a:rPr>
              <a:t> Record(notes)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4</a:t>
            </a:r>
            <a:r>
              <a:rPr lang="zh-CN" altLang="en-US" sz="1000">
                <a:ea typeface="宋体" panose="02010600030101010101" pitchFamily="2" charset="-122"/>
              </a:rPr>
              <a:t>（继续等待）</a:t>
            </a:r>
            <a:endParaRPr lang="zh-CN" altLang="en-US" sz="1000">
              <a:ea typeface="宋体" panose="02010600030101010101" pitchFamily="2" charset="-122"/>
            </a:endParaRPr>
          </a:p>
          <a:p>
            <a:r>
              <a:rPr lang="en-US" altLang="zh-CN" sz="1000">
                <a:ea typeface="宋体" panose="02010600030101010101" pitchFamily="2" charset="-122"/>
              </a:rPr>
              <a:t>elif notes </a:t>
            </a:r>
            <a:r>
              <a:rPr lang="zh-CN" altLang="en-US" sz="1000">
                <a:ea typeface="宋体" panose="02010600030101010101" pitchFamily="2" charset="-122"/>
              </a:rPr>
              <a:t>非空</a:t>
            </a:r>
            <a:r>
              <a:rPr lang="en-US" altLang="zh-CN" sz="1000">
                <a:ea typeface="宋体" panose="02010600030101010101" pitchFamily="2" charset="-122"/>
              </a:rPr>
              <a:t>       </a:t>
            </a:r>
            <a:r>
              <a:rPr lang="en-US" altLang="en-US" sz="1000">
                <a:ea typeface="宋体" panose="02010600030101010101" pitchFamily="2" charset="-122"/>
              </a:rPr>
              <a:t>→</a:t>
            </a:r>
            <a:r>
              <a:rPr lang="en-US" altLang="zh-CN" sz="1000">
                <a:ea typeface="宋体" panose="02010600030101010101" pitchFamily="2" charset="-122"/>
              </a:rPr>
              <a:t> Finish(notes)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5</a:t>
            </a:r>
            <a:r>
              <a:rPr lang="zh-CN" altLang="en-US" sz="1000">
                <a:ea typeface="宋体" panose="02010600030101010101" pitchFamily="2" charset="-122"/>
              </a:rPr>
              <a:t>（完成！）</a:t>
            </a:r>
            <a:endParaRPr lang="zh-CN" altLang="en-US" sz="1000">
              <a:ea typeface="宋体" panose="02010600030101010101" pitchFamily="2" charset="-122"/>
            </a:endParaRPr>
          </a:p>
          <a:p>
            <a:r>
              <a:rPr lang="en-US" altLang="zh-CN" sz="1000">
                <a:ea typeface="宋体" panose="02010600030101010101" pitchFamily="2" charset="-122"/>
              </a:rPr>
              <a:t>else                  </a:t>
            </a:r>
            <a:r>
              <a:rPr lang="en-US" altLang="en-US" sz="1000">
                <a:ea typeface="宋体" panose="02010600030101010101" pitchFamily="2" charset="-122"/>
              </a:rPr>
              <a:t>→</a:t>
            </a:r>
            <a:r>
              <a:rPr lang="en-US" altLang="zh-CN" sz="1000">
                <a:ea typeface="宋体" panose="02010600030101010101" pitchFamily="2" charset="-122"/>
              </a:rPr>
              <a:t> Stop("insufficient_input")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6</a:t>
            </a:r>
            <a:r>
              <a:rPr lang="zh-CN" altLang="en-US" sz="1000">
                <a:ea typeface="宋体" panose="02010600030101010101" pitchFamily="2" charset="-122"/>
              </a:rPr>
              <a:t>（无事实可输出）</a:t>
            </a:r>
            <a:endParaRPr lang="zh-CN" altLang="en-US" sz="1000">
              <a:ea typeface="宋体" panose="02010600030101010101" pitchFamily="2" charset="-122"/>
            </a:endParaRPr>
          </a:p>
          <a:p>
            <a:endParaRPr lang="zh-CN" altLang="en-US" sz="1000">
              <a:ea typeface="宋体" panose="02010600030101010101" pitchFamily="2" charset="-122"/>
            </a:endParaRPr>
          </a:p>
          <a:p>
            <a:r>
              <a:rPr lang="zh-CN" altLang="en-US" sz="1000">
                <a:ea typeface="宋体" panose="02010600030101010101" pitchFamily="2" charset="-122"/>
              </a:rPr>
              <a:t>写法要点：</a:t>
            </a:r>
            <a:endParaRPr lang="en-US" altLang="zh-CN" sz="1000">
              <a:ea typeface="宋体" panose="02010600030101010101" pitchFamily="2" charset="-122"/>
            </a:endParaRPr>
          </a:p>
          <a:p>
            <a:r>
              <a:rPr lang="zh-CN" altLang="en-US" sz="1000">
                <a:ea typeface="宋体" panose="02010600030101010101" pitchFamily="2" charset="-122"/>
              </a:rPr>
              <a:t>用</a:t>
            </a:r>
            <a:r>
              <a:rPr lang="en-US" altLang="zh-CN" sz="1000">
                <a:ea typeface="宋体" panose="02010600030101010101" pitchFamily="2" charset="-122"/>
              </a:rPr>
              <a:t> if-else if-else </a:t>
            </a:r>
            <a:r>
              <a:rPr lang="zh-CN" altLang="en-US" sz="1000">
                <a:ea typeface="宋体" panose="02010600030101010101" pitchFamily="2" charset="-122"/>
              </a:rPr>
              <a:t>链而不是</a:t>
            </a:r>
            <a:r>
              <a:rPr lang="en-US" altLang="zh-CN" sz="1000">
                <a:ea typeface="宋体" panose="02010600030101010101" pitchFamily="2" charset="-122"/>
              </a:rPr>
              <a:t> match</a:t>
            </a:r>
            <a:r>
              <a:rPr lang="zh-CN" altLang="en-US" sz="1000">
                <a:ea typeface="宋体" panose="02010600030101010101" pitchFamily="2" charset="-122"/>
              </a:rPr>
              <a:t>，因为这是优先级判断，不是穷举匹配</a:t>
            </a:r>
            <a:endParaRPr lang="zh-CN" altLang="en-US" sz="1000">
              <a:ea typeface="宋体" panose="02010600030101010101" pitchFamily="2" charset="-122"/>
            </a:endParaRPr>
          </a:p>
          <a:p>
            <a:r>
              <a:rPr lang="en-US" altLang="zh-CN" sz="1000">
                <a:ea typeface="宋体" panose="02010600030101010101" pitchFamily="2" charset="-122"/>
              </a:rPr>
              <a:t>turns &gt;= max_turns </a:t>
            </a:r>
            <a:r>
              <a:rPr lang="zh-CN" altLang="en-US" sz="1000">
                <a:ea typeface="宋体" panose="02010600030101010101" pitchFamily="2" charset="-122"/>
              </a:rPr>
              <a:t>在</a:t>
            </a:r>
            <a:r>
              <a:rPr lang="en-US" altLang="zh-CN" sz="1000">
                <a:ea typeface="宋体" panose="02010600030101010101" pitchFamily="2" charset="-122"/>
              </a:rPr>
              <a:t> goal.is_none() </a:t>
            </a:r>
            <a:r>
              <a:rPr lang="zh-CN" altLang="en-US" sz="1000">
                <a:ea typeface="宋体" panose="02010600030101010101" pitchFamily="2" charset="-122"/>
              </a:rPr>
              <a:t>之前，体现了</a:t>
            </a:r>
            <a:r>
              <a:rPr lang="en-US" altLang="zh-CN" sz="1000">
                <a:ea typeface="宋体" panose="02010600030101010101" pitchFamily="2" charset="-122"/>
              </a:rPr>
              <a:t>"</a:t>
            </a:r>
            <a:r>
              <a:rPr lang="zh-CN" altLang="en-US" sz="1000">
                <a:ea typeface="宋体" panose="02010600030101010101" pitchFamily="2" charset="-122"/>
              </a:rPr>
              <a:t>硬预算不能被绕过</a:t>
            </a:r>
            <a:r>
              <a:rPr lang="en-US" altLang="zh-CN" sz="1000">
                <a:ea typeface="宋体" panose="02010600030101010101" pitchFamily="2" charset="-122"/>
              </a:rPr>
              <a:t>"——</a:t>
            </a:r>
            <a:r>
              <a:rPr lang="zh-CN" altLang="en-US" sz="1000">
                <a:ea typeface="宋体" panose="02010600030101010101" pitchFamily="2" charset="-122"/>
              </a:rPr>
              <a:t>即使没目标，预算到了也得停</a:t>
            </a:r>
            <a:endParaRPr lang="zh-CN" altLang="en-US" sz="1000">
              <a:ea typeface="宋体" panose="02010600030101010101" pitchFamily="2" charset="-122"/>
            </a:endParaRPr>
          </a:p>
          <a:p>
            <a:r>
              <a:rPr lang="zh-CN" altLang="en-US" sz="1000">
                <a:ea typeface="宋体" panose="02010600030101010101" pitchFamily="2" charset="-122"/>
              </a:rPr>
              <a:t>参数是</a:t>
            </a:r>
            <a:r>
              <a:rPr lang="en-US" altLang="zh-CN" sz="1000">
                <a:ea typeface="宋体" panose="02010600030101010101" pitchFamily="2" charset="-122"/>
              </a:rPr>
              <a:t> &amp;AgentState</a:t>
            </a:r>
            <a:r>
              <a:rPr lang="zh-CN" altLang="en-US" sz="1000">
                <a:ea typeface="宋体" panose="02010600030101010101" pitchFamily="2" charset="-122"/>
              </a:rPr>
              <a:t>（不可变引用），保证这个函数不会偷偷改状态</a:t>
            </a:r>
            <a:endParaRPr lang="zh-CN" altLang="en-US" sz="1000">
              <a:ea typeface="宋体" panose="02010600030101010101" pitchFamily="2" charset="-122"/>
            </a:endParaRPr>
          </a:p>
        </p:txBody>
      </p:sp>
      <p:sp>
        <p:nvSpPr>
          <p:cNvPr id="14" name="文本框 13"/>
          <p:cNvSpPr txBox="1"/>
          <p:nvPr/>
        </p:nvSpPr>
        <p:spPr>
          <a:xfrm>
            <a:off x="8183880" y="1988185"/>
            <a:ext cx="3590290" cy="3938270"/>
          </a:xfrm>
          <a:prstGeom prst="rect">
            <a:avLst/>
          </a:prstGeom>
          <a:noFill/>
          <a:ln>
            <a:solidFill>
              <a:schemeClr val="accent6">
                <a:lumMod val="75000"/>
              </a:schemeClr>
            </a:solidFill>
          </a:ln>
        </p:spPr>
        <p:txBody>
          <a:bodyPr wrap="square" rtlCol="0">
            <a:spAutoFit/>
          </a:bodyPr>
          <a:p>
            <a:r>
              <a:rPr lang="en-US" altLang="zh-CN" sz="1000">
                <a:highlight>
                  <a:srgbClr val="00FF00"/>
                </a:highlight>
              </a:rPr>
              <a:t>3</a:t>
            </a:r>
            <a:r>
              <a:rPr lang="zh-CN" altLang="en-US" sz="1000">
                <a:highlight>
                  <a:srgbClr val="00FF00"/>
                </a:highlight>
                <a:ea typeface="宋体" panose="02010600030101010101" pitchFamily="2" charset="-122"/>
              </a:rPr>
              <a:t>、</a:t>
            </a:r>
            <a:r>
              <a:rPr lang="en-US" altLang="zh-CN" sz="1000">
                <a:highlight>
                  <a:srgbClr val="00FF00"/>
                </a:highlight>
              </a:rPr>
              <a:t>run_scripted — </a:t>
            </a:r>
            <a:r>
              <a:rPr lang="zh-CN" altLang="en-US" sz="1000">
                <a:highlight>
                  <a:srgbClr val="00FF00"/>
                </a:highlight>
              </a:rPr>
              <a:t>串联循环</a:t>
            </a:r>
            <a:endParaRPr lang="zh-CN" altLang="en-US" sz="1000">
              <a:highlight>
                <a:srgbClr val="00FF00"/>
              </a:highlight>
            </a:endParaRPr>
          </a:p>
          <a:p>
            <a:endParaRPr lang="zh-CN" altLang="en-US" sz="1000">
              <a:highlight>
                <a:srgbClr val="00FF00"/>
              </a:highlight>
            </a:endParaRPr>
          </a:p>
          <a:p>
            <a:r>
              <a:rPr lang="en-US" altLang="zh-CN" sz="1000"/>
              <a:t>pub fn run_scripted(observations: &amp;[Observation], max_turns: usize) -&gt; Result&lt;Vec&lt;Action&gt;, LabError&gt;</a:t>
            </a:r>
            <a:endParaRPr lang="en-US" altLang="zh-CN" sz="1000"/>
          </a:p>
          <a:p>
            <a:r>
              <a:rPr lang="zh-CN" altLang="en-US" sz="1000"/>
              <a:t>这个函数只做编排，不重复写状态更新逻辑：</a:t>
            </a:r>
            <a:endParaRPr lang="zh-CN" altLang="en-US" sz="1000"/>
          </a:p>
          <a:p>
            <a:endParaRPr lang="en-US" altLang="zh-CN" sz="1000"/>
          </a:p>
          <a:p>
            <a:r>
              <a:rPr lang="zh-CN" altLang="en-US" sz="1000"/>
              <a:t>初始状态</a:t>
            </a:r>
            <a:r>
              <a:rPr lang="en-US" altLang="zh-CN" sz="1000"/>
              <a:t> (default)</a:t>
            </a:r>
            <a:endParaRPr lang="en-US" altLang="zh-CN" sz="1000"/>
          </a:p>
          <a:p>
            <a:r>
              <a:rPr lang="en-US" altLang="zh-CN" sz="1000"/>
              <a:t>    </a:t>
            </a:r>
            <a:r>
              <a:rPr lang="en-US" altLang="en-US" sz="1000"/>
              <a:t>↓</a:t>
            </a:r>
            <a:endParaRPr lang="en-US" altLang="en-US" sz="1000"/>
          </a:p>
          <a:p>
            <a:r>
              <a:rPr lang="en-US" altLang="zh-CN" sz="1000"/>
              <a:t>choose_action </a:t>
            </a:r>
            <a:r>
              <a:rPr lang="en-US" altLang="en-US" sz="1000"/>
              <a:t>→</a:t>
            </a:r>
            <a:r>
              <a:rPr lang="en-US" altLang="zh-CN" sz="1000"/>
              <a:t> </a:t>
            </a:r>
            <a:r>
              <a:rPr lang="zh-CN" altLang="en-US" sz="1000"/>
              <a:t>第一个动作</a:t>
            </a:r>
            <a:r>
              <a:rPr lang="en-US" altLang="zh-CN" sz="1000"/>
              <a:t> </a:t>
            </a:r>
            <a:r>
              <a:rPr lang="en-US" altLang="en-US" sz="1000"/>
              <a:t>──→</a:t>
            </a:r>
            <a:r>
              <a:rPr lang="en-US" altLang="zh-CN" sz="1000"/>
              <a:t> Finish/Stop? </a:t>
            </a:r>
            <a:r>
              <a:rPr lang="en-US" altLang="en-US" sz="1000"/>
              <a:t>→</a:t>
            </a:r>
            <a:r>
              <a:rPr lang="en-US" altLang="zh-CN" sz="1000"/>
              <a:t> </a:t>
            </a:r>
            <a:r>
              <a:rPr lang="zh-CN" altLang="en-US" sz="1000"/>
              <a:t>直接返回</a:t>
            </a:r>
            <a:r>
              <a:rPr lang="en-US" altLang="zh-CN" sz="1000"/>
              <a:t> [</a:t>
            </a:r>
            <a:r>
              <a:rPr lang="zh-CN" altLang="en-US" sz="1000"/>
              <a:t>动作</a:t>
            </a:r>
            <a:r>
              <a:rPr lang="en-US" altLang="zh-CN" sz="1000"/>
              <a:t>]</a:t>
            </a:r>
            <a:endParaRPr lang="en-US" altLang="zh-CN" sz="1000"/>
          </a:p>
          <a:p>
            <a:r>
              <a:rPr lang="en-US" altLang="zh-CN" sz="1000"/>
              <a:t>    </a:t>
            </a:r>
            <a:r>
              <a:rPr lang="en-US" altLang="en-US" sz="1000"/>
              <a:t>↓</a:t>
            </a:r>
            <a:r>
              <a:rPr lang="en-US" altLang="zh-CN" sz="1000"/>
              <a:t> (</a:t>
            </a:r>
            <a:r>
              <a:rPr lang="zh-CN" altLang="en-US" sz="1000"/>
              <a:t>否则</a:t>
            </a:r>
            <a:r>
              <a:rPr lang="en-US" altLang="zh-CN" sz="1000"/>
              <a:t>)</a:t>
            </a:r>
            <a:endParaRPr lang="en-US" altLang="zh-CN" sz="1000"/>
          </a:p>
          <a:p>
            <a:r>
              <a:rPr lang="en-US" altLang="zh-CN" sz="1000"/>
              <a:t>for </a:t>
            </a:r>
            <a:r>
              <a:rPr lang="zh-CN" altLang="en-US" sz="1000"/>
              <a:t>每个</a:t>
            </a:r>
            <a:r>
              <a:rPr lang="en-US" altLang="zh-CN" sz="1000"/>
              <a:t> observation:</a:t>
            </a:r>
            <a:endParaRPr lang="en-US" altLang="zh-CN" sz="1000"/>
          </a:p>
          <a:p>
            <a:r>
              <a:rPr lang="en-US" altLang="zh-CN" sz="1000"/>
              <a:t>    apply_observation  </a:t>
            </a:r>
            <a:r>
              <a:rPr lang="en-US" altLang="en-US" sz="1000"/>
              <a:t>←</a:t>
            </a:r>
            <a:r>
              <a:rPr lang="en-US" altLang="zh-CN" sz="1000"/>
              <a:t> </a:t>
            </a:r>
            <a:r>
              <a:rPr lang="zh-CN" altLang="en-US" sz="1000"/>
              <a:t>修改状态（唯一的地方！）</a:t>
            </a:r>
            <a:endParaRPr lang="zh-CN" altLang="en-US" sz="1000"/>
          </a:p>
          <a:p>
            <a:r>
              <a:rPr lang="en-US" altLang="zh-CN" sz="1000"/>
              <a:t>    choose_action      </a:t>
            </a:r>
            <a:r>
              <a:rPr lang="en-US" altLang="en-US" sz="1000"/>
              <a:t>←</a:t>
            </a:r>
            <a:r>
              <a:rPr lang="en-US" altLang="zh-CN" sz="1000"/>
              <a:t> </a:t>
            </a:r>
            <a:r>
              <a:rPr lang="zh-CN" altLang="en-US" sz="1000"/>
              <a:t>根据新状态选动作</a:t>
            </a:r>
            <a:endParaRPr lang="zh-CN" altLang="en-US" sz="1000"/>
          </a:p>
          <a:p>
            <a:r>
              <a:rPr lang="en-US" altLang="zh-CN" sz="1000"/>
              <a:t>    </a:t>
            </a:r>
            <a:r>
              <a:rPr lang="zh-CN" altLang="en-US" sz="1000"/>
              <a:t>是</a:t>
            </a:r>
            <a:r>
              <a:rPr lang="en-US" altLang="zh-CN" sz="1000"/>
              <a:t> Finish/Stop? </a:t>
            </a:r>
            <a:r>
              <a:rPr lang="en-US" altLang="en-US" sz="1000"/>
              <a:t>→</a:t>
            </a:r>
            <a:r>
              <a:rPr lang="en-US" altLang="zh-CN" sz="1000"/>
              <a:t> </a:t>
            </a:r>
            <a:r>
              <a:rPr lang="zh-CN" altLang="en-US" sz="1000"/>
              <a:t>结束循环</a:t>
            </a:r>
            <a:endParaRPr lang="zh-CN" altLang="en-US" sz="1000"/>
          </a:p>
          <a:p>
            <a:r>
              <a:rPr lang="en-US" altLang="zh-CN" sz="1000"/>
              <a:t>    </a:t>
            </a:r>
            <a:r>
              <a:rPr lang="en-US" altLang="en-US" sz="1000"/>
              <a:t>↓</a:t>
            </a:r>
            <a:endParaRPr lang="en-US" altLang="en-US" sz="1000"/>
          </a:p>
          <a:p>
            <a:r>
              <a:rPr lang="zh-CN" altLang="en-US" sz="1000"/>
              <a:t>返回所有动作列表</a:t>
            </a:r>
            <a:endParaRPr lang="zh-CN" altLang="en-US" sz="1000"/>
          </a:p>
          <a:p>
            <a:endParaRPr lang="zh-CN" altLang="en-US" sz="1000"/>
          </a:p>
          <a:p>
            <a:r>
              <a:rPr lang="zh-CN" altLang="en-US" sz="1000"/>
              <a:t>写法要点：</a:t>
            </a:r>
            <a:endParaRPr lang="en-US" altLang="zh-CN" sz="1000"/>
          </a:p>
          <a:p>
            <a:r>
              <a:rPr lang="zh-CN" altLang="en-US" sz="1000"/>
              <a:t>状态更新的代码只在</a:t>
            </a:r>
            <a:r>
              <a:rPr lang="en-US" altLang="zh-CN" sz="1000"/>
              <a:t> apply_observation </a:t>
            </a:r>
            <a:r>
              <a:rPr lang="zh-CN" altLang="en-US" sz="1000"/>
              <a:t>里，</a:t>
            </a:r>
            <a:r>
              <a:rPr lang="en-US" altLang="zh-CN" sz="1000"/>
              <a:t>run_scripted </a:t>
            </a:r>
            <a:r>
              <a:rPr lang="zh-CN" altLang="en-US" sz="1000"/>
              <a:t>绝不复写</a:t>
            </a:r>
            <a:endParaRPr lang="zh-CN" altLang="en-US" sz="1000"/>
          </a:p>
          <a:p>
            <a:r>
              <a:rPr lang="zh-CN" altLang="en-US" sz="1000"/>
              <a:t>用</a:t>
            </a:r>
            <a:r>
              <a:rPr lang="en-US" altLang="zh-CN" sz="1000"/>
              <a:t> matches!(action, Action::Finish(_) | Action::Stop(_)) </a:t>
            </a:r>
            <a:r>
              <a:rPr lang="zh-CN" altLang="en-US" sz="1000"/>
              <a:t>判断终止</a:t>
            </a:r>
            <a:r>
              <a:rPr lang="en-US" altLang="zh-CN" sz="1000"/>
              <a:t>——</a:t>
            </a:r>
            <a:r>
              <a:rPr lang="zh-CN" altLang="en-US" sz="1000"/>
              <a:t>简洁且自文档化</a:t>
            </a:r>
            <a:endParaRPr lang="zh-CN" altLang="en-US" sz="1000"/>
          </a:p>
          <a:p>
            <a:r>
              <a:rPr lang="zh-CN" altLang="en-US" sz="1000"/>
              <a:t>循环内部</a:t>
            </a:r>
            <a:r>
              <a:rPr lang="en-US" altLang="zh-CN" sz="1000"/>
              <a:t> break </a:t>
            </a:r>
            <a:r>
              <a:rPr lang="zh-CN" altLang="en-US" sz="1000"/>
              <a:t>条件紧跟在</a:t>
            </a:r>
            <a:r>
              <a:rPr lang="en-US" altLang="zh-CN" sz="1000"/>
              <a:t> choose_action </a:t>
            </a:r>
            <a:r>
              <a:rPr lang="zh-CN" altLang="en-US" sz="1000"/>
              <a:t>之后，不会多处理一个</a:t>
            </a:r>
            <a:r>
              <a:rPr lang="en-US" altLang="zh-CN" sz="1000"/>
              <a:t> Observation</a:t>
            </a:r>
            <a:endParaRPr lang="en-US" altLang="zh-CN"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写完了</a:t>
            </a:r>
            <a:r>
              <a:rPr lang="en-US" altLang="zh-CN"/>
              <a:t>Mini Loop</a:t>
            </a:r>
            <a:r>
              <a:rPr lang="zh-CN" altLang="en-US">
                <a:ea typeface="宋体" panose="02010600030101010101" pitchFamily="2" charset="-122"/>
              </a:rPr>
              <a:t>，我们就需要跑一下我们之前写的测试来看看我们编写的血肉是否符合预期</a:t>
            </a:r>
            <a:r>
              <a:rPr lang="zh-CN" altLang="en-US">
                <a:ea typeface="宋体" panose="02010600030101010101" pitchFamily="2" charset="-122"/>
              </a:rPr>
              <a:t>了</a:t>
            </a:r>
            <a:endParaRPr lang="zh-CN" altLang="en-US">
              <a:ea typeface="宋体" panose="02010600030101010101" pitchFamily="2" charset="-122"/>
            </a:endParaRPr>
          </a:p>
        </p:txBody>
      </p:sp>
      <p:sp>
        <p:nvSpPr>
          <p:cNvPr id="4" name="文本框 3"/>
          <p:cNvSpPr txBox="1"/>
          <p:nvPr/>
        </p:nvSpPr>
        <p:spPr>
          <a:xfrm>
            <a:off x="816610" y="1985010"/>
            <a:ext cx="6826250" cy="3046095"/>
          </a:xfrm>
          <a:prstGeom prst="rect">
            <a:avLst/>
          </a:prstGeom>
          <a:noFill/>
        </p:spPr>
        <p:txBody>
          <a:bodyPr wrap="square" rtlCol="0">
            <a:spAutoFit/>
          </a:bodyPr>
          <a:p>
            <a:r>
              <a:rPr lang="en-US" altLang="zh-CN" sz="1600"/>
              <a:t>#  </a:t>
            </a:r>
            <a:r>
              <a:rPr lang="zh-CN" altLang="en-US" sz="1600"/>
              <a:t>跑全部测试（最常用）</a:t>
            </a:r>
            <a:endParaRPr lang="zh-CN" altLang="en-US" sz="1600"/>
          </a:p>
          <a:p>
            <a:r>
              <a:rPr lang="en-US" altLang="zh-CN" sz="1600"/>
              <a:t>cargo test</a:t>
            </a:r>
            <a:endParaRPr lang="en-US" altLang="zh-CN" sz="1600"/>
          </a:p>
          <a:p>
            <a:endParaRPr lang="en-US" altLang="zh-CN" sz="1600"/>
          </a:p>
          <a:p>
            <a:r>
              <a:rPr lang="en-US" altLang="zh-CN" sz="1600"/>
              <a:t>#  </a:t>
            </a:r>
            <a:r>
              <a:rPr lang="zh-CN" altLang="en-US" sz="1600"/>
              <a:t>只跑某个测试文件</a:t>
            </a:r>
            <a:endParaRPr lang="zh-CN" altLang="en-US" sz="1600"/>
          </a:p>
          <a:p>
            <a:r>
              <a:rPr lang="en-US" altLang="zh-CN" sz="1600"/>
              <a:t>cargo test --test state_tests</a:t>
            </a:r>
            <a:endParaRPr lang="en-US" altLang="zh-CN" sz="1600"/>
          </a:p>
          <a:p>
            <a:r>
              <a:rPr lang="en-US" altLang="zh-CN" sz="1600"/>
              <a:t>cargo test --test policy_tests</a:t>
            </a:r>
            <a:endParaRPr lang="en-US" altLang="zh-CN" sz="1600"/>
          </a:p>
          <a:p>
            <a:r>
              <a:rPr lang="en-US" altLang="zh-CN" sz="1600"/>
              <a:t>cargo test --test acceptance</a:t>
            </a:r>
            <a:endParaRPr lang="en-US" altLang="zh-CN" sz="1600"/>
          </a:p>
          <a:p>
            <a:endParaRPr lang="en-US" altLang="zh-CN" sz="1600"/>
          </a:p>
          <a:p>
            <a:r>
              <a:rPr lang="en-US" altLang="zh-CN" sz="1600"/>
              <a:t>#  </a:t>
            </a:r>
            <a:r>
              <a:rPr lang="zh-CN" altLang="en-US" sz="1600"/>
              <a:t>只跑某个具体测试函数</a:t>
            </a:r>
            <a:endParaRPr lang="zh-CN" altLang="en-US" sz="1600"/>
          </a:p>
          <a:p>
            <a:r>
              <a:rPr lang="en-US" altLang="zh-CN" sz="1600"/>
              <a:t>cargo test empty_goal_is_rejected          # </a:t>
            </a:r>
            <a:r>
              <a:rPr lang="zh-CN" altLang="en-US" sz="1600"/>
              <a:t>按函数名匹配</a:t>
            </a:r>
            <a:endParaRPr lang="zh-CN" altLang="en-US" sz="1600"/>
          </a:p>
          <a:p>
            <a:r>
              <a:rPr lang="en-US" altLang="zh-CN" sz="1600"/>
              <a:t>cargo test closed_input                    # </a:t>
            </a:r>
            <a:r>
              <a:rPr lang="zh-CN" altLang="en-US" sz="1600"/>
              <a:t>部分匹配也行，会跑所有名字包含它的</a:t>
            </a:r>
            <a:endParaRPr lang="zh-CN" altLang="en-US" sz="1600"/>
          </a:p>
          <a:p>
            <a:endParaRPr lang="zh-CN" altLang="en-US" sz="1600"/>
          </a:p>
        </p:txBody>
      </p:sp>
      <p:pic>
        <p:nvPicPr>
          <p:cNvPr id="7" name="图片 6"/>
          <p:cNvPicPr>
            <a:picLocks noChangeAspect="1"/>
          </p:cNvPicPr>
          <p:nvPr/>
        </p:nvPicPr>
        <p:blipFill>
          <a:blip r:embed="rId1"/>
          <a:stretch>
            <a:fillRect/>
          </a:stretch>
        </p:blipFill>
        <p:spPr>
          <a:xfrm>
            <a:off x="911225" y="5012690"/>
            <a:ext cx="6424295" cy="1316355"/>
          </a:xfrm>
          <a:prstGeom prst="rect">
            <a:avLst/>
          </a:prstGeom>
        </p:spPr>
      </p:pic>
      <p:sp>
        <p:nvSpPr>
          <p:cNvPr id="9" name="文本框 8"/>
          <p:cNvSpPr txBox="1"/>
          <p:nvPr/>
        </p:nvSpPr>
        <p:spPr>
          <a:xfrm>
            <a:off x="8138160" y="5648325"/>
            <a:ext cx="4064000" cy="368300"/>
          </a:xfrm>
          <a:prstGeom prst="rect">
            <a:avLst/>
          </a:prstGeom>
          <a:noFill/>
        </p:spPr>
        <p:txBody>
          <a:bodyPr wrap="square" rtlCol="0">
            <a:spAutoFit/>
          </a:bodyPr>
          <a:p>
            <a:r>
              <a:rPr lang="en-US" altLang="zh-CN">
                <a:solidFill>
                  <a:srgbClr val="7030A0"/>
                </a:solidFill>
              </a:rPr>
              <a:t>perfect</a:t>
            </a:r>
            <a:r>
              <a:rPr lang="zh-CN" altLang="en-US">
                <a:solidFill>
                  <a:srgbClr val="7030A0"/>
                </a:solidFill>
                <a:ea typeface="宋体" panose="02010600030101010101" pitchFamily="2" charset="-122"/>
              </a:rPr>
              <a:t>！全部符合预期</a:t>
            </a:r>
            <a:endParaRPr lang="zh-CN" altLang="en-US">
              <a:solidFill>
                <a:srgbClr val="7030A0"/>
              </a:solidFill>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我们准备一个常见的场景来观察一下</a:t>
            </a:r>
            <a:r>
              <a:rPr lang="en-US" altLang="zh-CN"/>
              <a:t>Chatbot </a:t>
            </a:r>
            <a:r>
              <a:rPr lang="zh-CN" altLang="en-US"/>
              <a:t>和</a:t>
            </a:r>
            <a:r>
              <a:rPr lang="en-US" altLang="zh-CN"/>
              <a:t> Workflow </a:t>
            </a:r>
            <a:r>
              <a:rPr lang="zh-CN" altLang="en-US"/>
              <a:t>还有</a:t>
            </a:r>
            <a:r>
              <a:rPr lang="en-US" altLang="zh-CN"/>
              <a:t> Agent </a:t>
            </a:r>
            <a:r>
              <a:rPr lang="zh-CN" altLang="en-US"/>
              <a:t>三者的</a:t>
            </a:r>
            <a:r>
              <a:rPr lang="zh-CN" altLang="en-US"/>
              <a:t>区别</a:t>
            </a:r>
            <a:endParaRPr lang="zh-CN" altLang="en-US"/>
          </a:p>
        </p:txBody>
      </p:sp>
      <p:sp>
        <p:nvSpPr>
          <p:cNvPr id="10" name="文本框 9"/>
          <p:cNvSpPr txBox="1"/>
          <p:nvPr/>
        </p:nvSpPr>
        <p:spPr>
          <a:xfrm>
            <a:off x="2567305" y="2204720"/>
            <a:ext cx="6118860" cy="2045335"/>
          </a:xfrm>
          <a:prstGeom prst="rect">
            <a:avLst/>
          </a:prstGeom>
          <a:ln>
            <a:solidFill>
              <a:schemeClr val="accent6">
                <a:lumMod val="75000"/>
              </a:schemeClr>
            </a:solidFill>
          </a:ln>
        </p:spPr>
        <p:txBody>
          <a:bodyPr wrap="square">
            <a:spAutoFit/>
          </a:bodyPr>
          <a:p>
            <a:pPr marL="0" indent="0">
              <a:spcBef>
                <a:spcPts val="100"/>
              </a:spcBef>
              <a:spcAft>
                <a:spcPts val="200"/>
              </a:spcAft>
            </a:pPr>
            <a:r>
              <a:rPr lang="zh-CN" altLang="en-US" sz="1600" b="0" i="0">
                <a:solidFill>
                  <a:schemeClr val="tx1"/>
                </a:solidFill>
                <a:latin typeface="-apple-system"/>
                <a:ea typeface="-apple-system"/>
              </a:rPr>
              <a:t>用户想请你帮忙准备一个会议摘要。但用户给的信息可能不完整：</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主题：</a:t>
            </a:r>
            <a:r>
              <a:rPr lang="en-US" altLang="zh-CN" sz="1600" b="0" i="0">
                <a:solidFill>
                  <a:schemeClr val="tx1"/>
                </a:solidFill>
                <a:latin typeface="-apple-system"/>
                <a:ea typeface="-apple-system"/>
              </a:rPr>
              <a:t>Q3 </a:t>
            </a:r>
            <a:r>
              <a:rPr lang="zh-CN" altLang="en-US" sz="1600" b="0" i="0">
                <a:solidFill>
                  <a:schemeClr val="tx1"/>
                </a:solidFill>
                <a:latin typeface="-apple-system"/>
                <a:ea typeface="-apple-system"/>
              </a:rPr>
              <a:t>项目评审</a:t>
            </a:r>
            <a:r>
              <a:rPr lang="en-US" altLang="zh-CN" sz="1600" b="0" i="0">
                <a:solidFill>
                  <a:schemeClr val="tx1"/>
                </a:solidFill>
                <a:latin typeface="-apple-system"/>
                <a:ea typeface="-apple-system"/>
              </a:rPr>
              <a:t>     </a:t>
            </a:r>
            <a:r>
              <a:rPr lang="zh-CN" altLang="en-US" sz="1600" b="0" i="0">
                <a:solidFill>
                  <a:schemeClr val="tx1"/>
                </a:solidFill>
                <a:highlight>
                  <a:srgbClr val="00FF00"/>
                </a:highlight>
                <a:latin typeface="-apple-system"/>
                <a:ea typeface="-apple-system"/>
              </a:rPr>
              <a:t>给了</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日期：？</a:t>
            </a:r>
            <a:r>
              <a:rPr lang="en-US" altLang="zh-CN" sz="1600" b="0" i="0">
                <a:solidFill>
                  <a:schemeClr val="tx1"/>
                </a:solidFill>
                <a:latin typeface="-apple-system"/>
                <a:ea typeface="-apple-system"/>
              </a:rPr>
              <a:t>              </a:t>
            </a:r>
            <a:r>
              <a:rPr lang="zh-CN" altLang="en-US" sz="1600" b="0" i="0">
                <a:solidFill>
                  <a:schemeClr val="tx1"/>
                </a:solidFill>
                <a:highlight>
                  <a:srgbClr val="FF0000"/>
                </a:highlight>
                <a:latin typeface="-apple-system"/>
                <a:ea typeface="-apple-system"/>
              </a:rPr>
              <a:t>没给</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参与人：张三、李四</a:t>
            </a:r>
            <a:r>
              <a:rPr lang="en-US" altLang="zh-CN" sz="1600" b="0" i="0">
                <a:solidFill>
                  <a:schemeClr val="tx1"/>
                </a:solidFill>
                <a:latin typeface="-apple-system"/>
                <a:ea typeface="-apple-system"/>
              </a:rPr>
              <a:t>    </a:t>
            </a:r>
            <a:r>
              <a:rPr lang="zh-CN" altLang="en-US" sz="1600" b="0" i="0">
                <a:solidFill>
                  <a:schemeClr val="tx1"/>
                </a:solidFill>
                <a:highlight>
                  <a:srgbClr val="00FF00"/>
                </a:highlight>
                <a:latin typeface="-apple-system"/>
                <a:ea typeface="-apple-system"/>
              </a:rPr>
              <a:t>给了</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材料：</a:t>
            </a:r>
            <a:r>
              <a:rPr lang="en-US" altLang="zh-CN" sz="1600" b="0" i="0">
                <a:solidFill>
                  <a:schemeClr val="tx1"/>
                </a:solidFill>
                <a:latin typeface="-apple-system"/>
                <a:ea typeface="-apple-system"/>
              </a:rPr>
              <a:t>report.pdf     </a:t>
            </a:r>
            <a:r>
              <a:rPr lang="zh-CN" altLang="en-US" sz="1600" b="0" i="0">
                <a:solidFill>
                  <a:schemeClr val="tx1"/>
                </a:solidFill>
                <a:highlight>
                  <a:srgbClr val="808000"/>
                </a:highlight>
                <a:latin typeface="-apple-system"/>
                <a:ea typeface="-apple-system"/>
              </a:rPr>
              <a:t>给了路径，但文件不存在</a:t>
            </a:r>
            <a:endParaRPr lang="zh-CN" altLang="en-US" sz="1600" b="0" i="0">
              <a:solidFill>
                <a:schemeClr val="tx1"/>
              </a:solidFill>
              <a:latin typeface="-apple-system"/>
              <a:ea typeface="-apple-system"/>
            </a:endParaRPr>
          </a:p>
          <a:p>
            <a:pPr marL="0" indent="0">
              <a:spcBef>
                <a:spcPts val="100"/>
              </a:spcBef>
              <a:spcAft>
                <a:spcPts val="200"/>
              </a:spcAft>
            </a:pP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三种架构面对同样的输入，反应完全不同。</a:t>
            </a:r>
            <a:endParaRPr lang="zh-CN" altLang="en-US" sz="1600" b="0" i="0">
              <a:solidFill>
                <a:schemeClr val="tx1"/>
              </a:solidFill>
              <a:latin typeface="-apple-system"/>
              <a:ea typeface="-apple-syste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看看</a:t>
            </a:r>
            <a:r>
              <a:rPr lang="en-US" altLang="zh-CN"/>
              <a:t>Agent</a:t>
            </a:r>
            <a:r>
              <a:rPr lang="zh-CN" altLang="en-US"/>
              <a:t>做了</a:t>
            </a:r>
            <a:r>
              <a:rPr lang="zh-CN" altLang="en-US"/>
              <a:t>什么</a:t>
            </a:r>
            <a:endParaRPr lang="zh-CN" altLang="en-US"/>
          </a:p>
        </p:txBody>
      </p:sp>
      <p:sp>
        <p:nvSpPr>
          <p:cNvPr id="10" name="文本框 9"/>
          <p:cNvSpPr txBox="1"/>
          <p:nvPr/>
        </p:nvSpPr>
        <p:spPr>
          <a:xfrm>
            <a:off x="622935" y="1905000"/>
            <a:ext cx="3187065" cy="884555"/>
          </a:xfrm>
          <a:prstGeom prst="rect">
            <a:avLst/>
          </a:prstGeom>
          <a:ln>
            <a:solidFill>
              <a:schemeClr val="accent6">
                <a:lumMod val="75000"/>
              </a:schemeClr>
            </a:solidFill>
          </a:ln>
        </p:spPr>
        <p:txBody>
          <a:bodyPr wrap="square">
            <a:noAutofit/>
          </a:bodyPr>
          <a:p>
            <a:pPr marL="0" indent="0">
              <a:spcBef>
                <a:spcPts val="100"/>
              </a:spcBef>
              <a:spcAft>
                <a:spcPts val="200"/>
              </a:spcAft>
            </a:pPr>
            <a:r>
              <a:rPr lang="en-US" altLang="zh-CN" sz="800" b="0" i="0">
                <a:solidFill>
                  <a:schemeClr val="tx1"/>
                </a:solidFill>
                <a:latin typeface="-apple-system"/>
                <a:ea typeface="-apple-system"/>
              </a:rPr>
              <a:t>UserGoal("</a:t>
            </a:r>
            <a:r>
              <a:rPr lang="zh-CN" altLang="en-US" sz="800" b="0" i="0">
                <a:solidFill>
                  <a:schemeClr val="tx1"/>
                </a:solidFill>
                <a:latin typeface="-apple-system"/>
                <a:ea typeface="-apple-system"/>
              </a:rPr>
              <a:t>准备</a:t>
            </a:r>
            <a:r>
              <a:rPr lang="en-US" altLang="zh-CN" sz="800" b="0" i="0">
                <a:solidFill>
                  <a:schemeClr val="tx1"/>
                </a:solidFill>
                <a:latin typeface="-apple-system"/>
                <a:ea typeface="-apple-system"/>
              </a:rPr>
              <a:t>Q3</a:t>
            </a:r>
            <a:r>
              <a:rPr lang="zh-CN" altLang="en-US" sz="800" b="0" i="0">
                <a:solidFill>
                  <a:schemeClr val="tx1"/>
                </a:solidFill>
                <a:latin typeface="-apple-system"/>
                <a:ea typeface="-apple-system"/>
              </a:rPr>
              <a:t>评审会议</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Fact("</a:t>
            </a:r>
            <a:r>
              <a:rPr lang="zh-CN" altLang="en-US" sz="800" b="0" i="0">
                <a:solidFill>
                  <a:schemeClr val="tx1"/>
                </a:solidFill>
                <a:latin typeface="-apple-system"/>
                <a:ea typeface="-apple-system"/>
              </a:rPr>
              <a:t>日期：</a:t>
            </a:r>
            <a:r>
              <a:rPr lang="en-US" altLang="zh-CN" sz="800" b="0" i="0">
                <a:solidFill>
                  <a:schemeClr val="tx1"/>
                </a:solidFill>
                <a:latin typeface="-apple-system"/>
                <a:ea typeface="-apple-system"/>
              </a:rPr>
              <a:t>8</a:t>
            </a:r>
            <a:r>
              <a:rPr lang="zh-CN" altLang="en-US" sz="800" b="0" i="0">
                <a:solidFill>
                  <a:schemeClr val="tx1"/>
                </a:solidFill>
                <a:latin typeface="-apple-system"/>
                <a:ea typeface="-apple-system"/>
              </a:rPr>
              <a:t>月</a:t>
            </a:r>
            <a:r>
              <a:rPr lang="en-US" altLang="zh-CN" sz="800" b="0" i="0">
                <a:solidFill>
                  <a:schemeClr val="tx1"/>
                </a:solidFill>
                <a:latin typeface="-apple-system"/>
                <a:ea typeface="-apple-system"/>
              </a:rPr>
              <a:t>1</a:t>
            </a:r>
            <a:r>
              <a:rPr lang="zh-CN" altLang="en-US" sz="800" b="0" i="0">
                <a:solidFill>
                  <a:schemeClr val="tx1"/>
                </a:solidFill>
                <a:latin typeface="-apple-system"/>
                <a:ea typeface="-apple-system"/>
              </a:rPr>
              <a:t>号</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NoMoreInput</a:t>
            </a:r>
            <a:endParaRPr lang="en-US" altLang="zh-CN" sz="800" b="0" i="0">
              <a:solidFill>
                <a:schemeClr val="tx1"/>
              </a:solidFill>
              <a:latin typeface="-apple-system"/>
              <a:ea typeface="-apple-system"/>
            </a:endParaRPr>
          </a:p>
          <a:p>
            <a:pPr marL="0" indent="0">
              <a:spcBef>
                <a:spcPts val="100"/>
              </a:spcBef>
              <a:spcAft>
                <a:spcPts val="200"/>
              </a:spcAft>
            </a:pPr>
            <a:endParaRPr lang="en-US" altLang="zh-CN" sz="800" b="0" i="0">
              <a:solidFill>
                <a:schemeClr val="tx1"/>
              </a:solidFill>
              <a:latin typeface="-apple-system"/>
              <a:ea typeface="-apple-system"/>
            </a:endParaRPr>
          </a:p>
        </p:txBody>
      </p:sp>
      <p:sp>
        <p:nvSpPr>
          <p:cNvPr id="4" name="文本框 3"/>
          <p:cNvSpPr txBox="1"/>
          <p:nvPr/>
        </p:nvSpPr>
        <p:spPr>
          <a:xfrm>
            <a:off x="609600" y="2924810"/>
            <a:ext cx="8580120" cy="1743075"/>
          </a:xfrm>
          <a:prstGeom prst="rect">
            <a:avLst/>
          </a:prstGeom>
        </p:spPr>
        <p:txBody>
          <a:bodyPr wrap="square">
            <a:noAutofit/>
          </a:bodyPr>
          <a:p>
            <a:pPr>
              <a:spcBef>
                <a:spcPts val="100"/>
              </a:spcBef>
              <a:spcAft>
                <a:spcPts val="200"/>
              </a:spcAft>
            </a:pPr>
            <a:r>
              <a:rPr lang="en-US" altLang="zh-CN" sz="1400">
                <a:solidFill>
                  <a:schemeClr val="tx1"/>
                </a:solidFill>
              </a:rPr>
              <a:t>agent.rs</a:t>
            </a:r>
            <a:r>
              <a:rPr lang="zh-CN" altLang="en-US" sz="1400">
                <a:solidFill>
                  <a:schemeClr val="tx1"/>
                </a:solidFill>
              </a:rPr>
              <a:t>就是把 </a:t>
            </a:r>
            <a:r>
              <a:rPr lang="en-US" altLang="zh-CN" sz="1000">
                <a:solidFill>
                  <a:schemeClr val="tx1"/>
                </a:solidFill>
                <a:latin typeface="monospace"/>
                <a:ea typeface="monospace"/>
              </a:rPr>
              <a:t>MeetingRequest</a:t>
            </a:r>
            <a:r>
              <a:rPr lang="en-US" altLang="zh-CN" sz="1400">
                <a:solidFill>
                  <a:schemeClr val="tx1"/>
                </a:solidFill>
              </a:rPr>
              <a:t> </a:t>
            </a:r>
            <a:r>
              <a:rPr lang="zh-CN" altLang="en-US" sz="1400">
                <a:solidFill>
                  <a:schemeClr val="tx1"/>
                </a:solidFill>
              </a:rPr>
              <a:t>翻译成上面的 </a:t>
            </a:r>
            <a:r>
              <a:rPr lang="en-US" altLang="zh-CN" sz="1400">
                <a:solidFill>
                  <a:schemeClr val="tx1"/>
                </a:solidFill>
              </a:rPr>
              <a:t>Observation </a:t>
            </a:r>
            <a:r>
              <a:rPr lang="zh-CN" altLang="en-US" sz="1400">
                <a:solidFill>
                  <a:schemeClr val="tx1"/>
                </a:solidFill>
              </a:rPr>
              <a:t>序列，然后调用 </a:t>
            </a:r>
            <a:r>
              <a:rPr lang="en-US" altLang="zh-CN" sz="1000">
                <a:solidFill>
                  <a:schemeClr val="tx1"/>
                </a:solidFill>
                <a:latin typeface="monospace"/>
                <a:ea typeface="monospace"/>
              </a:rPr>
              <a:t>run_scripted</a:t>
            </a:r>
            <a:r>
              <a:rPr lang="zh-CN" altLang="en-US" sz="1400">
                <a:solidFill>
                  <a:schemeClr val="tx1"/>
                </a:solidFill>
              </a:rPr>
              <a:t>：</a:t>
            </a:r>
            <a:endParaRPr lang="zh-CN" altLang="en-US" sz="1400">
              <a:solidFill>
                <a:schemeClr val="tx1"/>
              </a:solidFill>
            </a:endParaRPr>
          </a:p>
          <a:p>
            <a:pPr>
              <a:spcBef>
                <a:spcPts val="100"/>
              </a:spcBef>
              <a:spcAft>
                <a:spcPts val="200"/>
              </a:spcAft>
            </a:pPr>
            <a:endParaRPr lang="zh-CN" altLang="en-US" sz="1400">
              <a:solidFill>
                <a:schemeClr val="tx1"/>
              </a:solidFill>
            </a:endParaRPr>
          </a:p>
          <a:p>
            <a:pPr>
              <a:spcBef>
                <a:spcPts val="100"/>
              </a:spcBef>
              <a:spcAft>
                <a:spcPts val="200"/>
              </a:spcAft>
            </a:pPr>
            <a:r>
              <a:rPr lang="en-US" altLang="zh-CN" sz="1200">
                <a:solidFill>
                  <a:schemeClr val="tx1"/>
                </a:solidFill>
              </a:rPr>
              <a:t>// MeetingRequest { topic: "Q3", date: Some("8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 }</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prepare_observations </a:t>
            </a:r>
            <a:r>
              <a:rPr lang="zh-CN" altLang="en-US" sz="1200">
                <a:solidFill>
                  <a:schemeClr val="tx1"/>
                </a:solidFill>
              </a:rPr>
              <a:t>翻译</a:t>
            </a:r>
            <a:endParaRPr lang="zh-CN" altLang="en-US" sz="1200">
              <a:solidFill>
                <a:schemeClr val="tx1"/>
              </a:solidFill>
            </a:endParaRPr>
          </a:p>
          <a:p>
            <a:pPr>
              <a:spcBef>
                <a:spcPts val="100"/>
              </a:spcBef>
              <a:spcAft>
                <a:spcPts val="200"/>
              </a:spcAft>
            </a:pPr>
            <a:r>
              <a:rPr lang="en-US" altLang="zh-CN" sz="1200">
                <a:solidFill>
                  <a:schemeClr val="tx1"/>
                </a:solidFill>
              </a:rPr>
              <a:t>// [UserGoal("</a:t>
            </a:r>
            <a:r>
              <a:rPr lang="zh-CN" altLang="en-US" sz="1200">
                <a:solidFill>
                  <a:schemeClr val="tx1"/>
                </a:solidFill>
              </a:rPr>
              <a:t>准备会议「</a:t>
            </a:r>
            <a:r>
              <a:rPr lang="en-US" altLang="zh-CN" sz="1200">
                <a:solidFill>
                  <a:schemeClr val="tx1"/>
                </a:solidFill>
              </a:rPr>
              <a:t>Q3</a:t>
            </a:r>
            <a:r>
              <a:rPr lang="zh-CN" altLang="en-US" sz="1200">
                <a:solidFill>
                  <a:schemeClr val="tx1"/>
                </a:solidFill>
              </a:rPr>
              <a:t>」</a:t>
            </a:r>
            <a:r>
              <a:rPr lang="en-US" altLang="zh-CN" sz="1200">
                <a:solidFill>
                  <a:schemeClr val="tx1"/>
                </a:solidFill>
              </a:rPr>
              <a:t>"), Fact("</a:t>
            </a:r>
            <a:r>
              <a:rPr lang="zh-CN" altLang="en-US" sz="1200">
                <a:solidFill>
                  <a:schemeClr val="tx1"/>
                </a:solidFill>
              </a:rPr>
              <a:t>日期：</a:t>
            </a:r>
            <a:r>
              <a:rPr lang="en-US" altLang="zh-CN" sz="1200">
                <a:solidFill>
                  <a:schemeClr val="tx1"/>
                </a:solidFill>
              </a:rPr>
              <a:t>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Fact("</a:t>
            </a:r>
            <a:r>
              <a:rPr lang="zh-CN" altLang="en-US" sz="1200">
                <a:solidFill>
                  <a:schemeClr val="tx1"/>
                </a:solidFill>
              </a:rPr>
              <a:t>参与人：</a:t>
            </a:r>
            <a:r>
              <a:rPr lang="en-US" altLang="zh-CN" sz="1200">
                <a:solidFill>
                  <a:schemeClr val="tx1"/>
                </a:solidFill>
              </a:rPr>
              <a:t>..."), Fact("</a:t>
            </a:r>
            <a:r>
              <a:rPr lang="zh-CN" altLang="en-US" sz="1200">
                <a:solidFill>
                  <a:schemeClr val="tx1"/>
                </a:solidFill>
              </a:rPr>
              <a:t>材料已读取：</a:t>
            </a:r>
            <a:r>
              <a:rPr lang="en-US" altLang="zh-CN" sz="1200">
                <a:solidFill>
                  <a:schemeClr val="tx1"/>
                </a:solidFill>
              </a:rPr>
              <a:t>...")]</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run_scripted</a:t>
            </a:r>
            <a:endParaRPr lang="en-US" altLang="zh-CN" sz="1200">
              <a:solidFill>
                <a:schemeClr val="tx1"/>
              </a:solidFill>
            </a:endParaRPr>
          </a:p>
          <a:p>
            <a:pPr>
              <a:spcBef>
                <a:spcPts val="100"/>
              </a:spcBef>
              <a:spcAft>
                <a:spcPts val="200"/>
              </a:spcAft>
            </a:pPr>
            <a:r>
              <a:rPr lang="en-US" altLang="zh-CN" sz="1200">
                <a:solidFill>
                  <a:schemeClr val="tx1"/>
                </a:solidFill>
              </a:rPr>
              <a:t>// [AskForGoal, Record, Record, Record, Record, Finish]</a:t>
            </a:r>
            <a:endParaRPr lang="en-US" altLang="zh-CN" sz="1200">
              <a:solidFill>
                <a:schemeClr val="tx1"/>
              </a:solidFill>
            </a:endParaRPr>
          </a:p>
          <a:p>
            <a:pPr>
              <a:spcBef>
                <a:spcPts val="100"/>
              </a:spcBef>
              <a:spcAft>
                <a:spcPts val="200"/>
              </a:spcAft>
            </a:pPr>
            <a:endParaRPr lang="en-US" altLang="zh-CN" sz="1200">
              <a:solidFill>
                <a:schemeClr val="tx1"/>
              </a:solidFill>
            </a:endParaRPr>
          </a:p>
        </p:txBody>
      </p:sp>
      <p:sp>
        <p:nvSpPr>
          <p:cNvPr id="7" name="文本框 6"/>
          <p:cNvSpPr txBox="1"/>
          <p:nvPr/>
        </p:nvSpPr>
        <p:spPr>
          <a:xfrm>
            <a:off x="4439920" y="1845310"/>
            <a:ext cx="4064000" cy="1014730"/>
          </a:xfrm>
          <a:prstGeom prst="rect">
            <a:avLst/>
          </a:prstGeom>
          <a:noFill/>
          <a:ln>
            <a:solidFill>
              <a:schemeClr val="tx2">
                <a:lumMod val="50000"/>
                <a:lumOff val="50000"/>
              </a:schemeClr>
            </a:solidFill>
          </a:ln>
        </p:spPr>
        <p:txBody>
          <a:bodyPr wrap="square" rtlCol="0">
            <a:spAutoFit/>
          </a:bodyPr>
          <a:p>
            <a:r>
              <a:rPr lang="en-US" altLang="zh-CN" sz="1000"/>
              <a:t>pub enum Observation {</a:t>
            </a:r>
            <a:endParaRPr lang="en-US" altLang="zh-CN" sz="1000"/>
          </a:p>
          <a:p>
            <a:r>
              <a:rPr lang="en-US" altLang="zh-CN" sz="1000"/>
              <a:t>    UserGoal(String),//</a:t>
            </a:r>
            <a:r>
              <a:rPr lang="zh-CN" altLang="en-US" sz="1000"/>
              <a:t>设置目标</a:t>
            </a:r>
            <a:endParaRPr lang="zh-CN" altLang="en-US" sz="1000"/>
          </a:p>
          <a:p>
            <a:r>
              <a:rPr lang="en-US" altLang="zh-CN" sz="1000"/>
              <a:t>    Fact(String),//</a:t>
            </a:r>
            <a:r>
              <a:rPr lang="zh-CN" altLang="en-US" sz="1000"/>
              <a:t>环境返回的事实，加入到</a:t>
            </a:r>
            <a:r>
              <a:rPr lang="en-US" altLang="zh-CN" sz="1000"/>
              <a:t>notes</a:t>
            </a:r>
            <a:r>
              <a:rPr lang="zh-CN" altLang="en-US" sz="1000"/>
              <a:t>中</a:t>
            </a:r>
            <a:endParaRPr lang="zh-CN" altLang="en-US" sz="1000"/>
          </a:p>
          <a:p>
            <a:r>
              <a:rPr lang="en-US" altLang="zh-CN" sz="1000"/>
              <a:t>    NoMoreInput, //</a:t>
            </a:r>
            <a:r>
              <a:rPr lang="zh-CN" altLang="en-US" sz="1000"/>
              <a:t>设置</a:t>
            </a:r>
            <a:r>
              <a:rPr lang="en-US" altLang="zh-CN" sz="1000"/>
              <a:t>input_closed</a:t>
            </a:r>
            <a:r>
              <a:rPr lang="zh-CN" altLang="en-US" sz="1000"/>
              <a:t>为</a:t>
            </a:r>
            <a:r>
              <a:rPr lang="en-US" altLang="zh-CN" sz="1000"/>
              <a:t>true</a:t>
            </a:r>
            <a:r>
              <a:rPr lang="zh-CN" altLang="en-US" sz="1000"/>
              <a:t>，表示环境已经明确没有更多输入，此时拒绝所有新</a:t>
            </a:r>
            <a:r>
              <a:rPr lang="en-US" altLang="zh-CN" sz="1000"/>
              <a:t>Observation</a:t>
            </a:r>
            <a:endParaRPr lang="en-US" altLang="zh-CN" sz="1000"/>
          </a:p>
          <a:p>
            <a:r>
              <a:rPr lang="en-US" altLang="zh-CN" sz="1000"/>
              <a:t>}</a:t>
            </a:r>
            <a:endParaRPr lang="en-US" altLang="zh-CN" sz="1000"/>
          </a:p>
        </p:txBody>
      </p:sp>
      <p:cxnSp>
        <p:nvCxnSpPr>
          <p:cNvPr id="8" name="直接箭头连接符 7"/>
          <p:cNvCxnSpPr/>
          <p:nvPr/>
        </p:nvCxnSpPr>
        <p:spPr>
          <a:xfrm flipV="1">
            <a:off x="3999230" y="2348865"/>
            <a:ext cx="224155" cy="44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1" name="表格 10"/>
          <p:cNvGraphicFramePr/>
          <p:nvPr/>
        </p:nvGraphicFramePr>
        <p:xfrm>
          <a:off x="678180" y="4833620"/>
          <a:ext cx="10734040" cy="1201420"/>
        </p:xfrm>
        <a:graphic>
          <a:graphicData uri="http://schemas.openxmlformats.org/drawingml/2006/table">
            <a:tbl>
              <a:tblPr/>
              <a:tblGrid>
                <a:gridCol w="1664335"/>
                <a:gridCol w="1957070"/>
                <a:gridCol w="3885565"/>
                <a:gridCol w="3227070"/>
              </a:tblGrid>
              <a:tr h="193040">
                <a:tc>
                  <a:txBody>
                    <a:bodyPr/>
                    <a:p>
                      <a:pPr algn="l"/>
                      <a:r>
                        <a:rPr lang="zh-CN" altLang="en-US" sz="1100" b="0" i="0">
                          <a:solidFill>
                            <a:schemeClr val="tx1"/>
                          </a:solidFill>
                          <a:latin typeface="-apple-system"/>
                          <a:ea typeface="-apple-system"/>
                        </a:rPr>
                        <a:t>步骤</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zh-CN" altLang="en-US" sz="1100" b="0" i="0">
                          <a:solidFill>
                            <a:schemeClr val="tx1"/>
                          </a:solidFill>
                          <a:latin typeface="-apple-system"/>
                          <a:ea typeface="-apple-system"/>
                        </a:rPr>
                        <a:t>发生什么</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变化</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choose_action </a:t>
                      </a:r>
                      <a:r>
                        <a:rPr lang="zh-CN" altLang="en-US" sz="1100" b="0" i="0">
                          <a:solidFill>
                            <a:schemeClr val="tx1"/>
                          </a:solidFill>
                          <a:latin typeface="-apple-system"/>
                          <a:ea typeface="-apple-system"/>
                        </a:rPr>
                        <a:t>结果</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282575">
                <a:tc>
                  <a:txBody>
                    <a:bodyPr/>
                    <a:p>
                      <a:pPr algn="l"/>
                      <a:r>
                        <a:rPr lang="zh-CN" altLang="en-US" sz="1100" b="0" i="0">
                          <a:solidFill>
                            <a:schemeClr val="tx1"/>
                          </a:solidFill>
                          <a:latin typeface="-apple-system"/>
                          <a:ea typeface="-apple-system"/>
                        </a:rPr>
                        <a:t>初始</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全空</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{turns:0, goal:None, notes:[], input_closed:false}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AskForGoal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1</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UserGoal</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{turns:1, goal:"</a:t>
                      </a:r>
                      <a:r>
                        <a:rPr lang="zh-CN" altLang="en-US" sz="900" b="0" i="0">
                          <a:solidFill>
                            <a:schemeClr val="tx1"/>
                          </a:solidFill>
                          <a:latin typeface="-apple-system"/>
                          <a:ea typeface="-apple-system"/>
                        </a:rPr>
                        <a:t>准备</a:t>
                      </a:r>
                      <a:r>
                        <a:rPr lang="en-US" altLang="zh-CN" sz="900" b="0" i="0">
                          <a:solidFill>
                            <a:schemeClr val="tx1"/>
                          </a:solidFill>
                          <a:latin typeface="-apple-system"/>
                          <a:ea typeface="-apple-system"/>
                        </a:rPr>
                        <a:t>Q3</a:t>
                      </a:r>
                      <a:r>
                        <a:rPr lang="zh-CN" altLang="en-US" sz="900" b="0" i="0">
                          <a:solidFill>
                            <a:schemeClr val="tx1"/>
                          </a:solidFill>
                          <a:latin typeface="-apple-system"/>
                          <a:ea typeface="-apple-system"/>
                        </a:rPr>
                        <a:t>评审</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2</a:t>
                      </a:r>
                      <a:r>
                        <a:rPr lang="zh-CN" altLang="en-US" sz="1100" b="0" i="0">
                          <a:solidFill>
                            <a:schemeClr val="tx1"/>
                          </a:solidFill>
                          <a:latin typeface="-apple-system"/>
                          <a:ea typeface="-apple-system"/>
                        </a:rPr>
                        <a:t>（输入还没关）</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Fact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{turns:2, notes:["</a:t>
                      </a:r>
                      <a:r>
                        <a:rPr lang="zh-CN" altLang="en-US" sz="900" b="0" i="0">
                          <a:solidFill>
                            <a:schemeClr val="tx1"/>
                          </a:solidFill>
                          <a:latin typeface="-apple-system"/>
                          <a:ea typeface="-apple-system"/>
                        </a:rPr>
                        <a:t>日期：</a:t>
                      </a:r>
                      <a:r>
                        <a:rPr lang="en-US" altLang="zh-CN" sz="900" b="0" i="0">
                          <a:solidFill>
                            <a:schemeClr val="tx1"/>
                          </a:solidFill>
                          <a:latin typeface="-apple-system"/>
                          <a:ea typeface="-apple-system"/>
                        </a:rPr>
                        <a:t>8</a:t>
                      </a:r>
                      <a:r>
                        <a:rPr lang="zh-CN" altLang="en-US" sz="900" b="0" i="0">
                          <a:solidFill>
                            <a:schemeClr val="tx1"/>
                          </a:solidFill>
                          <a:latin typeface="-apple-system"/>
                          <a:ea typeface="-apple-system"/>
                        </a:rPr>
                        <a:t>月</a:t>
                      </a:r>
                      <a:r>
                        <a:rPr lang="en-US" altLang="zh-CN" sz="900" b="0" i="0">
                          <a:solidFill>
                            <a:schemeClr val="tx1"/>
                          </a:solidFill>
                          <a:latin typeface="-apple-system"/>
                          <a:ea typeface="-apple-system"/>
                        </a:rPr>
                        <a:t>1</a:t>
                      </a:r>
                      <a:r>
                        <a:rPr lang="zh-CN" altLang="en-US" sz="900" b="0" i="0">
                          <a:solidFill>
                            <a:schemeClr val="tx1"/>
                          </a:solidFill>
                          <a:latin typeface="-apple-system"/>
                          <a:ea typeface="-apple-system"/>
                        </a:rPr>
                        <a:t>号</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3</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339725">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NoMoreInput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{turns:3, input_closed:true}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Finish("</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4 </a:t>
                      </a:r>
                      <a:r>
                        <a:rPr lang="zh-CN" altLang="en-US" sz="1100" b="0" i="0">
                          <a:solidFill>
                            <a:schemeClr val="tx1"/>
                          </a:solidFill>
                          <a:latin typeface="-apple-system"/>
                          <a:ea typeface="-apple-system"/>
                        </a:rPr>
                        <a:t>终止</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bl>
          </a:graphicData>
        </a:graphic>
      </p:graphicFrame>
      <p:sp>
        <p:nvSpPr>
          <p:cNvPr id="12" name="文本框 11"/>
          <p:cNvSpPr txBox="1"/>
          <p:nvPr/>
        </p:nvSpPr>
        <p:spPr>
          <a:xfrm>
            <a:off x="678180" y="6195695"/>
            <a:ext cx="10217785" cy="368300"/>
          </a:xfrm>
          <a:prstGeom prst="rect">
            <a:avLst/>
          </a:prstGeom>
          <a:noFill/>
        </p:spPr>
        <p:txBody>
          <a:bodyPr wrap="square" rtlCol="0">
            <a:spAutoFit/>
          </a:bodyPr>
          <a:p>
            <a:r>
              <a:rPr lang="zh-CN" altLang="en-US"/>
              <a:t>最终返回：</a:t>
            </a:r>
            <a:r>
              <a:rPr lang="en-US" altLang="zh-CN"/>
              <a:t>[AskForGoal, Record(""), Record("</a:t>
            </a:r>
            <a:r>
              <a:rPr lang="zh-CN" altLang="en-US"/>
              <a:t>日期：</a:t>
            </a:r>
            <a:r>
              <a:rPr lang="en-US" altLang="zh-CN"/>
              <a:t>8</a:t>
            </a:r>
            <a:r>
              <a:rPr lang="zh-CN" altLang="en-US"/>
              <a:t>月</a:t>
            </a:r>
            <a:r>
              <a:rPr lang="en-US" altLang="zh-CN"/>
              <a:t>1</a:t>
            </a:r>
            <a:r>
              <a:rPr lang="zh-CN" altLang="en-US"/>
              <a:t>号</a:t>
            </a:r>
            <a:r>
              <a:rPr lang="en-US" altLang="zh-CN"/>
              <a:t>"), Finish("</a:t>
            </a:r>
            <a:r>
              <a:rPr lang="zh-CN" altLang="en-US"/>
              <a:t>日期：</a:t>
            </a:r>
            <a:r>
              <a:rPr lang="en-US" altLang="zh-CN"/>
              <a:t>8</a:t>
            </a:r>
            <a:r>
              <a:rPr lang="zh-CN" altLang="en-US"/>
              <a:t>月</a:t>
            </a:r>
            <a:r>
              <a:rPr lang="en-US" altLang="zh-CN"/>
              <a:t>1</a:t>
            </a:r>
            <a:r>
              <a:rPr lang="zh-CN" altLang="en-US"/>
              <a:t>号</a:t>
            </a:r>
            <a:r>
              <a:rPr lang="en-US" altLang="zh-CN"/>
              <a:t>")]</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看看</a:t>
            </a:r>
            <a:r>
              <a:rPr lang="en-US" altLang="zh-CN"/>
              <a:t>Agent</a:t>
            </a:r>
            <a:r>
              <a:rPr lang="zh-CN" altLang="en-US"/>
              <a:t>做了</a:t>
            </a:r>
            <a:r>
              <a:rPr lang="zh-CN" altLang="en-US"/>
              <a:t>什么</a:t>
            </a:r>
            <a:endParaRPr lang="zh-CN" altLang="en-US"/>
          </a:p>
        </p:txBody>
      </p:sp>
      <p:sp>
        <p:nvSpPr>
          <p:cNvPr id="10" name="文本框 9"/>
          <p:cNvSpPr txBox="1"/>
          <p:nvPr/>
        </p:nvSpPr>
        <p:spPr>
          <a:xfrm>
            <a:off x="622935" y="1905000"/>
            <a:ext cx="3187065" cy="884555"/>
          </a:xfrm>
          <a:prstGeom prst="rect">
            <a:avLst/>
          </a:prstGeom>
          <a:ln>
            <a:solidFill>
              <a:schemeClr val="accent6">
                <a:lumMod val="75000"/>
              </a:schemeClr>
            </a:solidFill>
          </a:ln>
        </p:spPr>
        <p:txBody>
          <a:bodyPr wrap="square">
            <a:noAutofit/>
          </a:bodyPr>
          <a:p>
            <a:pPr marL="0" indent="0">
              <a:spcBef>
                <a:spcPts val="100"/>
              </a:spcBef>
              <a:spcAft>
                <a:spcPts val="200"/>
              </a:spcAft>
            </a:pPr>
            <a:r>
              <a:rPr lang="en-US" altLang="zh-CN" sz="800" b="0" i="0">
                <a:solidFill>
                  <a:schemeClr val="tx1"/>
                </a:solidFill>
                <a:latin typeface="-apple-system"/>
                <a:ea typeface="-apple-system"/>
              </a:rPr>
              <a:t>UserGoal("</a:t>
            </a:r>
            <a:r>
              <a:rPr lang="zh-CN" altLang="en-US" sz="800" b="0" i="0">
                <a:solidFill>
                  <a:schemeClr val="tx1"/>
                </a:solidFill>
                <a:latin typeface="-apple-system"/>
                <a:ea typeface="-apple-system"/>
              </a:rPr>
              <a:t>准备</a:t>
            </a:r>
            <a:r>
              <a:rPr lang="en-US" altLang="zh-CN" sz="800" b="0" i="0">
                <a:solidFill>
                  <a:schemeClr val="tx1"/>
                </a:solidFill>
                <a:latin typeface="-apple-system"/>
                <a:ea typeface="-apple-system"/>
              </a:rPr>
              <a:t>Q3</a:t>
            </a:r>
            <a:r>
              <a:rPr lang="zh-CN" altLang="en-US" sz="800" b="0" i="0">
                <a:solidFill>
                  <a:schemeClr val="tx1"/>
                </a:solidFill>
                <a:latin typeface="-apple-system"/>
                <a:ea typeface="-apple-system"/>
              </a:rPr>
              <a:t>评审会议</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Fact("</a:t>
            </a:r>
            <a:r>
              <a:rPr lang="zh-CN" altLang="en-US" sz="800" b="0" i="0">
                <a:solidFill>
                  <a:schemeClr val="tx1"/>
                </a:solidFill>
                <a:latin typeface="-apple-system"/>
                <a:ea typeface="-apple-system"/>
              </a:rPr>
              <a:t>日期：</a:t>
            </a:r>
            <a:r>
              <a:rPr lang="en-US" altLang="zh-CN" sz="800" b="0" i="0">
                <a:solidFill>
                  <a:schemeClr val="tx1"/>
                </a:solidFill>
                <a:latin typeface="-apple-system"/>
                <a:ea typeface="-apple-system"/>
              </a:rPr>
              <a:t>8</a:t>
            </a:r>
            <a:r>
              <a:rPr lang="zh-CN" altLang="en-US" sz="800" b="0" i="0">
                <a:solidFill>
                  <a:schemeClr val="tx1"/>
                </a:solidFill>
                <a:latin typeface="-apple-system"/>
                <a:ea typeface="-apple-system"/>
              </a:rPr>
              <a:t>月</a:t>
            </a:r>
            <a:r>
              <a:rPr lang="en-US" altLang="zh-CN" sz="800" b="0" i="0">
                <a:solidFill>
                  <a:schemeClr val="tx1"/>
                </a:solidFill>
                <a:latin typeface="-apple-system"/>
                <a:ea typeface="-apple-system"/>
              </a:rPr>
              <a:t>1</a:t>
            </a:r>
            <a:r>
              <a:rPr lang="zh-CN" altLang="en-US" sz="800" b="0" i="0">
                <a:solidFill>
                  <a:schemeClr val="tx1"/>
                </a:solidFill>
                <a:latin typeface="-apple-system"/>
                <a:ea typeface="-apple-system"/>
              </a:rPr>
              <a:t>号</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NoMoreInput</a:t>
            </a:r>
            <a:endParaRPr lang="en-US" altLang="zh-CN" sz="800" b="0" i="0">
              <a:solidFill>
                <a:schemeClr val="tx1"/>
              </a:solidFill>
              <a:latin typeface="-apple-system"/>
              <a:ea typeface="-apple-system"/>
            </a:endParaRPr>
          </a:p>
          <a:p>
            <a:pPr marL="0" indent="0">
              <a:spcBef>
                <a:spcPts val="100"/>
              </a:spcBef>
              <a:spcAft>
                <a:spcPts val="200"/>
              </a:spcAft>
            </a:pPr>
            <a:endParaRPr lang="en-US" altLang="zh-CN" sz="800" b="0" i="0">
              <a:solidFill>
                <a:schemeClr val="tx1"/>
              </a:solidFill>
              <a:latin typeface="-apple-system"/>
              <a:ea typeface="-apple-system"/>
            </a:endParaRPr>
          </a:p>
        </p:txBody>
      </p:sp>
      <p:sp>
        <p:nvSpPr>
          <p:cNvPr id="4" name="文本框 3"/>
          <p:cNvSpPr txBox="1"/>
          <p:nvPr/>
        </p:nvSpPr>
        <p:spPr>
          <a:xfrm>
            <a:off x="609600" y="2924810"/>
            <a:ext cx="8580120" cy="1743075"/>
          </a:xfrm>
          <a:prstGeom prst="rect">
            <a:avLst/>
          </a:prstGeom>
        </p:spPr>
        <p:txBody>
          <a:bodyPr wrap="square">
            <a:noAutofit/>
          </a:bodyPr>
          <a:p>
            <a:pPr>
              <a:spcBef>
                <a:spcPts val="100"/>
              </a:spcBef>
              <a:spcAft>
                <a:spcPts val="200"/>
              </a:spcAft>
            </a:pPr>
            <a:r>
              <a:rPr lang="en-US" altLang="zh-CN" sz="1400">
                <a:solidFill>
                  <a:schemeClr val="tx1"/>
                </a:solidFill>
              </a:rPr>
              <a:t>agent.rs</a:t>
            </a:r>
            <a:r>
              <a:rPr lang="zh-CN" altLang="en-US" sz="1400">
                <a:solidFill>
                  <a:schemeClr val="tx1"/>
                </a:solidFill>
              </a:rPr>
              <a:t>就是把 </a:t>
            </a:r>
            <a:r>
              <a:rPr lang="en-US" altLang="zh-CN" sz="1000">
                <a:solidFill>
                  <a:schemeClr val="tx1"/>
                </a:solidFill>
                <a:latin typeface="monospace"/>
                <a:ea typeface="monospace"/>
              </a:rPr>
              <a:t>MeetingRequest</a:t>
            </a:r>
            <a:r>
              <a:rPr lang="en-US" altLang="zh-CN" sz="1400">
                <a:solidFill>
                  <a:schemeClr val="tx1"/>
                </a:solidFill>
              </a:rPr>
              <a:t> </a:t>
            </a:r>
            <a:r>
              <a:rPr lang="zh-CN" altLang="en-US" sz="1400">
                <a:solidFill>
                  <a:schemeClr val="tx1"/>
                </a:solidFill>
              </a:rPr>
              <a:t>翻译成上面的 </a:t>
            </a:r>
            <a:r>
              <a:rPr lang="en-US" altLang="zh-CN" sz="1400">
                <a:solidFill>
                  <a:schemeClr val="tx1"/>
                </a:solidFill>
              </a:rPr>
              <a:t>Observation </a:t>
            </a:r>
            <a:r>
              <a:rPr lang="zh-CN" altLang="en-US" sz="1400">
                <a:solidFill>
                  <a:schemeClr val="tx1"/>
                </a:solidFill>
              </a:rPr>
              <a:t>序列，然后调用 </a:t>
            </a:r>
            <a:r>
              <a:rPr lang="en-US" altLang="zh-CN" sz="1000">
                <a:solidFill>
                  <a:schemeClr val="tx1"/>
                </a:solidFill>
                <a:latin typeface="monospace"/>
                <a:ea typeface="monospace"/>
              </a:rPr>
              <a:t>run_scripted</a:t>
            </a:r>
            <a:r>
              <a:rPr lang="zh-CN" altLang="en-US" sz="1400">
                <a:solidFill>
                  <a:schemeClr val="tx1"/>
                </a:solidFill>
              </a:rPr>
              <a:t>：</a:t>
            </a:r>
            <a:endParaRPr lang="zh-CN" altLang="en-US" sz="1400">
              <a:solidFill>
                <a:schemeClr val="tx1"/>
              </a:solidFill>
            </a:endParaRPr>
          </a:p>
          <a:p>
            <a:pPr>
              <a:spcBef>
                <a:spcPts val="100"/>
              </a:spcBef>
              <a:spcAft>
                <a:spcPts val="200"/>
              </a:spcAft>
            </a:pPr>
            <a:endParaRPr lang="zh-CN" altLang="en-US" sz="1400">
              <a:solidFill>
                <a:schemeClr val="tx1"/>
              </a:solidFill>
            </a:endParaRPr>
          </a:p>
          <a:p>
            <a:pPr>
              <a:spcBef>
                <a:spcPts val="100"/>
              </a:spcBef>
              <a:spcAft>
                <a:spcPts val="200"/>
              </a:spcAft>
            </a:pPr>
            <a:r>
              <a:rPr lang="en-US" altLang="zh-CN" sz="1200">
                <a:solidFill>
                  <a:schemeClr val="tx1"/>
                </a:solidFill>
              </a:rPr>
              <a:t>// MeetingRequest { topic: "Q3", date: Some("8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 }</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prepare_observations </a:t>
            </a:r>
            <a:r>
              <a:rPr lang="zh-CN" altLang="en-US" sz="1200">
                <a:solidFill>
                  <a:schemeClr val="tx1"/>
                </a:solidFill>
              </a:rPr>
              <a:t>翻译</a:t>
            </a:r>
            <a:endParaRPr lang="zh-CN" altLang="en-US" sz="1200">
              <a:solidFill>
                <a:schemeClr val="tx1"/>
              </a:solidFill>
            </a:endParaRPr>
          </a:p>
          <a:p>
            <a:pPr>
              <a:spcBef>
                <a:spcPts val="100"/>
              </a:spcBef>
              <a:spcAft>
                <a:spcPts val="200"/>
              </a:spcAft>
            </a:pPr>
            <a:r>
              <a:rPr lang="en-US" altLang="zh-CN" sz="1200">
                <a:solidFill>
                  <a:schemeClr val="tx1"/>
                </a:solidFill>
              </a:rPr>
              <a:t>// [UserGoal("</a:t>
            </a:r>
            <a:r>
              <a:rPr lang="zh-CN" altLang="en-US" sz="1200">
                <a:solidFill>
                  <a:schemeClr val="tx1"/>
                </a:solidFill>
              </a:rPr>
              <a:t>准备会议「</a:t>
            </a:r>
            <a:r>
              <a:rPr lang="en-US" altLang="zh-CN" sz="1200">
                <a:solidFill>
                  <a:schemeClr val="tx1"/>
                </a:solidFill>
              </a:rPr>
              <a:t>Q3</a:t>
            </a:r>
            <a:r>
              <a:rPr lang="zh-CN" altLang="en-US" sz="1200">
                <a:solidFill>
                  <a:schemeClr val="tx1"/>
                </a:solidFill>
              </a:rPr>
              <a:t>」</a:t>
            </a:r>
            <a:r>
              <a:rPr lang="en-US" altLang="zh-CN" sz="1200">
                <a:solidFill>
                  <a:schemeClr val="tx1"/>
                </a:solidFill>
              </a:rPr>
              <a:t>"), Fact("</a:t>
            </a:r>
            <a:r>
              <a:rPr lang="zh-CN" altLang="en-US" sz="1200">
                <a:solidFill>
                  <a:schemeClr val="tx1"/>
                </a:solidFill>
              </a:rPr>
              <a:t>日期：</a:t>
            </a:r>
            <a:r>
              <a:rPr lang="en-US" altLang="zh-CN" sz="1200">
                <a:solidFill>
                  <a:schemeClr val="tx1"/>
                </a:solidFill>
              </a:rPr>
              <a:t>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Fact("</a:t>
            </a:r>
            <a:r>
              <a:rPr lang="zh-CN" altLang="en-US" sz="1200">
                <a:solidFill>
                  <a:schemeClr val="tx1"/>
                </a:solidFill>
              </a:rPr>
              <a:t>参与人：</a:t>
            </a:r>
            <a:r>
              <a:rPr lang="en-US" altLang="zh-CN" sz="1200">
                <a:solidFill>
                  <a:schemeClr val="tx1"/>
                </a:solidFill>
              </a:rPr>
              <a:t>..."), Fact("</a:t>
            </a:r>
            <a:r>
              <a:rPr lang="zh-CN" altLang="en-US" sz="1200">
                <a:solidFill>
                  <a:schemeClr val="tx1"/>
                </a:solidFill>
              </a:rPr>
              <a:t>材料已读取：</a:t>
            </a:r>
            <a:r>
              <a:rPr lang="en-US" altLang="zh-CN" sz="1200">
                <a:solidFill>
                  <a:schemeClr val="tx1"/>
                </a:solidFill>
              </a:rPr>
              <a:t>...")]</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run_scripted</a:t>
            </a:r>
            <a:endParaRPr lang="en-US" altLang="zh-CN" sz="1200">
              <a:solidFill>
                <a:schemeClr val="tx1"/>
              </a:solidFill>
            </a:endParaRPr>
          </a:p>
          <a:p>
            <a:pPr>
              <a:spcBef>
                <a:spcPts val="100"/>
              </a:spcBef>
              <a:spcAft>
                <a:spcPts val="200"/>
              </a:spcAft>
            </a:pPr>
            <a:r>
              <a:rPr lang="en-US" altLang="zh-CN" sz="1200">
                <a:solidFill>
                  <a:schemeClr val="tx1"/>
                </a:solidFill>
              </a:rPr>
              <a:t>// [AskForGoal, Record, Record, Record, Record, Finish]</a:t>
            </a:r>
            <a:endParaRPr lang="en-US" altLang="zh-CN" sz="1200">
              <a:solidFill>
                <a:schemeClr val="tx1"/>
              </a:solidFill>
            </a:endParaRPr>
          </a:p>
          <a:p>
            <a:pPr>
              <a:spcBef>
                <a:spcPts val="100"/>
              </a:spcBef>
              <a:spcAft>
                <a:spcPts val="200"/>
              </a:spcAft>
            </a:pPr>
            <a:endParaRPr lang="en-US" altLang="zh-CN" sz="1200">
              <a:solidFill>
                <a:schemeClr val="tx1"/>
              </a:solidFill>
            </a:endParaRPr>
          </a:p>
        </p:txBody>
      </p:sp>
      <p:sp>
        <p:nvSpPr>
          <p:cNvPr id="7" name="文本框 6"/>
          <p:cNvSpPr txBox="1"/>
          <p:nvPr/>
        </p:nvSpPr>
        <p:spPr>
          <a:xfrm>
            <a:off x="4439920" y="1845310"/>
            <a:ext cx="4064000" cy="1014730"/>
          </a:xfrm>
          <a:prstGeom prst="rect">
            <a:avLst/>
          </a:prstGeom>
          <a:noFill/>
          <a:ln>
            <a:solidFill>
              <a:schemeClr val="tx2">
                <a:lumMod val="50000"/>
                <a:lumOff val="50000"/>
              </a:schemeClr>
            </a:solidFill>
          </a:ln>
        </p:spPr>
        <p:txBody>
          <a:bodyPr wrap="square" rtlCol="0">
            <a:spAutoFit/>
          </a:bodyPr>
          <a:p>
            <a:r>
              <a:rPr lang="en-US" altLang="zh-CN" sz="1000"/>
              <a:t>pub enum Observation {</a:t>
            </a:r>
            <a:endParaRPr lang="en-US" altLang="zh-CN" sz="1000"/>
          </a:p>
          <a:p>
            <a:r>
              <a:rPr lang="en-US" altLang="zh-CN" sz="1000"/>
              <a:t>    UserGoal(String),//</a:t>
            </a:r>
            <a:r>
              <a:rPr lang="zh-CN" altLang="en-US" sz="1000"/>
              <a:t>设置目标</a:t>
            </a:r>
            <a:endParaRPr lang="zh-CN" altLang="en-US" sz="1000"/>
          </a:p>
          <a:p>
            <a:r>
              <a:rPr lang="en-US" altLang="zh-CN" sz="1000"/>
              <a:t>    Fact(String),//</a:t>
            </a:r>
            <a:r>
              <a:rPr lang="zh-CN" altLang="en-US" sz="1000"/>
              <a:t>环境返回的事实，加入到</a:t>
            </a:r>
            <a:r>
              <a:rPr lang="en-US" altLang="zh-CN" sz="1000"/>
              <a:t>notes</a:t>
            </a:r>
            <a:r>
              <a:rPr lang="zh-CN" altLang="en-US" sz="1000"/>
              <a:t>中</a:t>
            </a:r>
            <a:endParaRPr lang="zh-CN" altLang="en-US" sz="1000"/>
          </a:p>
          <a:p>
            <a:r>
              <a:rPr lang="en-US" altLang="zh-CN" sz="1000"/>
              <a:t>    NoMoreInput, //</a:t>
            </a:r>
            <a:r>
              <a:rPr lang="zh-CN" altLang="en-US" sz="1000"/>
              <a:t>设置</a:t>
            </a:r>
            <a:r>
              <a:rPr lang="en-US" altLang="zh-CN" sz="1000"/>
              <a:t>input_closed</a:t>
            </a:r>
            <a:r>
              <a:rPr lang="zh-CN" altLang="en-US" sz="1000"/>
              <a:t>为</a:t>
            </a:r>
            <a:r>
              <a:rPr lang="en-US" altLang="zh-CN" sz="1000"/>
              <a:t>true</a:t>
            </a:r>
            <a:r>
              <a:rPr lang="zh-CN" altLang="en-US" sz="1000"/>
              <a:t>，表示环境已经明确没有更多输入，此时拒绝所有新</a:t>
            </a:r>
            <a:r>
              <a:rPr lang="en-US" altLang="zh-CN" sz="1000"/>
              <a:t>Observation</a:t>
            </a:r>
            <a:endParaRPr lang="en-US" altLang="zh-CN" sz="1000"/>
          </a:p>
          <a:p>
            <a:r>
              <a:rPr lang="en-US" altLang="zh-CN" sz="1000"/>
              <a:t>}</a:t>
            </a:r>
            <a:endParaRPr lang="en-US" altLang="zh-CN" sz="1000"/>
          </a:p>
        </p:txBody>
      </p:sp>
      <p:cxnSp>
        <p:nvCxnSpPr>
          <p:cNvPr id="8" name="直接箭头连接符 7"/>
          <p:cNvCxnSpPr/>
          <p:nvPr/>
        </p:nvCxnSpPr>
        <p:spPr>
          <a:xfrm flipV="1">
            <a:off x="3999230" y="2348865"/>
            <a:ext cx="224155" cy="44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1" name="表格 10"/>
          <p:cNvGraphicFramePr/>
          <p:nvPr/>
        </p:nvGraphicFramePr>
        <p:xfrm>
          <a:off x="678180" y="4833620"/>
          <a:ext cx="10734040" cy="1201420"/>
        </p:xfrm>
        <a:graphic>
          <a:graphicData uri="http://schemas.openxmlformats.org/drawingml/2006/table">
            <a:tbl>
              <a:tblPr/>
              <a:tblGrid>
                <a:gridCol w="1664335"/>
                <a:gridCol w="1957070"/>
                <a:gridCol w="3885565"/>
                <a:gridCol w="3227070"/>
              </a:tblGrid>
              <a:tr h="193040">
                <a:tc>
                  <a:txBody>
                    <a:bodyPr/>
                    <a:p>
                      <a:pPr algn="l"/>
                      <a:r>
                        <a:rPr lang="zh-CN" altLang="en-US" sz="1100" b="0" i="0">
                          <a:solidFill>
                            <a:schemeClr val="tx1"/>
                          </a:solidFill>
                          <a:latin typeface="-apple-system"/>
                          <a:ea typeface="-apple-system"/>
                        </a:rPr>
                        <a:t>步骤</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zh-CN" altLang="en-US" sz="1100" b="0" i="0">
                          <a:solidFill>
                            <a:schemeClr val="tx1"/>
                          </a:solidFill>
                          <a:latin typeface="-apple-system"/>
                          <a:ea typeface="-apple-system"/>
                        </a:rPr>
                        <a:t>发生什么</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变化</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choose_action </a:t>
                      </a:r>
                      <a:r>
                        <a:rPr lang="zh-CN" altLang="en-US" sz="1100" b="0" i="0">
                          <a:solidFill>
                            <a:schemeClr val="tx1"/>
                          </a:solidFill>
                          <a:latin typeface="-apple-system"/>
                          <a:ea typeface="-apple-system"/>
                        </a:rPr>
                        <a:t>结果</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282575">
                <a:tc>
                  <a:txBody>
                    <a:bodyPr/>
                    <a:p>
                      <a:pPr algn="l"/>
                      <a:r>
                        <a:rPr lang="zh-CN" altLang="en-US" sz="1100" b="0" i="0">
                          <a:solidFill>
                            <a:schemeClr val="tx1"/>
                          </a:solidFill>
                          <a:latin typeface="-apple-system"/>
                          <a:ea typeface="-apple-system"/>
                        </a:rPr>
                        <a:t>初始</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全空</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{turns:0, goal:None, notes:[], input_closed:false}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AskForGoal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1</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UserGoal</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{turns:1, goal:"</a:t>
                      </a:r>
                      <a:r>
                        <a:rPr lang="zh-CN" altLang="en-US" sz="900" b="0" i="0">
                          <a:solidFill>
                            <a:schemeClr val="tx1"/>
                          </a:solidFill>
                          <a:latin typeface="-apple-system"/>
                          <a:ea typeface="-apple-system"/>
                        </a:rPr>
                        <a:t>准备</a:t>
                      </a:r>
                      <a:r>
                        <a:rPr lang="en-US" altLang="zh-CN" sz="900" b="0" i="0">
                          <a:solidFill>
                            <a:schemeClr val="tx1"/>
                          </a:solidFill>
                          <a:latin typeface="-apple-system"/>
                          <a:ea typeface="-apple-system"/>
                        </a:rPr>
                        <a:t>Q3</a:t>
                      </a:r>
                      <a:r>
                        <a:rPr lang="zh-CN" altLang="en-US" sz="900" b="0" i="0">
                          <a:solidFill>
                            <a:schemeClr val="tx1"/>
                          </a:solidFill>
                          <a:latin typeface="-apple-system"/>
                          <a:ea typeface="-apple-system"/>
                        </a:rPr>
                        <a:t>评审</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2</a:t>
                      </a:r>
                      <a:r>
                        <a:rPr lang="zh-CN" altLang="en-US" sz="1100" b="0" i="0">
                          <a:solidFill>
                            <a:schemeClr val="tx1"/>
                          </a:solidFill>
                          <a:latin typeface="-apple-system"/>
                          <a:ea typeface="-apple-system"/>
                        </a:rPr>
                        <a:t>（输入还没关）</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Fact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{turns:2, notes:["</a:t>
                      </a:r>
                      <a:r>
                        <a:rPr lang="zh-CN" altLang="en-US" sz="900" b="0" i="0">
                          <a:solidFill>
                            <a:schemeClr val="tx1"/>
                          </a:solidFill>
                          <a:latin typeface="-apple-system"/>
                          <a:ea typeface="-apple-system"/>
                        </a:rPr>
                        <a:t>日期：</a:t>
                      </a:r>
                      <a:r>
                        <a:rPr lang="en-US" altLang="zh-CN" sz="900" b="0" i="0">
                          <a:solidFill>
                            <a:schemeClr val="tx1"/>
                          </a:solidFill>
                          <a:latin typeface="-apple-system"/>
                          <a:ea typeface="-apple-system"/>
                        </a:rPr>
                        <a:t>8</a:t>
                      </a:r>
                      <a:r>
                        <a:rPr lang="zh-CN" altLang="en-US" sz="900" b="0" i="0">
                          <a:solidFill>
                            <a:schemeClr val="tx1"/>
                          </a:solidFill>
                          <a:latin typeface="-apple-system"/>
                          <a:ea typeface="-apple-system"/>
                        </a:rPr>
                        <a:t>月</a:t>
                      </a:r>
                      <a:r>
                        <a:rPr lang="en-US" altLang="zh-CN" sz="900" b="0" i="0">
                          <a:solidFill>
                            <a:schemeClr val="tx1"/>
                          </a:solidFill>
                          <a:latin typeface="-apple-system"/>
                          <a:ea typeface="-apple-system"/>
                        </a:rPr>
                        <a:t>1</a:t>
                      </a:r>
                      <a:r>
                        <a:rPr lang="zh-CN" altLang="en-US" sz="900" b="0" i="0">
                          <a:solidFill>
                            <a:schemeClr val="tx1"/>
                          </a:solidFill>
                          <a:latin typeface="-apple-system"/>
                          <a:ea typeface="-apple-system"/>
                        </a:rPr>
                        <a:t>号</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3</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339725">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NoMoreInput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{turns:3, input_closed:true}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Finish("</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4 </a:t>
                      </a:r>
                      <a:r>
                        <a:rPr lang="zh-CN" altLang="en-US" sz="1100" b="0" i="0">
                          <a:solidFill>
                            <a:schemeClr val="tx1"/>
                          </a:solidFill>
                          <a:latin typeface="-apple-system"/>
                          <a:ea typeface="-apple-system"/>
                        </a:rPr>
                        <a:t>终止</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bl>
          </a:graphicData>
        </a:graphic>
      </p:graphicFrame>
      <p:sp>
        <p:nvSpPr>
          <p:cNvPr id="12" name="文本框 11"/>
          <p:cNvSpPr txBox="1"/>
          <p:nvPr/>
        </p:nvSpPr>
        <p:spPr>
          <a:xfrm>
            <a:off x="678180" y="6195695"/>
            <a:ext cx="10217785" cy="368300"/>
          </a:xfrm>
          <a:prstGeom prst="rect">
            <a:avLst/>
          </a:prstGeom>
          <a:noFill/>
        </p:spPr>
        <p:txBody>
          <a:bodyPr wrap="square" rtlCol="0">
            <a:spAutoFit/>
          </a:bodyPr>
          <a:p>
            <a:r>
              <a:rPr lang="zh-CN" altLang="en-US"/>
              <a:t>最终返回：</a:t>
            </a:r>
            <a:r>
              <a:rPr lang="en-US" altLang="zh-CN"/>
              <a:t>[AskForGoal, Record(""), Record("</a:t>
            </a:r>
            <a:r>
              <a:rPr lang="zh-CN" altLang="en-US"/>
              <a:t>日期：</a:t>
            </a:r>
            <a:r>
              <a:rPr lang="en-US" altLang="zh-CN"/>
              <a:t>8</a:t>
            </a:r>
            <a:r>
              <a:rPr lang="zh-CN" altLang="en-US"/>
              <a:t>月</a:t>
            </a:r>
            <a:r>
              <a:rPr lang="en-US" altLang="zh-CN"/>
              <a:t>1</a:t>
            </a:r>
            <a:r>
              <a:rPr lang="zh-CN" altLang="en-US"/>
              <a:t>号</a:t>
            </a:r>
            <a:r>
              <a:rPr lang="en-US" altLang="zh-CN"/>
              <a:t>"), Finish("</a:t>
            </a:r>
            <a:r>
              <a:rPr lang="zh-CN" altLang="en-US"/>
              <a:t>日期：</a:t>
            </a:r>
            <a:r>
              <a:rPr lang="en-US" altLang="zh-CN"/>
              <a:t>8</a:t>
            </a:r>
            <a:r>
              <a:rPr lang="zh-CN" altLang="en-US"/>
              <a:t>月</a:t>
            </a:r>
            <a:r>
              <a:rPr lang="en-US" altLang="zh-CN"/>
              <a:t>1</a:t>
            </a:r>
            <a:r>
              <a:rPr lang="zh-CN" altLang="en-US"/>
              <a:t>号</a:t>
            </a:r>
            <a:r>
              <a:rPr lang="en-US" altLang="zh-CN"/>
              <a:t>")]</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我们再让</a:t>
            </a:r>
            <a:r>
              <a:rPr lang="en-US" altLang="zh-CN"/>
              <a:t>AI</a:t>
            </a:r>
            <a:r>
              <a:rPr lang="zh-CN" altLang="en-US"/>
              <a:t>帮我们实现</a:t>
            </a:r>
            <a:r>
              <a:rPr lang="en-US" altLang="zh-CN"/>
              <a:t>Chatbot </a:t>
            </a:r>
            <a:r>
              <a:rPr lang="zh-CN" altLang="en-US"/>
              <a:t>和</a:t>
            </a:r>
            <a:r>
              <a:rPr lang="en-US" altLang="zh-CN"/>
              <a:t> Workflow </a:t>
            </a:r>
            <a:r>
              <a:rPr lang="zh-CN" altLang="en-US"/>
              <a:t>来对比一下，三者的</a:t>
            </a:r>
            <a:r>
              <a:rPr lang="zh-CN" altLang="en-US"/>
              <a:t>区别</a:t>
            </a:r>
            <a:endParaRPr lang="zh-CN" altLang="en-US"/>
          </a:p>
        </p:txBody>
      </p:sp>
      <p:graphicFrame>
        <p:nvGraphicFramePr>
          <p:cNvPr id="8" name="表格 7"/>
          <p:cNvGraphicFramePr/>
          <p:nvPr/>
        </p:nvGraphicFramePr>
        <p:xfrm>
          <a:off x="767080" y="3716655"/>
          <a:ext cx="6534150" cy="2659380"/>
        </p:xfrm>
        <a:graphic>
          <a:graphicData uri="http://schemas.openxmlformats.org/drawingml/2006/table">
            <a:tbl>
              <a:tblPr/>
              <a:tblGrid>
                <a:gridCol w="1598295"/>
                <a:gridCol w="1773555"/>
                <a:gridCol w="1546225"/>
                <a:gridCol w="1616075"/>
              </a:tblGrid>
              <a:tr h="443230">
                <a:tc>
                  <a:txBody>
                    <a:bodyPr/>
                    <a:p>
                      <a:pPr algn="ctr">
                        <a:lnSpc>
                          <a:spcPct val="130000"/>
                        </a:lnSpc>
                      </a:pPr>
                      <a:r>
                        <a:rPr lang="zh-CN" altLang="en-US" sz="1200"/>
                        <a:t>场景</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en-US" altLang="zh-CN" sz="1200"/>
                        <a:t>Chatbot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en-US" altLang="zh-CN" sz="1200"/>
                        <a:t>Workflow</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en-US" altLang="zh-CN" sz="1200"/>
                        <a:t>Agent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信息完整</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可回答</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最稳定</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可以完成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缺日期</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容易自行补全</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字段校验失败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等待更多输入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路径不存在</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可能声称已读取</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固定报错</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记录为事实，继续</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用户拒绝补充</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容易继续生成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流程终止</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明确合法终止</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信息已充分</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正常回答</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正常完成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不得继续询问</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10" name="文本框 9"/>
          <p:cNvSpPr txBox="1"/>
          <p:nvPr/>
        </p:nvSpPr>
        <p:spPr>
          <a:xfrm>
            <a:off x="1055370" y="1844675"/>
            <a:ext cx="6118860" cy="1614805"/>
          </a:xfrm>
          <a:prstGeom prst="rect">
            <a:avLst/>
          </a:prstGeom>
          <a:ln>
            <a:solidFill>
              <a:schemeClr val="accent6">
                <a:lumMod val="75000"/>
              </a:schemeClr>
            </a:solidFill>
          </a:ln>
        </p:spPr>
        <p:txBody>
          <a:bodyPr wrap="square">
            <a:spAutoFit/>
          </a:bodyPr>
          <a:p>
            <a:pPr marL="0" indent="0">
              <a:spcBef>
                <a:spcPts val="100"/>
              </a:spcBef>
              <a:spcAft>
                <a:spcPts val="200"/>
              </a:spcAft>
            </a:pPr>
            <a:r>
              <a:rPr lang="zh-CN" altLang="en-US" sz="1200" b="0" i="0">
                <a:solidFill>
                  <a:schemeClr val="tx1"/>
                </a:solidFill>
                <a:latin typeface="-apple-system"/>
                <a:ea typeface="-apple-system"/>
              </a:rPr>
              <a:t>用户想请你帮忙准备一个会议摘要。但用户给的信息可能不完整：</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主题：</a:t>
            </a:r>
            <a:r>
              <a:rPr lang="en-US" altLang="zh-CN" sz="1200" b="0" i="0">
                <a:solidFill>
                  <a:schemeClr val="tx1"/>
                </a:solidFill>
                <a:latin typeface="-apple-system"/>
                <a:ea typeface="-apple-system"/>
              </a:rPr>
              <a:t>Q3 </a:t>
            </a:r>
            <a:r>
              <a:rPr lang="zh-CN" altLang="en-US" sz="1200" b="0" i="0">
                <a:solidFill>
                  <a:schemeClr val="tx1"/>
                </a:solidFill>
                <a:latin typeface="-apple-system"/>
                <a:ea typeface="-apple-system"/>
              </a:rPr>
              <a:t>项目评审</a:t>
            </a:r>
            <a:r>
              <a:rPr lang="en-US" altLang="zh-CN" sz="1200" b="0" i="0">
                <a:solidFill>
                  <a:schemeClr val="tx1"/>
                </a:solidFill>
                <a:latin typeface="-apple-system"/>
                <a:ea typeface="-apple-system"/>
              </a:rPr>
              <a:t>     </a:t>
            </a:r>
            <a:r>
              <a:rPr lang="zh-CN" altLang="en-US" sz="1200" b="0" i="0">
                <a:solidFill>
                  <a:schemeClr val="tx1"/>
                </a:solidFill>
                <a:highlight>
                  <a:srgbClr val="00FF00"/>
                </a:highlight>
                <a:latin typeface="-apple-system"/>
                <a:ea typeface="-apple-system"/>
              </a:rPr>
              <a:t>给了</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日期：？</a:t>
            </a:r>
            <a:r>
              <a:rPr lang="en-US" altLang="zh-CN" sz="1200" b="0" i="0">
                <a:solidFill>
                  <a:schemeClr val="tx1"/>
                </a:solidFill>
                <a:latin typeface="-apple-system"/>
                <a:ea typeface="-apple-system"/>
              </a:rPr>
              <a:t>              </a:t>
            </a:r>
            <a:r>
              <a:rPr lang="zh-CN" altLang="en-US" sz="1200" b="0" i="0">
                <a:solidFill>
                  <a:schemeClr val="tx1"/>
                </a:solidFill>
                <a:highlight>
                  <a:srgbClr val="FF0000"/>
                </a:highlight>
                <a:latin typeface="-apple-system"/>
                <a:ea typeface="-apple-system"/>
              </a:rPr>
              <a:t>没给</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参与人：张三、李四</a:t>
            </a:r>
            <a:r>
              <a:rPr lang="en-US" altLang="zh-CN" sz="1200" b="0" i="0">
                <a:solidFill>
                  <a:schemeClr val="tx1"/>
                </a:solidFill>
                <a:latin typeface="-apple-system"/>
                <a:ea typeface="-apple-system"/>
              </a:rPr>
              <a:t>    </a:t>
            </a:r>
            <a:r>
              <a:rPr lang="zh-CN" altLang="en-US" sz="1200" b="0" i="0">
                <a:solidFill>
                  <a:schemeClr val="tx1"/>
                </a:solidFill>
                <a:highlight>
                  <a:srgbClr val="00FF00"/>
                </a:highlight>
                <a:latin typeface="-apple-system"/>
                <a:ea typeface="-apple-system"/>
              </a:rPr>
              <a:t>给了</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材料：</a:t>
            </a:r>
            <a:r>
              <a:rPr lang="en-US" altLang="zh-CN" sz="1200" b="0" i="0">
                <a:solidFill>
                  <a:schemeClr val="tx1"/>
                </a:solidFill>
                <a:latin typeface="-apple-system"/>
                <a:ea typeface="-apple-system"/>
              </a:rPr>
              <a:t>report.pdf     </a:t>
            </a:r>
            <a:r>
              <a:rPr lang="zh-CN" altLang="en-US" sz="1200" b="0" i="0">
                <a:solidFill>
                  <a:schemeClr val="tx1"/>
                </a:solidFill>
                <a:highlight>
                  <a:srgbClr val="808000"/>
                </a:highlight>
                <a:latin typeface="-apple-system"/>
                <a:ea typeface="-apple-system"/>
              </a:rPr>
              <a:t>给了路径，但文件不存在</a:t>
            </a:r>
            <a:endParaRPr lang="zh-CN" altLang="en-US" sz="1200" b="0" i="0">
              <a:solidFill>
                <a:schemeClr val="tx1"/>
              </a:solidFill>
              <a:latin typeface="-apple-system"/>
              <a:ea typeface="-apple-system"/>
            </a:endParaRPr>
          </a:p>
          <a:p>
            <a:pPr marL="0" indent="0">
              <a:spcBef>
                <a:spcPts val="100"/>
              </a:spcBef>
              <a:spcAft>
                <a:spcPts val="200"/>
              </a:spcAft>
            </a:pP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三种架构面对同样的输入，反应完全不同。</a:t>
            </a:r>
            <a:endParaRPr lang="zh-CN" altLang="en-US" sz="1200" b="0" i="0">
              <a:solidFill>
                <a:schemeClr val="tx1"/>
              </a:solidFill>
              <a:latin typeface="-apple-system"/>
              <a:ea typeface="-apple-syste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ea typeface="宋体" panose="02010600030101010101" pitchFamily="2" charset="-122"/>
              </a:rPr>
              <a:t>关键概念：</a:t>
            </a:r>
            <a:r>
              <a:rPr lang="en-US" altLang="zh-CN">
                <a:highlight>
                  <a:srgbClr val="FFFF00"/>
                </a:highlight>
                <a:ea typeface="宋体" panose="02010600030101010101" pitchFamily="2" charset="-122"/>
              </a:rPr>
              <a:t>“</a:t>
            </a:r>
            <a:r>
              <a:rPr lang="zh-CN" altLang="en-US">
                <a:highlight>
                  <a:srgbClr val="FFFF00"/>
                </a:highlight>
                <a:ea typeface="宋体" panose="02010600030101010101" pitchFamily="2" charset="-122"/>
              </a:rPr>
              <a:t>运行时决策权</a:t>
            </a:r>
            <a:r>
              <a:rPr lang="en-US" altLang="zh-CN">
                <a:highlight>
                  <a:srgbClr val="FFFF00"/>
                </a:highlight>
                <a:ea typeface="宋体" panose="02010600030101010101" pitchFamily="2" charset="-122"/>
              </a:rPr>
              <a:t>”</a:t>
            </a:r>
            <a:endParaRPr lang="en-US" altLang="zh-CN">
              <a:highlight>
                <a:srgbClr val="FFFF00"/>
              </a:highlight>
              <a:ea typeface="宋体" panose="02010600030101010101" pitchFamily="2" charset="-122"/>
            </a:endParaRPr>
          </a:p>
        </p:txBody>
      </p:sp>
      <p:sp>
        <p:nvSpPr>
          <p:cNvPr id="4" name="文本框 3"/>
          <p:cNvSpPr txBox="1"/>
          <p:nvPr/>
        </p:nvSpPr>
        <p:spPr>
          <a:xfrm>
            <a:off x="623570" y="1844675"/>
            <a:ext cx="5558790" cy="368300"/>
          </a:xfrm>
          <a:prstGeom prst="rect">
            <a:avLst/>
          </a:prstGeom>
          <a:noFill/>
        </p:spPr>
        <p:txBody>
          <a:bodyPr wrap="square" rtlCol="0">
            <a:spAutoFit/>
          </a:bodyPr>
          <a:p>
            <a:r>
              <a:rPr lang="zh-CN" altLang="en-US"/>
              <a:t>下一步做什么，是在运行过程中根据当前状态决定的。</a:t>
            </a:r>
            <a:endParaRPr lang="zh-CN" altLang="en-US"/>
          </a:p>
        </p:txBody>
      </p:sp>
      <p:sp>
        <p:nvSpPr>
          <p:cNvPr id="7" name="文本框 6"/>
          <p:cNvSpPr txBox="1"/>
          <p:nvPr/>
        </p:nvSpPr>
        <p:spPr>
          <a:xfrm>
            <a:off x="695325" y="2348865"/>
            <a:ext cx="6891020" cy="4030980"/>
          </a:xfrm>
          <a:prstGeom prst="rect">
            <a:avLst/>
          </a:prstGeom>
          <a:noFill/>
        </p:spPr>
        <p:txBody>
          <a:bodyPr wrap="square" rtlCol="0">
            <a:spAutoFit/>
          </a:bodyPr>
          <a:p>
            <a:r>
              <a:rPr lang="zh-CN" altLang="en-US" sz="1600"/>
              <a:t>会议</a:t>
            </a:r>
            <a:r>
              <a:rPr lang="en-US" altLang="zh-CN" sz="1600"/>
              <a:t> Agent </a:t>
            </a:r>
            <a:r>
              <a:rPr lang="zh-CN" altLang="en-US" sz="1600"/>
              <a:t>的</a:t>
            </a:r>
            <a:r>
              <a:rPr lang="en-US" altLang="zh-CN" sz="1600"/>
              <a:t> Policy </a:t>
            </a:r>
            <a:r>
              <a:rPr lang="zh-CN" altLang="en-US" sz="1600"/>
              <a:t>会检查当前</a:t>
            </a:r>
            <a:r>
              <a:rPr lang="en-US" altLang="zh-CN" sz="1600"/>
              <a:t> MeetingState</a:t>
            </a:r>
            <a:r>
              <a:rPr lang="zh-CN" altLang="en-US" sz="1600">
                <a:ea typeface="宋体" panose="02010600030101010101" pitchFamily="2" charset="-122"/>
              </a:rPr>
              <a:t>：</a:t>
            </a:r>
            <a:endParaRPr lang="zh-CN" altLang="en-US" sz="1600">
              <a:ea typeface="宋体" panose="02010600030101010101" pitchFamily="2" charset="-122"/>
            </a:endParaRPr>
          </a:p>
          <a:p>
            <a:pPr lvl="1"/>
            <a:r>
              <a:rPr lang="zh-CN" altLang="en-US" sz="1600">
                <a:ea typeface="宋体" panose="02010600030101010101" pitchFamily="2" charset="-122"/>
              </a:rPr>
              <a:t>缺主题</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AskForTopic</a:t>
            </a:r>
            <a:endParaRPr lang="en-US" altLang="zh-CN" sz="1600">
              <a:ea typeface="宋体" panose="02010600030101010101" pitchFamily="2" charset="-122"/>
            </a:endParaRPr>
          </a:p>
          <a:p>
            <a:pPr lvl="1"/>
            <a:r>
              <a:rPr lang="zh-CN" altLang="en-US" sz="1600">
                <a:ea typeface="宋体" panose="02010600030101010101" pitchFamily="2" charset="-122"/>
              </a:rPr>
              <a:t>缺日期</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AskForDate</a:t>
            </a:r>
            <a:endParaRPr lang="en-US" altLang="zh-CN" sz="1600">
              <a:ea typeface="宋体" panose="02010600030101010101" pitchFamily="2" charset="-122"/>
            </a:endParaRPr>
          </a:p>
          <a:p>
            <a:pPr lvl="1"/>
            <a:r>
              <a:rPr lang="zh-CN" altLang="en-US" sz="1600">
                <a:ea typeface="宋体" panose="02010600030101010101" pitchFamily="2" charset="-122"/>
              </a:rPr>
              <a:t>缺参与人</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AskForParticipants</a:t>
            </a:r>
            <a:endParaRPr lang="en-US" altLang="zh-CN" sz="1600">
              <a:ea typeface="宋体" panose="02010600030101010101" pitchFamily="2" charset="-122"/>
            </a:endParaRPr>
          </a:p>
          <a:p>
            <a:pPr lvl="1"/>
            <a:r>
              <a:rPr lang="zh-CN" altLang="en-US" sz="1600">
                <a:ea typeface="宋体" panose="02010600030101010101" pitchFamily="2" charset="-122"/>
              </a:rPr>
              <a:t>缺材料路径</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AskForMaterialPath</a:t>
            </a:r>
            <a:endParaRPr lang="en-US" altLang="zh-CN" sz="1600">
              <a:ea typeface="宋体" panose="02010600030101010101" pitchFamily="2" charset="-122"/>
            </a:endParaRPr>
          </a:p>
          <a:p>
            <a:pPr lvl="1"/>
            <a:r>
              <a:rPr lang="zh-CN" altLang="en-US" sz="1600">
                <a:ea typeface="宋体" panose="02010600030101010101" pitchFamily="2" charset="-122"/>
              </a:rPr>
              <a:t>有路径没内容</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ReadMaterial</a:t>
            </a:r>
            <a:endParaRPr lang="en-US" altLang="zh-CN" sz="1600">
              <a:ea typeface="宋体" panose="02010600030101010101" pitchFamily="2" charset="-122"/>
            </a:endParaRPr>
          </a:p>
          <a:p>
            <a:pPr lvl="1"/>
            <a:r>
              <a:rPr lang="zh-CN" altLang="en-US" sz="1600">
                <a:ea typeface="宋体" panose="02010600030101010101" pitchFamily="2" charset="-122"/>
              </a:rPr>
              <a:t>信息完整</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ProduceChecklist</a:t>
            </a:r>
            <a:endParaRPr lang="en-US" altLang="zh-CN" sz="1600">
              <a:ea typeface="宋体" panose="02010600030101010101" pitchFamily="2" charset="-122"/>
            </a:endParaRPr>
          </a:p>
          <a:p>
            <a:pPr lvl="1"/>
            <a:r>
              <a:rPr lang="zh-CN" altLang="en-US" sz="1600">
                <a:ea typeface="宋体" panose="02010600030101010101" pitchFamily="2" charset="-122"/>
              </a:rPr>
              <a:t>用户拒绝</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Stop</a:t>
            </a:r>
            <a:endParaRPr lang="en-US" altLang="zh-CN" sz="1600">
              <a:ea typeface="宋体" panose="02010600030101010101" pitchFamily="2" charset="-122"/>
            </a:endParaRPr>
          </a:p>
          <a:p>
            <a:pPr lvl="1"/>
            <a:r>
              <a:rPr lang="zh-CN" altLang="en-US" sz="1600">
                <a:ea typeface="宋体" panose="02010600030101010101" pitchFamily="2" charset="-122"/>
              </a:rPr>
              <a:t>预算耗尽</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Stop</a:t>
            </a:r>
            <a:endParaRPr lang="en-US" altLang="zh-CN" sz="1600">
              <a:ea typeface="宋体" panose="02010600030101010101" pitchFamily="2" charset="-122"/>
            </a:endParaRPr>
          </a:p>
          <a:p>
            <a:pPr lvl="1"/>
            <a:endParaRPr lang="en-US" altLang="zh-CN" sz="1600">
              <a:ea typeface="宋体" panose="02010600030101010101" pitchFamily="2" charset="-122"/>
            </a:endParaRPr>
          </a:p>
          <a:p>
            <a:r>
              <a:rPr lang="zh-CN" altLang="en-US" sz="1600">
                <a:ea typeface="宋体" panose="02010600030101010101" pitchFamily="2" charset="-122"/>
              </a:rPr>
              <a:t>因此相同程序面对不同状态会选择不同动作：</a:t>
            </a:r>
            <a:endParaRPr lang="zh-CN" altLang="en-US" sz="1600">
              <a:ea typeface="宋体" panose="02010600030101010101" pitchFamily="2" charset="-122"/>
            </a:endParaRPr>
          </a:p>
          <a:p>
            <a:pPr lvl="1"/>
            <a:r>
              <a:rPr lang="zh-CN" altLang="en-US" sz="1600">
                <a:ea typeface="宋体" panose="02010600030101010101" pitchFamily="2" charset="-122"/>
              </a:rPr>
              <a:t>输入完整：</a:t>
            </a:r>
            <a:r>
              <a:rPr lang="en-US" altLang="zh-CN" sz="1600">
                <a:ea typeface="宋体" panose="02010600030101010101" pitchFamily="2" charset="-122"/>
              </a:rPr>
              <a:t>ReadMaterial </a:t>
            </a:r>
            <a:r>
              <a:rPr lang="en-US" altLang="en-US" sz="1600">
                <a:ea typeface="宋体" panose="02010600030101010101" pitchFamily="2" charset="-122"/>
              </a:rPr>
              <a:t>→</a:t>
            </a:r>
            <a:r>
              <a:rPr lang="en-US" altLang="zh-CN" sz="1600">
                <a:ea typeface="宋体" panose="02010600030101010101" pitchFamily="2" charset="-122"/>
              </a:rPr>
              <a:t> ProduceChecklist</a:t>
            </a:r>
            <a:endParaRPr lang="en-US" altLang="zh-CN" sz="1600">
              <a:ea typeface="宋体" panose="02010600030101010101" pitchFamily="2" charset="-122"/>
            </a:endParaRPr>
          </a:p>
          <a:p>
            <a:pPr lvl="1"/>
            <a:r>
              <a:rPr lang="zh-CN" altLang="en-US" sz="1600">
                <a:ea typeface="宋体" panose="02010600030101010101" pitchFamily="2" charset="-122"/>
              </a:rPr>
              <a:t>缺少日期：</a:t>
            </a:r>
            <a:r>
              <a:rPr lang="en-US" altLang="zh-CN" sz="1600">
                <a:ea typeface="宋体" panose="02010600030101010101" pitchFamily="2" charset="-122"/>
              </a:rPr>
              <a:t>AskForDate</a:t>
            </a:r>
            <a:endParaRPr lang="en-US" altLang="zh-CN" sz="1600">
              <a:ea typeface="宋体" panose="02010600030101010101" pitchFamily="2" charset="-122"/>
            </a:endParaRPr>
          </a:p>
          <a:p>
            <a:pPr lvl="1"/>
            <a:r>
              <a:rPr lang="zh-CN" altLang="en-US" sz="1600">
                <a:ea typeface="宋体" panose="02010600030101010101" pitchFamily="2" charset="-122"/>
              </a:rPr>
              <a:t>文件读取失败：</a:t>
            </a:r>
            <a:r>
              <a:rPr lang="en-US" altLang="zh-CN" sz="1600">
                <a:ea typeface="宋体" panose="02010600030101010101" pitchFamily="2" charset="-122"/>
              </a:rPr>
              <a:t>ReadMaterial </a:t>
            </a:r>
            <a:r>
              <a:rPr lang="en-US" altLang="en-US" sz="1600">
                <a:ea typeface="宋体" panose="02010600030101010101" pitchFamily="2" charset="-122"/>
              </a:rPr>
              <a:t>→</a:t>
            </a:r>
            <a:r>
              <a:rPr lang="en-US" altLang="zh-CN" sz="1600">
                <a:ea typeface="宋体" panose="02010600030101010101" pitchFamily="2" charset="-122"/>
              </a:rPr>
              <a:t> MaterialReadFailed </a:t>
            </a:r>
            <a:r>
              <a:rPr lang="en-US" altLang="en-US" sz="1600">
                <a:ea typeface="宋体" panose="02010600030101010101" pitchFamily="2" charset="-122"/>
              </a:rPr>
              <a:t>→</a:t>
            </a:r>
            <a:r>
              <a:rPr lang="en-US" altLang="zh-CN" sz="1600">
                <a:ea typeface="宋体" panose="02010600030101010101" pitchFamily="2" charset="-122"/>
              </a:rPr>
              <a:t> AskForMaterialPath</a:t>
            </a:r>
            <a:endParaRPr lang="en-US" altLang="zh-CN" sz="1600">
              <a:ea typeface="宋体" panose="02010600030101010101" pitchFamily="2" charset="-122"/>
            </a:endParaRPr>
          </a:p>
          <a:p>
            <a:pPr lvl="1"/>
            <a:r>
              <a:rPr lang="zh-CN" altLang="en-US" sz="1600">
                <a:ea typeface="宋体" panose="02010600030101010101" pitchFamily="2" charset="-122"/>
              </a:rPr>
              <a:t>用户拒绝：</a:t>
            </a:r>
            <a:r>
              <a:rPr lang="en-US" altLang="zh-CN" sz="1600">
                <a:ea typeface="宋体" panose="02010600030101010101" pitchFamily="2" charset="-122"/>
              </a:rPr>
              <a:t>AskForDate </a:t>
            </a:r>
            <a:r>
              <a:rPr lang="en-US" altLang="en-US" sz="1600">
                <a:ea typeface="宋体" panose="02010600030101010101" pitchFamily="2" charset="-122"/>
              </a:rPr>
              <a:t>→</a:t>
            </a:r>
            <a:r>
              <a:rPr lang="en-US" altLang="zh-CN" sz="1600">
                <a:ea typeface="宋体" panose="02010600030101010101" pitchFamily="2" charset="-122"/>
              </a:rPr>
              <a:t> UserDeclined </a:t>
            </a:r>
            <a:r>
              <a:rPr lang="en-US" altLang="en-US" sz="1600">
                <a:ea typeface="宋体" panose="02010600030101010101" pitchFamily="2" charset="-122"/>
              </a:rPr>
              <a:t>→</a:t>
            </a:r>
            <a:r>
              <a:rPr lang="en-US" altLang="zh-CN" sz="1600">
                <a:ea typeface="宋体" panose="02010600030101010101" pitchFamily="2" charset="-122"/>
              </a:rPr>
              <a:t> Stop</a:t>
            </a:r>
            <a:endParaRPr lang="en-US" altLang="zh-CN" sz="1600">
              <a:ea typeface="宋体" panose="02010600030101010101" pitchFamily="2" charset="-122"/>
            </a:endParaRPr>
          </a:p>
        </p:txBody>
      </p:sp>
      <p:sp>
        <p:nvSpPr>
          <p:cNvPr id="9" name="文本框 8"/>
          <p:cNvSpPr txBox="1"/>
          <p:nvPr/>
        </p:nvSpPr>
        <p:spPr>
          <a:xfrm>
            <a:off x="6610985" y="2420620"/>
            <a:ext cx="4485005" cy="2061210"/>
          </a:xfrm>
          <a:prstGeom prst="rect">
            <a:avLst/>
          </a:prstGeom>
          <a:noFill/>
        </p:spPr>
        <p:txBody>
          <a:bodyPr wrap="square" rtlCol="0">
            <a:spAutoFit/>
          </a:bodyPr>
          <a:p>
            <a:r>
              <a:rPr lang="zh-CN" altLang="en-US" sz="1600"/>
              <a:t>与之对比，</a:t>
            </a:r>
            <a:r>
              <a:rPr lang="en-US" altLang="zh-CN" sz="1600"/>
              <a:t>Workflow </a:t>
            </a:r>
            <a:r>
              <a:rPr lang="zh-CN" altLang="en-US" sz="1600"/>
              <a:t>的执行顺序已经提前写死：</a:t>
            </a:r>
            <a:endParaRPr lang="zh-CN" altLang="en-US" sz="1600"/>
          </a:p>
          <a:p>
            <a:pPr lvl="1"/>
            <a:r>
              <a:rPr lang="zh-CN" altLang="en-US" sz="1600"/>
              <a:t>检查主题</a:t>
            </a:r>
            <a:endParaRPr lang="zh-CN" altLang="en-US" sz="1600"/>
          </a:p>
          <a:p>
            <a:pPr lvl="1"/>
            <a:r>
              <a:rPr lang="en-US" altLang="en-US" sz="1600"/>
              <a:t>→</a:t>
            </a:r>
            <a:r>
              <a:rPr lang="en-US" altLang="zh-CN" sz="1600"/>
              <a:t> </a:t>
            </a:r>
            <a:r>
              <a:rPr lang="zh-CN" altLang="en-US" sz="1600"/>
              <a:t>检查日期</a:t>
            </a:r>
            <a:endParaRPr lang="zh-CN" altLang="en-US" sz="1600"/>
          </a:p>
          <a:p>
            <a:pPr lvl="1"/>
            <a:r>
              <a:rPr lang="en-US" altLang="en-US" sz="1600"/>
              <a:t>→</a:t>
            </a:r>
            <a:r>
              <a:rPr lang="en-US" altLang="zh-CN" sz="1600"/>
              <a:t> </a:t>
            </a:r>
            <a:r>
              <a:rPr lang="zh-CN" altLang="en-US" sz="1600"/>
              <a:t>检查参与人</a:t>
            </a:r>
            <a:endParaRPr lang="zh-CN" altLang="en-US" sz="1600"/>
          </a:p>
          <a:p>
            <a:pPr lvl="1"/>
            <a:r>
              <a:rPr lang="en-US" altLang="en-US" sz="1600"/>
              <a:t>→</a:t>
            </a:r>
            <a:r>
              <a:rPr lang="en-US" altLang="zh-CN" sz="1600"/>
              <a:t> </a:t>
            </a:r>
            <a:r>
              <a:rPr lang="zh-CN" altLang="en-US" sz="1600"/>
              <a:t>检查文件</a:t>
            </a:r>
            <a:endParaRPr lang="zh-CN" altLang="en-US" sz="1600"/>
          </a:p>
          <a:p>
            <a:pPr lvl="1"/>
            <a:r>
              <a:rPr lang="en-US" altLang="en-US" sz="1600"/>
              <a:t>→</a:t>
            </a:r>
            <a:r>
              <a:rPr lang="en-US" altLang="zh-CN" sz="1600"/>
              <a:t> </a:t>
            </a:r>
            <a:r>
              <a:rPr lang="zh-CN" altLang="en-US" sz="1600"/>
              <a:t>输出结果</a:t>
            </a:r>
            <a:endParaRPr lang="zh-CN" altLang="en-US" sz="1600"/>
          </a:p>
          <a:p>
            <a:r>
              <a:rPr lang="zh-CN" altLang="en-US" sz="1600"/>
              <a:t>它不会在文件失败后自主决定重新询问，也不会根据状态换一条路径。</a:t>
            </a:r>
            <a:endParaRPr lang="zh-CN" altLang="en-US"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ea typeface="宋体" panose="02010600030101010101" pitchFamily="2" charset="-122"/>
              </a:rPr>
              <a:t>关键概念：</a:t>
            </a:r>
            <a:r>
              <a:rPr lang="en-US" altLang="zh-CN">
                <a:highlight>
                  <a:srgbClr val="FFFF00"/>
                </a:highlight>
                <a:ea typeface="宋体" panose="02010600030101010101" pitchFamily="2" charset="-122"/>
              </a:rPr>
              <a:t>“</a:t>
            </a:r>
            <a:r>
              <a:rPr lang="zh-CN" altLang="en-US">
                <a:highlight>
                  <a:srgbClr val="FFFF00"/>
                </a:highlight>
                <a:ea typeface="宋体" panose="02010600030101010101" pitchFamily="2" charset="-122"/>
              </a:rPr>
              <a:t>动作与事实分离</a:t>
            </a:r>
            <a:r>
              <a:rPr lang="en-US" altLang="zh-CN">
                <a:highlight>
                  <a:srgbClr val="FFFF00"/>
                </a:highlight>
                <a:ea typeface="宋体" panose="02010600030101010101" pitchFamily="2" charset="-122"/>
              </a:rPr>
              <a:t>”</a:t>
            </a:r>
            <a:endParaRPr lang="en-US" altLang="zh-CN">
              <a:highlight>
                <a:srgbClr val="FFFF00"/>
              </a:highlight>
              <a:ea typeface="宋体" panose="02010600030101010101" pitchFamily="2" charset="-122"/>
            </a:endParaRPr>
          </a:p>
        </p:txBody>
      </p:sp>
      <p:sp>
        <p:nvSpPr>
          <p:cNvPr id="4" name="文本框 3"/>
          <p:cNvSpPr txBox="1"/>
          <p:nvPr/>
        </p:nvSpPr>
        <p:spPr>
          <a:xfrm>
            <a:off x="623570" y="1844675"/>
            <a:ext cx="5558790" cy="645160"/>
          </a:xfrm>
          <a:prstGeom prst="rect">
            <a:avLst/>
          </a:prstGeom>
          <a:noFill/>
        </p:spPr>
        <p:txBody>
          <a:bodyPr wrap="square" rtlCol="0">
            <a:spAutoFit/>
          </a:bodyPr>
          <a:p>
            <a:r>
              <a:rPr lang="en-US" altLang="zh-CN"/>
              <a:t>Action</a:t>
            </a:r>
            <a:r>
              <a:rPr lang="zh-CN" altLang="en-US"/>
              <a:t>：系统想做什么</a:t>
            </a:r>
            <a:endParaRPr lang="zh-CN" altLang="en-US"/>
          </a:p>
          <a:p>
            <a:r>
              <a:rPr lang="en-US" altLang="zh-CN"/>
              <a:t>Observation</a:t>
            </a:r>
            <a:r>
              <a:rPr lang="zh-CN" altLang="en-US"/>
              <a:t>：环境实际发生了什么</a:t>
            </a:r>
            <a:endParaRPr lang="zh-CN" altLang="en-US"/>
          </a:p>
        </p:txBody>
      </p:sp>
      <p:sp>
        <p:nvSpPr>
          <p:cNvPr id="7" name="文本框 6"/>
          <p:cNvSpPr txBox="1"/>
          <p:nvPr/>
        </p:nvSpPr>
        <p:spPr>
          <a:xfrm>
            <a:off x="695325" y="2492375"/>
            <a:ext cx="6891020" cy="3969385"/>
          </a:xfrm>
          <a:prstGeom prst="rect">
            <a:avLst/>
          </a:prstGeom>
          <a:noFill/>
        </p:spPr>
        <p:txBody>
          <a:bodyPr wrap="square" rtlCol="0">
            <a:spAutoFit/>
          </a:bodyPr>
          <a:p>
            <a:r>
              <a:rPr lang="zh-CN" altLang="en-US" sz="1400">
                <a:ea typeface="宋体" panose="02010600030101010101" pitchFamily="2" charset="-122"/>
              </a:rPr>
              <a:t>例如：</a:t>
            </a:r>
            <a:endParaRPr lang="zh-CN" altLang="en-US" sz="1400">
              <a:ea typeface="宋体" panose="02010600030101010101" pitchFamily="2" charset="-122"/>
            </a:endParaRPr>
          </a:p>
          <a:p>
            <a:pPr lvl="1"/>
            <a:r>
              <a:rPr lang="en-US" altLang="zh-CN" sz="1400">
                <a:ea typeface="宋体" panose="02010600030101010101" pitchFamily="2" charset="-122"/>
              </a:rPr>
              <a:t>MeetingAction::ReadMaterial {</a:t>
            </a:r>
            <a:endParaRPr lang="en-US" altLang="zh-CN" sz="1400">
              <a:ea typeface="宋体" panose="02010600030101010101" pitchFamily="2" charset="-122"/>
            </a:endParaRPr>
          </a:p>
          <a:p>
            <a:pPr lvl="1"/>
            <a:r>
              <a:rPr lang="en-US" altLang="zh-CN" sz="1400">
                <a:ea typeface="宋体" panose="02010600030101010101" pitchFamily="2" charset="-122"/>
              </a:rPr>
              <a:t>    path: "test_material.txt"</a:t>
            </a:r>
            <a:endParaRPr lang="en-US" altLang="zh-CN" sz="1400">
              <a:ea typeface="宋体" panose="02010600030101010101" pitchFamily="2" charset="-122"/>
            </a:endParaRPr>
          </a:p>
          <a:p>
            <a:pPr lvl="1"/>
            <a:r>
              <a:rPr lang="en-US" altLang="zh-CN" sz="1400">
                <a:ea typeface="宋体" panose="02010600030101010101" pitchFamily="2" charset="-122"/>
              </a:rPr>
              <a:t>}</a:t>
            </a:r>
            <a:endParaRPr lang="en-US" altLang="zh-CN" sz="1400">
              <a:ea typeface="宋体" panose="02010600030101010101" pitchFamily="2" charset="-122"/>
            </a:endParaRPr>
          </a:p>
          <a:p>
            <a:r>
              <a:rPr lang="zh-CN" altLang="en-US" sz="1400">
                <a:ea typeface="宋体" panose="02010600030101010101" pitchFamily="2" charset="-122"/>
              </a:rPr>
              <a:t>只表示</a:t>
            </a:r>
            <a:r>
              <a:rPr lang="en-US" altLang="zh-CN" sz="1400">
                <a:ea typeface="宋体" panose="02010600030101010101" pitchFamily="2" charset="-122"/>
              </a:rPr>
              <a:t> Agent </a:t>
            </a:r>
            <a:r>
              <a:rPr lang="zh-CN" altLang="en-US" sz="1400">
                <a:ea typeface="宋体" panose="02010600030101010101" pitchFamily="2" charset="-122"/>
              </a:rPr>
              <a:t>请求读取文件，不能据此认为文件已经读到。</a:t>
            </a:r>
            <a:endParaRPr lang="zh-CN" altLang="en-US" sz="1400">
              <a:ea typeface="宋体" panose="02010600030101010101" pitchFamily="2" charset="-122"/>
            </a:endParaRPr>
          </a:p>
          <a:p>
            <a:r>
              <a:rPr lang="zh-CN" altLang="en-US" sz="1400">
                <a:ea typeface="宋体" panose="02010600030101010101" pitchFamily="2" charset="-122"/>
              </a:rPr>
              <a:t>真实结果可能是：</a:t>
            </a:r>
            <a:endParaRPr lang="zh-CN" altLang="en-US" sz="1400">
              <a:ea typeface="宋体" panose="02010600030101010101" pitchFamily="2" charset="-122"/>
            </a:endParaRPr>
          </a:p>
          <a:p>
            <a:pPr lvl="1"/>
            <a:r>
              <a:rPr lang="en-US" altLang="zh-CN" sz="1400">
                <a:ea typeface="宋体" panose="02010600030101010101" pitchFamily="2" charset="-122"/>
              </a:rPr>
              <a:t>MeetingObservation::MaterialLoaded {</a:t>
            </a:r>
            <a:endParaRPr lang="en-US" altLang="zh-CN" sz="1400">
              <a:ea typeface="宋体" panose="02010600030101010101" pitchFamily="2" charset="-122"/>
            </a:endParaRPr>
          </a:p>
          <a:p>
            <a:pPr lvl="1"/>
            <a:r>
              <a:rPr lang="en-US" altLang="zh-CN" sz="1400">
                <a:ea typeface="宋体" panose="02010600030101010101" pitchFamily="2" charset="-122"/>
              </a:rPr>
              <a:t>    path,</a:t>
            </a:r>
            <a:endParaRPr lang="en-US" altLang="zh-CN" sz="1400">
              <a:ea typeface="宋体" panose="02010600030101010101" pitchFamily="2" charset="-122"/>
            </a:endParaRPr>
          </a:p>
          <a:p>
            <a:pPr lvl="1"/>
            <a:r>
              <a:rPr lang="en-US" altLang="zh-CN" sz="1400">
                <a:ea typeface="宋体" panose="02010600030101010101" pitchFamily="2" charset="-122"/>
              </a:rPr>
              <a:t>    content,</a:t>
            </a:r>
            <a:endParaRPr lang="en-US" altLang="zh-CN" sz="1400">
              <a:ea typeface="宋体" panose="02010600030101010101" pitchFamily="2" charset="-122"/>
            </a:endParaRPr>
          </a:p>
          <a:p>
            <a:pPr lvl="1"/>
            <a:r>
              <a:rPr lang="en-US" altLang="zh-CN" sz="1400">
                <a:ea typeface="宋体" panose="02010600030101010101" pitchFamily="2" charset="-122"/>
              </a:rPr>
              <a:t>}</a:t>
            </a:r>
            <a:endParaRPr lang="en-US" altLang="zh-CN" sz="1400">
              <a:ea typeface="宋体" panose="02010600030101010101" pitchFamily="2" charset="-122"/>
            </a:endParaRPr>
          </a:p>
          <a:p>
            <a:r>
              <a:rPr lang="zh-CN" altLang="en-US" sz="1400">
                <a:ea typeface="宋体" panose="02010600030101010101" pitchFamily="2" charset="-122"/>
              </a:rPr>
              <a:t>也可能是：</a:t>
            </a:r>
            <a:endParaRPr lang="zh-CN" altLang="en-US" sz="1400">
              <a:ea typeface="宋体" panose="02010600030101010101" pitchFamily="2" charset="-122"/>
            </a:endParaRPr>
          </a:p>
          <a:p>
            <a:pPr lvl="1"/>
            <a:r>
              <a:rPr lang="en-US" altLang="zh-CN" sz="1400">
                <a:ea typeface="宋体" panose="02010600030101010101" pitchFamily="2" charset="-122"/>
              </a:rPr>
              <a:t>MeetingObservation::MaterialReadFailed {</a:t>
            </a:r>
            <a:endParaRPr lang="en-US" altLang="zh-CN" sz="1400">
              <a:ea typeface="宋体" panose="02010600030101010101" pitchFamily="2" charset="-122"/>
            </a:endParaRPr>
          </a:p>
          <a:p>
            <a:pPr lvl="1"/>
            <a:r>
              <a:rPr lang="en-US" altLang="zh-CN" sz="1400">
                <a:ea typeface="宋体" panose="02010600030101010101" pitchFamily="2" charset="-122"/>
              </a:rPr>
              <a:t>    path,</a:t>
            </a:r>
            <a:endParaRPr lang="en-US" altLang="zh-CN" sz="1400">
              <a:ea typeface="宋体" panose="02010600030101010101" pitchFamily="2" charset="-122"/>
            </a:endParaRPr>
          </a:p>
          <a:p>
            <a:pPr lvl="1"/>
            <a:r>
              <a:rPr lang="en-US" altLang="zh-CN" sz="1400">
                <a:ea typeface="宋体" panose="02010600030101010101" pitchFamily="2" charset="-122"/>
              </a:rPr>
              <a:t>}</a:t>
            </a:r>
            <a:endParaRPr lang="en-US" altLang="zh-CN" sz="1400">
              <a:ea typeface="宋体" panose="02010600030101010101" pitchFamily="2" charset="-122"/>
            </a:endParaRPr>
          </a:p>
          <a:p>
            <a:r>
              <a:rPr lang="zh-CN" altLang="en-US" sz="1400">
                <a:ea typeface="宋体" panose="02010600030101010101" pitchFamily="2" charset="-122"/>
              </a:rPr>
              <a:t>修复前的代码只检查：</a:t>
            </a:r>
            <a:r>
              <a:rPr lang="en-US" altLang="zh-CN" sz="1400">
                <a:ea typeface="宋体" panose="02010600030101010101" pitchFamily="2" charset="-122"/>
              </a:rPr>
              <a:t>Path::exists()</a:t>
            </a:r>
            <a:r>
              <a:rPr lang="zh-CN" altLang="en-US" sz="1400">
                <a:ea typeface="宋体" panose="02010600030101010101" pitchFamily="2" charset="-122"/>
              </a:rPr>
              <a:t>。就记录</a:t>
            </a:r>
            <a:r>
              <a:rPr lang="en-US" altLang="zh-CN" sz="1400">
                <a:ea typeface="宋体" panose="02010600030101010101" pitchFamily="2" charset="-122"/>
              </a:rPr>
              <a:t>“</a:t>
            </a:r>
            <a:r>
              <a:rPr lang="zh-CN" altLang="en-US" sz="1400">
                <a:ea typeface="宋体" panose="02010600030101010101" pitchFamily="2" charset="-122"/>
              </a:rPr>
              <a:t>材料已读取</a:t>
            </a:r>
            <a:r>
              <a:rPr lang="en-US" altLang="zh-CN" sz="1400">
                <a:ea typeface="宋体" panose="02010600030101010101" pitchFamily="2" charset="-122"/>
              </a:rPr>
              <a:t>”</a:t>
            </a:r>
            <a:r>
              <a:rPr lang="zh-CN" altLang="en-US" sz="1400">
                <a:ea typeface="宋体" panose="02010600030101010101" pitchFamily="2" charset="-122"/>
              </a:rPr>
              <a:t>，这正是把动作或前置检查误当成事实。</a:t>
            </a:r>
            <a:endParaRPr lang="zh-CN" altLang="en-US" sz="1400">
              <a:ea typeface="宋体" panose="02010600030101010101" pitchFamily="2" charset="-122"/>
            </a:endParaRPr>
          </a:p>
          <a:p>
            <a:r>
              <a:rPr lang="zh-CN" altLang="en-US" sz="1400">
                <a:ea typeface="宋体" panose="02010600030101010101" pitchFamily="2" charset="-122"/>
              </a:rPr>
              <a:t>修复后只有收到</a:t>
            </a:r>
            <a:r>
              <a:rPr lang="en-US" altLang="zh-CN" sz="1400">
                <a:ea typeface="宋体" panose="02010600030101010101" pitchFamily="2" charset="-122"/>
              </a:rPr>
              <a:t> MaterialLoaded</a:t>
            </a:r>
            <a:r>
              <a:rPr lang="zh-CN" altLang="en-US" sz="1400">
                <a:ea typeface="宋体" panose="02010600030101010101" pitchFamily="2" charset="-122"/>
              </a:rPr>
              <a:t>，才能写入：</a:t>
            </a:r>
            <a:r>
              <a:rPr lang="en-US" altLang="zh-CN" sz="1400">
                <a:ea typeface="宋体" panose="02010600030101010101" pitchFamily="2" charset="-122"/>
              </a:rPr>
              <a:t>state.material_text</a:t>
            </a:r>
            <a:endParaRPr lang="en-US" altLang="zh-CN" sz="1400">
              <a:ea typeface="宋体" panose="02010600030101010101" pitchFamily="2" charset="-122"/>
            </a:endParaRPr>
          </a:p>
          <a:p>
            <a:r>
              <a:rPr lang="zh-CN" altLang="en-US" sz="1400">
                <a:ea typeface="宋体" panose="02010600030101010101" pitchFamily="2" charset="-122"/>
              </a:rPr>
              <a:t>模型说</a:t>
            </a:r>
            <a:r>
              <a:rPr lang="en-US" altLang="zh-CN" sz="1400">
                <a:ea typeface="宋体" panose="02010600030101010101" pitchFamily="2" charset="-122"/>
              </a:rPr>
              <a:t>“</a:t>
            </a:r>
            <a:r>
              <a:rPr lang="zh-CN" altLang="en-US" sz="1400">
                <a:ea typeface="宋体" panose="02010600030101010101" pitchFamily="2" charset="-122"/>
              </a:rPr>
              <a:t>我要读</a:t>
            </a:r>
            <a:r>
              <a:rPr lang="en-US" altLang="zh-CN" sz="1400">
                <a:ea typeface="宋体" panose="02010600030101010101" pitchFamily="2" charset="-122"/>
              </a:rPr>
              <a:t>”</a:t>
            </a:r>
            <a:r>
              <a:rPr lang="zh-CN" altLang="en-US" sz="1400">
                <a:ea typeface="宋体" panose="02010600030101010101" pitchFamily="2" charset="-122"/>
              </a:rPr>
              <a:t>、路径存在、工具真正返回内容，是三个不同事件。</a:t>
            </a:r>
            <a:endParaRPr lang="zh-CN" altLang="en-US" sz="140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ea typeface="宋体" panose="02010600030101010101" pitchFamily="2" charset="-122"/>
              </a:rPr>
              <a:t>关键概念：</a:t>
            </a:r>
            <a:r>
              <a:rPr lang="en-US" altLang="zh-CN">
                <a:highlight>
                  <a:srgbClr val="FFFF00"/>
                </a:highlight>
                <a:ea typeface="宋体" panose="02010600030101010101" pitchFamily="2" charset="-122"/>
              </a:rPr>
              <a:t>“</a:t>
            </a:r>
            <a:r>
              <a:rPr lang="zh-CN" altLang="en-US">
                <a:highlight>
                  <a:srgbClr val="FFFF00"/>
                </a:highlight>
                <a:ea typeface="宋体" panose="02010600030101010101" pitchFamily="2" charset="-122"/>
              </a:rPr>
              <a:t>明确终止</a:t>
            </a:r>
            <a:r>
              <a:rPr lang="en-US" altLang="zh-CN">
                <a:highlight>
                  <a:srgbClr val="FFFF00"/>
                </a:highlight>
                <a:ea typeface="宋体" panose="02010600030101010101" pitchFamily="2" charset="-122"/>
              </a:rPr>
              <a:t>”</a:t>
            </a:r>
            <a:endParaRPr lang="en-US" altLang="zh-CN">
              <a:highlight>
                <a:srgbClr val="FFFF00"/>
              </a:highlight>
              <a:ea typeface="宋体" panose="02010600030101010101" pitchFamily="2" charset="-122"/>
            </a:endParaRPr>
          </a:p>
        </p:txBody>
      </p:sp>
      <p:sp>
        <p:nvSpPr>
          <p:cNvPr id="4" name="文本框 3"/>
          <p:cNvSpPr txBox="1"/>
          <p:nvPr/>
        </p:nvSpPr>
        <p:spPr>
          <a:xfrm>
            <a:off x="623570" y="1844675"/>
            <a:ext cx="5558790" cy="645160"/>
          </a:xfrm>
          <a:prstGeom prst="rect">
            <a:avLst/>
          </a:prstGeom>
          <a:noFill/>
        </p:spPr>
        <p:txBody>
          <a:bodyPr wrap="square" rtlCol="0">
            <a:spAutoFit/>
          </a:bodyPr>
          <a:p>
            <a:r>
              <a:rPr lang="en-US" altLang="zh-CN"/>
              <a:t>Agent </a:t>
            </a:r>
            <a:r>
              <a:rPr lang="zh-CN" altLang="en-US"/>
              <a:t>不能只是</a:t>
            </a:r>
            <a:r>
              <a:rPr lang="en-US" altLang="zh-CN"/>
              <a:t>“</a:t>
            </a:r>
            <a:r>
              <a:rPr lang="zh-CN" altLang="en-US"/>
              <a:t>循环跑着，差不多就结束</a:t>
            </a:r>
            <a:r>
              <a:rPr lang="en-US" altLang="zh-CN"/>
              <a:t>”</a:t>
            </a:r>
            <a:r>
              <a:rPr lang="zh-CN" altLang="en-US"/>
              <a:t>。每次结束都必须有明确语义。</a:t>
            </a:r>
            <a:endParaRPr lang="zh-CN" altLang="en-US"/>
          </a:p>
        </p:txBody>
      </p:sp>
      <p:sp>
        <p:nvSpPr>
          <p:cNvPr id="7" name="文本框 6"/>
          <p:cNvSpPr txBox="1"/>
          <p:nvPr/>
        </p:nvSpPr>
        <p:spPr>
          <a:xfrm>
            <a:off x="695325" y="2492375"/>
            <a:ext cx="6891020" cy="3969385"/>
          </a:xfrm>
          <a:prstGeom prst="rect">
            <a:avLst/>
          </a:prstGeom>
          <a:noFill/>
        </p:spPr>
        <p:txBody>
          <a:bodyPr wrap="square" rtlCol="0">
            <a:spAutoFit/>
          </a:bodyPr>
          <a:p>
            <a:r>
              <a:rPr lang="zh-CN" sz="1400">
                <a:ea typeface="宋体" panose="02010600030101010101" pitchFamily="2" charset="-122"/>
              </a:rPr>
              <a:t>我们的示例包括：</a:t>
            </a:r>
            <a:endParaRPr lang="zh-CN" sz="1400">
              <a:ea typeface="宋体" panose="02010600030101010101" pitchFamily="2" charset="-122"/>
            </a:endParaRPr>
          </a:p>
          <a:p>
            <a:pPr lvl="1"/>
            <a:r>
              <a:rPr lang="en-US" altLang="zh-CN" sz="1400">
                <a:ea typeface="宋体" panose="02010600030101010101" pitchFamily="2" charset="-122"/>
              </a:rPr>
              <a:t>ProduceChecklist</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目标完成</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Stop("user_declined")</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用户拒绝继续</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Stop("step_budget")</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预算耗尽</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Stop("insufficient_goal")</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输入关闭但目标仍缺失</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Stop("insufficient_input")</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输入关闭但事实不足</a:t>
            </a:r>
            <a:endParaRPr lang="zh-CN" altLang="en-US" sz="1400">
              <a:ea typeface="宋体" panose="02010600030101010101" pitchFamily="2" charset="-122"/>
            </a:endParaRPr>
          </a:p>
          <a:p>
            <a:r>
              <a:rPr lang="zh-CN" altLang="en-US" sz="1400">
                <a:ea typeface="宋体" panose="02010600030101010101" pitchFamily="2" charset="-122"/>
              </a:rPr>
              <a:t>同时还有两个不变量：</a:t>
            </a:r>
            <a:endParaRPr lang="zh-CN" altLang="en-US" sz="1400">
              <a:ea typeface="宋体" panose="02010600030101010101" pitchFamily="2" charset="-122"/>
            </a:endParaRPr>
          </a:p>
          <a:p>
            <a:pPr lvl="1"/>
            <a:r>
              <a:rPr lang="zh-CN" altLang="en-US" sz="1400">
                <a:ea typeface="宋体" panose="02010600030101010101" pitchFamily="2" charset="-122"/>
              </a:rPr>
              <a:t>完成后不能继续修改</a:t>
            </a:r>
            <a:r>
              <a:rPr lang="en-US" altLang="zh-CN" sz="1400">
                <a:ea typeface="宋体" panose="02010600030101010101" pitchFamily="2" charset="-122"/>
              </a:rPr>
              <a:t> State</a:t>
            </a:r>
            <a:r>
              <a:rPr lang="zh-CN" altLang="en-US" sz="1400">
                <a:ea typeface="宋体" panose="02010600030101010101" pitchFamily="2" charset="-122"/>
              </a:rPr>
              <a:t>；</a:t>
            </a:r>
            <a:endParaRPr lang="zh-CN" altLang="en-US" sz="1400">
              <a:ea typeface="宋体" panose="02010600030101010101" pitchFamily="2" charset="-122"/>
            </a:endParaRPr>
          </a:p>
          <a:p>
            <a:pPr lvl="1"/>
            <a:r>
              <a:rPr lang="zh-CN" altLang="en-US" sz="1400">
                <a:ea typeface="宋体" panose="02010600030101010101" pitchFamily="2" charset="-122"/>
              </a:rPr>
              <a:t>输入已经关闭后不能继续塞入新的</a:t>
            </a:r>
            <a:r>
              <a:rPr lang="en-US" altLang="zh-CN" sz="1400">
                <a:ea typeface="宋体" panose="02010600030101010101" pitchFamily="2" charset="-122"/>
              </a:rPr>
              <a:t> Observation</a:t>
            </a:r>
            <a:r>
              <a:rPr lang="zh-CN" altLang="en-US" sz="1400">
                <a:ea typeface="宋体" panose="02010600030101010101" pitchFamily="2" charset="-122"/>
              </a:rPr>
              <a:t>。</a:t>
            </a:r>
            <a:endParaRPr lang="zh-CN" altLang="en-US" sz="1400">
              <a:ea typeface="宋体" panose="02010600030101010101" pitchFamily="2" charset="-122"/>
            </a:endParaRPr>
          </a:p>
        </p:txBody>
      </p:sp>
      <p:sp>
        <p:nvSpPr>
          <p:cNvPr id="8" name="文本框 7"/>
          <p:cNvSpPr txBox="1"/>
          <p:nvPr/>
        </p:nvSpPr>
        <p:spPr>
          <a:xfrm>
            <a:off x="6739890" y="2254250"/>
            <a:ext cx="4601845" cy="3784600"/>
          </a:xfrm>
          <a:prstGeom prst="rect">
            <a:avLst/>
          </a:prstGeom>
          <a:noFill/>
        </p:spPr>
        <p:txBody>
          <a:bodyPr wrap="square" rtlCol="0">
            <a:spAutoFit/>
          </a:bodyPr>
          <a:p>
            <a:r>
              <a:rPr lang="zh-CN" altLang="en-US" sz="1600"/>
              <a:t>例如成功</a:t>
            </a:r>
            <a:r>
              <a:rPr lang="en-US" altLang="zh-CN" sz="1600"/>
              <a:t> Trace</a:t>
            </a:r>
            <a:r>
              <a:rPr lang="zh-CN" altLang="en-US" sz="1600"/>
              <a:t>：</a:t>
            </a:r>
            <a:endParaRPr lang="zh-CN" altLang="en-US" sz="1600"/>
          </a:p>
          <a:p>
            <a:pPr lvl="1"/>
            <a:r>
              <a:rPr lang="en-US" altLang="zh-CN" sz="1600"/>
              <a:t>ReadMaterial</a:t>
            </a:r>
            <a:endParaRPr lang="en-US" altLang="zh-CN" sz="1600"/>
          </a:p>
          <a:p>
            <a:pPr lvl="1"/>
            <a:r>
              <a:rPr lang="en-US" altLang="en-US" sz="1600"/>
              <a:t>→</a:t>
            </a:r>
            <a:r>
              <a:rPr lang="en-US" altLang="zh-CN" sz="1600"/>
              <a:t> MaterialLoaded</a:t>
            </a:r>
            <a:endParaRPr lang="en-US" altLang="zh-CN" sz="1600"/>
          </a:p>
          <a:p>
            <a:pPr lvl="1"/>
            <a:r>
              <a:rPr lang="en-US" altLang="en-US" sz="1600"/>
              <a:t>→</a:t>
            </a:r>
            <a:r>
              <a:rPr lang="en-US" altLang="zh-CN" sz="1600"/>
              <a:t> ProduceChecklist</a:t>
            </a:r>
            <a:endParaRPr lang="en-US" altLang="zh-CN" sz="1600"/>
          </a:p>
          <a:p>
            <a:pPr lvl="1"/>
            <a:r>
              <a:rPr lang="en-US" altLang="en-US" sz="1600"/>
              <a:t>→</a:t>
            </a:r>
            <a:r>
              <a:rPr lang="en-US" altLang="zh-CN" sz="1600"/>
              <a:t> Completed</a:t>
            </a:r>
            <a:endParaRPr lang="en-US" altLang="zh-CN" sz="1600"/>
          </a:p>
          <a:p>
            <a:r>
              <a:rPr lang="zh-CN" altLang="en-US" sz="1600"/>
              <a:t>用户拒绝</a:t>
            </a:r>
            <a:r>
              <a:rPr lang="en-US" altLang="zh-CN" sz="1600"/>
              <a:t> Trace</a:t>
            </a:r>
            <a:r>
              <a:rPr lang="zh-CN" altLang="en-US" sz="1600"/>
              <a:t>：</a:t>
            </a:r>
            <a:endParaRPr lang="zh-CN" altLang="en-US" sz="1600"/>
          </a:p>
          <a:p>
            <a:pPr lvl="1"/>
            <a:r>
              <a:rPr lang="en-US" altLang="zh-CN" sz="1600"/>
              <a:t>AskForDate</a:t>
            </a:r>
            <a:endParaRPr lang="en-US" altLang="zh-CN" sz="1600"/>
          </a:p>
          <a:p>
            <a:pPr lvl="1"/>
            <a:r>
              <a:rPr lang="en-US" altLang="en-US" sz="1600"/>
              <a:t>→</a:t>
            </a:r>
            <a:r>
              <a:rPr lang="en-US" altLang="zh-CN" sz="1600"/>
              <a:t> UserDeclined</a:t>
            </a:r>
            <a:endParaRPr lang="en-US" altLang="zh-CN" sz="1600"/>
          </a:p>
          <a:p>
            <a:pPr lvl="1"/>
            <a:r>
              <a:rPr lang="en-US" altLang="en-US" sz="1600"/>
              <a:t>→</a:t>
            </a:r>
            <a:r>
              <a:rPr lang="en-US" altLang="zh-CN" sz="1600"/>
              <a:t> Stop("user_declined")</a:t>
            </a:r>
            <a:endParaRPr lang="en-US" altLang="zh-CN" sz="1600"/>
          </a:p>
          <a:p>
            <a:endParaRPr lang="en-US" altLang="zh-CN" sz="1600"/>
          </a:p>
          <a:p>
            <a:r>
              <a:rPr lang="zh-CN" altLang="en-US" sz="1600"/>
              <a:t>因此我们能回答：</a:t>
            </a:r>
            <a:endParaRPr lang="zh-CN" altLang="en-US" sz="1600"/>
          </a:p>
          <a:p>
            <a:pPr lvl="1"/>
            <a:r>
              <a:rPr lang="zh-CN" altLang="en-US" sz="1600"/>
              <a:t>系统为什么结束？</a:t>
            </a:r>
            <a:endParaRPr lang="zh-CN" altLang="en-US" sz="1600"/>
          </a:p>
          <a:p>
            <a:pPr lvl="1"/>
            <a:r>
              <a:rPr lang="zh-CN" altLang="en-US" sz="1600"/>
              <a:t>是成功、失败、预算耗尽还是用户取消？</a:t>
            </a:r>
            <a:endParaRPr lang="zh-CN" altLang="en-US" sz="1600"/>
          </a:p>
          <a:p>
            <a:pPr lvl="1"/>
            <a:r>
              <a:rPr lang="zh-CN" altLang="en-US" sz="1600"/>
              <a:t>结束前最后一个真实</a:t>
            </a:r>
            <a:r>
              <a:rPr lang="en-US" altLang="zh-CN" sz="1600"/>
              <a:t> Observation </a:t>
            </a:r>
            <a:r>
              <a:rPr lang="zh-CN" altLang="en-US" sz="1600"/>
              <a:t>是什么？</a:t>
            </a:r>
            <a:endParaRPr lang="zh-CN" altLang="en-US" sz="1600"/>
          </a:p>
          <a:p>
            <a:pPr lvl="1"/>
            <a:r>
              <a:rPr lang="zh-CN" altLang="en-US" sz="1600"/>
              <a:t>这就叫明确终止。</a:t>
            </a:r>
            <a:endParaRPr lang="zh-CN" altLang="en-US"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3622675" y="1412240"/>
            <a:ext cx="6798310" cy="368300"/>
          </a:xfrm>
          <a:prstGeom prst="rect">
            <a:avLst/>
          </a:prstGeom>
          <a:noFill/>
        </p:spPr>
        <p:txBody>
          <a:bodyPr wrap="square" rtlCol="0">
            <a:spAutoFit/>
          </a:bodyPr>
          <a:p>
            <a:r>
              <a:rPr lang="en-US">
                <a:highlight>
                  <a:srgbClr val="FFFF00"/>
                </a:highlight>
                <a:ea typeface="宋体" panose="02010600030101010101" pitchFamily="2" charset="-122"/>
              </a:rPr>
              <a:t>Agent VS workflow</a:t>
            </a:r>
            <a:endParaRPr lang="en-US">
              <a:highlight>
                <a:srgbClr val="FFFF00"/>
              </a:highlight>
              <a:ea typeface="宋体" panose="02010600030101010101" pitchFamily="2" charset="-122"/>
            </a:endParaRPr>
          </a:p>
        </p:txBody>
      </p:sp>
      <p:sp>
        <p:nvSpPr>
          <p:cNvPr id="4" name="文本框 3"/>
          <p:cNvSpPr txBox="1"/>
          <p:nvPr/>
        </p:nvSpPr>
        <p:spPr>
          <a:xfrm>
            <a:off x="623570" y="1844675"/>
            <a:ext cx="5558790" cy="368300"/>
          </a:xfrm>
          <a:prstGeom prst="rect">
            <a:avLst/>
          </a:prstGeom>
          <a:noFill/>
        </p:spPr>
        <p:txBody>
          <a:bodyPr wrap="square" rtlCol="0">
            <a:spAutoFit/>
          </a:bodyPr>
          <a:p>
            <a:r>
              <a:rPr lang="en-US" altLang="zh-CN"/>
              <a:t>Agent </a:t>
            </a:r>
            <a:r>
              <a:rPr lang="zh-CN" altLang="en-US"/>
              <a:t>不是默认更好的架构。</a:t>
            </a:r>
            <a:endParaRPr lang="zh-CN" altLang="en-US"/>
          </a:p>
        </p:txBody>
      </p:sp>
      <p:sp>
        <p:nvSpPr>
          <p:cNvPr id="7" name="文本框 6"/>
          <p:cNvSpPr txBox="1"/>
          <p:nvPr/>
        </p:nvSpPr>
        <p:spPr>
          <a:xfrm>
            <a:off x="695325" y="2492375"/>
            <a:ext cx="6891020" cy="2030095"/>
          </a:xfrm>
          <a:prstGeom prst="rect">
            <a:avLst/>
          </a:prstGeom>
          <a:noFill/>
        </p:spPr>
        <p:txBody>
          <a:bodyPr wrap="square" rtlCol="0">
            <a:spAutoFit/>
          </a:bodyPr>
          <a:p>
            <a:r>
              <a:rPr lang="zh-CN" altLang="en-US" sz="1400">
                <a:ea typeface="宋体" panose="02010600030101010101" pitchFamily="2" charset="-122"/>
              </a:rPr>
              <a:t>如果任务满足以下条件：</a:t>
            </a:r>
            <a:endParaRPr lang="zh-CN" altLang="en-US" sz="1400">
              <a:ea typeface="宋体" panose="02010600030101010101" pitchFamily="2" charset="-122"/>
            </a:endParaRPr>
          </a:p>
          <a:p>
            <a:pPr lvl="1"/>
            <a:r>
              <a:rPr lang="zh-CN" altLang="en-US" sz="1400">
                <a:ea typeface="宋体" panose="02010600030101010101" pitchFamily="2" charset="-122"/>
              </a:rPr>
              <a:t>输入字段稳定；</a:t>
            </a:r>
            <a:endParaRPr lang="zh-CN" altLang="en-US" sz="1400">
              <a:ea typeface="宋体" panose="02010600030101010101" pitchFamily="2" charset="-122"/>
            </a:endParaRPr>
          </a:p>
          <a:p>
            <a:pPr lvl="1"/>
            <a:r>
              <a:rPr lang="zh-CN" altLang="en-US" sz="1400">
                <a:ea typeface="宋体" panose="02010600030101010101" pitchFamily="2" charset="-122"/>
              </a:rPr>
              <a:t>步骤固定；</a:t>
            </a:r>
            <a:endParaRPr lang="zh-CN" altLang="en-US" sz="1400">
              <a:ea typeface="宋体" panose="02010600030101010101" pitchFamily="2" charset="-122"/>
            </a:endParaRPr>
          </a:p>
          <a:p>
            <a:pPr lvl="1"/>
            <a:r>
              <a:rPr lang="zh-CN" altLang="en-US" sz="1400">
                <a:ea typeface="宋体" panose="02010600030101010101" pitchFamily="2" charset="-122"/>
              </a:rPr>
              <a:t>异常类型可以枚举；</a:t>
            </a:r>
            <a:endParaRPr lang="zh-CN" altLang="en-US" sz="1400">
              <a:ea typeface="宋体" panose="02010600030101010101" pitchFamily="2" charset="-122"/>
            </a:endParaRPr>
          </a:p>
          <a:p>
            <a:pPr lvl="1"/>
            <a:r>
              <a:rPr lang="zh-CN" altLang="en-US" sz="1400">
                <a:ea typeface="宋体" panose="02010600030101010101" pitchFamily="2" charset="-122"/>
              </a:rPr>
              <a:t>不需要运行时改变执行路径；</a:t>
            </a:r>
            <a:endParaRPr lang="zh-CN" altLang="en-US" sz="1400">
              <a:ea typeface="宋体" panose="02010600030101010101" pitchFamily="2" charset="-122"/>
            </a:endParaRPr>
          </a:p>
          <a:p>
            <a:pPr lvl="1"/>
            <a:r>
              <a:rPr lang="zh-CN" altLang="en-US" sz="1400">
                <a:ea typeface="宋体" panose="02010600030101010101" pitchFamily="2" charset="-122"/>
              </a:rPr>
              <a:t>对确定性、成本和审计要求较高；</a:t>
            </a:r>
            <a:endParaRPr lang="zh-CN" altLang="en-US" sz="1400">
              <a:ea typeface="宋体" panose="02010600030101010101" pitchFamily="2" charset="-122"/>
            </a:endParaRPr>
          </a:p>
          <a:p>
            <a:pPr lvl="1"/>
            <a:r>
              <a:rPr lang="zh-CN" altLang="en-US" sz="1400">
                <a:ea typeface="宋体" panose="02010600030101010101" pitchFamily="2" charset="-122"/>
              </a:rPr>
              <a:t>那么</a:t>
            </a:r>
            <a:r>
              <a:rPr lang="en-US" altLang="zh-CN" sz="1400">
                <a:ea typeface="宋体" panose="02010600030101010101" pitchFamily="2" charset="-122"/>
              </a:rPr>
              <a:t> Workflow </a:t>
            </a:r>
            <a:r>
              <a:rPr lang="zh-CN" altLang="en-US" sz="1400">
                <a:ea typeface="宋体" panose="02010600030101010101" pitchFamily="2" charset="-122"/>
              </a:rPr>
              <a:t>往往更合适。</a:t>
            </a:r>
            <a:endParaRPr lang="zh-CN" altLang="en-US" sz="1400">
              <a:ea typeface="宋体" panose="02010600030101010101" pitchFamily="2" charset="-122"/>
            </a:endParaRPr>
          </a:p>
          <a:p>
            <a:endParaRPr lang="zh-CN" altLang="en-US" sz="1400">
              <a:ea typeface="宋体" panose="02010600030101010101" pitchFamily="2" charset="-122"/>
            </a:endParaRPr>
          </a:p>
          <a:p>
            <a:endParaRPr lang="zh-CN" altLang="en-US" sz="1400">
              <a:ea typeface="宋体" panose="02010600030101010101" pitchFamily="2" charset="-122"/>
            </a:endParaRPr>
          </a:p>
        </p:txBody>
      </p:sp>
      <p:sp>
        <p:nvSpPr>
          <p:cNvPr id="8" name="文本框 7"/>
          <p:cNvSpPr txBox="1"/>
          <p:nvPr/>
        </p:nvSpPr>
        <p:spPr>
          <a:xfrm>
            <a:off x="4584065" y="2492375"/>
            <a:ext cx="5993130" cy="1568450"/>
          </a:xfrm>
          <a:prstGeom prst="rect">
            <a:avLst/>
          </a:prstGeom>
          <a:noFill/>
        </p:spPr>
        <p:txBody>
          <a:bodyPr wrap="square" rtlCol="0">
            <a:spAutoFit/>
          </a:bodyPr>
          <a:p>
            <a:r>
              <a:rPr lang="zh-CN" altLang="en-US" sz="1600"/>
              <a:t>只有在下面这些情况经常发生时，</a:t>
            </a:r>
            <a:r>
              <a:rPr lang="en-US" altLang="zh-CN" sz="1600"/>
              <a:t>Agent </a:t>
            </a:r>
            <a:r>
              <a:rPr lang="zh-CN" altLang="en-US" sz="1600"/>
              <a:t>的复杂度才可能值得：</a:t>
            </a:r>
            <a:endParaRPr lang="zh-CN" altLang="en-US" sz="1600"/>
          </a:p>
          <a:p>
            <a:pPr lvl="1"/>
            <a:r>
              <a:rPr lang="zh-CN" altLang="en-US" sz="1600"/>
              <a:t>用户经常缺少不同字段；</a:t>
            </a:r>
            <a:endParaRPr lang="zh-CN" altLang="en-US" sz="1600"/>
          </a:p>
          <a:p>
            <a:pPr lvl="1"/>
            <a:r>
              <a:rPr lang="zh-CN" altLang="en-US" sz="1600"/>
              <a:t>环境反馈会改变下一步；</a:t>
            </a:r>
            <a:endParaRPr lang="zh-CN" altLang="en-US" sz="1600"/>
          </a:p>
          <a:p>
            <a:pPr lvl="1"/>
            <a:r>
              <a:rPr lang="zh-CN" altLang="en-US" sz="1600"/>
              <a:t>工具失败后需要选择恢复策略；</a:t>
            </a:r>
            <a:endParaRPr lang="zh-CN" altLang="en-US" sz="1600"/>
          </a:p>
          <a:p>
            <a:pPr lvl="1"/>
            <a:r>
              <a:rPr lang="zh-CN" altLang="en-US" sz="1600"/>
              <a:t>任务路径难以提前完整枚举；</a:t>
            </a:r>
            <a:endParaRPr lang="zh-CN" altLang="en-US" sz="1600"/>
          </a:p>
          <a:p>
            <a:pPr lvl="1"/>
            <a:r>
              <a:rPr lang="zh-CN" altLang="en-US" sz="1600"/>
              <a:t>需要询问、换策略或升级人工。</a:t>
            </a:r>
            <a:endParaRPr lang="zh-CN" altLang="en-US"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86F9E"/>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86F9E"/>
                </a:solidFill>
              </a:defRPr>
            </a:pPr>
            <a:r>
              <a:rPr sz="6000" b="1">
                <a:solidFill>
                  <a:srgbClr val="286F9E"/>
                </a:solidFill>
              </a:rPr>
              <a:t>02</a:t>
            </a:r>
            <a:endParaRPr sz="6000" b="1">
              <a:solidFill>
                <a:srgbClr val="286F9E"/>
              </a:solidFill>
            </a:endParaRPr>
          </a:p>
        </p:txBody>
      </p:sp>
      <p:sp>
        <p:nvSpPr>
          <p:cNvPr id="3" name="矩形 2"/>
          <p:cNvSpPr>
            <a:spLocks noGrp="1"/>
          </p:cNvSpPr>
          <p:nvPr/>
        </p:nvSpPr>
        <p:spPr>
          <a:xfrm>
            <a:off x="800100" y="2266950"/>
            <a:ext cx="1714500" cy="38100"/>
          </a:xfrm>
          <a:prstGeom prst="rect">
            <a:avLst/>
          </a:prstGeom>
          <a:solidFill>
            <a:srgbClr val="286F9E"/>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Agent Runtime</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把模型建议变成可解析、可授权、可预算、可追踪的系统行为。</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86F9E"/>
                </a:solidFill>
              </a:defRPr>
            </a:pPr>
            <a:r>
              <a:rPr sz="1350" b="1">
                <a:solidFill>
                  <a:srgbClr val="286F9E"/>
                </a:solidFill>
              </a:rPr>
              <a:t>原理  →  实现  →  故障  →  评测</a:t>
            </a:r>
            <a:endParaRPr sz="1350" b="1">
              <a:solidFill>
                <a:srgbClr val="286F9E"/>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13</a:t>
            </a:r>
            <a:endParaRPr sz="825" b="0">
              <a:solidFill>
                <a:srgbClr val="7D8994"/>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Runtime 是 Agent 的控制平面</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模型负责候选策略，Runtime 负责安全与确定性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14</a:t>
            </a:r>
            <a:endParaRPr sz="825" b="0">
              <a:solidFill>
                <a:srgbClr val="7D8994"/>
              </a:solidFill>
            </a:endParaRPr>
          </a:p>
        </p:txBody>
      </p:sp>
      <p:sp>
        <p:nvSpPr>
          <p:cNvPr id="7" name="圆角矩形 6"/>
          <p:cNvSpPr>
            <a:spLocks noGrp="1"/>
          </p:cNvSpPr>
          <p:nvPr/>
        </p:nvSpPr>
        <p:spPr>
          <a:xfrm>
            <a:off x="609600" y="1885950"/>
            <a:ext cx="5257800" cy="3257550"/>
          </a:xfrm>
          <a:prstGeom prst="roundRect">
            <a:avLst>
              <a:gd name="adj" fmla="val 2339"/>
            </a:avLst>
          </a:prstGeom>
          <a:solidFill>
            <a:srgbClr val="F3F6F8"/>
          </a:solidFill>
          <a:ln w="9525">
            <a:solidFill>
              <a:srgbClr val="D7E0E7"/>
            </a:solidFill>
            <a:prstDash val="solid"/>
          </a:ln>
        </p:spPr>
      </p:sp>
      <p:sp>
        <p:nvSpPr>
          <p:cNvPr id="8" name="圆角矩形 7"/>
          <p:cNvSpPr>
            <a:spLocks noGrp="1"/>
          </p:cNvSpPr>
          <p:nvPr/>
        </p:nvSpPr>
        <p:spPr>
          <a:xfrm>
            <a:off x="609600" y="1885950"/>
            <a:ext cx="66675" cy="32575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20574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数据平面：完成任务</a:t>
            </a:r>
            <a:endParaRPr sz="1650" b="1">
              <a:solidFill>
                <a:srgbClr val="286F9E"/>
              </a:solidFill>
            </a:endParaRPr>
          </a:p>
        </p:txBody>
      </p:sp>
      <p:sp>
        <p:nvSpPr>
          <p:cNvPr id="10" name="矩形 9"/>
          <p:cNvSpPr>
            <a:spLocks noGrp="1"/>
          </p:cNvSpPr>
          <p:nvPr/>
        </p:nvSpPr>
        <p:spPr>
          <a:xfrm>
            <a:off x="838200" y="2438400"/>
            <a:ext cx="4857750" cy="2590800"/>
          </a:xfrm>
          <a:prstGeom prst="rect">
            <a:avLst/>
          </a:prstGeom>
          <a:noFill/>
          <a:ln w="0">
            <a:noFill/>
            <a:prstDash val="solid"/>
          </a:ln>
        </p:spPr>
        <p:txBody>
          <a:bodyPr/>
          <a:lstStyle/>
          <a:p>
            <a:pPr algn="l">
              <a:defRPr sz="1275" b="0">
                <a:solidFill>
                  <a:srgbClr val="18212B"/>
                </a:solidFill>
              </a:defRPr>
            </a:pPr>
            <a:r>
              <a:rPr sz="1275" b="0">
                <a:solidFill>
                  <a:srgbClr val="18212B"/>
                </a:solidFill>
              </a:rPr>
              <a:t>模型生成候选动作</a:t>
            </a:r>
            <a:endParaRPr sz="1275" b="0">
              <a:solidFill>
                <a:srgbClr val="18212B"/>
              </a:solidFill>
            </a:endParaRPr>
          </a:p>
          <a:p>
            <a:pPr algn="l">
              <a:defRPr sz="1275" b="0">
                <a:solidFill>
                  <a:srgbClr val="18212B"/>
                </a:solidFill>
              </a:defRPr>
            </a:pPr>
            <a:r>
              <a:rPr sz="1275" b="0">
                <a:solidFill>
                  <a:srgbClr val="18212B"/>
                </a:solidFill>
              </a:rPr>
              <a:t>工具读取或修改环境</a:t>
            </a:r>
            <a:endParaRPr sz="1275" b="0">
              <a:solidFill>
                <a:srgbClr val="18212B"/>
              </a:solidFill>
            </a:endParaRPr>
          </a:p>
          <a:p>
            <a:pPr algn="l">
              <a:defRPr sz="1275" b="0">
                <a:solidFill>
                  <a:srgbClr val="18212B"/>
                </a:solidFill>
              </a:defRPr>
            </a:pPr>
            <a:r>
              <a:rPr sz="1275" b="0">
                <a:solidFill>
                  <a:srgbClr val="18212B"/>
                </a:solidFill>
              </a:rPr>
              <a:t>检索返回证据</a:t>
            </a:r>
            <a:endParaRPr sz="1275" b="0">
              <a:solidFill>
                <a:srgbClr val="18212B"/>
              </a:solidFill>
            </a:endParaRPr>
          </a:p>
          <a:p>
            <a:pPr algn="l">
              <a:defRPr sz="1275" b="0">
                <a:solidFill>
                  <a:srgbClr val="18212B"/>
                </a:solidFill>
              </a:defRPr>
            </a:pPr>
            <a:r>
              <a:rPr sz="1275" b="0">
                <a:solidFill>
                  <a:srgbClr val="18212B"/>
                </a:solidFill>
              </a:rPr>
              <a:t>输出最终结果</a:t>
            </a:r>
            <a:endParaRPr sz="1275" b="0">
              <a:solidFill>
                <a:srgbClr val="18212B"/>
              </a:solidFill>
            </a:endParaRPr>
          </a:p>
        </p:txBody>
      </p:sp>
      <p:sp>
        <p:nvSpPr>
          <p:cNvPr id="11" name="圆角矩形 10"/>
          <p:cNvSpPr>
            <a:spLocks noGrp="1"/>
          </p:cNvSpPr>
          <p:nvPr/>
        </p:nvSpPr>
        <p:spPr>
          <a:xfrm>
            <a:off x="6324600" y="1885950"/>
            <a:ext cx="5257800" cy="3257550"/>
          </a:xfrm>
          <a:prstGeom prst="roundRect">
            <a:avLst>
              <a:gd name="adj" fmla="val 2339"/>
            </a:avLst>
          </a:prstGeom>
          <a:solidFill>
            <a:srgbClr val="F3F6F8"/>
          </a:solidFill>
          <a:ln w="9525">
            <a:solidFill>
              <a:srgbClr val="D7E0E7"/>
            </a:solidFill>
            <a:prstDash val="solid"/>
          </a:ln>
        </p:spPr>
      </p:sp>
      <p:sp>
        <p:nvSpPr>
          <p:cNvPr id="12" name="圆角矩形 11"/>
          <p:cNvSpPr>
            <a:spLocks noGrp="1"/>
          </p:cNvSpPr>
          <p:nvPr/>
        </p:nvSpPr>
        <p:spPr>
          <a:xfrm>
            <a:off x="6324600" y="1885950"/>
            <a:ext cx="66675" cy="3257550"/>
          </a:xfrm>
          <a:prstGeom prst="roundRect">
            <a:avLst>
              <a:gd name="adj" fmla="val 50000"/>
            </a:avLst>
          </a:prstGeom>
          <a:solidFill>
            <a:srgbClr val="163A5F"/>
          </a:solidFill>
          <a:ln w="0">
            <a:noFill/>
            <a:prstDash val="solid"/>
          </a:ln>
        </p:spPr>
      </p:sp>
      <p:sp>
        <p:nvSpPr>
          <p:cNvPr id="13" name="矩形 12"/>
          <p:cNvSpPr>
            <a:spLocks noGrp="1"/>
          </p:cNvSpPr>
          <p:nvPr/>
        </p:nvSpPr>
        <p:spPr>
          <a:xfrm>
            <a:off x="6553200" y="2057400"/>
            <a:ext cx="48577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控制平面：约束任务</a:t>
            </a:r>
            <a:endParaRPr sz="1650" b="1">
              <a:solidFill>
                <a:srgbClr val="163A5F"/>
              </a:solidFill>
            </a:endParaRPr>
          </a:p>
        </p:txBody>
      </p:sp>
      <p:sp>
        <p:nvSpPr>
          <p:cNvPr id="14" name="矩形 13"/>
          <p:cNvSpPr>
            <a:spLocks noGrp="1"/>
          </p:cNvSpPr>
          <p:nvPr/>
        </p:nvSpPr>
        <p:spPr>
          <a:xfrm>
            <a:off x="6553200" y="2438400"/>
            <a:ext cx="4857750" cy="2590800"/>
          </a:xfrm>
          <a:prstGeom prst="rect">
            <a:avLst/>
          </a:prstGeom>
          <a:noFill/>
          <a:ln w="0">
            <a:noFill/>
            <a:prstDash val="solid"/>
          </a:ln>
        </p:spPr>
        <p:txBody>
          <a:bodyPr/>
          <a:lstStyle/>
          <a:p>
            <a:pPr algn="l">
              <a:defRPr sz="1275" b="0">
                <a:solidFill>
                  <a:srgbClr val="18212B"/>
                </a:solidFill>
              </a:defRPr>
            </a:pPr>
            <a:r>
              <a:rPr sz="1275" b="0">
                <a:solidFill>
                  <a:srgbClr val="18212B"/>
                </a:solidFill>
              </a:rPr>
              <a:t>动作解析与校验</a:t>
            </a:r>
            <a:endParaRPr sz="1275" b="0">
              <a:solidFill>
                <a:srgbClr val="18212B"/>
              </a:solidFill>
            </a:endParaRPr>
          </a:p>
          <a:p>
            <a:pPr algn="l">
              <a:defRPr sz="1275" b="0">
                <a:solidFill>
                  <a:srgbClr val="18212B"/>
                </a:solidFill>
              </a:defRPr>
            </a:pPr>
            <a:r>
              <a:rPr sz="1275" b="0">
                <a:solidFill>
                  <a:srgbClr val="18212B"/>
                </a:solidFill>
              </a:rPr>
              <a:t>权限与预算</a:t>
            </a:r>
            <a:endParaRPr sz="1275" b="0">
              <a:solidFill>
                <a:srgbClr val="18212B"/>
              </a:solidFill>
            </a:endParaRPr>
          </a:p>
          <a:p>
            <a:pPr algn="l">
              <a:defRPr sz="1275" b="0">
                <a:solidFill>
                  <a:srgbClr val="18212B"/>
                </a:solidFill>
              </a:defRPr>
            </a:pPr>
            <a:r>
              <a:rPr sz="1275" b="0">
                <a:solidFill>
                  <a:srgbClr val="18212B"/>
                </a:solidFill>
              </a:rPr>
              <a:t>超时、重试、重复检测</a:t>
            </a:r>
            <a:endParaRPr sz="1275" b="0">
              <a:solidFill>
                <a:srgbClr val="18212B"/>
              </a:solidFill>
            </a:endParaRPr>
          </a:p>
          <a:p>
            <a:pPr algn="l">
              <a:defRPr sz="1275" b="0">
                <a:solidFill>
                  <a:srgbClr val="18212B"/>
                </a:solidFill>
              </a:defRPr>
            </a:pPr>
            <a:r>
              <a:rPr sz="1275" b="0">
                <a:solidFill>
                  <a:srgbClr val="18212B"/>
                </a:solidFill>
              </a:rPr>
              <a:t>Trace 与终止</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把控制平面从 Prompt 中拿出来，系统才能对不可信模型输出施加可测试的硬约束。</a:t>
            </a:r>
            <a:endParaRPr sz="1350" b="1">
              <a:solidFill>
                <a:srgbClr val="163A5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不可信输出要经过五道边界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每一层只承担一种责任，错误才能被准确归因</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15</a:t>
            </a:r>
            <a:endParaRPr sz="825" b="0">
              <a:solidFill>
                <a:srgbClr val="7D8994"/>
              </a:solidFill>
            </a:endParaRPr>
          </a:p>
        </p:txBody>
      </p:sp>
      <p:sp>
        <p:nvSpPr>
          <p:cNvPr id="7" name="矩形 6"/>
          <p:cNvSpPr>
            <a:spLocks noGrp="1"/>
          </p:cNvSpPr>
          <p:nvPr/>
        </p:nvSpPr>
        <p:spPr>
          <a:xfrm>
            <a:off x="2672715" y="2409825"/>
            <a:ext cx="171450" cy="152400"/>
          </a:xfrm>
          <a:prstGeom prst="rect">
            <a:avLst/>
          </a:prstGeom>
          <a:solidFill>
            <a:srgbClr val="286F9E"/>
          </a:solidFill>
          <a:ln w="0">
            <a:noFill/>
            <a:prstDash val="solid"/>
          </a:ln>
        </p:spPr>
      </p:sp>
      <p:sp>
        <p:nvSpPr>
          <p:cNvPr id="8" name="矩形 7"/>
          <p:cNvSpPr>
            <a:spLocks noGrp="1"/>
          </p:cNvSpPr>
          <p:nvPr/>
        </p:nvSpPr>
        <p:spPr>
          <a:xfrm>
            <a:off x="2806065" y="2362200"/>
            <a:ext cx="95250" cy="247650"/>
          </a:xfrm>
          <a:prstGeom prst="rect">
            <a:avLst/>
          </a:prstGeom>
          <a:solidFill>
            <a:srgbClr val="286F9E"/>
          </a:solidFill>
          <a:ln w="0">
            <a:noFill/>
            <a:prstDash val="solid"/>
          </a:ln>
        </p:spPr>
      </p:sp>
      <p:sp>
        <p:nvSpPr>
          <p:cNvPr id="9" name="圆角矩形 8"/>
          <p:cNvSpPr>
            <a:spLocks noGrp="1"/>
          </p:cNvSpPr>
          <p:nvPr/>
        </p:nvSpPr>
        <p:spPr>
          <a:xfrm>
            <a:off x="666750" y="2095500"/>
            <a:ext cx="195834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4295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ModelOutput</a:t>
            </a:r>
            <a:endParaRPr sz="1350" b="1">
              <a:solidFill>
                <a:srgbClr val="163A5F"/>
              </a:solidFill>
            </a:endParaRPr>
          </a:p>
          <a:p>
            <a:pPr algn="ctr">
              <a:defRPr sz="1350" b="1">
                <a:solidFill>
                  <a:srgbClr val="163A5F"/>
                </a:solidFill>
              </a:defRPr>
            </a:pPr>
            <a:r>
              <a:rPr sz="1350" b="1">
                <a:solidFill>
                  <a:srgbClr val="163A5F"/>
                </a:solidFill>
              </a:rPr>
              <a:t>原始文本</a:t>
            </a:r>
            <a:endParaRPr sz="1350" b="1">
              <a:solidFill>
                <a:srgbClr val="163A5F"/>
              </a:solidFill>
            </a:endParaRPr>
          </a:p>
        </p:txBody>
      </p:sp>
      <p:sp>
        <p:nvSpPr>
          <p:cNvPr id="11" name="矩形 10"/>
          <p:cNvSpPr>
            <a:spLocks noGrp="1"/>
          </p:cNvSpPr>
          <p:nvPr/>
        </p:nvSpPr>
        <p:spPr>
          <a:xfrm>
            <a:off x="4897755" y="2409825"/>
            <a:ext cx="171450" cy="152400"/>
          </a:xfrm>
          <a:prstGeom prst="rect">
            <a:avLst/>
          </a:prstGeom>
          <a:solidFill>
            <a:srgbClr val="286F9E"/>
          </a:solidFill>
          <a:ln w="0">
            <a:noFill/>
            <a:prstDash val="solid"/>
          </a:ln>
        </p:spPr>
      </p:sp>
      <p:sp>
        <p:nvSpPr>
          <p:cNvPr id="12" name="矩形 11"/>
          <p:cNvSpPr>
            <a:spLocks noGrp="1"/>
          </p:cNvSpPr>
          <p:nvPr/>
        </p:nvSpPr>
        <p:spPr>
          <a:xfrm>
            <a:off x="5031105" y="2362200"/>
            <a:ext cx="95250" cy="247650"/>
          </a:xfrm>
          <a:prstGeom prst="rect">
            <a:avLst/>
          </a:prstGeom>
          <a:solidFill>
            <a:srgbClr val="286F9E"/>
          </a:solidFill>
          <a:ln w="0">
            <a:noFill/>
            <a:prstDash val="solid"/>
          </a:ln>
        </p:spPr>
      </p:sp>
      <p:sp>
        <p:nvSpPr>
          <p:cNvPr id="13" name="圆角矩形 12"/>
          <p:cNvSpPr>
            <a:spLocks noGrp="1"/>
          </p:cNvSpPr>
          <p:nvPr/>
        </p:nvSpPr>
        <p:spPr>
          <a:xfrm>
            <a:off x="2891790" y="2095500"/>
            <a:ext cx="195834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6799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Parse</a:t>
            </a:r>
            <a:endParaRPr sz="1350" b="1">
              <a:solidFill>
                <a:srgbClr val="163A5F"/>
              </a:solidFill>
            </a:endParaRPr>
          </a:p>
          <a:p>
            <a:pPr algn="ctr">
              <a:defRPr sz="1350" b="1">
                <a:solidFill>
                  <a:srgbClr val="163A5F"/>
                </a:solidFill>
              </a:defRPr>
            </a:pPr>
            <a:r>
              <a:rPr sz="1350" b="1">
                <a:solidFill>
                  <a:srgbClr val="163A5F"/>
                </a:solidFill>
              </a:rPr>
              <a:t>语法</a:t>
            </a:r>
            <a:endParaRPr sz="1350" b="1">
              <a:solidFill>
                <a:srgbClr val="163A5F"/>
              </a:solidFill>
            </a:endParaRPr>
          </a:p>
        </p:txBody>
      </p:sp>
      <p:sp>
        <p:nvSpPr>
          <p:cNvPr id="15" name="矩形 14"/>
          <p:cNvSpPr>
            <a:spLocks noGrp="1"/>
          </p:cNvSpPr>
          <p:nvPr/>
        </p:nvSpPr>
        <p:spPr>
          <a:xfrm>
            <a:off x="7122795" y="2409825"/>
            <a:ext cx="171450" cy="152400"/>
          </a:xfrm>
          <a:prstGeom prst="rect">
            <a:avLst/>
          </a:prstGeom>
          <a:solidFill>
            <a:srgbClr val="286F9E"/>
          </a:solidFill>
          <a:ln w="0">
            <a:noFill/>
            <a:prstDash val="solid"/>
          </a:ln>
        </p:spPr>
      </p:sp>
      <p:sp>
        <p:nvSpPr>
          <p:cNvPr id="16" name="矩形 15"/>
          <p:cNvSpPr>
            <a:spLocks noGrp="1"/>
          </p:cNvSpPr>
          <p:nvPr/>
        </p:nvSpPr>
        <p:spPr>
          <a:xfrm>
            <a:off x="7256145" y="2362200"/>
            <a:ext cx="95250" cy="247650"/>
          </a:xfrm>
          <a:prstGeom prst="rect">
            <a:avLst/>
          </a:prstGeom>
          <a:solidFill>
            <a:srgbClr val="286F9E"/>
          </a:solidFill>
          <a:ln w="0">
            <a:noFill/>
            <a:prstDash val="solid"/>
          </a:ln>
        </p:spPr>
      </p:sp>
      <p:sp>
        <p:nvSpPr>
          <p:cNvPr id="17" name="圆角矩形 16"/>
          <p:cNvSpPr>
            <a:spLocks noGrp="1"/>
          </p:cNvSpPr>
          <p:nvPr/>
        </p:nvSpPr>
        <p:spPr>
          <a:xfrm>
            <a:off x="5116830" y="2095500"/>
            <a:ext cx="195834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19303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Validate</a:t>
            </a:r>
            <a:endParaRPr sz="1350" b="1">
              <a:solidFill>
                <a:srgbClr val="163A5F"/>
              </a:solidFill>
            </a:endParaRPr>
          </a:p>
          <a:p>
            <a:pPr algn="ctr">
              <a:defRPr sz="1350" b="1">
                <a:solidFill>
                  <a:srgbClr val="163A5F"/>
                </a:solidFill>
              </a:defRPr>
            </a:pPr>
            <a:r>
              <a:rPr sz="1350" b="1">
                <a:solidFill>
                  <a:srgbClr val="163A5F"/>
                </a:solidFill>
              </a:rPr>
              <a:t>语义</a:t>
            </a:r>
            <a:endParaRPr sz="1350" b="1">
              <a:solidFill>
                <a:srgbClr val="163A5F"/>
              </a:solidFill>
            </a:endParaRPr>
          </a:p>
        </p:txBody>
      </p:sp>
      <p:sp>
        <p:nvSpPr>
          <p:cNvPr id="19" name="矩形 18"/>
          <p:cNvSpPr>
            <a:spLocks noGrp="1"/>
          </p:cNvSpPr>
          <p:nvPr/>
        </p:nvSpPr>
        <p:spPr>
          <a:xfrm>
            <a:off x="9347835" y="2409825"/>
            <a:ext cx="171450" cy="152400"/>
          </a:xfrm>
          <a:prstGeom prst="rect">
            <a:avLst/>
          </a:prstGeom>
          <a:solidFill>
            <a:srgbClr val="286F9E"/>
          </a:solidFill>
          <a:ln w="0">
            <a:noFill/>
            <a:prstDash val="solid"/>
          </a:ln>
        </p:spPr>
      </p:sp>
      <p:sp>
        <p:nvSpPr>
          <p:cNvPr id="20" name="矩形 19"/>
          <p:cNvSpPr>
            <a:spLocks noGrp="1"/>
          </p:cNvSpPr>
          <p:nvPr/>
        </p:nvSpPr>
        <p:spPr>
          <a:xfrm>
            <a:off x="9481185" y="2362200"/>
            <a:ext cx="95250" cy="247650"/>
          </a:xfrm>
          <a:prstGeom prst="rect">
            <a:avLst/>
          </a:prstGeom>
          <a:solidFill>
            <a:srgbClr val="286F9E"/>
          </a:solidFill>
          <a:ln w="0">
            <a:noFill/>
            <a:prstDash val="solid"/>
          </a:ln>
        </p:spPr>
      </p:sp>
      <p:sp>
        <p:nvSpPr>
          <p:cNvPr id="21" name="圆角矩形 20"/>
          <p:cNvSpPr>
            <a:spLocks noGrp="1"/>
          </p:cNvSpPr>
          <p:nvPr/>
        </p:nvSpPr>
        <p:spPr>
          <a:xfrm>
            <a:off x="7341870" y="2095500"/>
            <a:ext cx="195834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807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Authorize</a:t>
            </a:r>
            <a:endParaRPr sz="1350" b="1">
              <a:solidFill>
                <a:srgbClr val="163A5F"/>
              </a:solidFill>
            </a:endParaRPr>
          </a:p>
          <a:p>
            <a:pPr algn="ctr">
              <a:defRPr sz="1350" b="1">
                <a:solidFill>
                  <a:srgbClr val="163A5F"/>
                </a:solidFill>
              </a:defRPr>
            </a:pPr>
            <a:r>
              <a:rPr sz="1350" b="1">
                <a:solidFill>
                  <a:srgbClr val="163A5F"/>
                </a:solidFill>
              </a:rPr>
              <a:t>权限</a:t>
            </a:r>
            <a:endParaRPr sz="1350" b="1">
              <a:solidFill>
                <a:srgbClr val="163A5F"/>
              </a:solidFill>
            </a:endParaRPr>
          </a:p>
        </p:txBody>
      </p:sp>
      <p:sp>
        <p:nvSpPr>
          <p:cNvPr id="23" name="圆角矩形 22"/>
          <p:cNvSpPr>
            <a:spLocks noGrp="1"/>
          </p:cNvSpPr>
          <p:nvPr/>
        </p:nvSpPr>
        <p:spPr>
          <a:xfrm>
            <a:off x="9566910" y="2095500"/>
            <a:ext cx="195834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4311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Execute</a:t>
            </a:r>
            <a:endParaRPr sz="1350" b="1">
              <a:solidFill>
                <a:srgbClr val="163A5F"/>
              </a:solidFill>
            </a:endParaRPr>
          </a:p>
          <a:p>
            <a:pPr algn="ctr">
              <a:defRPr sz="1350" b="1">
                <a:solidFill>
                  <a:srgbClr val="163A5F"/>
                </a:solidFill>
              </a:defRPr>
            </a:pPr>
            <a:r>
              <a:rPr sz="1350" b="1">
                <a:solidFill>
                  <a:srgbClr val="163A5F"/>
                </a:solidFill>
              </a:rPr>
              <a:t>环境</a:t>
            </a:r>
            <a:endParaRPr sz="1350" b="1">
              <a:solidFill>
                <a:srgbClr val="163A5F"/>
              </a:solidFill>
            </a:endParaRPr>
          </a:p>
        </p:txBody>
      </p:sp>
      <p:sp>
        <p:nvSpPr>
          <p:cNvPr id="25" name="圆角矩形 24"/>
          <p:cNvSpPr>
            <a:spLocks noGrp="1"/>
          </p:cNvSpPr>
          <p:nvPr/>
        </p:nvSpPr>
        <p:spPr>
          <a:xfrm>
            <a:off x="1009650" y="3476625"/>
            <a:ext cx="76200" cy="76200"/>
          </a:xfrm>
          <a:prstGeom prst="roundRect">
            <a:avLst>
              <a:gd name="adj" fmla="val 50000"/>
            </a:avLst>
          </a:prstGeom>
          <a:solidFill>
            <a:srgbClr val="286F9E"/>
          </a:solidFill>
          <a:ln w="0">
            <a:noFill/>
            <a:prstDash val="solid"/>
          </a:ln>
        </p:spPr>
      </p:sp>
      <p:sp>
        <p:nvSpPr>
          <p:cNvPr id="26" name="矩形 25"/>
          <p:cNvSpPr>
            <a:spLocks noGrp="1"/>
          </p:cNvSpPr>
          <p:nvPr/>
        </p:nvSpPr>
        <p:spPr>
          <a:xfrm>
            <a:off x="1219200" y="3390900"/>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Parse：是不是可解析结构；普通散文和缺字段 JSON 都不能猜测。</a:t>
            </a:r>
            <a:endParaRPr sz="1350" b="0">
              <a:solidFill>
                <a:srgbClr val="18212B"/>
              </a:solidFill>
            </a:endParaRPr>
          </a:p>
        </p:txBody>
      </p:sp>
      <p:sp>
        <p:nvSpPr>
          <p:cNvPr id="27" name="圆角矩形 26"/>
          <p:cNvSpPr>
            <a:spLocks noGrp="1"/>
          </p:cNvSpPr>
          <p:nvPr/>
        </p:nvSpPr>
        <p:spPr>
          <a:xfrm>
            <a:off x="1009650" y="3924300"/>
            <a:ext cx="76200" cy="76200"/>
          </a:xfrm>
          <a:prstGeom prst="roundRect">
            <a:avLst>
              <a:gd name="adj" fmla="val 50000"/>
            </a:avLst>
          </a:prstGeom>
          <a:solidFill>
            <a:srgbClr val="286F9E"/>
          </a:solidFill>
          <a:ln w="0">
            <a:noFill/>
            <a:prstDash val="solid"/>
          </a:ln>
        </p:spPr>
      </p:sp>
      <p:sp>
        <p:nvSpPr>
          <p:cNvPr id="28" name="矩形 27"/>
          <p:cNvSpPr>
            <a:spLocks noGrp="1"/>
          </p:cNvSpPr>
          <p:nvPr/>
        </p:nvSpPr>
        <p:spPr>
          <a:xfrm>
            <a:off x="1219200" y="3838575"/>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Validate：动作是否注册、参数是否满足类型与当前状态约束。</a:t>
            </a:r>
            <a:endParaRPr sz="1350" b="0">
              <a:solidFill>
                <a:srgbClr val="18212B"/>
              </a:solidFill>
            </a:endParaRPr>
          </a:p>
        </p:txBody>
      </p:sp>
      <p:sp>
        <p:nvSpPr>
          <p:cNvPr id="29" name="圆角矩形 28"/>
          <p:cNvSpPr>
            <a:spLocks noGrp="1"/>
          </p:cNvSpPr>
          <p:nvPr/>
        </p:nvSpPr>
        <p:spPr>
          <a:xfrm>
            <a:off x="1009650" y="4371975"/>
            <a:ext cx="76200" cy="76200"/>
          </a:xfrm>
          <a:prstGeom prst="roundRect">
            <a:avLst>
              <a:gd name="adj" fmla="val 50000"/>
            </a:avLst>
          </a:prstGeom>
          <a:solidFill>
            <a:srgbClr val="286F9E"/>
          </a:solidFill>
          <a:ln w="0">
            <a:noFill/>
            <a:prstDash val="solid"/>
          </a:ln>
        </p:spPr>
      </p:sp>
      <p:sp>
        <p:nvSpPr>
          <p:cNvPr id="30" name="矩形 29"/>
          <p:cNvSpPr>
            <a:spLocks noGrp="1"/>
          </p:cNvSpPr>
          <p:nvPr/>
        </p:nvSpPr>
        <p:spPr>
          <a:xfrm>
            <a:off x="1219200" y="4286250"/>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Authorize：调用者是否有权限；未授权动作不得触碰 Environment。</a:t>
            </a:r>
            <a:endParaRPr sz="1350" b="0">
              <a:solidFill>
                <a:srgbClr val="18212B"/>
              </a:solidFill>
            </a:endParaRPr>
          </a:p>
        </p:txBody>
      </p:sp>
      <p:sp>
        <p:nvSpPr>
          <p:cNvPr id="31" name="圆角矩形 30"/>
          <p:cNvSpPr>
            <a:spLocks noGrp="1"/>
          </p:cNvSpPr>
          <p:nvPr/>
        </p:nvSpPr>
        <p:spPr>
          <a:xfrm>
            <a:off x="1009650" y="4819650"/>
            <a:ext cx="76200" cy="76200"/>
          </a:xfrm>
          <a:prstGeom prst="roundRect">
            <a:avLst>
              <a:gd name="adj" fmla="val 50000"/>
            </a:avLst>
          </a:prstGeom>
          <a:solidFill>
            <a:srgbClr val="286F9E"/>
          </a:solidFill>
          <a:ln w="0">
            <a:noFill/>
            <a:prstDash val="solid"/>
          </a:ln>
        </p:spPr>
      </p:sp>
      <p:sp>
        <p:nvSpPr>
          <p:cNvPr id="32" name="矩形 31"/>
          <p:cNvSpPr>
            <a:spLocks noGrp="1"/>
          </p:cNvSpPr>
          <p:nvPr/>
        </p:nvSpPr>
        <p:spPr>
          <a:xfrm>
            <a:off x="1219200" y="4733925"/>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Execute：工具成功、错误或超时都转成结构化 Observation。</a:t>
            </a:r>
            <a:endParaRPr sz="1350"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合法 JSON 只是语法正确，不等于动作存在、参数合理、权限允许，更不等于动作已经成功。</a:t>
            </a:r>
            <a:endParaRPr sz="1350" b="1">
              <a:solidFill>
                <a:srgbClr val="163A5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预算是多维资源约束，不只是 max_steps</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不同预算分别阻止不同类型的失控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16</a:t>
            </a:r>
            <a:endParaRPr sz="825" b="0">
              <a:solidFill>
                <a:srgbClr val="7D8994"/>
              </a:solidFill>
            </a:endParaRPr>
          </a:p>
        </p:txBody>
      </p:sp>
      <p:sp>
        <p:nvSpPr>
          <p:cNvPr id="7" name="圆角矩形 6"/>
          <p:cNvSpPr>
            <a:spLocks noGrp="1"/>
          </p:cNvSpPr>
          <p:nvPr/>
        </p:nvSpPr>
        <p:spPr>
          <a:xfrm>
            <a:off x="742950" y="2000250"/>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933450" y="2171700"/>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8</a:t>
            </a:r>
            <a:endParaRPr sz="2550" b="1">
              <a:solidFill>
                <a:srgbClr val="286F9E"/>
              </a:solidFill>
            </a:endParaRPr>
          </a:p>
        </p:txBody>
      </p:sp>
      <p:sp>
        <p:nvSpPr>
          <p:cNvPr id="9" name="矩形 8"/>
          <p:cNvSpPr>
            <a:spLocks noGrp="1"/>
          </p:cNvSpPr>
          <p:nvPr/>
        </p:nvSpPr>
        <p:spPr>
          <a:xfrm>
            <a:off x="9334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Step</a:t>
            </a:r>
            <a:endParaRPr sz="1350" b="1">
              <a:solidFill>
                <a:srgbClr val="18212B"/>
              </a:solidFill>
            </a:endParaRPr>
          </a:p>
        </p:txBody>
      </p:sp>
      <p:sp>
        <p:nvSpPr>
          <p:cNvPr id="10" name="矩形 9"/>
          <p:cNvSpPr>
            <a:spLocks noGrp="1"/>
          </p:cNvSpPr>
          <p:nvPr/>
        </p:nvSpPr>
        <p:spPr>
          <a:xfrm>
            <a:off x="9334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防止循环游走</a:t>
            </a:r>
            <a:endParaRPr sz="1050" b="0">
              <a:solidFill>
                <a:srgbClr val="566573"/>
              </a:solidFill>
            </a:endParaRPr>
          </a:p>
        </p:txBody>
      </p:sp>
      <p:sp>
        <p:nvSpPr>
          <p:cNvPr id="11" name="圆角矩形 10"/>
          <p:cNvSpPr>
            <a:spLocks noGrp="1"/>
          </p:cNvSpPr>
          <p:nvPr/>
        </p:nvSpPr>
        <p:spPr>
          <a:xfrm>
            <a:off x="3505200" y="2000250"/>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695700" y="2171700"/>
            <a:ext cx="2000250" cy="438150"/>
          </a:xfrm>
          <a:prstGeom prst="rect">
            <a:avLst/>
          </a:prstGeom>
          <a:noFill/>
          <a:ln w="0">
            <a:noFill/>
            <a:prstDash val="solid"/>
          </a:ln>
        </p:spPr>
        <p:txBody>
          <a:bodyPr/>
          <a:lstStyle/>
          <a:p>
            <a:pPr algn="ctr">
              <a:defRPr sz="2550" b="1">
                <a:solidFill>
                  <a:srgbClr val="2C7A7B"/>
                </a:solidFill>
              </a:defRPr>
            </a:pPr>
            <a:r>
              <a:rPr sz="2550" b="1">
                <a:solidFill>
                  <a:srgbClr val="2C7A7B"/>
                </a:solidFill>
              </a:rPr>
              <a:t>6</a:t>
            </a:r>
            <a:endParaRPr sz="2550" b="1">
              <a:solidFill>
                <a:srgbClr val="2C7A7B"/>
              </a:solidFill>
            </a:endParaRPr>
          </a:p>
        </p:txBody>
      </p:sp>
      <p:sp>
        <p:nvSpPr>
          <p:cNvPr id="13" name="矩形 12"/>
          <p:cNvSpPr>
            <a:spLocks noGrp="1"/>
          </p:cNvSpPr>
          <p:nvPr/>
        </p:nvSpPr>
        <p:spPr>
          <a:xfrm>
            <a:off x="36957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Model calls</a:t>
            </a:r>
            <a:endParaRPr sz="1350" b="1">
              <a:solidFill>
                <a:srgbClr val="18212B"/>
              </a:solidFill>
            </a:endParaRPr>
          </a:p>
        </p:txBody>
      </p:sp>
      <p:sp>
        <p:nvSpPr>
          <p:cNvPr id="14" name="矩形 13"/>
          <p:cNvSpPr>
            <a:spLocks noGrp="1"/>
          </p:cNvSpPr>
          <p:nvPr/>
        </p:nvSpPr>
        <p:spPr>
          <a:xfrm>
            <a:off x="36957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控制费用与延迟</a:t>
            </a:r>
            <a:endParaRPr sz="1050" b="0">
              <a:solidFill>
                <a:srgbClr val="566573"/>
              </a:solidFill>
            </a:endParaRPr>
          </a:p>
        </p:txBody>
      </p:sp>
      <p:sp>
        <p:nvSpPr>
          <p:cNvPr id="15" name="圆角矩形 14"/>
          <p:cNvSpPr>
            <a:spLocks noGrp="1"/>
          </p:cNvSpPr>
          <p:nvPr/>
        </p:nvSpPr>
        <p:spPr>
          <a:xfrm>
            <a:off x="6267450" y="2000250"/>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457950" y="2171700"/>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10</a:t>
            </a:r>
            <a:endParaRPr sz="2550" b="1">
              <a:solidFill>
                <a:srgbClr val="B7791F"/>
              </a:solidFill>
            </a:endParaRPr>
          </a:p>
        </p:txBody>
      </p:sp>
      <p:sp>
        <p:nvSpPr>
          <p:cNvPr id="17" name="矩形 16"/>
          <p:cNvSpPr>
            <a:spLocks noGrp="1"/>
          </p:cNvSpPr>
          <p:nvPr/>
        </p:nvSpPr>
        <p:spPr>
          <a:xfrm>
            <a:off x="64579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Tool calls</a:t>
            </a:r>
            <a:endParaRPr sz="1350" b="1">
              <a:solidFill>
                <a:srgbClr val="18212B"/>
              </a:solidFill>
            </a:endParaRPr>
          </a:p>
        </p:txBody>
      </p:sp>
      <p:sp>
        <p:nvSpPr>
          <p:cNvPr id="18" name="矩形 17"/>
          <p:cNvSpPr>
            <a:spLocks noGrp="1"/>
          </p:cNvSpPr>
          <p:nvPr/>
        </p:nvSpPr>
        <p:spPr>
          <a:xfrm>
            <a:off x="64579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控制环境压力</a:t>
            </a:r>
            <a:endParaRPr sz="1050" b="0">
              <a:solidFill>
                <a:srgbClr val="566573"/>
              </a:solidFill>
            </a:endParaRPr>
          </a:p>
        </p:txBody>
      </p:sp>
      <p:sp>
        <p:nvSpPr>
          <p:cNvPr id="19" name="圆角矩形 18"/>
          <p:cNvSpPr>
            <a:spLocks noGrp="1"/>
          </p:cNvSpPr>
          <p:nvPr/>
        </p:nvSpPr>
        <p:spPr>
          <a:xfrm>
            <a:off x="9029700" y="2000250"/>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220200" y="2171700"/>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5s</a:t>
            </a:r>
            <a:endParaRPr sz="2550" b="1">
              <a:solidFill>
                <a:srgbClr val="A23B3B"/>
              </a:solidFill>
            </a:endParaRPr>
          </a:p>
        </p:txBody>
      </p:sp>
      <p:sp>
        <p:nvSpPr>
          <p:cNvPr id="21" name="矩形 20"/>
          <p:cNvSpPr>
            <a:spLocks noGrp="1"/>
          </p:cNvSpPr>
          <p:nvPr/>
        </p:nvSpPr>
        <p:spPr>
          <a:xfrm>
            <a:off x="92202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Deadline</a:t>
            </a:r>
            <a:endParaRPr sz="1350" b="1">
              <a:solidFill>
                <a:srgbClr val="18212B"/>
              </a:solidFill>
            </a:endParaRPr>
          </a:p>
        </p:txBody>
      </p:sp>
      <p:sp>
        <p:nvSpPr>
          <p:cNvPr id="22" name="矩形 21"/>
          <p:cNvSpPr>
            <a:spLocks noGrp="1"/>
          </p:cNvSpPr>
          <p:nvPr/>
        </p:nvSpPr>
        <p:spPr>
          <a:xfrm>
            <a:off x="92202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控制墙钟时间</a:t>
            </a:r>
            <a:endParaRPr sz="1050" b="0">
              <a:solidFill>
                <a:srgbClr val="566573"/>
              </a:solidFill>
            </a:endParaRPr>
          </a:p>
        </p:txBody>
      </p:sp>
      <p:sp>
        <p:nvSpPr>
          <p:cNvPr id="23" name="圆角矩形 22"/>
          <p:cNvSpPr>
            <a:spLocks noGrp="1"/>
          </p:cNvSpPr>
          <p:nvPr/>
        </p:nvSpPr>
        <p:spPr>
          <a:xfrm>
            <a:off x="1428750" y="3905250"/>
            <a:ext cx="9334500" cy="1257300"/>
          </a:xfrm>
          <a:prstGeom prst="roundRect">
            <a:avLst>
              <a:gd name="adj" fmla="val 6061"/>
            </a:avLst>
          </a:prstGeom>
          <a:solidFill>
            <a:srgbClr val="F3F6F8"/>
          </a:solidFill>
          <a:ln w="9525">
            <a:solidFill>
              <a:srgbClr val="D7E0E7"/>
            </a:solidFill>
            <a:prstDash val="solid"/>
          </a:ln>
        </p:spPr>
      </p:sp>
      <p:sp>
        <p:nvSpPr>
          <p:cNvPr id="24" name="圆角矩形 23"/>
          <p:cNvSpPr>
            <a:spLocks noGrp="1"/>
          </p:cNvSpPr>
          <p:nvPr/>
        </p:nvSpPr>
        <p:spPr>
          <a:xfrm>
            <a:off x="1428750" y="3905250"/>
            <a:ext cx="66675" cy="1257300"/>
          </a:xfrm>
          <a:prstGeom prst="roundRect">
            <a:avLst>
              <a:gd name="adj" fmla="val 50000"/>
            </a:avLst>
          </a:prstGeom>
          <a:solidFill>
            <a:srgbClr val="163A5F"/>
          </a:solidFill>
          <a:ln w="0">
            <a:noFill/>
            <a:prstDash val="solid"/>
          </a:ln>
        </p:spPr>
      </p:sp>
      <p:sp>
        <p:nvSpPr>
          <p:cNvPr id="25" name="矩形 24"/>
          <p:cNvSpPr>
            <a:spLocks noGrp="1"/>
          </p:cNvSpPr>
          <p:nvPr/>
        </p:nvSpPr>
        <p:spPr>
          <a:xfrm>
            <a:off x="1657350" y="4076700"/>
            <a:ext cx="89344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预算扣减必须有确定时机</a:t>
            </a:r>
            <a:endParaRPr sz="1650" b="1">
              <a:solidFill>
                <a:srgbClr val="163A5F"/>
              </a:solidFill>
            </a:endParaRPr>
          </a:p>
        </p:txBody>
      </p:sp>
      <p:sp>
        <p:nvSpPr>
          <p:cNvPr id="26" name="矩形 25"/>
          <p:cNvSpPr>
            <a:spLocks noGrp="1"/>
          </p:cNvSpPr>
          <p:nvPr/>
        </p:nvSpPr>
        <p:spPr>
          <a:xfrm>
            <a:off x="1657350" y="4457700"/>
            <a:ext cx="89344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模型调用前检查并占用调用预算；工具执行前检查工具预算；deadline 在每轮关键边界检查。不能等“动作做完了”再发现资源早已超限。</a:t>
            </a:r>
            <a:endParaRPr sz="1275" b="0">
              <a:solidFill>
                <a:srgbClr val="18212B"/>
              </a:solidFill>
            </a:endParaRPr>
          </a:p>
        </p:txBody>
      </p:sp>
      <p:sp>
        <p:nvSpPr>
          <p:cNvPr id="27" name="圆角矩形 2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8" name="矩形 2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预算是 Runtime 的不变量。System Prompt 中的“请节省调用”只能是建议，不能替代硬限制。</a:t>
            </a:r>
            <a:endParaRPr sz="1350" b="1">
              <a:solidFill>
                <a:srgbClr val="163A5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4" name="矩形 33"/>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Runtime 主循环的顺序就是安全语义</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相同组件若顺序错误，仍可能越权、超预算或漏 Trace</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17</a:t>
            </a:r>
            <a:endParaRPr sz="825" b="0">
              <a:solidFill>
                <a:srgbClr val="7D8994"/>
              </a:solidFill>
            </a:endParaRPr>
          </a:p>
        </p:txBody>
      </p:sp>
      <p:sp>
        <p:nvSpPr>
          <p:cNvPr id="7" name="圆角矩形 6"/>
          <p:cNvSpPr>
            <a:spLocks noGrp="1"/>
          </p:cNvSpPr>
          <p:nvPr/>
        </p:nvSpPr>
        <p:spPr>
          <a:xfrm>
            <a:off x="781050" y="1695450"/>
            <a:ext cx="476250" cy="457200"/>
          </a:xfrm>
          <a:prstGeom prst="roundRect">
            <a:avLst>
              <a:gd name="adj" fmla="val 16667"/>
            </a:avLst>
          </a:prstGeom>
          <a:solidFill>
            <a:srgbClr val="EAF2F8"/>
          </a:solidFill>
          <a:ln w="0">
            <a:noFill/>
            <a:prstDash val="solid"/>
          </a:ln>
        </p:spPr>
      </p:sp>
      <p:sp>
        <p:nvSpPr>
          <p:cNvPr id="8" name="矩形 7"/>
          <p:cNvSpPr>
            <a:spLocks noGrp="1"/>
          </p:cNvSpPr>
          <p:nvPr/>
        </p:nvSpPr>
        <p:spPr>
          <a:xfrm>
            <a:off x="876300" y="1771650"/>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1</a:t>
            </a:r>
            <a:endParaRPr sz="1350" b="1">
              <a:solidFill>
                <a:srgbClr val="286F9E"/>
              </a:solidFill>
            </a:endParaRPr>
          </a:p>
        </p:txBody>
      </p:sp>
      <p:sp>
        <p:nvSpPr>
          <p:cNvPr id="9" name="矩形 8"/>
          <p:cNvSpPr>
            <a:spLocks noGrp="1"/>
          </p:cNvSpPr>
          <p:nvPr/>
        </p:nvSpPr>
        <p:spPr>
          <a:xfrm>
            <a:off x="1428750" y="1771650"/>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检查终止/预算</a:t>
            </a:r>
            <a:endParaRPr sz="1425" b="1">
              <a:solidFill>
                <a:srgbClr val="18212B"/>
              </a:solidFill>
            </a:endParaRPr>
          </a:p>
        </p:txBody>
      </p:sp>
      <p:sp>
        <p:nvSpPr>
          <p:cNvPr id="10" name="矩形 9"/>
          <p:cNvSpPr>
            <a:spLocks noGrp="1"/>
          </p:cNvSpPr>
          <p:nvPr/>
        </p:nvSpPr>
        <p:spPr>
          <a:xfrm>
            <a:off x="1000125" y="2152650"/>
            <a:ext cx="28575" cy="161925"/>
          </a:xfrm>
          <a:prstGeom prst="rect">
            <a:avLst/>
          </a:prstGeom>
          <a:solidFill>
            <a:srgbClr val="D7E0E7"/>
          </a:solidFill>
          <a:ln w="0">
            <a:noFill/>
            <a:prstDash val="solid"/>
          </a:ln>
        </p:spPr>
      </p:sp>
      <p:sp>
        <p:nvSpPr>
          <p:cNvPr id="11" name="圆角矩形 10"/>
          <p:cNvSpPr>
            <a:spLocks noGrp="1"/>
          </p:cNvSpPr>
          <p:nvPr/>
        </p:nvSpPr>
        <p:spPr>
          <a:xfrm>
            <a:off x="781050" y="2314575"/>
            <a:ext cx="476250" cy="457200"/>
          </a:xfrm>
          <a:prstGeom prst="roundRect">
            <a:avLst>
              <a:gd name="adj" fmla="val 16667"/>
            </a:avLst>
          </a:prstGeom>
          <a:solidFill>
            <a:srgbClr val="EAF2F8"/>
          </a:solidFill>
          <a:ln w="0">
            <a:noFill/>
            <a:prstDash val="solid"/>
          </a:ln>
        </p:spPr>
      </p:sp>
      <p:sp>
        <p:nvSpPr>
          <p:cNvPr id="12" name="矩形 11"/>
          <p:cNvSpPr>
            <a:spLocks noGrp="1"/>
          </p:cNvSpPr>
          <p:nvPr/>
        </p:nvSpPr>
        <p:spPr>
          <a:xfrm>
            <a:off x="876300" y="2390775"/>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2</a:t>
            </a:r>
            <a:endParaRPr sz="1350" b="1">
              <a:solidFill>
                <a:srgbClr val="286F9E"/>
              </a:solidFill>
            </a:endParaRPr>
          </a:p>
        </p:txBody>
      </p:sp>
      <p:sp>
        <p:nvSpPr>
          <p:cNvPr id="13" name="矩形 12"/>
          <p:cNvSpPr>
            <a:spLocks noGrp="1"/>
          </p:cNvSpPr>
          <p:nvPr/>
        </p:nvSpPr>
        <p:spPr>
          <a:xfrm>
            <a:off x="1428750" y="2390775"/>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构造最小 ModelInput</a:t>
            </a:r>
            <a:endParaRPr sz="1425" b="1">
              <a:solidFill>
                <a:srgbClr val="18212B"/>
              </a:solidFill>
            </a:endParaRPr>
          </a:p>
        </p:txBody>
      </p:sp>
      <p:sp>
        <p:nvSpPr>
          <p:cNvPr id="14" name="矩形 13"/>
          <p:cNvSpPr>
            <a:spLocks noGrp="1"/>
          </p:cNvSpPr>
          <p:nvPr/>
        </p:nvSpPr>
        <p:spPr>
          <a:xfrm>
            <a:off x="1000125" y="2771775"/>
            <a:ext cx="28575" cy="161925"/>
          </a:xfrm>
          <a:prstGeom prst="rect">
            <a:avLst/>
          </a:prstGeom>
          <a:solidFill>
            <a:srgbClr val="D7E0E7"/>
          </a:solidFill>
          <a:ln w="0">
            <a:noFill/>
            <a:prstDash val="solid"/>
          </a:ln>
        </p:spPr>
      </p:sp>
      <p:sp>
        <p:nvSpPr>
          <p:cNvPr id="15" name="圆角矩形 14"/>
          <p:cNvSpPr>
            <a:spLocks noGrp="1"/>
          </p:cNvSpPr>
          <p:nvPr/>
        </p:nvSpPr>
        <p:spPr>
          <a:xfrm>
            <a:off x="781050" y="2933700"/>
            <a:ext cx="476250" cy="457200"/>
          </a:xfrm>
          <a:prstGeom prst="roundRect">
            <a:avLst>
              <a:gd name="adj" fmla="val 16667"/>
            </a:avLst>
          </a:prstGeom>
          <a:solidFill>
            <a:srgbClr val="EAF2F8"/>
          </a:solidFill>
          <a:ln w="0">
            <a:noFill/>
            <a:prstDash val="solid"/>
          </a:ln>
        </p:spPr>
      </p:sp>
      <p:sp>
        <p:nvSpPr>
          <p:cNvPr id="16" name="矩形 15"/>
          <p:cNvSpPr>
            <a:spLocks noGrp="1"/>
          </p:cNvSpPr>
          <p:nvPr/>
        </p:nvSpPr>
        <p:spPr>
          <a:xfrm>
            <a:off x="876300" y="3009900"/>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3</a:t>
            </a:r>
            <a:endParaRPr sz="1350" b="1">
              <a:solidFill>
                <a:srgbClr val="286F9E"/>
              </a:solidFill>
            </a:endParaRPr>
          </a:p>
        </p:txBody>
      </p:sp>
      <p:sp>
        <p:nvSpPr>
          <p:cNvPr id="17" name="矩形 16"/>
          <p:cNvSpPr>
            <a:spLocks noGrp="1"/>
          </p:cNvSpPr>
          <p:nvPr/>
        </p:nvSpPr>
        <p:spPr>
          <a:xfrm>
            <a:off x="1428750" y="3009900"/>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调用模型并记录</a:t>
            </a:r>
            <a:endParaRPr sz="1425" b="1">
              <a:solidFill>
                <a:srgbClr val="18212B"/>
              </a:solidFill>
            </a:endParaRPr>
          </a:p>
        </p:txBody>
      </p:sp>
      <p:sp>
        <p:nvSpPr>
          <p:cNvPr id="18" name="矩形 17"/>
          <p:cNvSpPr>
            <a:spLocks noGrp="1"/>
          </p:cNvSpPr>
          <p:nvPr/>
        </p:nvSpPr>
        <p:spPr>
          <a:xfrm>
            <a:off x="1000125" y="3390900"/>
            <a:ext cx="28575" cy="161925"/>
          </a:xfrm>
          <a:prstGeom prst="rect">
            <a:avLst/>
          </a:prstGeom>
          <a:solidFill>
            <a:srgbClr val="D7E0E7"/>
          </a:solidFill>
          <a:ln w="0">
            <a:noFill/>
            <a:prstDash val="solid"/>
          </a:ln>
        </p:spPr>
      </p:sp>
      <p:sp>
        <p:nvSpPr>
          <p:cNvPr id="19" name="圆角矩形 18"/>
          <p:cNvSpPr>
            <a:spLocks noGrp="1"/>
          </p:cNvSpPr>
          <p:nvPr/>
        </p:nvSpPr>
        <p:spPr>
          <a:xfrm>
            <a:off x="781050" y="3552825"/>
            <a:ext cx="476250" cy="457200"/>
          </a:xfrm>
          <a:prstGeom prst="roundRect">
            <a:avLst>
              <a:gd name="adj" fmla="val 16667"/>
            </a:avLst>
          </a:prstGeom>
          <a:solidFill>
            <a:srgbClr val="EAF2F8"/>
          </a:solidFill>
          <a:ln w="0">
            <a:noFill/>
            <a:prstDash val="solid"/>
          </a:ln>
        </p:spPr>
      </p:sp>
      <p:sp>
        <p:nvSpPr>
          <p:cNvPr id="20" name="矩形 19"/>
          <p:cNvSpPr>
            <a:spLocks noGrp="1"/>
          </p:cNvSpPr>
          <p:nvPr/>
        </p:nvSpPr>
        <p:spPr>
          <a:xfrm>
            <a:off x="876300" y="3629025"/>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4</a:t>
            </a:r>
            <a:endParaRPr sz="1350" b="1">
              <a:solidFill>
                <a:srgbClr val="286F9E"/>
              </a:solidFill>
            </a:endParaRPr>
          </a:p>
        </p:txBody>
      </p:sp>
      <p:sp>
        <p:nvSpPr>
          <p:cNvPr id="21" name="矩形 20"/>
          <p:cNvSpPr>
            <a:spLocks noGrp="1"/>
          </p:cNvSpPr>
          <p:nvPr/>
        </p:nvSpPr>
        <p:spPr>
          <a:xfrm>
            <a:off x="1428750" y="3629025"/>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Parse + Validate</a:t>
            </a:r>
            <a:endParaRPr sz="1425" b="1">
              <a:solidFill>
                <a:srgbClr val="18212B"/>
              </a:solidFill>
            </a:endParaRPr>
          </a:p>
        </p:txBody>
      </p:sp>
      <p:sp>
        <p:nvSpPr>
          <p:cNvPr id="22" name="矩形 21"/>
          <p:cNvSpPr>
            <a:spLocks noGrp="1"/>
          </p:cNvSpPr>
          <p:nvPr/>
        </p:nvSpPr>
        <p:spPr>
          <a:xfrm>
            <a:off x="1000125" y="4010025"/>
            <a:ext cx="28575" cy="161925"/>
          </a:xfrm>
          <a:prstGeom prst="rect">
            <a:avLst/>
          </a:prstGeom>
          <a:solidFill>
            <a:srgbClr val="D7E0E7"/>
          </a:solidFill>
          <a:ln w="0">
            <a:noFill/>
            <a:prstDash val="solid"/>
          </a:ln>
        </p:spPr>
      </p:sp>
      <p:sp>
        <p:nvSpPr>
          <p:cNvPr id="23" name="圆角矩形 22"/>
          <p:cNvSpPr>
            <a:spLocks noGrp="1"/>
          </p:cNvSpPr>
          <p:nvPr/>
        </p:nvSpPr>
        <p:spPr>
          <a:xfrm>
            <a:off x="781050" y="4171950"/>
            <a:ext cx="476250" cy="457200"/>
          </a:xfrm>
          <a:prstGeom prst="roundRect">
            <a:avLst>
              <a:gd name="adj" fmla="val 16667"/>
            </a:avLst>
          </a:prstGeom>
          <a:solidFill>
            <a:srgbClr val="EAF5F4"/>
          </a:solidFill>
          <a:ln w="0">
            <a:noFill/>
            <a:prstDash val="solid"/>
          </a:ln>
        </p:spPr>
      </p:sp>
      <p:sp>
        <p:nvSpPr>
          <p:cNvPr id="24" name="矩形 23"/>
          <p:cNvSpPr>
            <a:spLocks noGrp="1"/>
          </p:cNvSpPr>
          <p:nvPr/>
        </p:nvSpPr>
        <p:spPr>
          <a:xfrm>
            <a:off x="876300" y="4248150"/>
            <a:ext cx="285750" cy="266700"/>
          </a:xfrm>
          <a:prstGeom prst="rect">
            <a:avLst/>
          </a:prstGeom>
          <a:noFill/>
          <a:ln w="0">
            <a:noFill/>
            <a:prstDash val="solid"/>
          </a:ln>
        </p:spPr>
        <p:txBody>
          <a:bodyPr/>
          <a:lstStyle/>
          <a:p>
            <a:pPr algn="ctr">
              <a:defRPr sz="1350" b="1">
                <a:solidFill>
                  <a:srgbClr val="2C7A7B"/>
                </a:solidFill>
              </a:defRPr>
            </a:pPr>
            <a:r>
              <a:rPr sz="1350" b="1">
                <a:solidFill>
                  <a:srgbClr val="2C7A7B"/>
                </a:solidFill>
              </a:rPr>
              <a:t>5</a:t>
            </a:r>
            <a:endParaRPr sz="1350" b="1">
              <a:solidFill>
                <a:srgbClr val="2C7A7B"/>
              </a:solidFill>
            </a:endParaRPr>
          </a:p>
        </p:txBody>
      </p:sp>
      <p:sp>
        <p:nvSpPr>
          <p:cNvPr id="25" name="矩形 24"/>
          <p:cNvSpPr>
            <a:spLocks noGrp="1"/>
          </p:cNvSpPr>
          <p:nvPr/>
        </p:nvSpPr>
        <p:spPr>
          <a:xfrm>
            <a:off x="1428750" y="4248150"/>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Authorize + Execute</a:t>
            </a:r>
            <a:endParaRPr sz="1425" b="1">
              <a:solidFill>
                <a:srgbClr val="18212B"/>
              </a:solidFill>
            </a:endParaRPr>
          </a:p>
        </p:txBody>
      </p:sp>
      <p:sp>
        <p:nvSpPr>
          <p:cNvPr id="26" name="矩形 25"/>
          <p:cNvSpPr>
            <a:spLocks noGrp="1"/>
          </p:cNvSpPr>
          <p:nvPr/>
        </p:nvSpPr>
        <p:spPr>
          <a:xfrm>
            <a:off x="1000125" y="4629150"/>
            <a:ext cx="28575" cy="161925"/>
          </a:xfrm>
          <a:prstGeom prst="rect">
            <a:avLst/>
          </a:prstGeom>
          <a:solidFill>
            <a:srgbClr val="D7E0E7"/>
          </a:solidFill>
          <a:ln w="0">
            <a:noFill/>
            <a:prstDash val="solid"/>
          </a:ln>
        </p:spPr>
      </p:sp>
      <p:sp>
        <p:nvSpPr>
          <p:cNvPr id="27" name="圆角矩形 26"/>
          <p:cNvSpPr>
            <a:spLocks noGrp="1"/>
          </p:cNvSpPr>
          <p:nvPr/>
        </p:nvSpPr>
        <p:spPr>
          <a:xfrm>
            <a:off x="781050" y="4791075"/>
            <a:ext cx="476250" cy="457200"/>
          </a:xfrm>
          <a:prstGeom prst="roundRect">
            <a:avLst>
              <a:gd name="adj" fmla="val 16667"/>
            </a:avLst>
          </a:prstGeom>
          <a:solidFill>
            <a:srgbClr val="EAF5F4"/>
          </a:solidFill>
          <a:ln w="0">
            <a:noFill/>
            <a:prstDash val="solid"/>
          </a:ln>
        </p:spPr>
      </p:sp>
      <p:sp>
        <p:nvSpPr>
          <p:cNvPr id="28" name="矩形 27"/>
          <p:cNvSpPr>
            <a:spLocks noGrp="1"/>
          </p:cNvSpPr>
          <p:nvPr/>
        </p:nvSpPr>
        <p:spPr>
          <a:xfrm>
            <a:off x="876300" y="4867275"/>
            <a:ext cx="285750" cy="266700"/>
          </a:xfrm>
          <a:prstGeom prst="rect">
            <a:avLst/>
          </a:prstGeom>
          <a:noFill/>
          <a:ln w="0">
            <a:noFill/>
            <a:prstDash val="solid"/>
          </a:ln>
        </p:spPr>
        <p:txBody>
          <a:bodyPr/>
          <a:lstStyle/>
          <a:p>
            <a:pPr algn="ctr">
              <a:defRPr sz="1350" b="1">
                <a:solidFill>
                  <a:srgbClr val="2C7A7B"/>
                </a:solidFill>
              </a:defRPr>
            </a:pPr>
            <a:r>
              <a:rPr sz="1350" b="1">
                <a:solidFill>
                  <a:srgbClr val="2C7A7B"/>
                </a:solidFill>
              </a:rPr>
              <a:t>6</a:t>
            </a:r>
            <a:endParaRPr sz="1350" b="1">
              <a:solidFill>
                <a:srgbClr val="2C7A7B"/>
              </a:solidFill>
            </a:endParaRPr>
          </a:p>
        </p:txBody>
      </p:sp>
      <p:sp>
        <p:nvSpPr>
          <p:cNvPr id="29" name="矩形 28"/>
          <p:cNvSpPr>
            <a:spLocks noGrp="1"/>
          </p:cNvSpPr>
          <p:nvPr/>
        </p:nvSpPr>
        <p:spPr>
          <a:xfrm>
            <a:off x="1428750" y="4867275"/>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Reduce + Goal Verify</a:t>
            </a:r>
            <a:endParaRPr sz="1425" b="1">
              <a:solidFill>
                <a:srgbClr val="18212B"/>
              </a:solidFill>
            </a:endParaRPr>
          </a:p>
        </p:txBody>
      </p:sp>
      <p:sp>
        <p:nvSpPr>
          <p:cNvPr id="30" name="圆角矩形 29"/>
          <p:cNvSpPr>
            <a:spLocks noGrp="1"/>
          </p:cNvSpPr>
          <p:nvPr/>
        </p:nvSpPr>
        <p:spPr>
          <a:xfrm>
            <a:off x="6191250" y="1981200"/>
            <a:ext cx="4572000" cy="2362200"/>
          </a:xfrm>
          <a:prstGeom prst="roundRect">
            <a:avLst>
              <a:gd name="adj" fmla="val 3226"/>
            </a:avLst>
          </a:prstGeom>
          <a:solidFill>
            <a:srgbClr val="F6F8FA"/>
          </a:solidFill>
          <a:ln w="9525">
            <a:solidFill>
              <a:srgbClr val="D7E0E7"/>
            </a:solidFill>
            <a:prstDash val="solid"/>
          </a:ln>
        </p:spPr>
      </p:sp>
      <p:sp>
        <p:nvSpPr>
          <p:cNvPr id="31" name="矩形 30"/>
          <p:cNvSpPr>
            <a:spLocks noGrp="1"/>
          </p:cNvSpPr>
          <p:nvPr/>
        </p:nvSpPr>
        <p:spPr>
          <a:xfrm>
            <a:off x="6400800" y="2152650"/>
            <a:ext cx="4152900" cy="2038350"/>
          </a:xfrm>
          <a:prstGeom prst="rect">
            <a:avLst/>
          </a:prstGeom>
          <a:noFill/>
          <a:ln w="0">
            <a:noFill/>
            <a:prstDash val="solid"/>
          </a:ln>
        </p:spPr>
        <p:txBody>
          <a:bodyPr/>
          <a:lstStyle/>
          <a:p>
            <a:pPr algn="l">
              <a:defRPr sz="1350" b="0">
                <a:solidFill>
                  <a:srgbClr val="263238"/>
                </a:solidFill>
              </a:defRPr>
            </a:pPr>
            <a:r>
              <a:rPr sz="1350" b="0">
                <a:solidFill>
                  <a:srgbClr val="263238"/>
                </a:solidFill>
              </a:rPr>
              <a:t>关键 return / continue 前必须：</a:t>
            </a:r>
            <a:endParaRPr sz="1350" b="0">
              <a:solidFill>
                <a:srgbClr val="263238"/>
              </a:solidFill>
            </a:endParaRPr>
          </a:p>
          <a:p>
            <a:pPr algn="l">
              <a:defRPr sz="1350" b="0">
                <a:solidFill>
                  <a:srgbClr val="263238"/>
                </a:solidFill>
              </a:defRPr>
            </a:pPr>
            <a:r>
              <a:rPr sz="1350" b="0">
                <a:solidFill>
                  <a:srgbClr val="263238"/>
                </a:solidFill>
              </a:rPr>
              <a:t>• 写入 TraceEvent</a:t>
            </a:r>
            <a:endParaRPr sz="1350" b="0">
              <a:solidFill>
                <a:srgbClr val="263238"/>
              </a:solidFill>
            </a:endParaRPr>
          </a:p>
          <a:p>
            <a:pPr algn="l">
              <a:defRPr sz="1350" b="0">
                <a:solidFill>
                  <a:srgbClr val="263238"/>
                </a:solidFill>
              </a:defRPr>
            </a:pPr>
            <a:r>
              <a:rPr sz="1350" b="0">
                <a:solidFill>
                  <a:srgbClr val="263238"/>
                </a:solidFill>
              </a:rPr>
              <a:t>• 固化 StopReason</a:t>
            </a:r>
            <a:endParaRPr sz="1350" b="0">
              <a:solidFill>
                <a:srgbClr val="263238"/>
              </a:solidFill>
            </a:endParaRPr>
          </a:p>
          <a:p>
            <a:pPr algn="l">
              <a:defRPr sz="1350" b="0">
                <a:solidFill>
                  <a:srgbClr val="263238"/>
                </a:solidFill>
              </a:defRPr>
            </a:pPr>
            <a:r>
              <a:rPr sz="1350" b="0">
                <a:solidFill>
                  <a:srgbClr val="263238"/>
                </a:solidFill>
              </a:rPr>
              <a:t>• 确认环境是否已改变</a:t>
            </a:r>
            <a:endParaRPr sz="1350" b="0">
              <a:solidFill>
                <a:srgbClr val="263238"/>
              </a:solidFill>
            </a:endParaRPr>
          </a:p>
          <a:p>
            <a:pPr algn="l">
              <a:defRPr sz="1350" b="0">
                <a:solidFill>
                  <a:srgbClr val="263238"/>
                </a:solidFill>
              </a:defRPr>
            </a:pPr>
            <a:r>
              <a:rPr sz="1350" b="0">
                <a:solidFill>
                  <a:srgbClr val="263238"/>
                </a:solidFill>
              </a:rPr>
              <a:t>• 保留剩余预算</a:t>
            </a:r>
            <a:endParaRPr sz="1350" b="0">
              <a:solidFill>
                <a:srgbClr val="263238"/>
              </a:solidFill>
            </a:endParaRPr>
          </a:p>
        </p:txBody>
      </p:sp>
      <p:sp>
        <p:nvSpPr>
          <p:cNvPr id="32" name="圆角矩形 31"/>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3" name="矩形 32"/>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先授权后执行、先记录后返回、先验证目标再接受 finish——这些顺序比 Prompt 措辞更重要。</a:t>
            </a:r>
            <a:endParaRPr sz="1350" b="1">
              <a:solidFill>
                <a:srgbClr val="163A5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Trace 是可重放的事件记录，不是 println!</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记录可观察事实，不记录隐藏思维链</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18</a:t>
            </a:r>
            <a:endParaRPr sz="825" b="0">
              <a:solidFill>
                <a:srgbClr val="7D8994"/>
              </a:solidFill>
            </a:endParaRPr>
          </a:p>
        </p:txBody>
      </p:sp>
      <p:sp>
        <p:nvSpPr>
          <p:cNvPr id="7" name="圆角矩形 6"/>
          <p:cNvSpPr>
            <a:spLocks noGrp="1"/>
          </p:cNvSpPr>
          <p:nvPr/>
        </p:nvSpPr>
        <p:spPr>
          <a:xfrm>
            <a:off x="609600" y="1809750"/>
            <a:ext cx="5905500" cy="1809750"/>
          </a:xfrm>
          <a:prstGeom prst="roundRect">
            <a:avLst>
              <a:gd name="adj" fmla="val 4211"/>
            </a:avLst>
          </a:prstGeom>
          <a:solidFill>
            <a:srgbClr val="F6F8FA"/>
          </a:solidFill>
          <a:ln w="9525">
            <a:solidFill>
              <a:srgbClr val="D7E0E7"/>
            </a:solidFill>
            <a:prstDash val="solid"/>
          </a:ln>
        </p:spPr>
      </p:sp>
      <p:sp>
        <p:nvSpPr>
          <p:cNvPr id="8" name="矩形 7"/>
          <p:cNvSpPr>
            <a:spLocks noGrp="1"/>
          </p:cNvSpPr>
          <p:nvPr/>
        </p:nvSpPr>
        <p:spPr>
          <a:xfrm>
            <a:off x="819150" y="1981200"/>
            <a:ext cx="5486400" cy="1485900"/>
          </a:xfrm>
          <a:prstGeom prst="rect">
            <a:avLst/>
          </a:prstGeom>
          <a:noFill/>
          <a:ln w="0">
            <a:noFill/>
            <a:prstDash val="solid"/>
          </a:ln>
        </p:spPr>
        <p:txBody>
          <a:bodyPr/>
          <a:lstStyle/>
          <a:p>
            <a:pPr algn="l">
              <a:defRPr sz="1275" b="0">
                <a:solidFill>
                  <a:srgbClr val="263238"/>
                </a:solidFill>
              </a:defRPr>
            </a:pPr>
            <a:r>
              <a:rPr sz="1275" b="0">
                <a:solidFill>
                  <a:srgbClr val="263238"/>
                </a:solidFill>
              </a:rPr>
              <a:t>{"run_id":"r17","step":2,"event":"action_rejected",</a:t>
            </a:r>
            <a:endParaRPr sz="1275" b="0">
              <a:solidFill>
                <a:srgbClr val="263238"/>
              </a:solidFill>
            </a:endParaRPr>
          </a:p>
          <a:p>
            <a:pPr algn="l">
              <a:defRPr sz="1275" b="0">
                <a:solidFill>
                  <a:srgbClr val="263238"/>
                </a:solidFill>
              </a:defRPr>
            </a:pPr>
            <a:r>
              <a:rPr sz="1275" b="0">
                <a:solidFill>
                  <a:srgbClr val="263238"/>
                </a:solidFill>
              </a:rPr>
              <a:t> "action":"read_file","error":"outside_workspace",</a:t>
            </a:r>
            <a:endParaRPr sz="1275" b="0">
              <a:solidFill>
                <a:srgbClr val="263238"/>
              </a:solidFill>
            </a:endParaRPr>
          </a:p>
          <a:p>
            <a:pPr algn="l">
              <a:defRPr sz="1275" b="0">
                <a:solidFill>
                  <a:srgbClr val="263238"/>
                </a:solidFill>
              </a:defRPr>
            </a:pPr>
            <a:r>
              <a:rPr sz="1275" b="0">
                <a:solidFill>
                  <a:srgbClr val="263238"/>
                </a:solidFill>
              </a:rPr>
              <a:t> "remaining_steps":5,"elapsed_ms":184}</a:t>
            </a:r>
            <a:endParaRPr sz="1275" b="0">
              <a:solidFill>
                <a:srgbClr val="263238"/>
              </a:solidFill>
            </a:endParaRPr>
          </a:p>
        </p:txBody>
      </p:sp>
      <p:sp>
        <p:nvSpPr>
          <p:cNvPr id="9" name="圆角矩形 8"/>
          <p:cNvSpPr>
            <a:spLocks noGrp="1"/>
          </p:cNvSpPr>
          <p:nvPr/>
        </p:nvSpPr>
        <p:spPr>
          <a:xfrm>
            <a:off x="6953250" y="18954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7162800" y="1809750"/>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关联性：同一运行共享 run_id，step 单调不减。</a:t>
            </a:r>
            <a:endParaRPr sz="1350" b="0">
              <a:solidFill>
                <a:srgbClr val="18212B"/>
              </a:solidFill>
            </a:endParaRPr>
          </a:p>
        </p:txBody>
      </p:sp>
      <p:sp>
        <p:nvSpPr>
          <p:cNvPr id="11" name="圆角矩形 10"/>
          <p:cNvSpPr>
            <a:spLocks noGrp="1"/>
          </p:cNvSpPr>
          <p:nvPr/>
        </p:nvSpPr>
        <p:spPr>
          <a:xfrm>
            <a:off x="6953250" y="2514600"/>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7162800" y="2428875"/>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完整性：proposed / rejected / executed / failed / terminated 都可见。</a:t>
            </a:r>
            <a:endParaRPr sz="1350" b="0">
              <a:solidFill>
                <a:srgbClr val="18212B"/>
              </a:solidFill>
            </a:endParaRPr>
          </a:p>
        </p:txBody>
      </p:sp>
      <p:sp>
        <p:nvSpPr>
          <p:cNvPr id="13" name="圆角矩形 12"/>
          <p:cNvSpPr>
            <a:spLocks noGrp="1"/>
          </p:cNvSpPr>
          <p:nvPr/>
        </p:nvSpPr>
        <p:spPr>
          <a:xfrm>
            <a:off x="6953250" y="313372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7162800" y="3048000"/>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可重放：能从事件恢复“何时决定、何时改变环境、为何停止”。</a:t>
            </a:r>
            <a:endParaRPr sz="1350" b="0">
              <a:solidFill>
                <a:srgbClr val="18212B"/>
              </a:solidFill>
            </a:endParaRPr>
          </a:p>
        </p:txBody>
      </p:sp>
      <p:sp>
        <p:nvSpPr>
          <p:cNvPr id="15" name="圆角矩形 14"/>
          <p:cNvSpPr>
            <a:spLocks noGrp="1"/>
          </p:cNvSpPr>
          <p:nvPr/>
        </p:nvSpPr>
        <p:spPr>
          <a:xfrm>
            <a:off x="6953250" y="3752850"/>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7162800" y="3667125"/>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隐私边界：不保存密钥、敏感正文或模型隐藏思维链。</a:t>
            </a:r>
            <a:endParaRPr sz="1350" b="0">
              <a:solidFill>
                <a:srgbClr val="18212B"/>
              </a:solidFill>
            </a:endParaRPr>
          </a:p>
        </p:txBody>
      </p:sp>
      <p:sp>
        <p:nvSpPr>
          <p:cNvPr id="17" name="圆角矩形 16"/>
          <p:cNvSpPr>
            <a:spLocks noGrp="1"/>
          </p:cNvSpPr>
          <p:nvPr/>
        </p:nvSpPr>
        <p:spPr>
          <a:xfrm>
            <a:off x="1714500" y="4476750"/>
            <a:ext cx="8763000" cy="1104900"/>
          </a:xfrm>
          <a:prstGeom prst="roundRect">
            <a:avLst>
              <a:gd name="adj" fmla="val 6897"/>
            </a:avLst>
          </a:prstGeom>
          <a:solidFill>
            <a:srgbClr val="EAF5F4"/>
          </a:solidFill>
          <a:ln w="9525">
            <a:solidFill>
              <a:srgbClr val="D7E0E7"/>
            </a:solidFill>
            <a:prstDash val="solid"/>
          </a:ln>
        </p:spPr>
      </p:sp>
      <p:sp>
        <p:nvSpPr>
          <p:cNvPr id="18" name="圆角矩形 17"/>
          <p:cNvSpPr>
            <a:spLocks noGrp="1"/>
          </p:cNvSpPr>
          <p:nvPr/>
        </p:nvSpPr>
        <p:spPr>
          <a:xfrm>
            <a:off x="1714500" y="4476750"/>
            <a:ext cx="66675" cy="1104900"/>
          </a:xfrm>
          <a:prstGeom prst="roundRect">
            <a:avLst>
              <a:gd name="adj" fmla="val 50000"/>
            </a:avLst>
          </a:prstGeom>
          <a:solidFill>
            <a:srgbClr val="2C7A7B"/>
          </a:solidFill>
          <a:ln w="0">
            <a:noFill/>
            <a:prstDash val="solid"/>
          </a:ln>
        </p:spPr>
      </p:sp>
      <p:sp>
        <p:nvSpPr>
          <p:cNvPr id="19" name="矩形 18"/>
          <p:cNvSpPr>
            <a:spLocks noGrp="1"/>
          </p:cNvSpPr>
          <p:nvPr/>
        </p:nvSpPr>
        <p:spPr>
          <a:xfrm>
            <a:off x="1943100" y="4648200"/>
            <a:ext cx="8362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Event Sourcing 视角</a:t>
            </a:r>
            <a:endParaRPr sz="1650" b="1">
              <a:solidFill>
                <a:srgbClr val="2C7A7B"/>
              </a:solidFill>
            </a:endParaRPr>
          </a:p>
        </p:txBody>
      </p:sp>
      <p:sp>
        <p:nvSpPr>
          <p:cNvPr id="20" name="矩形 19"/>
          <p:cNvSpPr>
            <a:spLocks noGrp="1"/>
          </p:cNvSpPr>
          <p:nvPr/>
        </p:nvSpPr>
        <p:spPr>
          <a:xfrm>
            <a:off x="1943100" y="5029200"/>
            <a:ext cx="83629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State 可以被看作事件序列的投影；Reducer 的纯函数化让状态不变量更容易测试，也让失败复盘更可靠。</a:t>
            </a:r>
            <a:endParaRPr sz="1275" b="0">
              <a:solidFill>
                <a:srgbClr val="18212B"/>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先定位失败层，再决定是否改 Prompt</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Runtime 的价值之一是把“模型错了”拆成可行动的诊断</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19</a:t>
            </a:r>
            <a:endParaRPr sz="825" b="0">
              <a:solidFill>
                <a:srgbClr val="7D8994"/>
              </a:solidFill>
            </a:endParaRPr>
          </a:p>
        </p:txBody>
      </p:sp>
      <p:sp>
        <p:nvSpPr>
          <p:cNvPr id="7" name="圆角矩形 6"/>
          <p:cNvSpPr>
            <a:spLocks noGrp="1"/>
          </p:cNvSpPr>
          <p:nvPr/>
        </p:nvSpPr>
        <p:spPr>
          <a:xfrm>
            <a:off x="952500" y="1752600"/>
            <a:ext cx="2667000" cy="419100"/>
          </a:xfrm>
          <a:prstGeom prst="roundRect">
            <a:avLst>
              <a:gd name="adj" fmla="val 18182"/>
            </a:avLst>
          </a:prstGeom>
          <a:solidFill>
            <a:srgbClr val="EAF2F8"/>
          </a:solidFill>
          <a:ln w="0">
            <a:noFill/>
            <a:prstDash val="solid"/>
          </a:ln>
        </p:spPr>
      </p:sp>
      <p:sp>
        <p:nvSpPr>
          <p:cNvPr id="8" name="矩形 7"/>
          <p:cNvSpPr>
            <a:spLocks noGrp="1"/>
          </p:cNvSpPr>
          <p:nvPr/>
        </p:nvSpPr>
        <p:spPr>
          <a:xfrm>
            <a:off x="1143000" y="182880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无动作</a:t>
            </a:r>
            <a:endParaRPr sz="1350" b="1">
              <a:solidFill>
                <a:srgbClr val="18212B"/>
              </a:solidFill>
            </a:endParaRPr>
          </a:p>
        </p:txBody>
      </p:sp>
      <p:sp>
        <p:nvSpPr>
          <p:cNvPr id="9" name="矩形 8"/>
          <p:cNvSpPr>
            <a:spLocks noGrp="1"/>
          </p:cNvSpPr>
          <p:nvPr/>
        </p:nvSpPr>
        <p:spPr>
          <a:xfrm>
            <a:off x="4000500" y="182880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10" name="矩形 9"/>
          <p:cNvSpPr>
            <a:spLocks noGrp="1"/>
          </p:cNvSpPr>
          <p:nvPr/>
        </p:nvSpPr>
        <p:spPr>
          <a:xfrm>
            <a:off x="4762500" y="182880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Model / FakeModel 输出</a:t>
            </a:r>
            <a:endParaRPr sz="1350" b="0">
              <a:solidFill>
                <a:srgbClr val="566573"/>
              </a:solidFill>
            </a:endParaRPr>
          </a:p>
        </p:txBody>
      </p:sp>
      <p:sp>
        <p:nvSpPr>
          <p:cNvPr id="11" name="圆角矩形 10"/>
          <p:cNvSpPr>
            <a:spLocks noGrp="1"/>
          </p:cNvSpPr>
          <p:nvPr/>
        </p:nvSpPr>
        <p:spPr>
          <a:xfrm>
            <a:off x="952500" y="2305050"/>
            <a:ext cx="2667000" cy="419100"/>
          </a:xfrm>
          <a:prstGeom prst="roundRect">
            <a:avLst>
              <a:gd name="adj" fmla="val 18182"/>
            </a:avLst>
          </a:prstGeom>
          <a:solidFill>
            <a:srgbClr val="EAF5F4"/>
          </a:solidFill>
          <a:ln w="0">
            <a:noFill/>
            <a:prstDash val="solid"/>
          </a:ln>
        </p:spPr>
      </p:sp>
      <p:sp>
        <p:nvSpPr>
          <p:cNvPr id="12" name="矩形 11"/>
          <p:cNvSpPr>
            <a:spLocks noGrp="1"/>
          </p:cNvSpPr>
          <p:nvPr/>
        </p:nvSpPr>
        <p:spPr>
          <a:xfrm>
            <a:off x="1143000" y="238125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解析失败</a:t>
            </a:r>
            <a:endParaRPr sz="1350" b="1">
              <a:solidFill>
                <a:srgbClr val="18212B"/>
              </a:solidFill>
            </a:endParaRPr>
          </a:p>
        </p:txBody>
      </p:sp>
      <p:sp>
        <p:nvSpPr>
          <p:cNvPr id="13" name="矩形 12"/>
          <p:cNvSpPr>
            <a:spLocks noGrp="1"/>
          </p:cNvSpPr>
          <p:nvPr/>
        </p:nvSpPr>
        <p:spPr>
          <a:xfrm>
            <a:off x="4000500" y="238125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14" name="矩形 13"/>
          <p:cNvSpPr>
            <a:spLocks noGrp="1"/>
          </p:cNvSpPr>
          <p:nvPr/>
        </p:nvSpPr>
        <p:spPr>
          <a:xfrm>
            <a:off x="4762500" y="238125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raw text 与 Parser</a:t>
            </a:r>
            <a:endParaRPr sz="1350" b="0">
              <a:solidFill>
                <a:srgbClr val="566573"/>
              </a:solidFill>
            </a:endParaRPr>
          </a:p>
        </p:txBody>
      </p:sp>
      <p:sp>
        <p:nvSpPr>
          <p:cNvPr id="15" name="圆角矩形 14"/>
          <p:cNvSpPr>
            <a:spLocks noGrp="1"/>
          </p:cNvSpPr>
          <p:nvPr/>
        </p:nvSpPr>
        <p:spPr>
          <a:xfrm>
            <a:off x="952500" y="2857500"/>
            <a:ext cx="2667000" cy="419100"/>
          </a:xfrm>
          <a:prstGeom prst="roundRect">
            <a:avLst>
              <a:gd name="adj" fmla="val 18182"/>
            </a:avLst>
          </a:prstGeom>
          <a:solidFill>
            <a:srgbClr val="EAF2F8"/>
          </a:solidFill>
          <a:ln w="0">
            <a:noFill/>
            <a:prstDash val="solid"/>
          </a:ln>
        </p:spPr>
      </p:sp>
      <p:sp>
        <p:nvSpPr>
          <p:cNvPr id="16" name="矩形 15"/>
          <p:cNvSpPr>
            <a:spLocks noGrp="1"/>
          </p:cNvSpPr>
          <p:nvPr/>
        </p:nvSpPr>
        <p:spPr>
          <a:xfrm>
            <a:off x="1143000" y="293370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动作被拒</a:t>
            </a:r>
            <a:endParaRPr sz="1350" b="1">
              <a:solidFill>
                <a:srgbClr val="18212B"/>
              </a:solidFill>
            </a:endParaRPr>
          </a:p>
        </p:txBody>
      </p:sp>
      <p:sp>
        <p:nvSpPr>
          <p:cNvPr id="17" name="矩形 16"/>
          <p:cNvSpPr>
            <a:spLocks noGrp="1"/>
          </p:cNvSpPr>
          <p:nvPr/>
        </p:nvSpPr>
        <p:spPr>
          <a:xfrm>
            <a:off x="4000500" y="293370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18" name="矩形 17"/>
          <p:cNvSpPr>
            <a:spLocks noGrp="1"/>
          </p:cNvSpPr>
          <p:nvPr/>
        </p:nvSpPr>
        <p:spPr>
          <a:xfrm>
            <a:off x="4762500" y="293370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schema、状态、权限</a:t>
            </a:r>
            <a:endParaRPr sz="1350" b="0">
              <a:solidFill>
                <a:srgbClr val="566573"/>
              </a:solidFill>
            </a:endParaRPr>
          </a:p>
        </p:txBody>
      </p:sp>
      <p:sp>
        <p:nvSpPr>
          <p:cNvPr id="19" name="圆角矩形 18"/>
          <p:cNvSpPr>
            <a:spLocks noGrp="1"/>
          </p:cNvSpPr>
          <p:nvPr/>
        </p:nvSpPr>
        <p:spPr>
          <a:xfrm>
            <a:off x="952500" y="3409950"/>
            <a:ext cx="2667000" cy="419100"/>
          </a:xfrm>
          <a:prstGeom prst="roundRect">
            <a:avLst>
              <a:gd name="adj" fmla="val 18182"/>
            </a:avLst>
          </a:prstGeom>
          <a:solidFill>
            <a:srgbClr val="EAF5F4"/>
          </a:solidFill>
          <a:ln w="0">
            <a:noFill/>
            <a:prstDash val="solid"/>
          </a:ln>
        </p:spPr>
      </p:sp>
      <p:sp>
        <p:nvSpPr>
          <p:cNvPr id="20" name="矩形 19"/>
          <p:cNvSpPr>
            <a:spLocks noGrp="1"/>
          </p:cNvSpPr>
          <p:nvPr/>
        </p:nvSpPr>
        <p:spPr>
          <a:xfrm>
            <a:off x="1143000" y="348615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工具未执行</a:t>
            </a:r>
            <a:endParaRPr sz="1350" b="1">
              <a:solidFill>
                <a:srgbClr val="18212B"/>
              </a:solidFill>
            </a:endParaRPr>
          </a:p>
        </p:txBody>
      </p:sp>
      <p:sp>
        <p:nvSpPr>
          <p:cNvPr id="21" name="矩形 20"/>
          <p:cNvSpPr>
            <a:spLocks noGrp="1"/>
          </p:cNvSpPr>
          <p:nvPr/>
        </p:nvSpPr>
        <p:spPr>
          <a:xfrm>
            <a:off x="4000500" y="348615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22" name="矩形 21"/>
          <p:cNvSpPr>
            <a:spLocks noGrp="1"/>
          </p:cNvSpPr>
          <p:nvPr/>
        </p:nvSpPr>
        <p:spPr>
          <a:xfrm>
            <a:off x="4762500" y="348615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是否获得 ApprovedAction</a:t>
            </a:r>
            <a:endParaRPr sz="1350" b="0">
              <a:solidFill>
                <a:srgbClr val="566573"/>
              </a:solidFill>
            </a:endParaRPr>
          </a:p>
        </p:txBody>
      </p:sp>
      <p:sp>
        <p:nvSpPr>
          <p:cNvPr id="23" name="圆角矩形 22"/>
          <p:cNvSpPr>
            <a:spLocks noGrp="1"/>
          </p:cNvSpPr>
          <p:nvPr/>
        </p:nvSpPr>
        <p:spPr>
          <a:xfrm>
            <a:off x="952500" y="3962400"/>
            <a:ext cx="2667000" cy="419100"/>
          </a:xfrm>
          <a:prstGeom prst="roundRect">
            <a:avLst>
              <a:gd name="adj" fmla="val 18182"/>
            </a:avLst>
          </a:prstGeom>
          <a:solidFill>
            <a:srgbClr val="EAF2F8"/>
          </a:solidFill>
          <a:ln w="0">
            <a:noFill/>
            <a:prstDash val="solid"/>
          </a:ln>
        </p:spPr>
      </p:sp>
      <p:sp>
        <p:nvSpPr>
          <p:cNvPr id="24" name="矩形 23"/>
          <p:cNvSpPr>
            <a:spLocks noGrp="1"/>
          </p:cNvSpPr>
          <p:nvPr/>
        </p:nvSpPr>
        <p:spPr>
          <a:xfrm>
            <a:off x="1143000" y="403860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状态未变</a:t>
            </a:r>
            <a:endParaRPr sz="1350" b="1">
              <a:solidFill>
                <a:srgbClr val="18212B"/>
              </a:solidFill>
            </a:endParaRPr>
          </a:p>
        </p:txBody>
      </p:sp>
      <p:sp>
        <p:nvSpPr>
          <p:cNvPr id="25" name="矩形 24"/>
          <p:cNvSpPr>
            <a:spLocks noGrp="1"/>
          </p:cNvSpPr>
          <p:nvPr/>
        </p:nvSpPr>
        <p:spPr>
          <a:xfrm>
            <a:off x="4000500" y="403860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26" name="矩形 25"/>
          <p:cNvSpPr>
            <a:spLocks noGrp="1"/>
          </p:cNvSpPr>
          <p:nvPr/>
        </p:nvSpPr>
        <p:spPr>
          <a:xfrm>
            <a:off x="4762500" y="403860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Observation 与 Reducer</a:t>
            </a:r>
            <a:endParaRPr sz="1350" b="0">
              <a:solidFill>
                <a:srgbClr val="566573"/>
              </a:solidFill>
            </a:endParaRPr>
          </a:p>
        </p:txBody>
      </p:sp>
      <p:sp>
        <p:nvSpPr>
          <p:cNvPr id="27" name="圆角矩形 26"/>
          <p:cNvSpPr>
            <a:spLocks noGrp="1"/>
          </p:cNvSpPr>
          <p:nvPr/>
        </p:nvSpPr>
        <p:spPr>
          <a:xfrm>
            <a:off x="952500" y="4514850"/>
            <a:ext cx="2667000" cy="419100"/>
          </a:xfrm>
          <a:prstGeom prst="roundRect">
            <a:avLst>
              <a:gd name="adj" fmla="val 18182"/>
            </a:avLst>
          </a:prstGeom>
          <a:solidFill>
            <a:srgbClr val="EAF5F4"/>
          </a:solidFill>
          <a:ln w="0">
            <a:noFill/>
            <a:prstDash val="solid"/>
          </a:ln>
        </p:spPr>
      </p:sp>
      <p:sp>
        <p:nvSpPr>
          <p:cNvPr id="28" name="矩形 27"/>
          <p:cNvSpPr>
            <a:spLocks noGrp="1"/>
          </p:cNvSpPr>
          <p:nvPr/>
        </p:nvSpPr>
        <p:spPr>
          <a:xfrm>
            <a:off x="1143000" y="459105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系统不停</a:t>
            </a:r>
            <a:endParaRPr sz="1350" b="1">
              <a:solidFill>
                <a:srgbClr val="18212B"/>
              </a:solidFill>
            </a:endParaRPr>
          </a:p>
        </p:txBody>
      </p:sp>
      <p:sp>
        <p:nvSpPr>
          <p:cNvPr id="29" name="矩形 28"/>
          <p:cNvSpPr>
            <a:spLocks noGrp="1"/>
          </p:cNvSpPr>
          <p:nvPr/>
        </p:nvSpPr>
        <p:spPr>
          <a:xfrm>
            <a:off x="4000500" y="459105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30" name="矩形 29"/>
          <p:cNvSpPr>
            <a:spLocks noGrp="1"/>
          </p:cNvSpPr>
          <p:nvPr/>
        </p:nvSpPr>
        <p:spPr>
          <a:xfrm>
            <a:off x="4762500" y="459105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GoalVerifier、预算、重复检测</a:t>
            </a:r>
            <a:endParaRPr sz="1350" b="0">
              <a:solidFill>
                <a:srgbClr val="566573"/>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可观测性把失败从“感觉模型不聪明”变成具体的协议、授权、工具、状态或终止缺陷。</a:t>
            </a:r>
            <a:endParaRPr sz="1350" b="1">
              <a:solidFill>
                <a:srgbClr val="163A5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Runtime 实验应证明“所有路径最终停止”</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用 FakeModel 稳定复现真实模型最难复现的边界</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20</a:t>
            </a:r>
            <a:endParaRPr sz="825" b="0">
              <a:solidFill>
                <a:srgbClr val="7D8994"/>
              </a:solidFill>
            </a:endParaRPr>
          </a:p>
        </p:txBody>
      </p:sp>
      <p:sp>
        <p:nvSpPr>
          <p:cNvPr id="7" name="圆角矩形 6"/>
          <p:cNvSpPr>
            <a:spLocks noGrp="1"/>
          </p:cNvSpPr>
          <p:nvPr/>
        </p:nvSpPr>
        <p:spPr>
          <a:xfrm>
            <a:off x="609600" y="1809750"/>
            <a:ext cx="5257800" cy="3381375"/>
          </a:xfrm>
          <a:prstGeom prst="roundRect">
            <a:avLst>
              <a:gd name="adj" fmla="val 2254"/>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81375"/>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故障序列</a:t>
            </a:r>
            <a:endParaRPr sz="1650" b="1">
              <a:solidFill>
                <a:srgbClr val="286F9E"/>
              </a:solidFill>
            </a:endParaRPr>
          </a:p>
        </p:txBody>
      </p:sp>
      <p:sp>
        <p:nvSpPr>
          <p:cNvPr id="10" name="矩形 9"/>
          <p:cNvSpPr>
            <a:spLocks noGrp="1"/>
          </p:cNvSpPr>
          <p:nvPr/>
        </p:nvSpPr>
        <p:spPr>
          <a:xfrm>
            <a:off x="838200" y="2362200"/>
            <a:ext cx="48577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非法 JSON → 合法动作</a:t>
            </a:r>
            <a:endParaRPr sz="1275" b="0">
              <a:solidFill>
                <a:srgbClr val="18212B"/>
              </a:solidFill>
            </a:endParaRPr>
          </a:p>
          <a:p>
            <a:pPr algn="l">
              <a:defRPr sz="1275" b="0">
                <a:solidFill>
                  <a:srgbClr val="18212B"/>
                </a:solidFill>
              </a:defRPr>
            </a:pPr>
            <a:r>
              <a:rPr sz="1275" b="0">
                <a:solidFill>
                  <a:srgbClr val="18212B"/>
                </a:solidFill>
              </a:rPr>
              <a:t>未知动作 → 恢复</a:t>
            </a:r>
            <a:endParaRPr sz="1275" b="0">
              <a:solidFill>
                <a:srgbClr val="18212B"/>
              </a:solidFill>
            </a:endParaRPr>
          </a:p>
          <a:p>
            <a:pPr algn="l">
              <a:defRPr sz="1275" b="0">
                <a:solidFill>
                  <a:srgbClr val="18212B"/>
                </a:solidFill>
              </a:defRPr>
            </a:pPr>
            <a:r>
              <a:rPr sz="1275" b="0">
                <a:solidFill>
                  <a:srgbClr val="18212B"/>
                </a:solidFill>
              </a:rPr>
              <a:t>无限 echo</a:t>
            </a:r>
            <a:endParaRPr sz="1275" b="0">
              <a:solidFill>
                <a:srgbClr val="18212B"/>
              </a:solidFill>
            </a:endParaRPr>
          </a:p>
          <a:p>
            <a:pPr algn="l">
              <a:defRPr sz="1275" b="0">
                <a:solidFill>
                  <a:srgbClr val="18212B"/>
                </a:solidFill>
              </a:defRPr>
            </a:pPr>
            <a:r>
              <a:rPr sz="1275" b="0">
                <a:solidFill>
                  <a:srgbClr val="18212B"/>
                </a:solidFill>
              </a:rPr>
              <a:t>重复相同动作</a:t>
            </a:r>
            <a:endParaRPr sz="1275" b="0">
              <a:solidFill>
                <a:srgbClr val="18212B"/>
              </a:solidFill>
            </a:endParaRPr>
          </a:p>
          <a:p>
            <a:pPr algn="l">
              <a:defRPr sz="1275" b="0">
                <a:solidFill>
                  <a:srgbClr val="18212B"/>
                </a:solidFill>
              </a:defRPr>
            </a:pPr>
            <a:r>
              <a:rPr sz="1275" b="0">
                <a:solidFill>
                  <a:srgbClr val="18212B"/>
                </a:solidFill>
              </a:rPr>
              <a:t>finish 后继续动作</a:t>
            </a:r>
            <a:endParaRPr sz="1275" b="0">
              <a:solidFill>
                <a:srgbClr val="18212B"/>
              </a:solidFill>
            </a:endParaRPr>
          </a:p>
          <a:p>
            <a:pPr algn="l">
              <a:defRPr sz="1275" b="0">
                <a:solidFill>
                  <a:srgbClr val="18212B"/>
                </a:solidFill>
              </a:defRPr>
            </a:pPr>
            <a:r>
              <a:rPr sz="1275" b="0">
                <a:solidFill>
                  <a:srgbClr val="18212B"/>
                </a:solidFill>
              </a:rPr>
              <a:t>模型错误 / deadline 超时</a:t>
            </a:r>
            <a:endParaRPr sz="1275" b="0">
              <a:solidFill>
                <a:srgbClr val="18212B"/>
              </a:solidFill>
            </a:endParaRPr>
          </a:p>
        </p:txBody>
      </p:sp>
      <p:sp>
        <p:nvSpPr>
          <p:cNvPr id="11" name="圆角矩形 10"/>
          <p:cNvSpPr>
            <a:spLocks noGrp="1"/>
          </p:cNvSpPr>
          <p:nvPr/>
        </p:nvSpPr>
        <p:spPr>
          <a:xfrm>
            <a:off x="6324600" y="1809750"/>
            <a:ext cx="5257800" cy="3381375"/>
          </a:xfrm>
          <a:prstGeom prst="roundRect">
            <a:avLst>
              <a:gd name="adj" fmla="val 2254"/>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81375"/>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必须保持的不变量</a:t>
            </a:r>
            <a:endParaRPr sz="1650" b="1">
              <a:solidFill>
                <a:srgbClr val="2C7A7B"/>
              </a:solidFill>
            </a:endParaRPr>
          </a:p>
        </p:txBody>
      </p:sp>
      <p:sp>
        <p:nvSpPr>
          <p:cNvPr id="14" name="矩形 13"/>
          <p:cNvSpPr>
            <a:spLocks noGrp="1"/>
          </p:cNvSpPr>
          <p:nvPr/>
        </p:nvSpPr>
        <p:spPr>
          <a:xfrm>
            <a:off x="6553200" y="2362200"/>
            <a:ext cx="48577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非法动作不执行</a:t>
            </a:r>
            <a:endParaRPr sz="1275" b="0">
              <a:solidFill>
                <a:srgbClr val="18212B"/>
              </a:solidFill>
            </a:endParaRPr>
          </a:p>
          <a:p>
            <a:pPr algn="l">
              <a:defRPr sz="1275" b="0">
                <a:solidFill>
                  <a:srgbClr val="18212B"/>
                </a:solidFill>
              </a:defRPr>
            </a:pPr>
            <a:r>
              <a:rPr sz="1275" b="0">
                <a:solidFill>
                  <a:srgbClr val="18212B"/>
                </a:solidFill>
              </a:rPr>
              <a:t>steps ≤ max_steps</a:t>
            </a:r>
            <a:endParaRPr sz="1275" b="0">
              <a:solidFill>
                <a:srgbClr val="18212B"/>
              </a:solidFill>
            </a:endParaRPr>
          </a:p>
          <a:p>
            <a:pPr algn="l">
              <a:defRPr sz="1275" b="0">
                <a:solidFill>
                  <a:srgbClr val="18212B"/>
                </a:solidFill>
              </a:defRPr>
            </a:pPr>
            <a:r>
              <a:rPr sz="1275" b="0">
                <a:solidFill>
                  <a:srgbClr val="18212B"/>
                </a:solidFill>
              </a:rPr>
              <a:t>终止后环境不再改变</a:t>
            </a:r>
            <a:endParaRPr sz="1275" b="0">
              <a:solidFill>
                <a:srgbClr val="18212B"/>
              </a:solidFill>
            </a:endParaRPr>
          </a:p>
          <a:p>
            <a:pPr algn="l">
              <a:defRPr sz="1275" b="0">
                <a:solidFill>
                  <a:srgbClr val="18212B"/>
                </a:solidFill>
              </a:defRPr>
            </a:pPr>
            <a:r>
              <a:rPr sz="1275" b="0">
                <a:solidFill>
                  <a:srgbClr val="18212B"/>
                </a:solidFill>
              </a:rPr>
              <a:t>每次动作都有 Trace</a:t>
            </a:r>
            <a:endParaRPr sz="1275" b="0">
              <a:solidFill>
                <a:srgbClr val="18212B"/>
              </a:solidFill>
            </a:endParaRPr>
          </a:p>
          <a:p>
            <a:pPr algn="l">
              <a:defRPr sz="1275" b="0">
                <a:solidFill>
                  <a:srgbClr val="18212B"/>
                </a:solidFill>
              </a:defRPr>
            </a:pPr>
            <a:r>
              <a:rPr sz="1275" b="0">
                <a:solidFill>
                  <a:srgbClr val="18212B"/>
                </a:solidFill>
              </a:rPr>
              <a:t>所有运行都有 StopReason</a:t>
            </a:r>
            <a:endParaRPr sz="1275" b="0">
              <a:solidFill>
                <a:srgbClr val="18212B"/>
              </a:solidFill>
            </a:endParaRPr>
          </a:p>
          <a:p>
            <a:pPr algn="l">
              <a:defRPr sz="1275" b="0">
                <a:solidFill>
                  <a:srgbClr val="18212B"/>
                </a:solidFill>
              </a:defRPr>
            </a:pPr>
            <a:r>
              <a:rPr sz="1275" b="0">
                <a:solidFill>
                  <a:srgbClr val="18212B"/>
                </a:solidFill>
              </a:rPr>
              <a:t>失败仍保留在结果中</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FakeModel 不是模拟智能，而是把模型行为变成确定输入，以测试 Runtime 对任何输入都守住不变量。</a:t>
            </a:r>
            <a:endParaRPr sz="1350" b="1">
              <a:solidFill>
                <a:srgbClr val="163A5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让</a:t>
            </a:r>
            <a:r>
              <a:rPr lang="en-US" altLang="zh-CN" sz="2700" b="1">
                <a:solidFill>
                  <a:srgbClr val="18212B"/>
                </a:solidFill>
              </a:rPr>
              <a:t> Runtime </a:t>
            </a:r>
            <a:r>
              <a:rPr lang="zh-CN" altLang="en-US" sz="2700" b="1">
                <a:solidFill>
                  <a:srgbClr val="18212B"/>
                </a:solidFill>
              </a:rPr>
              <a:t>面对一个坏模型</a:t>
            </a:r>
            <a:endParaRPr lang="zh-CN" altLang="en-US"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95325" y="2492375"/>
            <a:ext cx="6891020" cy="1274445"/>
          </a:xfrm>
          <a:prstGeom prst="rect">
            <a:avLst/>
          </a:prstGeom>
          <a:noFill/>
        </p:spPr>
        <p:txBody>
          <a:bodyPr wrap="square" rtlCol="0">
            <a:spAutoFit/>
          </a:bodyPr>
          <a:p>
            <a:pPr>
              <a:lnSpc>
                <a:spcPct val="110000"/>
              </a:lnSpc>
              <a:buNone/>
            </a:pPr>
            <a:r>
              <a:rPr lang="zh-CN" altLang="en-US" sz="1400">
                <a:ea typeface="宋体" panose="02010600030101010101" pitchFamily="2" charset="-122"/>
              </a:rPr>
              <a:t>第</a:t>
            </a:r>
            <a:r>
              <a:rPr lang="en-US" altLang="zh-CN" sz="1400">
                <a:ea typeface="宋体" panose="02010600030101010101" pitchFamily="2" charset="-122"/>
              </a:rPr>
              <a:t> 1 </a:t>
            </a:r>
            <a:r>
              <a:rPr lang="zh-CN" altLang="en-US" sz="1400">
                <a:ea typeface="宋体" panose="02010600030101010101" pitchFamily="2" charset="-122"/>
              </a:rPr>
              <a:t>轮：</a:t>
            </a:r>
            <a:r>
              <a:rPr lang="en-US" altLang="zh-CN" sz="1400">
                <a:ea typeface="宋体" panose="02010600030101010101" pitchFamily="2" charset="-122"/>
              </a:rPr>
              <a:t>LLM </a:t>
            </a:r>
            <a:r>
              <a:rPr lang="zh-CN" altLang="en-US" sz="1400">
                <a:ea typeface="宋体" panose="02010600030101010101" pitchFamily="2" charset="-122"/>
              </a:rPr>
              <a:t>说</a:t>
            </a:r>
            <a:r>
              <a:rPr lang="en-US" altLang="zh-CN" sz="1400">
                <a:ea typeface="宋体" panose="02010600030101010101" pitchFamily="2" charset="-122"/>
              </a:rPr>
              <a:t> "</a:t>
            </a:r>
            <a:r>
              <a:rPr lang="zh-CN" altLang="en-US" sz="1400">
                <a:ea typeface="宋体" panose="02010600030101010101" pitchFamily="2" charset="-122"/>
              </a:rPr>
              <a:t>我还在想</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系统让它继续</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第</a:t>
            </a:r>
            <a:r>
              <a:rPr lang="en-US" altLang="zh-CN" sz="1400">
                <a:ea typeface="宋体" panose="02010600030101010101" pitchFamily="2" charset="-122"/>
              </a:rPr>
              <a:t> 2 </a:t>
            </a:r>
            <a:r>
              <a:rPr lang="zh-CN" altLang="en-US" sz="1400">
                <a:ea typeface="宋体" panose="02010600030101010101" pitchFamily="2" charset="-122"/>
              </a:rPr>
              <a:t>轮：</a:t>
            </a:r>
            <a:r>
              <a:rPr lang="en-US" altLang="zh-CN" sz="1400">
                <a:ea typeface="宋体" panose="02010600030101010101" pitchFamily="2" charset="-122"/>
              </a:rPr>
              <a:t>LLM </a:t>
            </a:r>
            <a:r>
              <a:rPr lang="zh-CN" altLang="en-US" sz="1400">
                <a:ea typeface="宋体" panose="02010600030101010101" pitchFamily="2" charset="-122"/>
              </a:rPr>
              <a:t>说</a:t>
            </a:r>
            <a:r>
              <a:rPr lang="en-US" altLang="zh-CN" sz="1400">
                <a:ea typeface="宋体" panose="02010600030101010101" pitchFamily="2" charset="-122"/>
              </a:rPr>
              <a:t> "</a:t>
            </a:r>
            <a:r>
              <a:rPr lang="zh-CN" altLang="en-US" sz="1400">
                <a:ea typeface="宋体" panose="02010600030101010101" pitchFamily="2" charset="-122"/>
              </a:rPr>
              <a:t>调用</a:t>
            </a:r>
            <a:r>
              <a:rPr lang="en-US" altLang="zh-CN" sz="1400">
                <a:ea typeface="宋体" panose="02010600030101010101" pitchFamily="2" charset="-122"/>
              </a:rPr>
              <a:t> echo </a:t>
            </a:r>
            <a:r>
              <a:rPr lang="zh-CN" altLang="en-US" sz="1400">
                <a:ea typeface="宋体" panose="02010600030101010101" pitchFamily="2" charset="-122"/>
              </a:rPr>
              <a:t>工具</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系统执行工具</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第</a:t>
            </a:r>
            <a:r>
              <a:rPr lang="en-US" altLang="zh-CN" sz="1400">
                <a:ea typeface="宋体" panose="02010600030101010101" pitchFamily="2" charset="-122"/>
              </a:rPr>
              <a:t> 3 </a:t>
            </a:r>
            <a:r>
              <a:rPr lang="zh-CN" altLang="en-US" sz="1400">
                <a:ea typeface="宋体" panose="02010600030101010101" pitchFamily="2" charset="-122"/>
              </a:rPr>
              <a:t>轮：</a:t>
            </a:r>
            <a:r>
              <a:rPr lang="en-US" altLang="zh-CN" sz="1400">
                <a:ea typeface="宋体" panose="02010600030101010101" pitchFamily="2" charset="-122"/>
              </a:rPr>
              <a:t>LLM </a:t>
            </a:r>
            <a:r>
              <a:rPr lang="zh-CN" altLang="en-US" sz="1400">
                <a:ea typeface="宋体" panose="02010600030101010101" pitchFamily="2" charset="-122"/>
              </a:rPr>
              <a:t>说</a:t>
            </a:r>
            <a:r>
              <a:rPr lang="en-US" altLang="zh-CN" sz="1400">
                <a:ea typeface="宋体" panose="02010600030101010101" pitchFamily="2" charset="-122"/>
              </a:rPr>
              <a:t> "</a:t>
            </a:r>
            <a:r>
              <a:rPr lang="zh-CN" altLang="en-US" sz="1400">
                <a:ea typeface="宋体" panose="02010600030101010101" pitchFamily="2" charset="-122"/>
              </a:rPr>
              <a:t>我做完了，答案是</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系统检查、接受</a:t>
            </a:r>
            <a:endParaRPr lang="zh-CN" altLang="en-US" sz="1400">
              <a:ea typeface="宋体" panose="02010600030101010101" pitchFamily="2" charset="-122"/>
            </a:endParaRPr>
          </a:p>
          <a:p>
            <a:pPr>
              <a:lnSpc>
                <a:spcPct val="110000"/>
              </a:lnSpc>
              <a:buNone/>
            </a:pP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面对</a:t>
            </a:r>
            <a:r>
              <a:rPr lang="en-US" altLang="zh-CN" sz="1400">
                <a:ea typeface="宋体" panose="02010600030101010101" pitchFamily="2" charset="-122"/>
              </a:rPr>
              <a:t>LLM</a:t>
            </a:r>
            <a:r>
              <a:rPr lang="zh-CN" altLang="en-US" sz="1400">
                <a:ea typeface="宋体" panose="02010600030101010101" pitchFamily="2" charset="-122"/>
              </a:rPr>
              <a:t>返回的内容，怎么确保正确且稳定的被下一个流水消费</a:t>
            </a:r>
            <a:endParaRPr lang="zh-CN" altLang="en-US" sz="140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第一道关卡：</a:t>
            </a:r>
            <a:r>
              <a:rPr lang="en-US" altLang="zh-CN" sz="2700" b="1">
                <a:solidFill>
                  <a:srgbClr val="18212B"/>
                </a:solidFill>
              </a:rPr>
              <a:t>parse_action</a:t>
            </a:r>
            <a:endParaRPr lang="en-US" alt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556385"/>
            <a:ext cx="6891020" cy="1983740"/>
          </a:xfrm>
          <a:prstGeom prst="rect">
            <a:avLst/>
          </a:prstGeom>
          <a:noFill/>
        </p:spPr>
        <p:txBody>
          <a:bodyPr wrap="square" rtlCol="0">
            <a:spAutoFit/>
          </a:bodyPr>
          <a:p>
            <a:pPr>
              <a:lnSpc>
                <a:spcPct val="110000"/>
              </a:lnSpc>
              <a:buNone/>
            </a:pPr>
            <a:r>
              <a:rPr lang="en-US" altLang="zh-CN" sz="1400">
                <a:ea typeface="宋体" panose="02010600030101010101" pitchFamily="2" charset="-122"/>
              </a:rPr>
              <a:t>LLM </a:t>
            </a:r>
            <a:r>
              <a:rPr lang="zh-CN" altLang="en-US" sz="1400">
                <a:ea typeface="宋体" panose="02010600030101010101" pitchFamily="2" charset="-122"/>
              </a:rPr>
              <a:t>输出了一段文本：</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{"action":"echo","arguments":{"text":"hello"}}</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但代码里需要的是一个</a:t>
            </a:r>
            <a:r>
              <a:rPr lang="en-US" altLang="zh-CN" sz="1400">
                <a:ea typeface="宋体" panose="02010600030101010101" pitchFamily="2" charset="-122"/>
              </a:rPr>
              <a:t> Rust </a:t>
            </a:r>
            <a:r>
              <a:rPr lang="zh-CN" altLang="en-US" sz="1400">
                <a:ea typeface="宋体" panose="02010600030101010101" pitchFamily="2" charset="-122"/>
              </a:rPr>
              <a:t>枚举：</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ProposedAction::Echo { text: "hello".to_owned() }</a:t>
            </a:r>
            <a:endParaRPr lang="en-US" altLang="zh-CN" sz="1400">
              <a:ea typeface="宋体" panose="02010600030101010101" pitchFamily="2" charset="-122"/>
            </a:endParaRPr>
          </a:p>
        </p:txBody>
      </p:sp>
      <p:sp>
        <p:nvSpPr>
          <p:cNvPr id="8" name="文本框 7"/>
          <p:cNvSpPr txBox="1"/>
          <p:nvPr/>
        </p:nvSpPr>
        <p:spPr>
          <a:xfrm>
            <a:off x="5880100" y="1772285"/>
            <a:ext cx="4064000" cy="1198880"/>
          </a:xfrm>
          <a:prstGeom prst="rect">
            <a:avLst/>
          </a:prstGeom>
          <a:noFill/>
        </p:spPr>
        <p:txBody>
          <a:bodyPr wrap="square" rtlCol="0">
            <a:spAutoFit/>
          </a:bodyPr>
          <a:p>
            <a:r>
              <a:rPr lang="en-US" altLang="zh-CN"/>
              <a:t>parse_action </a:t>
            </a:r>
            <a:r>
              <a:rPr lang="zh-CN" altLang="en-US"/>
              <a:t>做的事就是把这个</a:t>
            </a:r>
            <a:r>
              <a:rPr lang="en-US" altLang="zh-CN"/>
              <a:t> JSON </a:t>
            </a:r>
            <a:r>
              <a:rPr lang="zh-CN" altLang="en-US"/>
              <a:t>字符串翻译成</a:t>
            </a:r>
            <a:r>
              <a:rPr lang="en-US" altLang="zh-CN"/>
              <a:t> Rust </a:t>
            </a:r>
            <a:r>
              <a:rPr lang="zh-CN" altLang="en-US"/>
              <a:t>枚举。它只管翻译</a:t>
            </a:r>
            <a:r>
              <a:rPr lang="en-US" altLang="zh-CN"/>
              <a:t>——</a:t>
            </a:r>
            <a:r>
              <a:rPr lang="zh-CN" altLang="en-US"/>
              <a:t>把文本变成枚举。不管</a:t>
            </a:r>
            <a:r>
              <a:rPr lang="en-US" altLang="zh-CN"/>
              <a:t>"</a:t>
            </a:r>
            <a:r>
              <a:rPr lang="zh-CN" altLang="en-US"/>
              <a:t>这个动作是否能执行</a:t>
            </a:r>
            <a:r>
              <a:rPr lang="en-US" altLang="zh-CN"/>
              <a:t>"</a:t>
            </a:r>
            <a:r>
              <a:rPr lang="zh-CN" altLang="en-US"/>
              <a:t>。</a:t>
            </a:r>
            <a:endParaRPr lang="zh-CN" altLang="en-US"/>
          </a:p>
        </p:txBody>
      </p:sp>
      <p:sp>
        <p:nvSpPr>
          <p:cNvPr id="10" name="文本框 9"/>
          <p:cNvSpPr txBox="1"/>
          <p:nvPr/>
        </p:nvSpPr>
        <p:spPr>
          <a:xfrm>
            <a:off x="623570" y="3644900"/>
            <a:ext cx="6891020" cy="922020"/>
          </a:xfrm>
          <a:prstGeom prst="rect">
            <a:avLst/>
          </a:prstGeom>
          <a:noFill/>
        </p:spPr>
        <p:txBody>
          <a:bodyPr wrap="square" rtlCol="0">
            <a:spAutoFit/>
          </a:bodyPr>
          <a:p>
            <a:pPr algn="l">
              <a:lnSpc>
                <a:spcPct val="100000"/>
              </a:lnSpc>
              <a:buClrTx/>
              <a:buSzTx/>
              <a:buNone/>
            </a:pPr>
            <a:r>
              <a:rPr lang="en-US" altLang="zh-CN" sz="1800"/>
              <a:t>{"action":"continue"}</a:t>
            </a:r>
            <a:endParaRPr lang="en-US" altLang="zh-CN" sz="1800"/>
          </a:p>
          <a:p>
            <a:pPr algn="l">
              <a:lnSpc>
                <a:spcPct val="100000"/>
              </a:lnSpc>
              <a:buClrTx/>
              <a:buSzTx/>
              <a:buNone/>
            </a:pPr>
            <a:r>
              <a:rPr lang="en-US" altLang="zh-CN" sz="1800"/>
              <a:t>{"action":"echo","arguments":{"text":"hello"}}</a:t>
            </a:r>
            <a:endParaRPr lang="en-US" altLang="zh-CN" sz="1800"/>
          </a:p>
          <a:p>
            <a:pPr algn="l">
              <a:lnSpc>
                <a:spcPct val="100000"/>
              </a:lnSpc>
              <a:buClrTx/>
              <a:buSzTx/>
              <a:buNone/>
            </a:pPr>
            <a:r>
              <a:rPr lang="en-US" altLang="zh-CN" sz="1800"/>
              <a:t>{"action":"finish","arguments":{"answer":"done"}}</a:t>
            </a:r>
            <a:endParaRPr lang="en-US" altLang="zh-CN" sz="1800"/>
          </a:p>
        </p:txBody>
      </p:sp>
      <p:sp>
        <p:nvSpPr>
          <p:cNvPr id="11" name="文本框 10"/>
          <p:cNvSpPr txBox="1"/>
          <p:nvPr/>
        </p:nvSpPr>
        <p:spPr>
          <a:xfrm>
            <a:off x="6744335" y="3429000"/>
            <a:ext cx="4064000" cy="1476375"/>
          </a:xfrm>
          <a:prstGeom prst="rect">
            <a:avLst/>
          </a:prstGeom>
          <a:noFill/>
        </p:spPr>
        <p:txBody>
          <a:bodyPr wrap="square" rtlCol="0">
            <a:spAutoFit/>
          </a:bodyPr>
          <a:p>
            <a:r>
              <a:rPr lang="en-US" altLang="zh-CN"/>
              <a:t>not json</a:t>
            </a:r>
            <a:endParaRPr lang="en-US" altLang="zh-CN"/>
          </a:p>
          <a:p>
            <a:r>
              <a:rPr lang="en-US" altLang="zh-CN"/>
              <a:t>{}</a:t>
            </a:r>
            <a:endParaRPr lang="en-US" altLang="zh-CN"/>
          </a:p>
          <a:p>
            <a:r>
              <a:rPr lang="en-US" altLang="zh-CN"/>
              <a:t>{"action":"unknown"}</a:t>
            </a:r>
            <a:endParaRPr lang="en-US" altLang="zh-CN"/>
          </a:p>
          <a:p>
            <a:r>
              <a:rPr lang="en-US" altLang="zh-CN"/>
              <a:t>{"action":"echo","arguments":{"text":""}}</a:t>
            </a:r>
            <a:endParaRPr lang="en-US" altLang="zh-CN"/>
          </a:p>
          <a:p>
            <a:r>
              <a:rPr lang="en-US" altLang="zh-CN"/>
              <a:t>{"action":"continue","surprise":true}</a:t>
            </a:r>
            <a:endParaRPr lang="en-US" altLang="zh-CN"/>
          </a:p>
        </p:txBody>
      </p:sp>
      <p:sp>
        <p:nvSpPr>
          <p:cNvPr id="12" name="文本框 11"/>
          <p:cNvSpPr txBox="1"/>
          <p:nvPr/>
        </p:nvSpPr>
        <p:spPr>
          <a:xfrm>
            <a:off x="816610" y="5540375"/>
            <a:ext cx="9351010" cy="645160"/>
          </a:xfrm>
          <a:prstGeom prst="rect">
            <a:avLst/>
          </a:prstGeom>
          <a:noFill/>
          <a:ln>
            <a:solidFill>
              <a:srgbClr val="0070C0"/>
            </a:solidFill>
          </a:ln>
        </p:spPr>
        <p:txBody>
          <a:bodyPr wrap="square" rtlCol="0">
            <a:spAutoFit/>
          </a:bodyPr>
          <a:p>
            <a:r>
              <a:rPr lang="en-US" altLang="zh-CN"/>
              <a:t>cargo test --offline -p lesson-02-runtime `</a:t>
            </a:r>
            <a:endParaRPr lang="en-US" altLang="zh-CN"/>
          </a:p>
          <a:p>
            <a:r>
              <a:rPr lang="en-US" altLang="zh-CN"/>
              <a:t>  parses_the_single_json_protocol -- --nocapture</a:t>
            </a:r>
            <a:endParaRPr lang="en-US" altLang="zh-CN"/>
          </a:p>
        </p:txBody>
      </p:sp>
      <p:sp>
        <p:nvSpPr>
          <p:cNvPr id="13" name="文本框 12"/>
          <p:cNvSpPr txBox="1"/>
          <p:nvPr/>
        </p:nvSpPr>
        <p:spPr>
          <a:xfrm>
            <a:off x="2162810" y="4913630"/>
            <a:ext cx="4064000" cy="368300"/>
          </a:xfrm>
          <a:prstGeom prst="rect">
            <a:avLst/>
          </a:prstGeom>
          <a:noFill/>
        </p:spPr>
        <p:txBody>
          <a:bodyPr wrap="square" rtlCol="0">
            <a:spAutoFit/>
          </a:bodyPr>
          <a:p>
            <a:r>
              <a:rPr lang="en-US" altLang="zh-CN"/>
              <a:t>yes</a:t>
            </a:r>
            <a:endParaRPr lang="en-US" altLang="zh-CN"/>
          </a:p>
        </p:txBody>
      </p:sp>
      <p:sp>
        <p:nvSpPr>
          <p:cNvPr id="14" name="文本框 13"/>
          <p:cNvSpPr txBox="1"/>
          <p:nvPr/>
        </p:nvSpPr>
        <p:spPr>
          <a:xfrm>
            <a:off x="7824470" y="4940935"/>
            <a:ext cx="4064000" cy="368300"/>
          </a:xfrm>
          <a:prstGeom prst="rect">
            <a:avLst/>
          </a:prstGeom>
          <a:noFill/>
        </p:spPr>
        <p:txBody>
          <a:bodyPr wrap="square" rtlCol="0">
            <a:spAutoFit/>
          </a:bodyPr>
          <a:p>
            <a:r>
              <a:rPr lang="en-US" altLang="zh-CN"/>
              <a:t>not</a:t>
            </a:r>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第二道关卡：</a:t>
            </a:r>
            <a:r>
              <a:rPr lang="en-US" altLang="zh-CN" sz="2700" b="1">
                <a:solidFill>
                  <a:srgbClr val="18212B"/>
                </a:solidFill>
              </a:rPr>
              <a:t>validate_action</a:t>
            </a:r>
            <a:endParaRPr lang="en-US" alt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95325" y="2492375"/>
            <a:ext cx="6891020" cy="1983740"/>
          </a:xfrm>
          <a:prstGeom prst="rect">
            <a:avLst/>
          </a:prstGeom>
          <a:noFill/>
        </p:spPr>
        <p:txBody>
          <a:bodyPr wrap="square" rtlCol="0">
            <a:spAutoFit/>
          </a:bodyPr>
          <a:p>
            <a:pPr>
              <a:lnSpc>
                <a:spcPct val="110000"/>
              </a:lnSpc>
              <a:buNone/>
            </a:pPr>
            <a:r>
              <a:rPr lang="zh-CN" altLang="en-US" sz="1400">
                <a:ea typeface="宋体" panose="02010600030101010101" pitchFamily="2" charset="-122"/>
              </a:rPr>
              <a:t>为什么翻译完不能直接执行？</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因为</a:t>
            </a:r>
            <a:r>
              <a:rPr lang="en-US" altLang="zh-CN" sz="1400">
                <a:ea typeface="宋体" panose="02010600030101010101" pitchFamily="2" charset="-122"/>
              </a:rPr>
              <a:t> LLM </a:t>
            </a:r>
            <a:r>
              <a:rPr lang="zh-CN" altLang="en-US" sz="1400">
                <a:ea typeface="宋体" panose="02010600030101010101" pitchFamily="2" charset="-122"/>
              </a:rPr>
              <a:t>可能输出合法</a:t>
            </a:r>
            <a:r>
              <a:rPr lang="en-US" altLang="zh-CN" sz="1400">
                <a:ea typeface="宋体" panose="02010600030101010101" pitchFamily="2" charset="-122"/>
              </a:rPr>
              <a:t> JSON </a:t>
            </a:r>
            <a:r>
              <a:rPr lang="zh-CN" altLang="en-US" sz="1400">
                <a:ea typeface="宋体" panose="02010600030101010101" pitchFamily="2" charset="-122"/>
              </a:rPr>
              <a:t>但语义不对的东西：</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{"action":"finish","arguments":{"answer":""}}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这个</a:t>
            </a:r>
            <a:r>
              <a:rPr lang="en-US" altLang="zh-CN" sz="1400">
                <a:ea typeface="宋体" panose="02010600030101010101" pitchFamily="2" charset="-122"/>
              </a:rPr>
              <a:t> JSON </a:t>
            </a:r>
            <a:r>
              <a:rPr lang="zh-CN" altLang="en-US" sz="1400">
                <a:ea typeface="宋体" panose="02010600030101010101" pitchFamily="2" charset="-122"/>
              </a:rPr>
              <a:t>格式完全正确，</a:t>
            </a:r>
            <a:r>
              <a:rPr lang="en-US" altLang="zh-CN" sz="1400">
                <a:ea typeface="宋体" panose="02010600030101010101" pitchFamily="2" charset="-122"/>
              </a:rPr>
              <a:t>parse_action </a:t>
            </a:r>
            <a:r>
              <a:rPr lang="zh-CN" altLang="en-US" sz="1400">
                <a:ea typeface="宋体" panose="02010600030101010101" pitchFamily="2" charset="-122"/>
              </a:rPr>
              <a:t>会成功返回</a:t>
            </a:r>
            <a:r>
              <a:rPr lang="en-US" altLang="zh-CN" sz="1400">
                <a:ea typeface="宋体" panose="02010600030101010101" pitchFamily="2" charset="-122"/>
              </a:rPr>
              <a:t> ProposedAction::Finish { answer: "" }</a:t>
            </a:r>
            <a:r>
              <a:rPr lang="zh-CN" altLang="en-US" sz="1400">
                <a:ea typeface="宋体" panose="02010600030101010101" pitchFamily="2" charset="-122"/>
              </a:rPr>
              <a:t>。</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但</a:t>
            </a:r>
            <a:r>
              <a:rPr lang="en-US" altLang="zh-CN" sz="1400">
                <a:ea typeface="宋体" panose="02010600030101010101" pitchFamily="2" charset="-122"/>
              </a:rPr>
              <a:t>——</a:t>
            </a:r>
            <a:r>
              <a:rPr lang="zh-CN" altLang="en-US" sz="1400">
                <a:ea typeface="宋体" panose="02010600030101010101" pitchFamily="2" charset="-122"/>
              </a:rPr>
              <a:t>空答案能接受吗？这得看业务规则。所以需要第二道关卡</a:t>
            </a:r>
            <a:endParaRPr lang="zh-CN" altLang="en-US" sz="1400">
              <a:ea typeface="宋体" panose="02010600030101010101" pitchFamily="2" charset="-122"/>
            </a:endParaRPr>
          </a:p>
        </p:txBody>
      </p:sp>
      <p:sp>
        <p:nvSpPr>
          <p:cNvPr id="8" name="文本框 7"/>
          <p:cNvSpPr txBox="1"/>
          <p:nvPr/>
        </p:nvSpPr>
        <p:spPr>
          <a:xfrm>
            <a:off x="695325" y="4725035"/>
            <a:ext cx="4064000" cy="645160"/>
          </a:xfrm>
          <a:prstGeom prst="rect">
            <a:avLst/>
          </a:prstGeom>
          <a:noFill/>
        </p:spPr>
        <p:txBody>
          <a:bodyPr wrap="square" rtlCol="0">
            <a:spAutoFit/>
          </a:bodyPr>
          <a:p>
            <a:r>
              <a:rPr lang="en-US" altLang="zh-CN"/>
              <a:t>validate_action </a:t>
            </a:r>
            <a:r>
              <a:rPr lang="zh-CN" altLang="en-US"/>
              <a:t>只管安检</a:t>
            </a:r>
            <a:r>
              <a:rPr lang="en-US" altLang="zh-CN"/>
              <a:t>——</a:t>
            </a:r>
            <a:r>
              <a:rPr lang="zh-CN" altLang="en-US"/>
              <a:t>参数合法吗？能放行吗？</a:t>
            </a:r>
            <a:endParaRPr lang="zh-CN" altLang="en-US"/>
          </a:p>
        </p:txBody>
      </p:sp>
      <p:sp>
        <p:nvSpPr>
          <p:cNvPr id="4" name="文本框 3"/>
          <p:cNvSpPr txBox="1"/>
          <p:nvPr/>
        </p:nvSpPr>
        <p:spPr>
          <a:xfrm>
            <a:off x="7428865" y="1617345"/>
            <a:ext cx="4064000" cy="4892675"/>
          </a:xfrm>
          <a:prstGeom prst="rect">
            <a:avLst/>
          </a:prstGeom>
          <a:noFill/>
        </p:spPr>
        <p:txBody>
          <a:bodyPr wrap="square" rtlCol="0">
            <a:spAutoFit/>
          </a:bodyPr>
          <a:p>
            <a:r>
              <a:rPr lang="en-US" altLang="zh-CN" sz="1200"/>
              <a:t>LLM </a:t>
            </a:r>
            <a:r>
              <a:rPr lang="zh-CN" altLang="en-US" sz="1200"/>
              <a:t>输出</a:t>
            </a:r>
            <a:r>
              <a:rPr lang="en-US" altLang="zh-CN" sz="1200"/>
              <a:t>: {"action":"echo","arguments":{"text":"hello"}}</a:t>
            </a:r>
            <a:endParaRPr lang="en-US" altLang="zh-CN" sz="1200"/>
          </a:p>
          <a:p>
            <a:r>
              <a:rPr lang="en-US" altLang="zh-CN" sz="1200"/>
              <a:t>    </a:t>
            </a:r>
            <a:r>
              <a:rPr lang="en-US" altLang="en-US" sz="1200"/>
              <a:t>│</a:t>
            </a:r>
            <a:endParaRPr lang="en-US" altLang="en-US" sz="1200"/>
          </a:p>
          <a:p>
            <a:r>
              <a:rPr lang="en-US" altLang="zh-CN" sz="1200"/>
              <a:t>    </a:t>
            </a:r>
            <a:r>
              <a:rPr lang="en-US" altLang="en-US" sz="1200"/>
              <a:t>▼</a:t>
            </a:r>
            <a:r>
              <a:rPr lang="en-US" altLang="zh-CN" sz="1200"/>
              <a:t> parse_action()</a:t>
            </a:r>
            <a:endParaRPr lang="en-US" altLang="zh-CN" sz="1200"/>
          </a:p>
          <a:p>
            <a:r>
              <a:rPr lang="en-US" altLang="zh-CN" sz="1200"/>
              <a:t>    </a:t>
            </a:r>
            <a:r>
              <a:rPr lang="en-US" altLang="en-US" sz="1200"/>
              <a:t>│</a:t>
            </a:r>
            <a:r>
              <a:rPr lang="en-US" altLang="zh-CN" sz="1200"/>
              <a:t>   </a:t>
            </a:r>
            <a:r>
              <a:rPr lang="en-US" altLang="en-US" sz="1200"/>
              <a:t>├─</a:t>
            </a:r>
            <a:r>
              <a:rPr lang="en-US" altLang="zh-CN" sz="1200"/>
              <a:t> </a:t>
            </a:r>
            <a:r>
              <a:rPr lang="zh-CN" altLang="en-US" sz="1200"/>
              <a:t>检查是不是合法</a:t>
            </a:r>
            <a:r>
              <a:rPr lang="en-US" altLang="zh-CN" sz="1200"/>
              <a:t> JSON</a:t>
            </a:r>
            <a:r>
              <a:rPr lang="zh-CN" altLang="en-US" sz="1200"/>
              <a:t>？</a:t>
            </a:r>
            <a:r>
              <a:rPr lang="en-US" altLang="zh-CN" sz="1200"/>
              <a:t>     </a:t>
            </a:r>
            <a:r>
              <a:rPr lang="en-US" altLang="en-US" sz="1200"/>
              <a:t>✅</a:t>
            </a:r>
            <a:r>
              <a:rPr lang="en-US" altLang="zh-CN" sz="1200"/>
              <a:t> </a:t>
            </a:r>
            <a:r>
              <a:rPr lang="zh-CN" altLang="en-US" sz="1200"/>
              <a:t>是</a:t>
            </a:r>
            <a:endParaRPr lang="zh-CN" altLang="en-US" sz="1200"/>
          </a:p>
          <a:p>
            <a:r>
              <a:rPr lang="en-US" altLang="zh-CN" sz="1200"/>
              <a:t>    </a:t>
            </a:r>
            <a:r>
              <a:rPr lang="en-US" altLang="en-US" sz="1200"/>
              <a:t>│</a:t>
            </a:r>
            <a:r>
              <a:rPr lang="en-US" altLang="zh-CN" sz="1200"/>
              <a:t>   </a:t>
            </a:r>
            <a:r>
              <a:rPr lang="en-US" altLang="en-US" sz="1200"/>
              <a:t>├─</a:t>
            </a:r>
            <a:r>
              <a:rPr lang="en-US" altLang="zh-CN" sz="1200"/>
              <a:t> </a:t>
            </a:r>
            <a:r>
              <a:rPr lang="zh-CN" altLang="en-US" sz="1200"/>
              <a:t>有没有</a:t>
            </a:r>
            <a:r>
              <a:rPr lang="en-US" altLang="zh-CN" sz="1200"/>
              <a:t> action </a:t>
            </a:r>
            <a:r>
              <a:rPr lang="zh-CN" altLang="en-US" sz="1200"/>
              <a:t>字段？</a:t>
            </a:r>
            <a:r>
              <a:rPr lang="en-US" altLang="zh-CN" sz="1200"/>
              <a:t>      </a:t>
            </a:r>
            <a:r>
              <a:rPr lang="en-US" altLang="en-US" sz="1200"/>
              <a:t>✅</a:t>
            </a:r>
            <a:r>
              <a:rPr lang="en-US" altLang="zh-CN" sz="1200"/>
              <a:t> "echo"</a:t>
            </a:r>
            <a:endParaRPr lang="en-US" altLang="zh-CN" sz="1200"/>
          </a:p>
          <a:p>
            <a:r>
              <a:rPr lang="en-US" altLang="zh-CN" sz="1200"/>
              <a:t>    </a:t>
            </a:r>
            <a:r>
              <a:rPr lang="en-US" altLang="en-US" sz="1200"/>
              <a:t>│</a:t>
            </a:r>
            <a:r>
              <a:rPr lang="en-US" altLang="zh-CN" sz="1200"/>
              <a:t>   </a:t>
            </a:r>
            <a:r>
              <a:rPr lang="en-US" altLang="en-US" sz="1200"/>
              <a:t>├─</a:t>
            </a:r>
            <a:r>
              <a:rPr lang="en-US" altLang="zh-CN" sz="1200"/>
              <a:t> "echo" </a:t>
            </a:r>
            <a:r>
              <a:rPr lang="zh-CN" altLang="en-US" sz="1200"/>
              <a:t>是已知动作吗？</a:t>
            </a:r>
            <a:r>
              <a:rPr lang="en-US" altLang="zh-CN" sz="1200"/>
              <a:t>     </a:t>
            </a:r>
            <a:r>
              <a:rPr lang="en-US" altLang="en-US" sz="1200"/>
              <a:t>✅</a:t>
            </a:r>
            <a:r>
              <a:rPr lang="en-US" altLang="zh-CN" sz="1200"/>
              <a:t> </a:t>
            </a:r>
            <a:r>
              <a:rPr lang="zh-CN" altLang="en-US" sz="1200"/>
              <a:t>是</a:t>
            </a:r>
            <a:endParaRPr lang="zh-CN" altLang="en-US" sz="1200"/>
          </a:p>
          <a:p>
            <a:r>
              <a:rPr lang="en-US" altLang="zh-CN" sz="1200"/>
              <a:t>    </a:t>
            </a:r>
            <a:r>
              <a:rPr lang="en-US" altLang="en-US" sz="1200"/>
              <a:t>│</a:t>
            </a:r>
            <a:r>
              <a:rPr lang="en-US" altLang="zh-CN" sz="1200"/>
              <a:t>   </a:t>
            </a:r>
            <a:r>
              <a:rPr lang="en-US" altLang="en-US" sz="1200"/>
              <a:t>└─</a:t>
            </a:r>
            <a:r>
              <a:rPr lang="en-US" altLang="zh-CN" sz="1200"/>
              <a:t> arguments </a:t>
            </a:r>
            <a:r>
              <a:rPr lang="zh-CN" altLang="en-US" sz="1200"/>
              <a:t>里有</a:t>
            </a:r>
            <a:r>
              <a:rPr lang="en-US" altLang="zh-CN" sz="1200"/>
              <a:t> text </a:t>
            </a:r>
            <a:r>
              <a:rPr lang="zh-CN" altLang="en-US" sz="1200"/>
              <a:t>吗？</a:t>
            </a:r>
            <a:r>
              <a:rPr lang="en-US" altLang="zh-CN" sz="1200"/>
              <a:t>  </a:t>
            </a:r>
            <a:r>
              <a:rPr lang="en-US" altLang="en-US" sz="1200"/>
              <a:t>✅</a:t>
            </a:r>
            <a:r>
              <a:rPr lang="en-US" altLang="zh-CN" sz="1200"/>
              <a:t> "hello"</a:t>
            </a:r>
            <a:endParaRPr lang="en-US" altLang="zh-CN" sz="1200"/>
          </a:p>
          <a:p>
            <a:r>
              <a:rPr lang="en-US" altLang="zh-CN" sz="1200"/>
              <a:t>    </a:t>
            </a:r>
            <a:r>
              <a:rPr lang="en-US" altLang="en-US" sz="1200"/>
              <a:t>│</a:t>
            </a:r>
            <a:endParaRPr lang="en-US" altLang="en-US" sz="1200"/>
          </a:p>
          <a:p>
            <a:r>
              <a:rPr lang="en-US" altLang="zh-CN" sz="1200"/>
              <a:t>    </a:t>
            </a:r>
            <a:r>
              <a:rPr lang="en-US" altLang="en-US" sz="1200"/>
              <a:t>▼</a:t>
            </a:r>
            <a:endParaRPr lang="en-US" altLang="en-US" sz="1200"/>
          </a:p>
          <a:p>
            <a:r>
              <a:rPr lang="en-US" altLang="zh-CN" sz="1200"/>
              <a:t>ProposedAction::Echo { text: "hello" }</a:t>
            </a:r>
            <a:endParaRPr lang="en-US" altLang="zh-CN" sz="1200"/>
          </a:p>
          <a:p>
            <a:r>
              <a:rPr lang="en-US" altLang="zh-CN" sz="1200"/>
              <a:t>    </a:t>
            </a:r>
            <a:r>
              <a:rPr lang="en-US" altLang="en-US" sz="1200"/>
              <a:t>│</a:t>
            </a:r>
            <a:endParaRPr lang="en-US" altLang="en-US" sz="1200"/>
          </a:p>
          <a:p>
            <a:r>
              <a:rPr lang="en-US" altLang="zh-CN" sz="1200"/>
              <a:t>    </a:t>
            </a:r>
            <a:r>
              <a:rPr lang="en-US" altLang="en-US" sz="1200"/>
              <a:t>▼</a:t>
            </a:r>
            <a:r>
              <a:rPr lang="en-US" altLang="zh-CN" sz="1200"/>
              <a:t> validate_action()</a:t>
            </a:r>
            <a:endParaRPr lang="en-US" altLang="zh-CN" sz="1200"/>
          </a:p>
          <a:p>
            <a:r>
              <a:rPr lang="en-US" altLang="zh-CN" sz="1200"/>
              <a:t>    </a:t>
            </a:r>
            <a:r>
              <a:rPr lang="en-US" altLang="en-US" sz="1200"/>
              <a:t>│</a:t>
            </a:r>
            <a:r>
              <a:rPr lang="en-US" altLang="zh-CN" sz="1200"/>
              <a:t>   </a:t>
            </a:r>
            <a:r>
              <a:rPr lang="en-US" altLang="en-US" sz="1200"/>
              <a:t>├─</a:t>
            </a:r>
            <a:r>
              <a:rPr lang="en-US" altLang="zh-CN" sz="1200"/>
              <a:t> text </a:t>
            </a:r>
            <a:r>
              <a:rPr lang="zh-CN" altLang="en-US" sz="1200"/>
              <a:t>是空的吗？</a:t>
            </a:r>
            <a:r>
              <a:rPr lang="en-US" altLang="zh-CN" sz="1200"/>
              <a:t>  </a:t>
            </a:r>
            <a:r>
              <a:rPr lang="en-US" altLang="en-US" sz="1200"/>
              <a:t>✅</a:t>
            </a:r>
            <a:r>
              <a:rPr lang="en-US" altLang="zh-CN" sz="1200"/>
              <a:t> </a:t>
            </a:r>
            <a:r>
              <a:rPr lang="zh-CN" altLang="en-US" sz="1200"/>
              <a:t>不是</a:t>
            </a:r>
            <a:endParaRPr lang="zh-CN" altLang="en-US" sz="1200"/>
          </a:p>
          <a:p>
            <a:r>
              <a:rPr lang="en-US" altLang="zh-CN" sz="1200"/>
              <a:t>    </a:t>
            </a:r>
            <a:r>
              <a:rPr lang="en-US" altLang="en-US" sz="1200"/>
              <a:t>│</a:t>
            </a:r>
            <a:r>
              <a:rPr lang="en-US" altLang="zh-CN" sz="1200"/>
              <a:t>   </a:t>
            </a:r>
            <a:r>
              <a:rPr lang="en-US" altLang="en-US" sz="1200"/>
              <a:t>└─</a:t>
            </a:r>
            <a:r>
              <a:rPr lang="en-US" altLang="zh-CN" sz="1200"/>
              <a:t> </a:t>
            </a:r>
            <a:r>
              <a:rPr lang="zh-CN" altLang="en-US" sz="1200"/>
              <a:t>放行</a:t>
            </a:r>
            <a:endParaRPr lang="zh-CN" altLang="en-US" sz="1200"/>
          </a:p>
          <a:p>
            <a:r>
              <a:rPr lang="en-US" altLang="zh-CN" sz="1200"/>
              <a:t>    </a:t>
            </a:r>
            <a:r>
              <a:rPr lang="en-US" altLang="en-US" sz="1200"/>
              <a:t>│</a:t>
            </a:r>
            <a:endParaRPr lang="en-US" altLang="en-US" sz="1200"/>
          </a:p>
          <a:p>
            <a:r>
              <a:rPr lang="en-US" altLang="zh-CN" sz="1200"/>
              <a:t>    </a:t>
            </a:r>
            <a:r>
              <a:rPr lang="en-US" altLang="en-US" sz="1200"/>
              <a:t>▼</a:t>
            </a:r>
            <a:endParaRPr lang="en-US" altLang="en-US" sz="1200"/>
          </a:p>
          <a:p>
            <a:r>
              <a:rPr lang="en-US" altLang="zh-CN" sz="1200"/>
              <a:t>ApprovedAction::UseTool(ToolCall { name: "echo", text: "hello" })</a:t>
            </a:r>
            <a:endParaRPr lang="en-US" altLang="zh-CN" sz="1200"/>
          </a:p>
          <a:p>
            <a:r>
              <a:rPr lang="en-US" altLang="zh-CN" sz="1200"/>
              <a:t>    </a:t>
            </a:r>
            <a:r>
              <a:rPr lang="en-US" altLang="en-US" sz="1200"/>
              <a:t>│</a:t>
            </a:r>
            <a:endParaRPr lang="en-US" altLang="en-US" sz="1200"/>
          </a:p>
          <a:p>
            <a:r>
              <a:rPr lang="en-US" altLang="zh-CN" sz="1200"/>
              <a:t>    </a:t>
            </a:r>
            <a:r>
              <a:rPr lang="en-US" altLang="en-US" sz="1200"/>
              <a:t>▼</a:t>
            </a:r>
            <a:r>
              <a:rPr lang="en-US" altLang="zh-CN" sz="1200"/>
              <a:t> Environment::execute()</a:t>
            </a:r>
            <a:endParaRPr lang="en-US" altLang="zh-CN" sz="1200"/>
          </a:p>
          <a:p>
            <a:r>
              <a:rPr lang="en-US" altLang="zh-CN" sz="1200"/>
              <a:t>    </a:t>
            </a:r>
            <a:r>
              <a:rPr lang="en-US" altLang="en-US" sz="1200"/>
              <a:t>│</a:t>
            </a:r>
            <a:r>
              <a:rPr lang="en-US" altLang="zh-CN" sz="1200"/>
              <a:t>   </a:t>
            </a:r>
            <a:r>
              <a:rPr lang="zh-CN" altLang="en-US" sz="1200"/>
              <a:t>执行</a:t>
            </a:r>
            <a:r>
              <a:rPr lang="en-US" altLang="zh-CN" sz="1200"/>
              <a:t> echo </a:t>
            </a:r>
            <a:r>
              <a:rPr lang="zh-CN" altLang="en-US" sz="1200"/>
              <a:t>工具，返回</a:t>
            </a:r>
            <a:r>
              <a:rPr lang="en-US" altLang="zh-CN" sz="1200"/>
              <a:t> Observation</a:t>
            </a:r>
            <a:endParaRPr lang="en-US" altLang="zh-CN" sz="1200"/>
          </a:p>
          <a:p>
            <a:r>
              <a:rPr lang="en-US" altLang="zh-CN" sz="1200"/>
              <a:t>    </a:t>
            </a:r>
            <a:r>
              <a:rPr lang="en-US" altLang="en-US" sz="1200"/>
              <a:t>│</a:t>
            </a:r>
            <a:endParaRPr lang="en-US" altLang="en-US" sz="1200"/>
          </a:p>
          <a:p>
            <a:r>
              <a:rPr lang="en-US" altLang="zh-CN" sz="1200"/>
              <a:t>    </a:t>
            </a:r>
            <a:r>
              <a:rPr lang="en-US" altLang="en-US" sz="1200"/>
              <a:t>▼</a:t>
            </a:r>
            <a:endParaRPr lang="en-US" altLang="en-US" sz="1200"/>
          </a:p>
          <a:p>
            <a:r>
              <a:rPr lang="en-US" altLang="zh-CN" sz="1200"/>
              <a:t>Observation { tool_name: "echo", output: "hello" }</a:t>
            </a:r>
            <a:endParaRPr lang="en-US" altLang="zh-CN" sz="1200"/>
          </a:p>
          <a:p>
            <a:r>
              <a:rPr lang="en-US" altLang="zh-CN" sz="1200"/>
              <a:t>    </a:t>
            </a:r>
            <a:r>
              <a:rPr lang="en-US" altLang="en-US" sz="1200"/>
              <a:t>→</a:t>
            </a:r>
            <a:r>
              <a:rPr lang="en-US" altLang="zh-CN" sz="1200"/>
              <a:t> </a:t>
            </a:r>
            <a:r>
              <a:rPr lang="zh-CN" altLang="en-US" sz="1200"/>
              <a:t>写入</a:t>
            </a:r>
            <a:r>
              <a:rPr lang="en-US" altLang="zh-CN" sz="1200"/>
              <a:t> RuntimeState</a:t>
            </a:r>
            <a:r>
              <a:rPr lang="zh-CN" altLang="en-US" sz="1200"/>
              <a:t>，下一轮</a:t>
            </a:r>
            <a:r>
              <a:rPr lang="en-US" altLang="zh-CN" sz="1200"/>
              <a:t> LLM </a:t>
            </a:r>
            <a:r>
              <a:rPr lang="zh-CN" altLang="en-US" sz="1200"/>
              <a:t>会看到这个结果</a:t>
            </a:r>
            <a:endParaRPr lang="zh-CN" altLang="en-US" sz="1200"/>
          </a:p>
          <a:p>
            <a:endParaRPr lang="zh-CN" altLang="en-US"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第三道关卡：四类预算（</a:t>
            </a:r>
            <a:r>
              <a:rPr lang="en-US" altLang="zh-CN" sz="2700" b="1">
                <a:solidFill>
                  <a:srgbClr val="18212B"/>
                </a:solidFill>
              </a:rPr>
              <a:t>step/model/tool/time</a:t>
            </a:r>
            <a:r>
              <a:rPr lang="zh-CN" altLang="en-US" sz="2700" b="1">
                <a:solidFill>
                  <a:srgbClr val="18212B"/>
                </a:solidFill>
                <a:ea typeface="宋体" panose="02010600030101010101" pitchFamily="2" charset="-122"/>
              </a:rPr>
              <a:t>）</a:t>
            </a:r>
            <a:endParaRPr lang="zh-CN" altLang="en-US"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23570" y="2132330"/>
            <a:ext cx="6891020" cy="3167380"/>
          </a:xfrm>
          <a:prstGeom prst="rect">
            <a:avLst/>
          </a:prstGeom>
          <a:noFill/>
        </p:spPr>
        <p:txBody>
          <a:bodyPr wrap="square" rtlCol="0">
            <a:spAutoFit/>
          </a:bodyPr>
          <a:p>
            <a:pPr>
              <a:lnSpc>
                <a:spcPct val="110000"/>
              </a:lnSpc>
              <a:buNone/>
            </a:pPr>
            <a:r>
              <a:rPr lang="en-US" altLang="zh-CN" sz="1400">
                <a:ea typeface="宋体" panose="02010600030101010101" pitchFamily="2" charset="-122"/>
              </a:rPr>
              <a:t>pub struct Budget {</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    pub max_steps: usize,         // </a:t>
            </a:r>
            <a:r>
              <a:rPr lang="zh-CN" altLang="en-US" sz="1400">
                <a:ea typeface="宋体" panose="02010600030101010101" pitchFamily="2" charset="-122"/>
              </a:rPr>
              <a:t>最多几轮循环</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max_model_calls: usize,   // </a:t>
            </a:r>
            <a:r>
              <a:rPr lang="zh-CN" altLang="en-US" sz="1400">
                <a:ea typeface="宋体" panose="02010600030101010101" pitchFamily="2" charset="-122"/>
              </a:rPr>
              <a:t>最多调几次</a:t>
            </a:r>
            <a:r>
              <a:rPr lang="en-US" altLang="zh-CN" sz="1400">
                <a:ea typeface="宋体" panose="02010600030101010101" pitchFamily="2" charset="-122"/>
              </a:rPr>
              <a:t> LLM</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    pub max_tool_calls: usize,    // </a:t>
            </a:r>
            <a:r>
              <a:rPr lang="zh-CN" altLang="en-US" sz="1400">
                <a:ea typeface="宋体" panose="02010600030101010101" pitchFamily="2" charset="-122"/>
              </a:rPr>
              <a:t>最多执行几次工具</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max_millis: u64,          // </a:t>
            </a:r>
            <a:r>
              <a:rPr lang="zh-CN" altLang="en-US" sz="1400">
                <a:ea typeface="宋体" panose="02010600030101010101" pitchFamily="2" charset="-122"/>
              </a:rPr>
              <a:t>最多多少毫秒</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max_consecutive_identical_actions: usize,  // </a:t>
            </a:r>
            <a:r>
              <a:rPr lang="zh-CN" altLang="en-US" sz="1400">
                <a:ea typeface="宋体" panose="02010600030101010101" pitchFamily="2" charset="-122"/>
              </a:rPr>
              <a:t>同一动作最多连续几次</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max_protocol_errors: usize,  // </a:t>
            </a:r>
            <a:r>
              <a:rPr lang="zh-CN" altLang="en-US" sz="1400">
                <a:ea typeface="宋体" panose="02010600030101010101" pitchFamily="2" charset="-122"/>
              </a:rPr>
              <a:t>协议错误最多容忍几次</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Lesson 1 </a:t>
            </a:r>
            <a:r>
              <a:rPr lang="zh-CN" altLang="en-US" sz="1400">
                <a:ea typeface="宋体" panose="02010600030101010101" pitchFamily="2" charset="-122"/>
              </a:rPr>
              <a:t>只有一种预算（</a:t>
            </a:r>
            <a:r>
              <a:rPr lang="en-US" altLang="zh-CN" sz="1400">
                <a:ea typeface="宋体" panose="02010600030101010101" pitchFamily="2" charset="-122"/>
              </a:rPr>
              <a:t>max_turns</a:t>
            </a:r>
            <a:r>
              <a:rPr lang="zh-CN" altLang="en-US" sz="1400">
                <a:ea typeface="宋体" panose="02010600030101010101" pitchFamily="2" charset="-122"/>
              </a:rPr>
              <a:t>）。</a:t>
            </a:r>
            <a:r>
              <a:rPr lang="en-US" altLang="zh-CN" sz="1400">
                <a:ea typeface="宋体" panose="02010600030101010101" pitchFamily="2" charset="-122"/>
              </a:rPr>
              <a:t>Lesson 2 </a:t>
            </a:r>
            <a:r>
              <a:rPr lang="zh-CN" altLang="en-US" sz="1400">
                <a:ea typeface="宋体" panose="02010600030101010101" pitchFamily="2" charset="-122"/>
              </a:rPr>
              <a:t>有六种。</a:t>
            </a:r>
            <a:r>
              <a:rPr lang="en-US" altLang="zh-CN" sz="1400">
                <a:ea typeface="宋体" panose="02010600030101010101" pitchFamily="2" charset="-122"/>
              </a:rPr>
              <a:t> </a:t>
            </a:r>
            <a:r>
              <a:rPr lang="zh-CN" altLang="en-US" sz="1400">
                <a:ea typeface="宋体" panose="02010600030101010101" pitchFamily="2" charset="-122"/>
              </a:rPr>
              <a:t>关键规则：</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预算在副作用之前检查</a:t>
            </a:r>
            <a:r>
              <a:rPr lang="en-US" altLang="zh-CN" sz="1400">
                <a:ea typeface="宋体" panose="02010600030101010101" pitchFamily="2" charset="-122"/>
              </a:rPr>
              <a:t>——</a:t>
            </a:r>
            <a:r>
              <a:rPr lang="zh-CN" altLang="en-US" sz="1400">
                <a:ea typeface="宋体" panose="02010600030101010101" pitchFamily="2" charset="-122"/>
              </a:rPr>
              <a:t>不能先执行工具再发现预算没了</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同时耗尽时按优先级：</a:t>
            </a:r>
            <a:r>
              <a:rPr lang="en-US" altLang="zh-CN" sz="1400">
                <a:ea typeface="宋体" panose="02010600030101010101" pitchFamily="2" charset="-122"/>
              </a:rPr>
              <a:t>Deadline &gt; StepBudget &gt; ModelBudget</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协议错误消耗</a:t>
            </a:r>
            <a:r>
              <a:rPr lang="en-US" altLang="zh-CN" sz="1400">
                <a:ea typeface="宋体" panose="02010600030101010101" pitchFamily="2" charset="-122"/>
              </a:rPr>
              <a:t> step </a:t>
            </a:r>
            <a:r>
              <a:rPr lang="zh-CN" altLang="en-US" sz="1400">
                <a:ea typeface="宋体" panose="02010600030101010101" pitchFamily="2" charset="-122"/>
              </a:rPr>
              <a:t>和</a:t>
            </a:r>
            <a:r>
              <a:rPr lang="en-US" altLang="zh-CN" sz="1400">
                <a:ea typeface="宋体" panose="02010600030101010101" pitchFamily="2" charset="-122"/>
              </a:rPr>
              <a:t> model call</a:t>
            </a:r>
            <a:r>
              <a:rPr lang="zh-CN" altLang="en-US" sz="1400">
                <a:ea typeface="宋体" panose="02010600030101010101" pitchFamily="2" charset="-122"/>
              </a:rPr>
              <a:t>，但不消耗</a:t>
            </a:r>
            <a:r>
              <a:rPr lang="en-US" altLang="zh-CN" sz="1400">
                <a:ea typeface="宋体" panose="02010600030101010101" pitchFamily="2" charset="-122"/>
              </a:rPr>
              <a:t> tool call</a:t>
            </a:r>
            <a:r>
              <a:rPr lang="zh-CN" altLang="en-US" sz="1400">
                <a:ea typeface="宋体" panose="02010600030101010101" pitchFamily="2" charset="-122"/>
              </a:rPr>
              <a:t>（因为工具没执行）</a:t>
            </a:r>
            <a:endParaRPr lang="zh-CN" altLang="en-US" sz="1400">
              <a:ea typeface="宋体" panose="02010600030101010101" pitchFamily="2" charset="-122"/>
            </a:endParaRPr>
          </a:p>
        </p:txBody>
      </p:sp>
      <p:graphicFrame>
        <p:nvGraphicFramePr>
          <p:cNvPr id="10" name="表格 9"/>
          <p:cNvGraphicFramePr/>
          <p:nvPr/>
        </p:nvGraphicFramePr>
        <p:xfrm>
          <a:off x="7247890" y="2132330"/>
          <a:ext cx="4033520" cy="1095375"/>
        </p:xfrm>
        <a:graphic>
          <a:graphicData uri="http://schemas.openxmlformats.org/drawingml/2006/table">
            <a:tbl>
              <a:tblPr/>
              <a:tblGrid>
                <a:gridCol w="1475105"/>
                <a:gridCol w="2558415"/>
              </a:tblGrid>
              <a:tr h="0">
                <a:tc>
                  <a:txBody>
                    <a:bodyPr/>
                    <a:p>
                      <a:pPr algn="ctr">
                        <a:lnSpc>
                          <a:spcPct val="120000"/>
                        </a:lnSpc>
                      </a:pPr>
                      <a:r>
                        <a:rPr lang="zh-CN" altLang="en-US" sz="1200"/>
                        <a:t>故障</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6"/>
                    </a:solidFill>
                  </a:tcPr>
                </a:tc>
                <a:tc>
                  <a:txBody>
                    <a:bodyPr/>
                    <a:p>
                      <a:pPr algn="ctr">
                        <a:lnSpc>
                          <a:spcPct val="120000"/>
                        </a:lnSpc>
                      </a:pPr>
                      <a:r>
                        <a:rPr lang="zh-CN" altLang="en-US" sz="1200"/>
                        <a:t>应触发</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6"/>
                    </a:solidFill>
                  </a:tcPr>
                </a:tc>
              </a:tr>
              <a:tr h="0">
                <a:tc>
                  <a:txBody>
                    <a:bodyPr/>
                    <a:p>
                      <a:pPr algn="ctr">
                        <a:lnSpc>
                          <a:spcPct val="120000"/>
                        </a:lnSpc>
                      </a:pPr>
                      <a:r>
                        <a:rPr lang="zh-CN" altLang="en-US" sz="1200"/>
                        <a:t>无限 </a:t>
                      </a:r>
                      <a:r>
                        <a:rPr lang="en-US" altLang="zh-CN" sz="1200"/>
                        <a:t>continue</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ModelBudget </a:t>
                      </a:r>
                      <a:r>
                        <a:rPr lang="zh-CN" altLang="en-US" sz="1200"/>
                        <a:t>或 </a:t>
                      </a:r>
                      <a:r>
                        <a:rPr lang="en-US" altLang="zh-CN" sz="1200"/>
                        <a:t>StepBudget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zh-CN" altLang="en-US" sz="1200"/>
                        <a:t>不断换工具参数</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ToolBudget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zh-CN" altLang="en-US" sz="1200"/>
                        <a:t>重复相同动作</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RepeatedAction</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zh-CN" altLang="en-US" sz="1200"/>
                        <a:t>模型或工具耗时过长</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Deadline</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11" name="文本框 10"/>
          <p:cNvSpPr txBox="1"/>
          <p:nvPr/>
        </p:nvSpPr>
        <p:spPr>
          <a:xfrm>
            <a:off x="7320280" y="3932555"/>
            <a:ext cx="4064000" cy="1198880"/>
          </a:xfrm>
          <a:prstGeom prst="rect">
            <a:avLst/>
          </a:prstGeom>
          <a:noFill/>
        </p:spPr>
        <p:txBody>
          <a:bodyPr wrap="square" rtlCol="0">
            <a:spAutoFit/>
          </a:bodyPr>
          <a:p>
            <a:r>
              <a:rPr lang="en-US" altLang="zh-CN"/>
              <a:t>cargo test --offline -p lesson-02-runtime `</a:t>
            </a:r>
            <a:endParaRPr lang="en-US" altLang="zh-CN"/>
          </a:p>
          <a:p>
            <a:r>
              <a:rPr lang="en-US" altLang="zh-CN"/>
              <a:t>  model_calls_have_an_independent_hard_budget</a:t>
            </a:r>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第四道关卡：</a:t>
            </a:r>
            <a:r>
              <a:rPr lang="zh-CN" altLang="en-US" sz="2700" b="1">
                <a:solidFill>
                  <a:srgbClr val="18212B"/>
                </a:solidFill>
                <a:ea typeface="宋体" panose="02010600030101010101" pitchFamily="2" charset="-122"/>
              </a:rPr>
              <a:t>模型</a:t>
            </a:r>
            <a:r>
              <a:rPr lang="en-US" altLang="zh-CN" sz="2700" b="1">
                <a:solidFill>
                  <a:srgbClr val="18212B"/>
                </a:solidFill>
                <a:ea typeface="宋体" panose="02010600030101010101" pitchFamily="2" charset="-122"/>
              </a:rPr>
              <a:t>/</a:t>
            </a:r>
            <a:r>
              <a:rPr lang="zh-CN" altLang="en-US" sz="2700" b="1">
                <a:solidFill>
                  <a:srgbClr val="18212B"/>
                </a:solidFill>
                <a:ea typeface="宋体" panose="02010600030101010101" pitchFamily="2" charset="-122"/>
              </a:rPr>
              <a:t>工具预算的硬边界</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23570" y="2132330"/>
            <a:ext cx="6891020" cy="2457450"/>
          </a:xfrm>
          <a:prstGeom prst="rect">
            <a:avLst/>
          </a:prstGeom>
          <a:noFill/>
        </p:spPr>
        <p:txBody>
          <a:bodyPr wrap="square" rtlCol="0">
            <a:spAutoFit/>
          </a:bodyPr>
          <a:p>
            <a:pPr>
              <a:lnSpc>
                <a:spcPct val="110000"/>
              </a:lnSpc>
              <a:buNone/>
            </a:pPr>
            <a:r>
              <a:rPr lang="zh-CN" altLang="en-US" sz="1400">
                <a:ea typeface="宋体" panose="02010600030101010101" pitchFamily="2" charset="-122"/>
              </a:rPr>
              <a:t>模型和工具有各自的帽子：</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max_model_calls = 2  // LLM </a:t>
            </a:r>
            <a:r>
              <a:rPr lang="zh-CN" altLang="en-US" sz="1400">
                <a:ea typeface="宋体" panose="02010600030101010101" pitchFamily="2" charset="-122"/>
              </a:rPr>
              <a:t>最多被调用</a:t>
            </a:r>
            <a:r>
              <a:rPr lang="en-US" altLang="zh-CN" sz="1400">
                <a:ea typeface="宋体" panose="02010600030101010101" pitchFamily="2" charset="-122"/>
              </a:rPr>
              <a:t> 2 </a:t>
            </a:r>
            <a:r>
              <a:rPr lang="zh-CN" altLang="en-US" sz="1400">
                <a:ea typeface="宋体" panose="02010600030101010101" pitchFamily="2" charset="-122"/>
              </a:rPr>
              <a:t>次</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max_tool_calls = 1   // </a:t>
            </a:r>
            <a:r>
              <a:rPr lang="zh-CN" altLang="en-US" sz="1400">
                <a:ea typeface="宋体" panose="02010600030101010101" pitchFamily="2" charset="-122"/>
              </a:rPr>
              <a:t>工具最多被调用</a:t>
            </a:r>
            <a:r>
              <a:rPr lang="en-US" altLang="zh-CN" sz="1400">
                <a:ea typeface="宋体" panose="02010600030101010101" pitchFamily="2" charset="-122"/>
              </a:rPr>
              <a:t> 1 </a:t>
            </a:r>
            <a:r>
              <a:rPr lang="zh-CN" altLang="en-US" sz="1400">
                <a:ea typeface="宋体" panose="02010600030101010101" pitchFamily="2" charset="-122"/>
              </a:rPr>
              <a:t>次</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验收测试</a:t>
            </a:r>
            <a:r>
              <a:rPr lang="en-US" altLang="zh-CN" sz="1400">
                <a:ea typeface="宋体" panose="02010600030101010101" pitchFamily="2" charset="-122"/>
              </a:rPr>
              <a:t> model_calls_have_an_independent_hard_budget</a:t>
            </a:r>
            <a:r>
              <a:rPr lang="zh-CN" altLang="en-US" sz="1400">
                <a:ea typeface="宋体" panose="02010600030101010101" pitchFamily="2" charset="-122"/>
              </a:rPr>
              <a:t>：</a:t>
            </a:r>
            <a:r>
              <a:rPr lang="en-US" altLang="zh-CN" sz="1400">
                <a:ea typeface="宋体" panose="02010600030101010101" pitchFamily="2" charset="-122"/>
              </a:rPr>
              <a:t>FakeModel </a:t>
            </a:r>
            <a:r>
              <a:rPr lang="zh-CN" altLang="en-US" sz="1400">
                <a:ea typeface="宋体" panose="02010600030101010101" pitchFamily="2" charset="-122"/>
              </a:rPr>
              <a:t>连续返回</a:t>
            </a:r>
            <a:r>
              <a:rPr lang="en-US" altLang="zh-CN" sz="1400">
                <a:ea typeface="宋体" panose="02010600030101010101" pitchFamily="2" charset="-122"/>
              </a:rPr>
              <a:t> 10 </a:t>
            </a:r>
            <a:r>
              <a:rPr lang="zh-CN" altLang="en-US" sz="1400">
                <a:ea typeface="宋体" panose="02010600030101010101" pitchFamily="2" charset="-122"/>
              </a:rPr>
              <a:t>次</a:t>
            </a:r>
            <a:r>
              <a:rPr lang="en-US" altLang="zh-CN" sz="1400">
                <a:ea typeface="宋体" panose="02010600030101010101" pitchFamily="2" charset="-122"/>
              </a:rPr>
              <a:t> continue</a:t>
            </a:r>
            <a:r>
              <a:rPr lang="zh-CN" altLang="en-US" sz="1400">
                <a:ea typeface="宋体" panose="02010600030101010101" pitchFamily="2" charset="-122"/>
              </a:rPr>
              <a:t>，但</a:t>
            </a:r>
            <a:r>
              <a:rPr lang="en-US" altLang="zh-CN" sz="1400">
                <a:ea typeface="宋体" panose="02010600030101010101" pitchFamily="2" charset="-122"/>
              </a:rPr>
              <a:t> max_model_calls=2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第</a:t>
            </a:r>
            <a:r>
              <a:rPr lang="en-US" altLang="zh-CN" sz="1400">
                <a:ea typeface="宋体" panose="02010600030101010101" pitchFamily="2" charset="-122"/>
              </a:rPr>
              <a:t> 2 </a:t>
            </a:r>
            <a:r>
              <a:rPr lang="zh-CN" altLang="en-US" sz="1400">
                <a:ea typeface="宋体" panose="02010600030101010101" pitchFamily="2" charset="-122"/>
              </a:rPr>
              <a:t>次调用后必须</a:t>
            </a:r>
            <a:r>
              <a:rPr lang="en-US" altLang="zh-CN" sz="1400">
                <a:ea typeface="宋体" panose="02010600030101010101" pitchFamily="2" charset="-122"/>
              </a:rPr>
              <a:t> Stop</a:t>
            </a:r>
            <a:r>
              <a:rPr lang="zh-CN" altLang="en-US" sz="1400">
                <a:ea typeface="宋体" panose="02010600030101010101" pitchFamily="2" charset="-122"/>
              </a:rPr>
              <a:t>。</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验收测试</a:t>
            </a:r>
            <a:r>
              <a:rPr lang="en-US" altLang="zh-CN" sz="1400">
                <a:ea typeface="宋体" panose="02010600030101010101" pitchFamily="2" charset="-122"/>
              </a:rPr>
              <a:t> tool_budget_is_checked_before_the_second_side_effect</a:t>
            </a:r>
            <a:r>
              <a:rPr lang="zh-CN" altLang="en-US" sz="1400">
                <a:ea typeface="宋体" panose="02010600030101010101" pitchFamily="2" charset="-122"/>
              </a:rPr>
              <a:t>：</a:t>
            </a:r>
            <a:r>
              <a:rPr lang="en-US" altLang="zh-CN" sz="1400">
                <a:ea typeface="宋体" panose="02010600030101010101" pitchFamily="2" charset="-122"/>
              </a:rPr>
              <a:t>max_tool_calls=1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第一个工具执行后，第二个必须被阻止</a:t>
            </a:r>
            <a:r>
              <a:rPr lang="en-US" altLang="zh-CN" sz="1400">
                <a:ea typeface="宋体" panose="02010600030101010101" pitchFamily="2" charset="-122"/>
              </a:rPr>
              <a:t>——</a:t>
            </a:r>
            <a:r>
              <a:rPr lang="zh-CN" altLang="en-US" sz="1400">
                <a:ea typeface="宋体" panose="02010600030101010101" pitchFamily="2" charset="-122"/>
              </a:rPr>
              <a:t>关键是不能先执行再检查。</a:t>
            </a:r>
            <a:endParaRPr lang="zh-CN" altLang="en-US" sz="140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第五道关卡：</a:t>
            </a:r>
            <a:r>
              <a:rPr lang="zh-CN" altLang="en-US" sz="2700" b="1">
                <a:solidFill>
                  <a:srgbClr val="18212B"/>
                </a:solidFill>
                <a:ea typeface="宋体" panose="02010600030101010101" pitchFamily="2" charset="-122"/>
              </a:rPr>
              <a:t>重复动作检测</a:t>
            </a:r>
            <a:r>
              <a:rPr lang="en-US" altLang="zh-CN" sz="2700" b="1">
                <a:solidFill>
                  <a:srgbClr val="18212B"/>
                </a:solidFill>
                <a:ea typeface="宋体" panose="02010600030101010101" pitchFamily="2" charset="-122"/>
              </a:rPr>
              <a:t> — </a:t>
            </a:r>
            <a:r>
              <a:rPr lang="zh-CN" altLang="en-US" sz="2700" b="1">
                <a:solidFill>
                  <a:srgbClr val="18212B"/>
                </a:solidFill>
                <a:ea typeface="宋体" panose="02010600030101010101" pitchFamily="2" charset="-122"/>
              </a:rPr>
              <a:t>防止</a:t>
            </a:r>
            <a:r>
              <a:rPr lang="en-US" altLang="zh-CN" sz="2700" b="1">
                <a:solidFill>
                  <a:srgbClr val="18212B"/>
                </a:solidFill>
                <a:ea typeface="宋体" panose="02010600030101010101" pitchFamily="2" charset="-122"/>
              </a:rPr>
              <a:t> LLM </a:t>
            </a:r>
            <a:r>
              <a:rPr lang="zh-CN" altLang="en-US" sz="2700" b="1">
                <a:solidFill>
                  <a:srgbClr val="18212B"/>
                </a:solidFill>
                <a:ea typeface="宋体" panose="02010600030101010101" pitchFamily="2" charset="-122"/>
              </a:rPr>
              <a:t>死循环</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23570" y="2132330"/>
            <a:ext cx="6891020" cy="2930525"/>
          </a:xfrm>
          <a:prstGeom prst="rect">
            <a:avLst/>
          </a:prstGeom>
          <a:noFill/>
        </p:spPr>
        <p:txBody>
          <a:bodyPr wrap="square" rtlCol="0">
            <a:spAutoFit/>
          </a:bodyPr>
          <a:p>
            <a:pPr>
              <a:lnSpc>
                <a:spcPct val="110000"/>
              </a:lnSpc>
              <a:buNone/>
            </a:pPr>
            <a:r>
              <a:rPr lang="en-US" altLang="zh-CN" sz="1400">
                <a:ea typeface="宋体" panose="02010600030101010101" pitchFamily="2" charset="-122"/>
              </a:rPr>
              <a:t>LLM </a:t>
            </a:r>
            <a:r>
              <a:rPr lang="zh-CN" altLang="en-US" sz="1400">
                <a:ea typeface="宋体" panose="02010600030101010101" pitchFamily="2" charset="-122"/>
              </a:rPr>
              <a:t>常见的死循环模式：</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echo("hello")  </a:t>
            </a:r>
            <a:r>
              <a:rPr lang="en-US" altLang="en-US" sz="1400">
                <a:ea typeface="宋体" panose="02010600030101010101" pitchFamily="2" charset="-122"/>
              </a:rPr>
              <a:t>→</a:t>
            </a:r>
            <a:r>
              <a:rPr lang="en-US" altLang="zh-CN" sz="1400">
                <a:ea typeface="宋体" panose="02010600030101010101" pitchFamily="2" charset="-122"/>
              </a:rPr>
              <a:t>  echo("hello")  </a:t>
            </a:r>
            <a:r>
              <a:rPr lang="en-US" altLang="en-US" sz="1400">
                <a:ea typeface="宋体" panose="02010600030101010101" pitchFamily="2" charset="-122"/>
              </a:rPr>
              <a:t>→</a:t>
            </a:r>
            <a:r>
              <a:rPr lang="en-US" altLang="zh-CN" sz="1400">
                <a:ea typeface="宋体" panose="02010600030101010101" pitchFamily="2" charset="-122"/>
              </a:rPr>
              <a:t>  echo("hello")  </a:t>
            </a:r>
            <a:r>
              <a:rPr lang="en-US" altLang="en-US" sz="1400">
                <a:ea typeface="宋体" panose="02010600030101010101" pitchFamily="2" charset="-122"/>
              </a:rPr>
              <a:t>→</a:t>
            </a:r>
            <a:r>
              <a:rPr lang="en-US" altLang="zh-CN" sz="1400">
                <a:ea typeface="宋体" panose="02010600030101010101" pitchFamily="2" charset="-122"/>
              </a:rPr>
              <a:t>  ...</a:t>
            </a: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Runtime </a:t>
            </a:r>
            <a:r>
              <a:rPr lang="zh-CN" altLang="en-US" sz="1400">
                <a:ea typeface="宋体" panose="02010600030101010101" pitchFamily="2" charset="-122"/>
              </a:rPr>
              <a:t>对每个</a:t>
            </a:r>
            <a:r>
              <a:rPr lang="en-US" altLang="zh-CN" sz="1400">
                <a:ea typeface="宋体" panose="02010600030101010101" pitchFamily="2" charset="-122"/>
              </a:rPr>
              <a:t> ApprovedAction </a:t>
            </a:r>
            <a:r>
              <a:rPr lang="zh-CN" altLang="en-US" sz="1400">
                <a:ea typeface="宋体" panose="02010600030101010101" pitchFamily="2" charset="-122"/>
              </a:rPr>
              <a:t>计算一个</a:t>
            </a:r>
            <a:r>
              <a:rPr lang="en-US" altLang="zh-CN" sz="1400">
                <a:ea typeface="宋体" panose="02010600030101010101" pitchFamily="2" charset="-122"/>
              </a:rPr>
              <a:t>"</a:t>
            </a:r>
            <a:r>
              <a:rPr lang="zh-CN" altLang="en-US" sz="1400">
                <a:ea typeface="宋体" panose="02010600030101010101" pitchFamily="2" charset="-122"/>
              </a:rPr>
              <a:t>指纹</a:t>
            </a:r>
            <a:r>
              <a:rPr lang="en-US" altLang="zh-CN" sz="1400">
                <a:ea typeface="宋体" panose="02010600030101010101" pitchFamily="2" charset="-122"/>
              </a:rPr>
              <a:t>"</a:t>
            </a:r>
            <a:r>
              <a:rPr lang="zh-CN" altLang="en-US" sz="1400">
                <a:ea typeface="宋体" panose="02010600030101010101" pitchFamily="2" charset="-122"/>
              </a:rPr>
              <a:t>（</a:t>
            </a:r>
            <a:r>
              <a:rPr lang="en-US" altLang="zh-CN" sz="1400">
                <a:ea typeface="宋体" panose="02010600030101010101" pitchFamily="2" charset="-122"/>
              </a:rPr>
              <a:t>action </a:t>
            </a:r>
            <a:r>
              <a:rPr lang="zh-CN" altLang="en-US" sz="1400">
                <a:ea typeface="宋体" panose="02010600030101010101" pitchFamily="2" charset="-122"/>
              </a:rPr>
              <a:t>名</a:t>
            </a:r>
            <a:r>
              <a:rPr lang="en-US" altLang="zh-CN" sz="1400">
                <a:ea typeface="宋体" panose="02010600030101010101" pitchFamily="2" charset="-122"/>
              </a:rPr>
              <a:t> + </a:t>
            </a:r>
            <a:r>
              <a:rPr lang="zh-CN" altLang="en-US" sz="1400">
                <a:ea typeface="宋体" panose="02010600030101010101" pitchFamily="2" charset="-122"/>
              </a:rPr>
              <a:t>规范化参数），连续相同指纹超过</a:t>
            </a:r>
            <a:r>
              <a:rPr lang="en-US" altLang="zh-CN" sz="1400">
                <a:ea typeface="宋体" panose="02010600030101010101" pitchFamily="2" charset="-122"/>
              </a:rPr>
              <a:t> max_consecutive_identical_actions </a:t>
            </a:r>
            <a:r>
              <a:rPr lang="en-US" altLang="en-US" sz="1400">
                <a:ea typeface="宋体" panose="02010600030101010101" pitchFamily="2" charset="-122"/>
              </a:rPr>
              <a:t>→</a:t>
            </a:r>
            <a:r>
              <a:rPr lang="en-US" altLang="zh-CN" sz="1400">
                <a:ea typeface="宋体" panose="02010600030101010101" pitchFamily="2" charset="-122"/>
              </a:rPr>
              <a:t> StopReason::RepeatedAction</a:t>
            </a:r>
            <a:r>
              <a:rPr lang="zh-CN" altLang="en-US" sz="1400">
                <a:ea typeface="宋体" panose="02010600030101010101" pitchFamily="2" charset="-122"/>
              </a:rPr>
              <a:t>。</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关键细节：指纹要对</a:t>
            </a:r>
            <a:r>
              <a:rPr lang="en-US" altLang="zh-CN" sz="1400">
                <a:ea typeface="宋体" panose="02010600030101010101" pitchFamily="2" charset="-122"/>
              </a:rPr>
              <a:t> ApprovedAction </a:t>
            </a:r>
            <a:r>
              <a:rPr lang="zh-CN" altLang="en-US" sz="1400">
                <a:ea typeface="宋体" panose="02010600030101010101" pitchFamily="2" charset="-122"/>
              </a:rPr>
              <a:t>计算，而不是对</a:t>
            </a:r>
            <a:r>
              <a:rPr lang="en-US" altLang="zh-CN" sz="1400">
                <a:ea typeface="宋体" panose="02010600030101010101" pitchFamily="2" charset="-122"/>
              </a:rPr>
              <a:t> LLM </a:t>
            </a:r>
            <a:r>
              <a:rPr lang="zh-CN" altLang="en-US" sz="1400">
                <a:ea typeface="宋体" panose="02010600030101010101" pitchFamily="2" charset="-122"/>
              </a:rPr>
              <a:t>原始</a:t>
            </a:r>
            <a:r>
              <a:rPr lang="en-US" altLang="zh-CN" sz="1400">
                <a:ea typeface="宋体" panose="02010600030101010101" pitchFamily="2" charset="-122"/>
              </a:rPr>
              <a:t> JSON </a:t>
            </a:r>
            <a:r>
              <a:rPr lang="zh-CN" altLang="en-US" sz="1400">
                <a:ea typeface="宋体" panose="02010600030101010101" pitchFamily="2" charset="-122"/>
              </a:rPr>
              <a:t>计算。</a:t>
            </a:r>
            <a:r>
              <a:rPr lang="en-US" altLang="zh-CN" sz="1400">
                <a:ea typeface="宋体" panose="02010600030101010101" pitchFamily="2" charset="-122"/>
              </a:rPr>
              <a:t> </a:t>
            </a:r>
            <a:r>
              <a:rPr lang="zh-CN" altLang="en-US" sz="1400">
                <a:ea typeface="宋体" panose="02010600030101010101" pitchFamily="2" charset="-122"/>
              </a:rPr>
              <a:t>因为：</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{"action":"echo","arguments":{"text":"hello"}}</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{"arguments":{"text":"hello"},"action":"echo"}</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这两段</a:t>
            </a:r>
            <a:r>
              <a:rPr lang="en-US" altLang="zh-CN" sz="1400">
                <a:ea typeface="宋体" panose="02010600030101010101" pitchFamily="2" charset="-122"/>
              </a:rPr>
              <a:t> JSON </a:t>
            </a:r>
            <a:r>
              <a:rPr lang="zh-CN" altLang="en-US" sz="1400">
                <a:ea typeface="宋体" panose="02010600030101010101" pitchFamily="2" charset="-122"/>
              </a:rPr>
              <a:t>文本不同，但语义完全相同。对</a:t>
            </a:r>
            <a:r>
              <a:rPr lang="en-US" altLang="zh-CN" sz="1400">
                <a:ea typeface="宋体" panose="02010600030101010101" pitchFamily="2" charset="-122"/>
              </a:rPr>
              <a:t> ApprovedAction </a:t>
            </a:r>
            <a:r>
              <a:rPr lang="zh-CN" altLang="en-US" sz="1400">
                <a:ea typeface="宋体" panose="02010600030101010101" pitchFamily="2" charset="-122"/>
              </a:rPr>
              <a:t>计算指纹不会受</a:t>
            </a:r>
            <a:r>
              <a:rPr lang="en-US" altLang="zh-CN" sz="1400">
                <a:ea typeface="宋体" panose="02010600030101010101" pitchFamily="2" charset="-122"/>
              </a:rPr>
              <a:t> JSON </a:t>
            </a:r>
            <a:r>
              <a:rPr lang="zh-CN" altLang="en-US" sz="1400">
                <a:ea typeface="宋体" panose="02010600030101010101" pitchFamily="2" charset="-122"/>
              </a:rPr>
              <a:t>字段顺序影响。</a:t>
            </a:r>
            <a:endParaRPr lang="zh-CN" altLang="en-US" sz="140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第六道关卡：</a:t>
            </a:r>
            <a:r>
              <a:rPr lang="en-US" altLang="zh-CN" sz="2700" b="1">
                <a:solidFill>
                  <a:srgbClr val="18212B"/>
                </a:solidFill>
                <a:ea typeface="宋体" panose="02010600030101010101" pitchFamily="2" charset="-122"/>
              </a:rPr>
              <a:t>Trace — </a:t>
            </a:r>
            <a:r>
              <a:rPr lang="zh-CN" altLang="en-US" sz="2700" b="1">
                <a:solidFill>
                  <a:srgbClr val="18212B"/>
                </a:solidFill>
                <a:ea typeface="宋体" panose="02010600030101010101" pitchFamily="2" charset="-122"/>
              </a:rPr>
              <a:t>所有事件可回放</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6891020" cy="4113530"/>
          </a:xfrm>
          <a:prstGeom prst="rect">
            <a:avLst/>
          </a:prstGeom>
          <a:noFill/>
        </p:spPr>
        <p:txBody>
          <a:bodyPr wrap="square" rtlCol="0">
            <a:spAutoFit/>
          </a:bodyPr>
          <a:p>
            <a:pPr>
              <a:lnSpc>
                <a:spcPct val="110000"/>
              </a:lnSpc>
              <a:buNone/>
            </a:pPr>
            <a:r>
              <a:rPr lang="zh-CN" altLang="en-US" sz="1400">
                <a:ea typeface="宋体" panose="02010600030101010101" pitchFamily="2" charset="-122"/>
              </a:rPr>
              <a:t>每一件事都要记录：</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ModelCalled      </a:t>
            </a:r>
            <a:r>
              <a:rPr lang="en-US" altLang="en-US" sz="1400">
                <a:ea typeface="宋体" panose="02010600030101010101" pitchFamily="2" charset="-122"/>
              </a:rPr>
              <a:t>→</a:t>
            </a:r>
            <a:r>
              <a:rPr lang="en-US" altLang="zh-CN" sz="1400">
                <a:ea typeface="宋体" panose="02010600030101010101" pitchFamily="2" charset="-122"/>
              </a:rPr>
              <a:t> LLM </a:t>
            </a:r>
            <a:r>
              <a:rPr lang="zh-CN" altLang="en-US" sz="1400">
                <a:ea typeface="宋体" panose="02010600030101010101" pitchFamily="2" charset="-122"/>
              </a:rPr>
              <a:t>被调用</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ModelReturned    </a:t>
            </a:r>
            <a:r>
              <a:rPr lang="en-US" altLang="en-US" sz="1400">
                <a:ea typeface="宋体" panose="02010600030101010101" pitchFamily="2" charset="-122"/>
              </a:rPr>
              <a:t>→</a:t>
            </a:r>
            <a:r>
              <a:rPr lang="en-US" altLang="zh-CN" sz="1400">
                <a:ea typeface="宋体" panose="02010600030101010101" pitchFamily="2" charset="-122"/>
              </a:rPr>
              <a:t> LLM </a:t>
            </a:r>
            <a:r>
              <a:rPr lang="zh-CN" altLang="en-US" sz="1400">
                <a:ea typeface="宋体" panose="02010600030101010101" pitchFamily="2" charset="-122"/>
              </a:rPr>
              <a:t>返回了文本</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ActionApproved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安检通过</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ActionRejected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安检拒绝</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ToolSucceeded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工具执行成功</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ToolFailed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工具执行失败</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ModelFailed      </a:t>
            </a:r>
            <a:r>
              <a:rPr lang="en-US" altLang="en-US" sz="1400">
                <a:ea typeface="宋体" panose="02010600030101010101" pitchFamily="2" charset="-122"/>
              </a:rPr>
              <a:t>→</a:t>
            </a:r>
            <a:r>
              <a:rPr lang="en-US" altLang="zh-CN" sz="1400">
                <a:ea typeface="宋体" panose="02010600030101010101" pitchFamily="2" charset="-122"/>
              </a:rPr>
              <a:t> LLM </a:t>
            </a:r>
            <a:r>
              <a:rPr lang="zh-CN" altLang="en-US" sz="1400">
                <a:ea typeface="宋体" panose="02010600030101010101" pitchFamily="2" charset="-122"/>
              </a:rPr>
              <a:t>调用失败</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RunTerminated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运行结束</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核心不变量（验收测试会检查）：</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每次运行恰好</a:t>
            </a:r>
            <a:r>
              <a:rPr lang="en-US" altLang="zh-CN" sz="1400">
                <a:ea typeface="宋体" panose="02010600030101010101" pitchFamily="2" charset="-122"/>
              </a:rPr>
              <a:t> 1 </a:t>
            </a:r>
            <a:r>
              <a:rPr lang="zh-CN" altLang="en-US" sz="1400">
                <a:ea typeface="宋体" panose="02010600030101010101" pitchFamily="2" charset="-122"/>
              </a:rPr>
              <a:t>个</a:t>
            </a:r>
            <a:r>
              <a:rPr lang="en-US" altLang="zh-CN" sz="1400">
                <a:ea typeface="宋体" panose="02010600030101010101" pitchFamily="2" charset="-122"/>
              </a:rPr>
              <a:t> RunTerminated </a:t>
            </a:r>
            <a:r>
              <a:rPr lang="zh-CN" altLang="en-US" sz="1400">
                <a:ea typeface="宋体" panose="02010600030101010101" pitchFamily="2" charset="-122"/>
              </a:rPr>
              <a:t>事件</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run_id </a:t>
            </a:r>
            <a:r>
              <a:rPr lang="zh-CN" altLang="en-US" sz="1400">
                <a:ea typeface="宋体" panose="02010600030101010101" pitchFamily="2" charset="-122"/>
              </a:rPr>
              <a:t>在整个运行中保持一致</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事件按</a:t>
            </a:r>
            <a:r>
              <a:rPr lang="en-US" altLang="zh-CN" sz="1400">
                <a:ea typeface="宋体" panose="02010600030101010101" pitchFamily="2" charset="-122"/>
              </a:rPr>
              <a:t> step </a:t>
            </a:r>
            <a:r>
              <a:rPr lang="zh-CN" altLang="en-US" sz="1400">
                <a:ea typeface="宋体" panose="02010600030101010101" pitchFamily="2" charset="-122"/>
              </a:rPr>
              <a:t>单调递增</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Trace </a:t>
            </a:r>
            <a:r>
              <a:rPr lang="zh-CN" altLang="en-US" sz="1400">
                <a:ea typeface="宋体" panose="02010600030101010101" pitchFamily="2" charset="-122"/>
              </a:rPr>
              <a:t>写入失败不能静默吞掉</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StopReason::TraceError</a:t>
            </a:r>
            <a:endParaRPr lang="en-US" altLang="zh-CN" sz="1400">
              <a:ea typeface="宋体" panose="02010600030101010101" pitchFamily="2" charset="-122"/>
            </a:endParaRPr>
          </a:p>
        </p:txBody>
      </p:sp>
      <p:graphicFrame>
        <p:nvGraphicFramePr>
          <p:cNvPr id="4" name="表格 3"/>
          <p:cNvGraphicFramePr/>
          <p:nvPr>
            <p:custDataLst>
              <p:tags r:id="rId1"/>
            </p:custDataLst>
          </p:nvPr>
        </p:nvGraphicFramePr>
        <p:xfrm>
          <a:off x="5796280" y="2287905"/>
          <a:ext cx="4925695" cy="1003300"/>
        </p:xfrm>
        <a:graphic>
          <a:graphicData uri="http://schemas.openxmlformats.org/drawingml/2006/table">
            <a:tbl>
              <a:tblPr/>
              <a:tblGrid>
                <a:gridCol w="327025"/>
                <a:gridCol w="1388110"/>
                <a:gridCol w="1065530"/>
                <a:gridCol w="822325"/>
                <a:gridCol w="1322705"/>
              </a:tblGrid>
              <a:tr h="0">
                <a:tc>
                  <a:txBody>
                    <a:bodyPr/>
                    <a:p>
                      <a:pPr algn="ctr">
                        <a:lnSpc>
                          <a:spcPct val="110000"/>
                        </a:lnSpc>
                      </a:pPr>
                      <a:r>
                        <a:rPr lang="en-US" altLang="zh-CN" sz="1200"/>
                        <a:t>step</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event_type</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detail</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calls</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remaining</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model_returned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not json</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5</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action_rejected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invalid JSON</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5</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2</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tool_succeeded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hello</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3</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run_terminated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completed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3</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3</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8" name="文本框 7"/>
          <p:cNvSpPr txBox="1"/>
          <p:nvPr/>
        </p:nvSpPr>
        <p:spPr>
          <a:xfrm>
            <a:off x="5796280" y="4076700"/>
            <a:ext cx="4064000" cy="922020"/>
          </a:xfrm>
          <a:prstGeom prst="rect">
            <a:avLst/>
          </a:prstGeom>
          <a:noFill/>
        </p:spPr>
        <p:txBody>
          <a:bodyPr wrap="square" rtlCol="0">
            <a:spAutoFit/>
          </a:bodyPr>
          <a:p>
            <a:r>
              <a:rPr lang="en-US" altLang="zh-CN"/>
              <a:t>cargo run --offline -q -p lesson-02-runtime `</a:t>
            </a:r>
            <a:endParaRPr lang="en-US" altLang="zh-CN"/>
          </a:p>
          <a:p>
            <a:r>
              <a:rPr lang="en-US" altLang="zh-CN"/>
              <a:t>  --example lesson2_demo -- recovery</a:t>
            </a:r>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ea typeface="宋体" panose="02010600030101010101" pitchFamily="2" charset="-122"/>
              </a:rPr>
              <a:t>控制权到底在哪里？</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6891020" cy="1510665"/>
          </a:xfrm>
          <a:prstGeom prst="rect">
            <a:avLst/>
          </a:prstGeom>
          <a:noFill/>
        </p:spPr>
        <p:txBody>
          <a:bodyPr wrap="square" rtlCol="0">
            <a:spAutoFit/>
          </a:bodyPr>
          <a:p>
            <a:pPr>
              <a:lnSpc>
                <a:spcPct val="110000"/>
              </a:lnSpc>
              <a:buNone/>
            </a:pPr>
            <a:r>
              <a:rPr lang="zh-CN" altLang="en-US" sz="1400">
                <a:ea typeface="宋体" panose="02010600030101010101" pitchFamily="2" charset="-122"/>
              </a:rPr>
              <a:t>谁把模型文本变成动作？</a:t>
            </a:r>
            <a:r>
              <a:rPr lang="en-US" altLang="zh-CN" sz="1400">
                <a:ea typeface="宋体" panose="02010600030101010101" pitchFamily="2" charset="-122"/>
              </a:rPr>
              <a:t>       Parser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谁决定参数是否合法？</a:t>
            </a:r>
            <a:r>
              <a:rPr lang="en-US" altLang="zh-CN" sz="1400">
                <a:ea typeface="宋体" panose="02010600030101010101" pitchFamily="2" charset="-122"/>
              </a:rPr>
              <a:t>         Validator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谁决定工具能不能执行？</a:t>
            </a:r>
            <a:r>
              <a:rPr lang="en-US" altLang="zh-CN" sz="1400">
                <a:ea typeface="宋体" panose="02010600030101010101" pitchFamily="2" charset="-122"/>
              </a:rPr>
              <a:t>       Runtime / Budget</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谁决定任务是否完成？</a:t>
            </a:r>
            <a:r>
              <a:rPr lang="en-US" altLang="zh-CN" sz="1400">
                <a:ea typeface="宋体" panose="02010600030101010101" pitchFamily="2" charset="-122"/>
              </a:rPr>
              <a:t>         GoalVerifier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谁保证模型不能无限运行？</a:t>
            </a:r>
            <a:r>
              <a:rPr lang="en-US" altLang="zh-CN" sz="1400">
                <a:ea typeface="宋体" panose="02010600030101010101" pitchFamily="2" charset="-122"/>
              </a:rPr>
              <a:t>     Budget + RepeatedAction</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谁证明系统实际发生过什么？</a:t>
            </a:r>
            <a:r>
              <a:rPr lang="en-US" altLang="zh-CN" sz="1400">
                <a:ea typeface="宋体" panose="02010600030101010101" pitchFamily="2" charset="-122"/>
              </a:rPr>
              <a:t>   Trace</a:t>
            </a:r>
            <a:endParaRPr lang="en-US" altLang="zh-CN" sz="1400">
              <a:ea typeface="宋体" panose="02010600030101010101" pitchFamily="2" charset="-122"/>
            </a:endParaRPr>
          </a:p>
        </p:txBody>
      </p:sp>
      <p:sp>
        <p:nvSpPr>
          <p:cNvPr id="8" name="文本框 7"/>
          <p:cNvSpPr txBox="1"/>
          <p:nvPr/>
        </p:nvSpPr>
        <p:spPr>
          <a:xfrm>
            <a:off x="623570" y="4004945"/>
            <a:ext cx="9870440" cy="1087755"/>
          </a:xfrm>
          <a:prstGeom prst="rect">
            <a:avLst/>
          </a:prstGeom>
          <a:noFill/>
        </p:spPr>
        <p:txBody>
          <a:bodyPr wrap="square" rtlCol="0">
            <a:spAutoFit/>
          </a:bodyPr>
          <a:p>
            <a:pPr>
              <a:lnSpc>
                <a:spcPct val="120000"/>
              </a:lnSpc>
            </a:pPr>
            <a:r>
              <a:rPr lang="en-US" altLang="zh-CN"/>
              <a:t>Lesson 1 </a:t>
            </a:r>
            <a:r>
              <a:rPr lang="zh-CN" altLang="en-US"/>
              <a:t>让</a:t>
            </a:r>
            <a:r>
              <a:rPr lang="en-US" altLang="zh-CN"/>
              <a:t> Agent </a:t>
            </a:r>
            <a:r>
              <a:rPr lang="zh-CN" altLang="en-US"/>
              <a:t>拥有运行时决策权；</a:t>
            </a:r>
            <a:endParaRPr lang="zh-CN" altLang="en-US"/>
          </a:p>
          <a:p>
            <a:pPr>
              <a:lnSpc>
                <a:spcPct val="120000"/>
              </a:lnSpc>
            </a:pPr>
            <a:r>
              <a:rPr lang="en-US" altLang="zh-CN"/>
              <a:t>Lesson 2 </a:t>
            </a:r>
            <a:r>
              <a:rPr lang="zh-CN" altLang="en-US"/>
              <a:t>则告诉我们，</a:t>
            </a:r>
            <a:r>
              <a:rPr lang="en-US" altLang="zh-CN"/>
              <a:t>Agent </a:t>
            </a:r>
            <a:r>
              <a:rPr lang="zh-CN" altLang="en-US"/>
              <a:t>有决策权，不代表模型拥有系统控制权。</a:t>
            </a:r>
            <a:endParaRPr lang="zh-CN" altLang="en-US"/>
          </a:p>
          <a:p>
            <a:pPr>
              <a:lnSpc>
                <a:spcPct val="120000"/>
              </a:lnSpc>
            </a:pPr>
            <a:r>
              <a:rPr lang="zh-CN" altLang="en-US"/>
              <a:t>模型只能提出建议，</a:t>
            </a:r>
            <a:r>
              <a:rPr lang="en-US" altLang="zh-CN"/>
              <a:t>Runtime </a:t>
            </a:r>
            <a:r>
              <a:rPr lang="zh-CN" altLang="en-US"/>
              <a:t>才拥有执行、预算和终止权。</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C7A7B"/>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C7A7B"/>
                </a:solidFill>
              </a:defRPr>
            </a:pPr>
            <a:r>
              <a:rPr sz="6000" b="1">
                <a:solidFill>
                  <a:srgbClr val="2C7A7B"/>
                </a:solidFill>
              </a:rPr>
              <a:t>03</a:t>
            </a:r>
            <a:endParaRPr sz="6000" b="1">
              <a:solidFill>
                <a:srgbClr val="2C7A7B"/>
              </a:solidFill>
            </a:endParaRPr>
          </a:p>
        </p:txBody>
      </p:sp>
      <p:sp>
        <p:nvSpPr>
          <p:cNvPr id="3" name="矩形 2"/>
          <p:cNvSpPr>
            <a:spLocks noGrp="1"/>
          </p:cNvSpPr>
          <p:nvPr/>
        </p:nvSpPr>
        <p:spPr>
          <a:xfrm>
            <a:off x="800100" y="2266950"/>
            <a:ext cx="1714500" cy="38100"/>
          </a:xfrm>
          <a:prstGeom prst="rect">
            <a:avLst/>
          </a:prstGeom>
          <a:solidFill>
            <a:srgbClr val="2C7A7B"/>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Tool 契约、失败恢复与权限</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把不可信的动作建议转化为受约束、可恢复、可审计的外部操作。</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C7A7B"/>
                </a:solidFill>
              </a:defRPr>
            </a:pPr>
            <a:r>
              <a:rPr sz="1350" b="1">
                <a:solidFill>
                  <a:srgbClr val="2C7A7B"/>
                </a:solidFill>
              </a:rPr>
              <a:t>原理  →  实现  →  故障  →  评测</a:t>
            </a:r>
            <a:endParaRPr sz="1350" b="1">
              <a:solidFill>
                <a:srgbClr val="2C7A7B"/>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21</a:t>
            </a:r>
            <a:endParaRPr sz="825" b="0">
              <a:solidFill>
                <a:srgbClr val="7D8994"/>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Tool 契约描述的不只是函数签名</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一个可用于 Agent 的工具必须公开其风险语义</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22</a:t>
            </a:r>
            <a:endParaRPr sz="825" b="0">
              <a:solidFill>
                <a:srgbClr val="7D8994"/>
              </a:solidFill>
            </a:endParaRPr>
          </a:p>
        </p:txBody>
      </p:sp>
      <p:sp>
        <p:nvSpPr>
          <p:cNvPr id="7" name="圆角矩形 6"/>
          <p:cNvSpPr>
            <a:spLocks noGrp="1"/>
          </p:cNvSpPr>
          <p:nvPr/>
        </p:nvSpPr>
        <p:spPr>
          <a:xfrm>
            <a:off x="609600" y="1809750"/>
            <a:ext cx="3352800" cy="1257300"/>
          </a:xfrm>
          <a:prstGeom prst="roundRect">
            <a:avLst>
              <a:gd name="adj" fmla="val 6061"/>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12573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name</a:t>
            </a:r>
            <a:endParaRPr sz="1650" b="1">
              <a:solidFill>
                <a:srgbClr val="286F9E"/>
              </a:solidFill>
            </a:endParaRPr>
          </a:p>
        </p:txBody>
      </p:sp>
      <p:sp>
        <p:nvSpPr>
          <p:cNvPr id="10" name="矩形 9"/>
          <p:cNvSpPr>
            <a:spLocks noGrp="1"/>
          </p:cNvSpPr>
          <p:nvPr/>
        </p:nvSpPr>
        <p:spPr>
          <a:xfrm>
            <a:off x="838200" y="236220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稳定动作标识</a:t>
            </a:r>
            <a:endParaRPr sz="1275" b="0">
              <a:solidFill>
                <a:srgbClr val="18212B"/>
              </a:solidFill>
            </a:endParaRPr>
          </a:p>
        </p:txBody>
      </p:sp>
      <p:sp>
        <p:nvSpPr>
          <p:cNvPr id="11" name="圆角矩形 10"/>
          <p:cNvSpPr>
            <a:spLocks noGrp="1"/>
          </p:cNvSpPr>
          <p:nvPr/>
        </p:nvSpPr>
        <p:spPr>
          <a:xfrm>
            <a:off x="4343400" y="1809750"/>
            <a:ext cx="3352800" cy="1257300"/>
          </a:xfrm>
          <a:prstGeom prst="roundRect">
            <a:avLst>
              <a:gd name="adj" fmla="val 6061"/>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125730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input schema</a:t>
            </a:r>
            <a:endParaRPr sz="1650" b="1">
              <a:solidFill>
                <a:srgbClr val="2C7A7B"/>
              </a:solidFill>
            </a:endParaRPr>
          </a:p>
        </p:txBody>
      </p:sp>
      <p:sp>
        <p:nvSpPr>
          <p:cNvPr id="14" name="矩形 13"/>
          <p:cNvSpPr>
            <a:spLocks noGrp="1"/>
          </p:cNvSpPr>
          <p:nvPr/>
        </p:nvSpPr>
        <p:spPr>
          <a:xfrm>
            <a:off x="4572000" y="236220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类型、必填与约束</a:t>
            </a:r>
            <a:endParaRPr sz="1275" b="0">
              <a:solidFill>
                <a:srgbClr val="18212B"/>
              </a:solidFill>
            </a:endParaRPr>
          </a:p>
        </p:txBody>
      </p:sp>
      <p:sp>
        <p:nvSpPr>
          <p:cNvPr id="15" name="圆角矩形 14"/>
          <p:cNvSpPr>
            <a:spLocks noGrp="1"/>
          </p:cNvSpPr>
          <p:nvPr/>
        </p:nvSpPr>
        <p:spPr>
          <a:xfrm>
            <a:off x="8077200" y="1809750"/>
            <a:ext cx="3352800" cy="1257300"/>
          </a:xfrm>
          <a:prstGeom prst="roundRect">
            <a:avLst>
              <a:gd name="adj" fmla="val 6061"/>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125730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output/error</a:t>
            </a:r>
            <a:endParaRPr sz="1650" b="1">
              <a:solidFill>
                <a:srgbClr val="B7791F"/>
              </a:solidFill>
            </a:endParaRPr>
          </a:p>
        </p:txBody>
      </p:sp>
      <p:sp>
        <p:nvSpPr>
          <p:cNvPr id="18" name="矩形 17"/>
          <p:cNvSpPr>
            <a:spLocks noGrp="1"/>
          </p:cNvSpPr>
          <p:nvPr/>
        </p:nvSpPr>
        <p:spPr>
          <a:xfrm>
            <a:off x="8305800" y="236220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成功与失败结构</a:t>
            </a:r>
            <a:endParaRPr sz="1275" b="0">
              <a:solidFill>
                <a:srgbClr val="18212B"/>
              </a:solidFill>
            </a:endParaRPr>
          </a:p>
        </p:txBody>
      </p:sp>
      <p:sp>
        <p:nvSpPr>
          <p:cNvPr id="19" name="圆角矩形 18"/>
          <p:cNvSpPr>
            <a:spLocks noGrp="1"/>
          </p:cNvSpPr>
          <p:nvPr/>
        </p:nvSpPr>
        <p:spPr>
          <a:xfrm>
            <a:off x="609600" y="3429000"/>
            <a:ext cx="3352800" cy="1257300"/>
          </a:xfrm>
          <a:prstGeom prst="roundRect">
            <a:avLst>
              <a:gd name="adj" fmla="val 6061"/>
            </a:avLst>
          </a:prstGeom>
          <a:solidFill>
            <a:srgbClr val="F3F6F8"/>
          </a:solidFill>
          <a:ln w="9525">
            <a:solidFill>
              <a:srgbClr val="D7E0E7"/>
            </a:solidFill>
            <a:prstDash val="solid"/>
          </a:ln>
        </p:spPr>
      </p:sp>
      <p:sp>
        <p:nvSpPr>
          <p:cNvPr id="20" name="圆角矩形 19"/>
          <p:cNvSpPr>
            <a:spLocks noGrp="1"/>
          </p:cNvSpPr>
          <p:nvPr/>
        </p:nvSpPr>
        <p:spPr>
          <a:xfrm>
            <a:off x="609600" y="3429000"/>
            <a:ext cx="66675" cy="1257300"/>
          </a:xfrm>
          <a:prstGeom prst="roundRect">
            <a:avLst>
              <a:gd name="adj" fmla="val 50000"/>
            </a:avLst>
          </a:prstGeom>
          <a:solidFill>
            <a:srgbClr val="286F9E"/>
          </a:solidFill>
          <a:ln w="0">
            <a:noFill/>
            <a:prstDash val="solid"/>
          </a:ln>
        </p:spPr>
      </p:sp>
      <p:sp>
        <p:nvSpPr>
          <p:cNvPr id="21" name="矩形 20"/>
          <p:cNvSpPr>
            <a:spLocks noGrp="1"/>
          </p:cNvSpPr>
          <p:nvPr/>
        </p:nvSpPr>
        <p:spPr>
          <a:xfrm>
            <a:off x="838200" y="3600450"/>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side effect</a:t>
            </a:r>
            <a:endParaRPr sz="1650" b="1">
              <a:solidFill>
                <a:srgbClr val="286F9E"/>
              </a:solidFill>
            </a:endParaRPr>
          </a:p>
        </p:txBody>
      </p:sp>
      <p:sp>
        <p:nvSpPr>
          <p:cNvPr id="22" name="矩形 21"/>
          <p:cNvSpPr>
            <a:spLocks noGrp="1"/>
          </p:cNvSpPr>
          <p:nvPr/>
        </p:nvSpPr>
        <p:spPr>
          <a:xfrm>
            <a:off x="838200" y="398145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是否改变外部状态</a:t>
            </a:r>
            <a:endParaRPr sz="1275" b="0">
              <a:solidFill>
                <a:srgbClr val="18212B"/>
              </a:solidFill>
            </a:endParaRPr>
          </a:p>
        </p:txBody>
      </p:sp>
      <p:sp>
        <p:nvSpPr>
          <p:cNvPr id="23" name="圆角矩形 22"/>
          <p:cNvSpPr>
            <a:spLocks noGrp="1"/>
          </p:cNvSpPr>
          <p:nvPr/>
        </p:nvSpPr>
        <p:spPr>
          <a:xfrm>
            <a:off x="4343400" y="3429000"/>
            <a:ext cx="3352800" cy="1257300"/>
          </a:xfrm>
          <a:prstGeom prst="roundRect">
            <a:avLst>
              <a:gd name="adj" fmla="val 6061"/>
            </a:avLst>
          </a:prstGeom>
          <a:solidFill>
            <a:srgbClr val="F3F6F8"/>
          </a:solidFill>
          <a:ln w="9525">
            <a:solidFill>
              <a:srgbClr val="D7E0E7"/>
            </a:solidFill>
            <a:prstDash val="solid"/>
          </a:ln>
        </p:spPr>
      </p:sp>
      <p:sp>
        <p:nvSpPr>
          <p:cNvPr id="24" name="圆角矩形 23"/>
          <p:cNvSpPr>
            <a:spLocks noGrp="1"/>
          </p:cNvSpPr>
          <p:nvPr/>
        </p:nvSpPr>
        <p:spPr>
          <a:xfrm>
            <a:off x="4343400" y="3429000"/>
            <a:ext cx="66675" cy="1257300"/>
          </a:xfrm>
          <a:prstGeom prst="roundRect">
            <a:avLst>
              <a:gd name="adj" fmla="val 50000"/>
            </a:avLst>
          </a:prstGeom>
          <a:solidFill>
            <a:srgbClr val="2C7A7B"/>
          </a:solidFill>
          <a:ln w="0">
            <a:noFill/>
            <a:prstDash val="solid"/>
          </a:ln>
        </p:spPr>
      </p:sp>
      <p:sp>
        <p:nvSpPr>
          <p:cNvPr id="25" name="矩形 24"/>
          <p:cNvSpPr>
            <a:spLocks noGrp="1"/>
          </p:cNvSpPr>
          <p:nvPr/>
        </p:nvSpPr>
        <p:spPr>
          <a:xfrm>
            <a:off x="4572000" y="3600450"/>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permission</a:t>
            </a:r>
            <a:endParaRPr sz="1650" b="1">
              <a:solidFill>
                <a:srgbClr val="2C7A7B"/>
              </a:solidFill>
            </a:endParaRPr>
          </a:p>
        </p:txBody>
      </p:sp>
      <p:sp>
        <p:nvSpPr>
          <p:cNvPr id="26" name="矩形 25"/>
          <p:cNvSpPr>
            <a:spLocks noGrp="1"/>
          </p:cNvSpPr>
          <p:nvPr/>
        </p:nvSpPr>
        <p:spPr>
          <a:xfrm>
            <a:off x="4572000" y="398145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需要何种能力</a:t>
            </a:r>
            <a:endParaRPr sz="1275" b="0">
              <a:solidFill>
                <a:srgbClr val="18212B"/>
              </a:solidFill>
            </a:endParaRPr>
          </a:p>
        </p:txBody>
      </p:sp>
      <p:sp>
        <p:nvSpPr>
          <p:cNvPr id="27" name="圆角矩形 26"/>
          <p:cNvSpPr>
            <a:spLocks noGrp="1"/>
          </p:cNvSpPr>
          <p:nvPr/>
        </p:nvSpPr>
        <p:spPr>
          <a:xfrm>
            <a:off x="8077200" y="3429000"/>
            <a:ext cx="3352800" cy="1257300"/>
          </a:xfrm>
          <a:prstGeom prst="roundRect">
            <a:avLst>
              <a:gd name="adj" fmla="val 6061"/>
            </a:avLst>
          </a:prstGeom>
          <a:solidFill>
            <a:srgbClr val="F3F6F8"/>
          </a:solidFill>
          <a:ln w="9525">
            <a:solidFill>
              <a:srgbClr val="D7E0E7"/>
            </a:solidFill>
            <a:prstDash val="solid"/>
          </a:ln>
        </p:spPr>
      </p:sp>
      <p:sp>
        <p:nvSpPr>
          <p:cNvPr id="28" name="圆角矩形 27"/>
          <p:cNvSpPr>
            <a:spLocks noGrp="1"/>
          </p:cNvSpPr>
          <p:nvPr/>
        </p:nvSpPr>
        <p:spPr>
          <a:xfrm>
            <a:off x="8077200" y="3429000"/>
            <a:ext cx="66675" cy="1257300"/>
          </a:xfrm>
          <a:prstGeom prst="roundRect">
            <a:avLst>
              <a:gd name="adj" fmla="val 50000"/>
            </a:avLst>
          </a:prstGeom>
          <a:solidFill>
            <a:srgbClr val="B7791F"/>
          </a:solidFill>
          <a:ln w="0">
            <a:noFill/>
            <a:prstDash val="solid"/>
          </a:ln>
        </p:spPr>
      </p:sp>
      <p:sp>
        <p:nvSpPr>
          <p:cNvPr id="29" name="矩形 28"/>
          <p:cNvSpPr>
            <a:spLocks noGrp="1"/>
          </p:cNvSpPr>
          <p:nvPr/>
        </p:nvSpPr>
        <p:spPr>
          <a:xfrm>
            <a:off x="8305800" y="3600450"/>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timeout</a:t>
            </a:r>
            <a:endParaRPr sz="1650" b="1">
              <a:solidFill>
                <a:srgbClr val="B7791F"/>
              </a:solidFill>
            </a:endParaRPr>
          </a:p>
        </p:txBody>
      </p:sp>
      <p:sp>
        <p:nvSpPr>
          <p:cNvPr id="30" name="矩形 29"/>
          <p:cNvSpPr>
            <a:spLocks noGrp="1"/>
          </p:cNvSpPr>
          <p:nvPr/>
        </p:nvSpPr>
        <p:spPr>
          <a:xfrm>
            <a:off x="8305800" y="398145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最长执行时间</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工具描述告诉模型“何时建议使用”；权限系统决定“是否允许执行”。两者不能互相替代。</a:t>
            </a:r>
            <a:endParaRPr sz="1350" b="1">
              <a:solidFill>
                <a:srgbClr val="163A5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6" name="矩形 35"/>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错误也是 Observation，但不是所有错误都应重试</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恢复策略必须同时考虑错误类别、预算和副作用</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23</a:t>
            </a:r>
            <a:endParaRPr sz="825" b="0">
              <a:solidFill>
                <a:srgbClr val="7D8994"/>
              </a:solidFill>
            </a:endParaRPr>
          </a:p>
        </p:txBody>
      </p:sp>
      <p:sp>
        <p:nvSpPr>
          <p:cNvPr id="7" name="矩形 6"/>
          <p:cNvSpPr>
            <a:spLocks noGrp="1"/>
          </p:cNvSpPr>
          <p:nvPr/>
        </p:nvSpPr>
        <p:spPr>
          <a:xfrm>
            <a:off x="857250" y="1762125"/>
            <a:ext cx="26670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错误类别</a:t>
            </a:r>
            <a:endParaRPr sz="1350" b="1">
              <a:solidFill>
                <a:srgbClr val="163A5F"/>
              </a:solidFill>
            </a:endParaRPr>
          </a:p>
        </p:txBody>
      </p:sp>
      <p:sp>
        <p:nvSpPr>
          <p:cNvPr id="8" name="矩形 7"/>
          <p:cNvSpPr>
            <a:spLocks noGrp="1"/>
          </p:cNvSpPr>
          <p:nvPr/>
        </p:nvSpPr>
        <p:spPr>
          <a:xfrm>
            <a:off x="4095750" y="1762125"/>
            <a:ext cx="1143000" cy="285750"/>
          </a:xfrm>
          <a:prstGeom prst="rect">
            <a:avLst/>
          </a:prstGeom>
          <a:noFill/>
          <a:ln w="0">
            <a:noFill/>
            <a:prstDash val="solid"/>
          </a:ln>
        </p:spPr>
        <p:txBody>
          <a:bodyPr/>
          <a:lstStyle/>
          <a:p>
            <a:pPr algn="ctr">
              <a:defRPr sz="1350" b="1">
                <a:solidFill>
                  <a:srgbClr val="163A5F"/>
                </a:solidFill>
              </a:defRPr>
            </a:pPr>
            <a:r>
              <a:rPr sz="1350" b="1">
                <a:solidFill>
                  <a:srgbClr val="163A5F"/>
                </a:solidFill>
              </a:rPr>
              <a:t>重试</a:t>
            </a:r>
            <a:endParaRPr sz="1350" b="1">
              <a:solidFill>
                <a:srgbClr val="163A5F"/>
              </a:solidFill>
            </a:endParaRPr>
          </a:p>
        </p:txBody>
      </p:sp>
      <p:sp>
        <p:nvSpPr>
          <p:cNvPr id="9" name="矩形 8"/>
          <p:cNvSpPr>
            <a:spLocks noGrp="1"/>
          </p:cNvSpPr>
          <p:nvPr/>
        </p:nvSpPr>
        <p:spPr>
          <a:xfrm>
            <a:off x="5715000" y="1762125"/>
            <a:ext cx="47625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下一动作</a:t>
            </a:r>
            <a:endParaRPr sz="1350" b="1">
              <a:solidFill>
                <a:srgbClr val="163A5F"/>
              </a:solidFill>
            </a:endParaRPr>
          </a:p>
        </p:txBody>
      </p:sp>
      <p:sp>
        <p:nvSpPr>
          <p:cNvPr id="10" name="圆角矩形 9"/>
          <p:cNvSpPr>
            <a:spLocks noGrp="1"/>
          </p:cNvSpPr>
          <p:nvPr/>
        </p:nvSpPr>
        <p:spPr>
          <a:xfrm>
            <a:off x="742950" y="2152650"/>
            <a:ext cx="10001250" cy="400050"/>
          </a:xfrm>
          <a:prstGeom prst="roundRect">
            <a:avLst>
              <a:gd name="adj" fmla="val 19048"/>
            </a:avLst>
          </a:prstGeom>
          <a:solidFill>
            <a:srgbClr val="FFFFFF"/>
          </a:solidFill>
          <a:ln w="9525">
            <a:solidFill>
              <a:srgbClr val="D7E0E7"/>
            </a:solidFill>
            <a:prstDash val="solid"/>
          </a:ln>
        </p:spPr>
      </p:sp>
      <p:sp>
        <p:nvSpPr>
          <p:cNvPr id="11" name="矩形 10"/>
          <p:cNvSpPr>
            <a:spLocks noGrp="1"/>
          </p:cNvSpPr>
          <p:nvPr/>
        </p:nvSpPr>
        <p:spPr>
          <a:xfrm>
            <a:off x="914400" y="22288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InvalidInput</a:t>
            </a:r>
            <a:endParaRPr sz="1275" b="1">
              <a:solidFill>
                <a:srgbClr val="18212B"/>
              </a:solidFill>
            </a:endParaRPr>
          </a:p>
        </p:txBody>
      </p:sp>
      <p:sp>
        <p:nvSpPr>
          <p:cNvPr id="12" name="矩形 11"/>
          <p:cNvSpPr>
            <a:spLocks noGrp="1"/>
          </p:cNvSpPr>
          <p:nvPr/>
        </p:nvSpPr>
        <p:spPr>
          <a:xfrm>
            <a:off x="4095750" y="2228850"/>
            <a:ext cx="1143000" cy="238125"/>
          </a:xfrm>
          <a:prstGeom prst="rect">
            <a:avLst/>
          </a:prstGeom>
          <a:noFill/>
          <a:ln w="0">
            <a:noFill/>
            <a:prstDash val="solid"/>
          </a:ln>
        </p:spPr>
        <p:txBody>
          <a:bodyPr/>
          <a:lstStyle/>
          <a:p>
            <a:pPr algn="ctr">
              <a:defRPr sz="1275" b="1">
                <a:solidFill>
                  <a:srgbClr val="A23B3B"/>
                </a:solidFill>
              </a:defRPr>
            </a:pPr>
            <a:r>
              <a:rPr sz="1275" b="1">
                <a:solidFill>
                  <a:srgbClr val="A23B3B"/>
                </a:solidFill>
              </a:rPr>
              <a:t>否</a:t>
            </a:r>
            <a:endParaRPr sz="1275" b="1">
              <a:solidFill>
                <a:srgbClr val="A23B3B"/>
              </a:solidFill>
            </a:endParaRPr>
          </a:p>
        </p:txBody>
      </p:sp>
      <p:sp>
        <p:nvSpPr>
          <p:cNvPr id="13" name="矩形 12"/>
          <p:cNvSpPr>
            <a:spLocks noGrp="1"/>
          </p:cNvSpPr>
          <p:nvPr/>
        </p:nvSpPr>
        <p:spPr>
          <a:xfrm>
            <a:off x="5715000" y="22288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修改参数</a:t>
            </a:r>
            <a:endParaRPr sz="1275" b="0">
              <a:solidFill>
                <a:srgbClr val="566573"/>
              </a:solidFill>
            </a:endParaRPr>
          </a:p>
        </p:txBody>
      </p:sp>
      <p:sp>
        <p:nvSpPr>
          <p:cNvPr id="14" name="圆角矩形 13"/>
          <p:cNvSpPr>
            <a:spLocks noGrp="1"/>
          </p:cNvSpPr>
          <p:nvPr/>
        </p:nvSpPr>
        <p:spPr>
          <a:xfrm>
            <a:off x="742950" y="2647950"/>
            <a:ext cx="10001250" cy="400050"/>
          </a:xfrm>
          <a:prstGeom prst="roundRect">
            <a:avLst>
              <a:gd name="adj" fmla="val 19048"/>
            </a:avLst>
          </a:prstGeom>
          <a:solidFill>
            <a:srgbClr val="F3F6F8"/>
          </a:solidFill>
          <a:ln w="9525">
            <a:solidFill>
              <a:srgbClr val="D7E0E7"/>
            </a:solidFill>
            <a:prstDash val="solid"/>
          </a:ln>
        </p:spPr>
      </p:sp>
      <p:sp>
        <p:nvSpPr>
          <p:cNvPr id="15" name="矩形 14"/>
          <p:cNvSpPr>
            <a:spLocks noGrp="1"/>
          </p:cNvSpPr>
          <p:nvPr/>
        </p:nvSpPr>
        <p:spPr>
          <a:xfrm>
            <a:off x="914400" y="27241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PermissionDenied</a:t>
            </a:r>
            <a:endParaRPr sz="1275" b="1">
              <a:solidFill>
                <a:srgbClr val="18212B"/>
              </a:solidFill>
            </a:endParaRPr>
          </a:p>
        </p:txBody>
      </p:sp>
      <p:sp>
        <p:nvSpPr>
          <p:cNvPr id="16" name="矩形 15"/>
          <p:cNvSpPr>
            <a:spLocks noGrp="1"/>
          </p:cNvSpPr>
          <p:nvPr/>
        </p:nvSpPr>
        <p:spPr>
          <a:xfrm>
            <a:off x="4095750" y="2724150"/>
            <a:ext cx="1143000" cy="238125"/>
          </a:xfrm>
          <a:prstGeom prst="rect">
            <a:avLst/>
          </a:prstGeom>
          <a:noFill/>
          <a:ln w="0">
            <a:noFill/>
            <a:prstDash val="solid"/>
          </a:ln>
        </p:spPr>
        <p:txBody>
          <a:bodyPr/>
          <a:lstStyle/>
          <a:p>
            <a:pPr algn="ctr">
              <a:defRPr sz="1275" b="1">
                <a:solidFill>
                  <a:srgbClr val="A23B3B"/>
                </a:solidFill>
              </a:defRPr>
            </a:pPr>
            <a:r>
              <a:rPr sz="1275" b="1">
                <a:solidFill>
                  <a:srgbClr val="A23B3B"/>
                </a:solidFill>
              </a:rPr>
              <a:t>否</a:t>
            </a:r>
            <a:endParaRPr sz="1275" b="1">
              <a:solidFill>
                <a:srgbClr val="A23B3B"/>
              </a:solidFill>
            </a:endParaRPr>
          </a:p>
        </p:txBody>
      </p:sp>
      <p:sp>
        <p:nvSpPr>
          <p:cNvPr id="17" name="矩形 16"/>
          <p:cNvSpPr>
            <a:spLocks noGrp="1"/>
          </p:cNvSpPr>
          <p:nvPr/>
        </p:nvSpPr>
        <p:spPr>
          <a:xfrm>
            <a:off x="5715000" y="27241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请求授权或停止</a:t>
            </a:r>
            <a:endParaRPr sz="1275" b="0">
              <a:solidFill>
                <a:srgbClr val="566573"/>
              </a:solidFill>
            </a:endParaRPr>
          </a:p>
        </p:txBody>
      </p:sp>
      <p:sp>
        <p:nvSpPr>
          <p:cNvPr id="18" name="圆角矩形 17"/>
          <p:cNvSpPr>
            <a:spLocks noGrp="1"/>
          </p:cNvSpPr>
          <p:nvPr/>
        </p:nvSpPr>
        <p:spPr>
          <a:xfrm>
            <a:off x="742950" y="3143250"/>
            <a:ext cx="10001250" cy="400050"/>
          </a:xfrm>
          <a:prstGeom prst="roundRect">
            <a:avLst>
              <a:gd name="adj" fmla="val 19048"/>
            </a:avLst>
          </a:prstGeom>
          <a:solidFill>
            <a:srgbClr val="FFFFFF"/>
          </a:solidFill>
          <a:ln w="9525">
            <a:solidFill>
              <a:srgbClr val="D7E0E7"/>
            </a:solidFill>
            <a:prstDash val="solid"/>
          </a:ln>
        </p:spPr>
      </p:sp>
      <p:sp>
        <p:nvSpPr>
          <p:cNvPr id="19" name="矩形 18"/>
          <p:cNvSpPr>
            <a:spLocks noGrp="1"/>
          </p:cNvSpPr>
          <p:nvPr/>
        </p:nvSpPr>
        <p:spPr>
          <a:xfrm>
            <a:off x="914400" y="32194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NotFound</a:t>
            </a:r>
            <a:endParaRPr sz="1275" b="1">
              <a:solidFill>
                <a:srgbClr val="18212B"/>
              </a:solidFill>
            </a:endParaRPr>
          </a:p>
        </p:txBody>
      </p:sp>
      <p:sp>
        <p:nvSpPr>
          <p:cNvPr id="20" name="矩形 19"/>
          <p:cNvSpPr>
            <a:spLocks noGrp="1"/>
          </p:cNvSpPr>
          <p:nvPr/>
        </p:nvSpPr>
        <p:spPr>
          <a:xfrm>
            <a:off x="4095750" y="3219450"/>
            <a:ext cx="1143000" cy="238125"/>
          </a:xfrm>
          <a:prstGeom prst="rect">
            <a:avLst/>
          </a:prstGeom>
          <a:noFill/>
          <a:ln w="0">
            <a:noFill/>
            <a:prstDash val="solid"/>
          </a:ln>
        </p:spPr>
        <p:txBody>
          <a:bodyPr/>
          <a:lstStyle/>
          <a:p>
            <a:pPr algn="ctr">
              <a:defRPr sz="1275" b="1">
                <a:solidFill>
                  <a:srgbClr val="B7791F"/>
                </a:solidFill>
              </a:defRPr>
            </a:pPr>
            <a:r>
              <a:rPr sz="1275" b="1">
                <a:solidFill>
                  <a:srgbClr val="B7791F"/>
                </a:solidFill>
              </a:rPr>
              <a:t>通常否</a:t>
            </a:r>
            <a:endParaRPr sz="1275" b="1">
              <a:solidFill>
                <a:srgbClr val="B7791F"/>
              </a:solidFill>
            </a:endParaRPr>
          </a:p>
        </p:txBody>
      </p:sp>
      <p:sp>
        <p:nvSpPr>
          <p:cNvPr id="21" name="矩形 20"/>
          <p:cNvSpPr>
            <a:spLocks noGrp="1"/>
          </p:cNvSpPr>
          <p:nvPr/>
        </p:nvSpPr>
        <p:spPr>
          <a:xfrm>
            <a:off x="5715000" y="32194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换路径/补信息</a:t>
            </a:r>
            <a:endParaRPr sz="1275" b="0">
              <a:solidFill>
                <a:srgbClr val="566573"/>
              </a:solidFill>
            </a:endParaRPr>
          </a:p>
        </p:txBody>
      </p:sp>
      <p:sp>
        <p:nvSpPr>
          <p:cNvPr id="22" name="圆角矩形 21"/>
          <p:cNvSpPr>
            <a:spLocks noGrp="1"/>
          </p:cNvSpPr>
          <p:nvPr/>
        </p:nvSpPr>
        <p:spPr>
          <a:xfrm>
            <a:off x="742950" y="3638550"/>
            <a:ext cx="10001250" cy="400050"/>
          </a:xfrm>
          <a:prstGeom prst="roundRect">
            <a:avLst>
              <a:gd name="adj" fmla="val 19048"/>
            </a:avLst>
          </a:prstGeom>
          <a:solidFill>
            <a:srgbClr val="F3F6F8"/>
          </a:solidFill>
          <a:ln w="9525">
            <a:solidFill>
              <a:srgbClr val="D7E0E7"/>
            </a:solidFill>
            <a:prstDash val="solid"/>
          </a:ln>
        </p:spPr>
      </p:sp>
      <p:sp>
        <p:nvSpPr>
          <p:cNvPr id="23" name="矩形 22"/>
          <p:cNvSpPr>
            <a:spLocks noGrp="1"/>
          </p:cNvSpPr>
          <p:nvPr/>
        </p:nvSpPr>
        <p:spPr>
          <a:xfrm>
            <a:off x="914400" y="37147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RateLimited</a:t>
            </a:r>
            <a:endParaRPr sz="1275" b="1">
              <a:solidFill>
                <a:srgbClr val="18212B"/>
              </a:solidFill>
            </a:endParaRPr>
          </a:p>
        </p:txBody>
      </p:sp>
      <p:sp>
        <p:nvSpPr>
          <p:cNvPr id="24" name="矩形 23"/>
          <p:cNvSpPr>
            <a:spLocks noGrp="1"/>
          </p:cNvSpPr>
          <p:nvPr/>
        </p:nvSpPr>
        <p:spPr>
          <a:xfrm>
            <a:off x="4095750" y="3714750"/>
            <a:ext cx="1143000" cy="238125"/>
          </a:xfrm>
          <a:prstGeom prst="rect">
            <a:avLst/>
          </a:prstGeom>
          <a:noFill/>
          <a:ln w="0">
            <a:noFill/>
            <a:prstDash val="solid"/>
          </a:ln>
        </p:spPr>
        <p:txBody>
          <a:bodyPr/>
          <a:lstStyle/>
          <a:p>
            <a:pPr algn="ctr">
              <a:defRPr sz="1275" b="1">
                <a:solidFill>
                  <a:srgbClr val="B7791F"/>
                </a:solidFill>
              </a:defRPr>
            </a:pPr>
            <a:r>
              <a:rPr sz="1275" b="1">
                <a:solidFill>
                  <a:srgbClr val="B7791F"/>
                </a:solidFill>
              </a:rPr>
              <a:t>有限</a:t>
            </a:r>
            <a:endParaRPr sz="1275" b="1">
              <a:solidFill>
                <a:srgbClr val="B7791F"/>
              </a:solidFill>
            </a:endParaRPr>
          </a:p>
        </p:txBody>
      </p:sp>
      <p:sp>
        <p:nvSpPr>
          <p:cNvPr id="25" name="矩形 24"/>
          <p:cNvSpPr>
            <a:spLocks noGrp="1"/>
          </p:cNvSpPr>
          <p:nvPr/>
        </p:nvSpPr>
        <p:spPr>
          <a:xfrm>
            <a:off x="5715000" y="37147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退避并计预算</a:t>
            </a:r>
            <a:endParaRPr sz="1275" b="0">
              <a:solidFill>
                <a:srgbClr val="566573"/>
              </a:solidFill>
            </a:endParaRPr>
          </a:p>
        </p:txBody>
      </p:sp>
      <p:sp>
        <p:nvSpPr>
          <p:cNvPr id="26" name="圆角矩形 25"/>
          <p:cNvSpPr>
            <a:spLocks noGrp="1"/>
          </p:cNvSpPr>
          <p:nvPr/>
        </p:nvSpPr>
        <p:spPr>
          <a:xfrm>
            <a:off x="742950" y="4133850"/>
            <a:ext cx="10001250" cy="400050"/>
          </a:xfrm>
          <a:prstGeom prst="roundRect">
            <a:avLst>
              <a:gd name="adj" fmla="val 19048"/>
            </a:avLst>
          </a:prstGeom>
          <a:solidFill>
            <a:srgbClr val="FFFFFF"/>
          </a:solidFill>
          <a:ln w="9525">
            <a:solidFill>
              <a:srgbClr val="D7E0E7"/>
            </a:solidFill>
            <a:prstDash val="solid"/>
          </a:ln>
        </p:spPr>
      </p:sp>
      <p:sp>
        <p:nvSpPr>
          <p:cNvPr id="27" name="矩形 26"/>
          <p:cNvSpPr>
            <a:spLocks noGrp="1"/>
          </p:cNvSpPr>
          <p:nvPr/>
        </p:nvSpPr>
        <p:spPr>
          <a:xfrm>
            <a:off x="914400" y="42100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Transient/Timeout</a:t>
            </a:r>
            <a:endParaRPr sz="1275" b="1">
              <a:solidFill>
                <a:srgbClr val="18212B"/>
              </a:solidFill>
            </a:endParaRPr>
          </a:p>
        </p:txBody>
      </p:sp>
      <p:sp>
        <p:nvSpPr>
          <p:cNvPr id="28" name="矩形 27"/>
          <p:cNvSpPr>
            <a:spLocks noGrp="1"/>
          </p:cNvSpPr>
          <p:nvPr/>
        </p:nvSpPr>
        <p:spPr>
          <a:xfrm>
            <a:off x="4095750" y="4210050"/>
            <a:ext cx="1143000" cy="238125"/>
          </a:xfrm>
          <a:prstGeom prst="rect">
            <a:avLst/>
          </a:prstGeom>
          <a:noFill/>
          <a:ln w="0">
            <a:noFill/>
            <a:prstDash val="solid"/>
          </a:ln>
        </p:spPr>
        <p:txBody>
          <a:bodyPr/>
          <a:lstStyle/>
          <a:p>
            <a:pPr algn="ctr">
              <a:defRPr sz="1275" b="1">
                <a:solidFill>
                  <a:srgbClr val="B7791F"/>
                </a:solidFill>
              </a:defRPr>
            </a:pPr>
            <a:r>
              <a:rPr sz="1275" b="1">
                <a:solidFill>
                  <a:srgbClr val="B7791F"/>
                </a:solidFill>
              </a:rPr>
              <a:t>有限</a:t>
            </a:r>
            <a:endParaRPr sz="1275" b="1">
              <a:solidFill>
                <a:srgbClr val="B7791F"/>
              </a:solidFill>
            </a:endParaRPr>
          </a:p>
        </p:txBody>
      </p:sp>
      <p:sp>
        <p:nvSpPr>
          <p:cNvPr id="29" name="矩形 28"/>
          <p:cNvSpPr>
            <a:spLocks noGrp="1"/>
          </p:cNvSpPr>
          <p:nvPr/>
        </p:nvSpPr>
        <p:spPr>
          <a:xfrm>
            <a:off x="5715000" y="42100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仅在安全时重试</a:t>
            </a:r>
            <a:endParaRPr sz="1275" b="0">
              <a:solidFill>
                <a:srgbClr val="566573"/>
              </a:solidFill>
            </a:endParaRPr>
          </a:p>
        </p:txBody>
      </p:sp>
      <p:sp>
        <p:nvSpPr>
          <p:cNvPr id="30" name="圆角矩形 29"/>
          <p:cNvSpPr>
            <a:spLocks noGrp="1"/>
          </p:cNvSpPr>
          <p:nvPr/>
        </p:nvSpPr>
        <p:spPr>
          <a:xfrm>
            <a:off x="742950" y="4629150"/>
            <a:ext cx="10001250" cy="400050"/>
          </a:xfrm>
          <a:prstGeom prst="roundRect">
            <a:avLst>
              <a:gd name="adj" fmla="val 19048"/>
            </a:avLst>
          </a:prstGeom>
          <a:solidFill>
            <a:srgbClr val="F3F6F8"/>
          </a:solidFill>
          <a:ln w="9525">
            <a:solidFill>
              <a:srgbClr val="D7E0E7"/>
            </a:solidFill>
            <a:prstDash val="solid"/>
          </a:ln>
        </p:spPr>
      </p:sp>
      <p:sp>
        <p:nvSpPr>
          <p:cNvPr id="31" name="矩形 30"/>
          <p:cNvSpPr>
            <a:spLocks noGrp="1"/>
          </p:cNvSpPr>
          <p:nvPr/>
        </p:nvSpPr>
        <p:spPr>
          <a:xfrm>
            <a:off x="914400" y="47053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Permanent</a:t>
            </a:r>
            <a:endParaRPr sz="1275" b="1">
              <a:solidFill>
                <a:srgbClr val="18212B"/>
              </a:solidFill>
            </a:endParaRPr>
          </a:p>
        </p:txBody>
      </p:sp>
      <p:sp>
        <p:nvSpPr>
          <p:cNvPr id="32" name="矩形 31"/>
          <p:cNvSpPr>
            <a:spLocks noGrp="1"/>
          </p:cNvSpPr>
          <p:nvPr/>
        </p:nvSpPr>
        <p:spPr>
          <a:xfrm>
            <a:off x="4095750" y="4705350"/>
            <a:ext cx="1143000" cy="238125"/>
          </a:xfrm>
          <a:prstGeom prst="rect">
            <a:avLst/>
          </a:prstGeom>
          <a:noFill/>
          <a:ln w="0">
            <a:noFill/>
            <a:prstDash val="solid"/>
          </a:ln>
        </p:spPr>
        <p:txBody>
          <a:bodyPr/>
          <a:lstStyle/>
          <a:p>
            <a:pPr algn="ctr">
              <a:defRPr sz="1275" b="1">
                <a:solidFill>
                  <a:srgbClr val="A23B3B"/>
                </a:solidFill>
              </a:defRPr>
            </a:pPr>
            <a:r>
              <a:rPr sz="1275" b="1">
                <a:solidFill>
                  <a:srgbClr val="A23B3B"/>
                </a:solidFill>
              </a:rPr>
              <a:t>否</a:t>
            </a:r>
            <a:endParaRPr sz="1275" b="1">
              <a:solidFill>
                <a:srgbClr val="A23B3B"/>
              </a:solidFill>
            </a:endParaRPr>
          </a:p>
        </p:txBody>
      </p:sp>
      <p:sp>
        <p:nvSpPr>
          <p:cNvPr id="33" name="矩形 32"/>
          <p:cNvSpPr>
            <a:spLocks noGrp="1"/>
          </p:cNvSpPr>
          <p:nvPr/>
        </p:nvSpPr>
        <p:spPr>
          <a:xfrm>
            <a:off x="5715000" y="47053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换工具或升级人工</a:t>
            </a:r>
            <a:endParaRPr sz="1275" b="0">
              <a:solidFill>
                <a:srgbClr val="566573"/>
              </a:solidFill>
            </a:endParaRPr>
          </a:p>
        </p:txBody>
      </p:sp>
      <p:sp>
        <p:nvSpPr>
          <p:cNvPr id="34" name="圆角矩形 33"/>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5" name="矩形 34"/>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“重试”不是默认善意行为；它是一项受最大次数、总时间、错误语义和副作用安全性约束的策略。</a:t>
            </a:r>
            <a:endParaRPr sz="1350" b="1">
              <a:solidFill>
                <a:srgbClr val="163A5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 name="矩形 3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超时只说明没有收到响应，不说明动作没有发生</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分布式系统中，响应丢失会制造“未知是否成功”状态</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24</a:t>
            </a:r>
            <a:endParaRPr sz="825" b="0">
              <a:solidFill>
                <a:srgbClr val="7D8994"/>
              </a:solidFill>
            </a:endParaRPr>
          </a:p>
        </p:txBody>
      </p:sp>
      <p:sp>
        <p:nvSpPr>
          <p:cNvPr id="7" name="矩形 6"/>
          <p:cNvSpPr>
            <a:spLocks noGrp="1"/>
          </p:cNvSpPr>
          <p:nvPr/>
        </p:nvSpPr>
        <p:spPr>
          <a:xfrm>
            <a:off x="3419475" y="2333625"/>
            <a:ext cx="171450" cy="152400"/>
          </a:xfrm>
          <a:prstGeom prst="rect">
            <a:avLst/>
          </a:prstGeom>
          <a:solidFill>
            <a:srgbClr val="286F9E"/>
          </a:solidFill>
          <a:ln w="0">
            <a:noFill/>
            <a:prstDash val="solid"/>
          </a:ln>
        </p:spPr>
      </p:sp>
      <p:sp>
        <p:nvSpPr>
          <p:cNvPr id="8" name="矩形 7"/>
          <p:cNvSpPr>
            <a:spLocks noGrp="1"/>
          </p:cNvSpPr>
          <p:nvPr/>
        </p:nvSpPr>
        <p:spPr>
          <a:xfrm>
            <a:off x="3552825" y="2286000"/>
            <a:ext cx="95250" cy="247650"/>
          </a:xfrm>
          <a:prstGeom prst="rect">
            <a:avLst/>
          </a:prstGeom>
          <a:solidFill>
            <a:srgbClr val="286F9E"/>
          </a:solidFill>
          <a:ln w="0">
            <a:noFill/>
            <a:prstDash val="solid"/>
          </a:ln>
        </p:spPr>
      </p:sp>
      <p:sp>
        <p:nvSpPr>
          <p:cNvPr id="9" name="圆角矩形 8"/>
          <p:cNvSpPr>
            <a:spLocks noGrp="1"/>
          </p:cNvSpPr>
          <p:nvPr/>
        </p:nvSpPr>
        <p:spPr>
          <a:xfrm>
            <a:off x="1047750" y="2000250"/>
            <a:ext cx="2324100" cy="819150"/>
          </a:xfrm>
          <a:prstGeom prst="roundRect">
            <a:avLst>
              <a:gd name="adj" fmla="val 9302"/>
            </a:avLst>
          </a:prstGeom>
          <a:solidFill>
            <a:srgbClr val="EAF2F8"/>
          </a:solidFill>
          <a:ln w="9525">
            <a:solidFill>
              <a:srgbClr val="D7E0E7"/>
            </a:solidFill>
            <a:prstDash val="solid"/>
          </a:ln>
        </p:spPr>
      </p:sp>
      <p:sp>
        <p:nvSpPr>
          <p:cNvPr id="10" name="矩形 9"/>
          <p:cNvSpPr>
            <a:spLocks noGrp="1"/>
          </p:cNvSpPr>
          <p:nvPr/>
        </p:nvSpPr>
        <p:spPr>
          <a:xfrm>
            <a:off x="11239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Runtime</a:t>
            </a:r>
            <a:endParaRPr sz="1350" b="1">
              <a:solidFill>
                <a:srgbClr val="163A5F"/>
              </a:solidFill>
            </a:endParaRPr>
          </a:p>
          <a:p>
            <a:pPr algn="ctr">
              <a:defRPr sz="1350" b="1">
                <a:solidFill>
                  <a:srgbClr val="163A5F"/>
                </a:solidFill>
              </a:defRPr>
            </a:pPr>
            <a:r>
              <a:rPr sz="1350" b="1">
                <a:solidFill>
                  <a:srgbClr val="163A5F"/>
                </a:solidFill>
              </a:rPr>
              <a:t>发送请求</a:t>
            </a:r>
            <a:endParaRPr sz="1350" b="1">
              <a:solidFill>
                <a:srgbClr val="163A5F"/>
              </a:solidFill>
            </a:endParaRPr>
          </a:p>
        </p:txBody>
      </p:sp>
      <p:sp>
        <p:nvSpPr>
          <p:cNvPr id="11" name="矩形 10"/>
          <p:cNvSpPr>
            <a:spLocks noGrp="1"/>
          </p:cNvSpPr>
          <p:nvPr/>
        </p:nvSpPr>
        <p:spPr>
          <a:xfrm>
            <a:off x="6010275" y="2333625"/>
            <a:ext cx="171450" cy="152400"/>
          </a:xfrm>
          <a:prstGeom prst="rect">
            <a:avLst/>
          </a:prstGeom>
          <a:solidFill>
            <a:srgbClr val="286F9E"/>
          </a:solidFill>
          <a:ln w="0">
            <a:noFill/>
            <a:prstDash val="solid"/>
          </a:ln>
        </p:spPr>
      </p:sp>
      <p:sp>
        <p:nvSpPr>
          <p:cNvPr id="12" name="矩形 11"/>
          <p:cNvSpPr>
            <a:spLocks noGrp="1"/>
          </p:cNvSpPr>
          <p:nvPr/>
        </p:nvSpPr>
        <p:spPr>
          <a:xfrm>
            <a:off x="6143625" y="2286000"/>
            <a:ext cx="95250" cy="247650"/>
          </a:xfrm>
          <a:prstGeom prst="rect">
            <a:avLst/>
          </a:prstGeom>
          <a:solidFill>
            <a:srgbClr val="286F9E"/>
          </a:solidFill>
          <a:ln w="0">
            <a:noFill/>
            <a:prstDash val="solid"/>
          </a:ln>
        </p:spPr>
      </p:sp>
      <p:sp>
        <p:nvSpPr>
          <p:cNvPr id="13" name="圆角矩形 12"/>
          <p:cNvSpPr>
            <a:spLocks noGrp="1"/>
          </p:cNvSpPr>
          <p:nvPr/>
        </p:nvSpPr>
        <p:spPr>
          <a:xfrm>
            <a:off x="3638550" y="2000250"/>
            <a:ext cx="2324100" cy="819150"/>
          </a:xfrm>
          <a:prstGeom prst="roundRect">
            <a:avLst>
              <a:gd name="adj" fmla="val 9302"/>
            </a:avLst>
          </a:prstGeom>
          <a:solidFill>
            <a:srgbClr val="EAF5F4"/>
          </a:solidFill>
          <a:ln w="9525">
            <a:solidFill>
              <a:srgbClr val="D7E0E7"/>
            </a:solidFill>
            <a:prstDash val="solid"/>
          </a:ln>
        </p:spPr>
      </p:sp>
      <p:sp>
        <p:nvSpPr>
          <p:cNvPr id="14" name="矩形 13"/>
          <p:cNvSpPr>
            <a:spLocks noGrp="1"/>
          </p:cNvSpPr>
          <p:nvPr/>
        </p:nvSpPr>
        <p:spPr>
          <a:xfrm>
            <a:off x="37147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Tool</a:t>
            </a:r>
            <a:endParaRPr sz="1350" b="1">
              <a:solidFill>
                <a:srgbClr val="163A5F"/>
              </a:solidFill>
            </a:endParaRPr>
          </a:p>
          <a:p>
            <a:pPr algn="ctr">
              <a:defRPr sz="1350" b="1">
                <a:solidFill>
                  <a:srgbClr val="163A5F"/>
                </a:solidFill>
              </a:defRPr>
            </a:pPr>
            <a:r>
              <a:rPr sz="1350" b="1">
                <a:solidFill>
                  <a:srgbClr val="163A5F"/>
                </a:solidFill>
              </a:rPr>
              <a:t>已执行 +1</a:t>
            </a:r>
            <a:endParaRPr sz="1350" b="1">
              <a:solidFill>
                <a:srgbClr val="163A5F"/>
              </a:solidFill>
            </a:endParaRPr>
          </a:p>
        </p:txBody>
      </p:sp>
      <p:sp>
        <p:nvSpPr>
          <p:cNvPr id="15" name="矩形 14"/>
          <p:cNvSpPr>
            <a:spLocks noGrp="1"/>
          </p:cNvSpPr>
          <p:nvPr/>
        </p:nvSpPr>
        <p:spPr>
          <a:xfrm>
            <a:off x="8601075" y="2333625"/>
            <a:ext cx="171450" cy="152400"/>
          </a:xfrm>
          <a:prstGeom prst="rect">
            <a:avLst/>
          </a:prstGeom>
          <a:solidFill>
            <a:srgbClr val="286F9E"/>
          </a:solidFill>
          <a:ln w="0">
            <a:noFill/>
            <a:prstDash val="solid"/>
          </a:ln>
        </p:spPr>
      </p:sp>
      <p:sp>
        <p:nvSpPr>
          <p:cNvPr id="16" name="矩形 15"/>
          <p:cNvSpPr>
            <a:spLocks noGrp="1"/>
          </p:cNvSpPr>
          <p:nvPr/>
        </p:nvSpPr>
        <p:spPr>
          <a:xfrm>
            <a:off x="8734425" y="2286000"/>
            <a:ext cx="95250" cy="247650"/>
          </a:xfrm>
          <a:prstGeom prst="rect">
            <a:avLst/>
          </a:prstGeom>
          <a:solidFill>
            <a:srgbClr val="286F9E"/>
          </a:solidFill>
          <a:ln w="0">
            <a:noFill/>
            <a:prstDash val="solid"/>
          </a:ln>
        </p:spPr>
      </p:sp>
      <p:sp>
        <p:nvSpPr>
          <p:cNvPr id="17" name="圆角矩形 16"/>
          <p:cNvSpPr>
            <a:spLocks noGrp="1"/>
          </p:cNvSpPr>
          <p:nvPr/>
        </p:nvSpPr>
        <p:spPr>
          <a:xfrm>
            <a:off x="6229350" y="2000250"/>
            <a:ext cx="2324100" cy="819150"/>
          </a:xfrm>
          <a:prstGeom prst="roundRect">
            <a:avLst>
              <a:gd name="adj" fmla="val 9302"/>
            </a:avLst>
          </a:prstGeom>
          <a:solidFill>
            <a:srgbClr val="EAF2F8"/>
          </a:solidFill>
          <a:ln w="9525">
            <a:solidFill>
              <a:srgbClr val="D7E0E7"/>
            </a:solidFill>
            <a:prstDash val="solid"/>
          </a:ln>
        </p:spPr>
      </p:sp>
      <p:sp>
        <p:nvSpPr>
          <p:cNvPr id="18" name="矩形 17"/>
          <p:cNvSpPr>
            <a:spLocks noGrp="1"/>
          </p:cNvSpPr>
          <p:nvPr/>
        </p:nvSpPr>
        <p:spPr>
          <a:xfrm>
            <a:off x="63055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网络</a:t>
            </a:r>
            <a:endParaRPr sz="1350" b="1">
              <a:solidFill>
                <a:srgbClr val="163A5F"/>
              </a:solidFill>
            </a:endParaRPr>
          </a:p>
          <a:p>
            <a:pPr algn="ctr">
              <a:defRPr sz="1350" b="1">
                <a:solidFill>
                  <a:srgbClr val="163A5F"/>
                </a:solidFill>
              </a:defRPr>
            </a:pPr>
            <a:r>
              <a:rPr sz="1350" b="1">
                <a:solidFill>
                  <a:srgbClr val="163A5F"/>
                </a:solidFill>
              </a:rPr>
              <a:t>响应丢失</a:t>
            </a:r>
            <a:endParaRPr sz="1350" b="1">
              <a:solidFill>
                <a:srgbClr val="163A5F"/>
              </a:solidFill>
            </a:endParaRPr>
          </a:p>
        </p:txBody>
      </p:sp>
      <p:sp>
        <p:nvSpPr>
          <p:cNvPr id="19" name="圆角矩形 18"/>
          <p:cNvSpPr>
            <a:spLocks noGrp="1"/>
          </p:cNvSpPr>
          <p:nvPr/>
        </p:nvSpPr>
        <p:spPr>
          <a:xfrm>
            <a:off x="8820150" y="2000250"/>
            <a:ext cx="2324100" cy="819150"/>
          </a:xfrm>
          <a:prstGeom prst="roundRect">
            <a:avLst>
              <a:gd name="adj" fmla="val 9302"/>
            </a:avLst>
          </a:prstGeom>
          <a:solidFill>
            <a:srgbClr val="EAF5F4"/>
          </a:solidFill>
          <a:ln w="9525">
            <a:solidFill>
              <a:srgbClr val="D7E0E7"/>
            </a:solidFill>
            <a:prstDash val="solid"/>
          </a:ln>
        </p:spPr>
      </p:sp>
      <p:sp>
        <p:nvSpPr>
          <p:cNvPr id="20" name="矩形 19"/>
          <p:cNvSpPr>
            <a:spLocks noGrp="1"/>
          </p:cNvSpPr>
          <p:nvPr/>
        </p:nvSpPr>
        <p:spPr>
          <a:xfrm>
            <a:off x="88963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Runtime</a:t>
            </a:r>
            <a:endParaRPr sz="1350" b="1">
              <a:solidFill>
                <a:srgbClr val="163A5F"/>
              </a:solidFill>
            </a:endParaRPr>
          </a:p>
          <a:p>
            <a:pPr algn="ctr">
              <a:defRPr sz="1350" b="1">
                <a:solidFill>
                  <a:srgbClr val="163A5F"/>
                </a:solidFill>
              </a:defRPr>
            </a:pPr>
            <a:r>
              <a:rPr sz="1350" b="1">
                <a:solidFill>
                  <a:srgbClr val="163A5F"/>
                </a:solidFill>
              </a:rPr>
              <a:t>看到 timeout</a:t>
            </a:r>
            <a:endParaRPr sz="1350" b="1">
              <a:solidFill>
                <a:srgbClr val="163A5F"/>
              </a:solidFill>
            </a:endParaRPr>
          </a:p>
        </p:txBody>
      </p:sp>
      <p:sp>
        <p:nvSpPr>
          <p:cNvPr id="21" name="圆角矩形 20"/>
          <p:cNvSpPr>
            <a:spLocks noGrp="1"/>
          </p:cNvSpPr>
          <p:nvPr/>
        </p:nvSpPr>
        <p:spPr>
          <a:xfrm>
            <a:off x="952500" y="3524250"/>
            <a:ext cx="4572000" cy="1143000"/>
          </a:xfrm>
          <a:prstGeom prst="roundRect">
            <a:avLst>
              <a:gd name="adj" fmla="val 6667"/>
            </a:avLst>
          </a:prstGeom>
          <a:solidFill>
            <a:srgbClr val="FBECEC"/>
          </a:solidFill>
          <a:ln w="9525">
            <a:solidFill>
              <a:srgbClr val="D7E0E7"/>
            </a:solidFill>
            <a:prstDash val="solid"/>
          </a:ln>
        </p:spPr>
      </p:sp>
      <p:sp>
        <p:nvSpPr>
          <p:cNvPr id="22" name="圆角矩形 21"/>
          <p:cNvSpPr>
            <a:spLocks noGrp="1"/>
          </p:cNvSpPr>
          <p:nvPr/>
        </p:nvSpPr>
        <p:spPr>
          <a:xfrm>
            <a:off x="952500" y="3524250"/>
            <a:ext cx="66675" cy="1143000"/>
          </a:xfrm>
          <a:prstGeom prst="roundRect">
            <a:avLst>
              <a:gd name="adj" fmla="val 50000"/>
            </a:avLst>
          </a:prstGeom>
          <a:solidFill>
            <a:srgbClr val="A23B3B"/>
          </a:solidFill>
          <a:ln w="0">
            <a:noFill/>
            <a:prstDash val="solid"/>
          </a:ln>
        </p:spPr>
      </p:sp>
      <p:sp>
        <p:nvSpPr>
          <p:cNvPr id="23" name="矩形 22"/>
          <p:cNvSpPr>
            <a:spLocks noGrp="1"/>
          </p:cNvSpPr>
          <p:nvPr/>
        </p:nvSpPr>
        <p:spPr>
          <a:xfrm>
            <a:off x="1181100" y="3695700"/>
            <a:ext cx="41719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危险重试</a:t>
            </a:r>
            <a:endParaRPr sz="1650" b="1">
              <a:solidFill>
                <a:srgbClr val="A23B3B"/>
              </a:solidFill>
            </a:endParaRPr>
          </a:p>
        </p:txBody>
      </p:sp>
      <p:sp>
        <p:nvSpPr>
          <p:cNvPr id="24" name="矩形 23"/>
          <p:cNvSpPr>
            <a:spLocks noGrp="1"/>
          </p:cNvSpPr>
          <p:nvPr/>
        </p:nvSpPr>
        <p:spPr>
          <a:xfrm>
            <a:off x="1181100" y="4076700"/>
            <a:ext cx="4171950" cy="476250"/>
          </a:xfrm>
          <a:prstGeom prst="rect">
            <a:avLst/>
          </a:prstGeom>
          <a:noFill/>
          <a:ln w="0">
            <a:noFill/>
            <a:prstDash val="solid"/>
          </a:ln>
        </p:spPr>
        <p:txBody>
          <a:bodyPr/>
          <a:lstStyle/>
          <a:p>
            <a:pPr algn="l">
              <a:defRPr sz="1275" b="0">
                <a:solidFill>
                  <a:srgbClr val="18212B"/>
                </a:solidFill>
              </a:defRPr>
            </a:pPr>
            <a:r>
              <a:rPr sz="1275" b="0">
                <a:solidFill>
                  <a:srgbClr val="18212B"/>
                </a:solidFill>
              </a:rPr>
              <a:t>直接再调用一次，Counter 从 1 变成 2；业务副作用重复。</a:t>
            </a:r>
            <a:endParaRPr sz="1275" b="0">
              <a:solidFill>
                <a:srgbClr val="18212B"/>
              </a:solidFill>
            </a:endParaRPr>
          </a:p>
        </p:txBody>
      </p:sp>
      <p:sp>
        <p:nvSpPr>
          <p:cNvPr id="25" name="圆角矩形 24"/>
          <p:cNvSpPr>
            <a:spLocks noGrp="1"/>
          </p:cNvSpPr>
          <p:nvPr/>
        </p:nvSpPr>
        <p:spPr>
          <a:xfrm>
            <a:off x="6286500" y="3524250"/>
            <a:ext cx="4572000" cy="1143000"/>
          </a:xfrm>
          <a:prstGeom prst="roundRect">
            <a:avLst>
              <a:gd name="adj" fmla="val 6667"/>
            </a:avLst>
          </a:prstGeom>
          <a:solidFill>
            <a:srgbClr val="ECF7EF"/>
          </a:solidFill>
          <a:ln w="9525">
            <a:solidFill>
              <a:srgbClr val="D7E0E7"/>
            </a:solidFill>
            <a:prstDash val="solid"/>
          </a:ln>
        </p:spPr>
      </p:sp>
      <p:sp>
        <p:nvSpPr>
          <p:cNvPr id="26" name="圆角矩形 25"/>
          <p:cNvSpPr>
            <a:spLocks noGrp="1"/>
          </p:cNvSpPr>
          <p:nvPr/>
        </p:nvSpPr>
        <p:spPr>
          <a:xfrm>
            <a:off x="6286500" y="3524250"/>
            <a:ext cx="66675" cy="1143000"/>
          </a:xfrm>
          <a:prstGeom prst="roundRect">
            <a:avLst>
              <a:gd name="adj" fmla="val 50000"/>
            </a:avLst>
          </a:prstGeom>
          <a:solidFill>
            <a:srgbClr val="2F7D4A"/>
          </a:solidFill>
          <a:ln w="0">
            <a:noFill/>
            <a:prstDash val="solid"/>
          </a:ln>
        </p:spPr>
      </p:sp>
      <p:sp>
        <p:nvSpPr>
          <p:cNvPr id="27" name="矩形 26"/>
          <p:cNvSpPr>
            <a:spLocks noGrp="1"/>
          </p:cNvSpPr>
          <p:nvPr/>
        </p:nvSpPr>
        <p:spPr>
          <a:xfrm>
            <a:off x="6515100" y="3695700"/>
            <a:ext cx="41719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幂等重试</a:t>
            </a:r>
            <a:endParaRPr sz="1650" b="1">
              <a:solidFill>
                <a:srgbClr val="2F7D4A"/>
              </a:solidFill>
            </a:endParaRPr>
          </a:p>
        </p:txBody>
      </p:sp>
      <p:sp>
        <p:nvSpPr>
          <p:cNvPr id="28" name="矩形 27"/>
          <p:cNvSpPr>
            <a:spLocks noGrp="1"/>
          </p:cNvSpPr>
          <p:nvPr/>
        </p:nvSpPr>
        <p:spPr>
          <a:xfrm>
            <a:off x="6515100" y="4076700"/>
            <a:ext cx="4171950" cy="476250"/>
          </a:xfrm>
          <a:prstGeom prst="rect">
            <a:avLst/>
          </a:prstGeom>
          <a:noFill/>
          <a:ln w="0">
            <a:noFill/>
            <a:prstDash val="solid"/>
          </a:ln>
        </p:spPr>
        <p:txBody>
          <a:bodyPr/>
          <a:lstStyle/>
          <a:p>
            <a:pPr algn="l">
              <a:defRPr sz="1275" b="0">
                <a:solidFill>
                  <a:srgbClr val="18212B"/>
                </a:solidFill>
              </a:defRPr>
            </a:pPr>
            <a:r>
              <a:rPr sz="1275" b="0">
                <a:solidFill>
                  <a:srgbClr val="18212B"/>
                </a:solidFill>
              </a:rPr>
              <a:t>同一 idempotency_key 返回第一次结果，不重复应用副作用。</a:t>
            </a:r>
            <a:endParaRPr sz="1275" b="0">
              <a:solidFill>
                <a:srgbClr val="18212B"/>
              </a:solidFill>
            </a:endParaRPr>
          </a:p>
        </p:txBody>
      </p:sp>
      <p:sp>
        <p:nvSpPr>
          <p:cNvPr id="29" name="圆角矩形 2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0" name="矩形 2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工程上常见的是 at-least-once 交付；“恰好一次”通常要靠幂等键、去重记录与事务边界共同近似。</a:t>
            </a:r>
            <a:endParaRPr sz="1350" b="1">
              <a:solidFill>
                <a:srgbClr val="163A5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权限必须由宿主程序执行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Prompt 无法阻止模型请求读取密钥，也无法约束文件系统</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25</a:t>
            </a:r>
            <a:endParaRPr sz="825" b="0">
              <a:solidFill>
                <a:srgbClr val="7D8994"/>
              </a:solidFill>
            </a:endParaRPr>
          </a:p>
        </p:txBody>
      </p:sp>
      <p:sp>
        <p:nvSpPr>
          <p:cNvPr id="7" name="矩形 6"/>
          <p:cNvSpPr>
            <a:spLocks noGrp="1"/>
          </p:cNvSpPr>
          <p:nvPr/>
        </p:nvSpPr>
        <p:spPr>
          <a:xfrm>
            <a:off x="2301875" y="2219325"/>
            <a:ext cx="171450" cy="152400"/>
          </a:xfrm>
          <a:prstGeom prst="rect">
            <a:avLst/>
          </a:prstGeom>
          <a:solidFill>
            <a:srgbClr val="286F9E"/>
          </a:solidFill>
          <a:ln w="0">
            <a:noFill/>
            <a:prstDash val="solid"/>
          </a:ln>
        </p:spPr>
      </p:sp>
      <p:sp>
        <p:nvSpPr>
          <p:cNvPr id="8" name="矩形 7"/>
          <p:cNvSpPr>
            <a:spLocks noGrp="1"/>
          </p:cNvSpPr>
          <p:nvPr/>
        </p:nvSpPr>
        <p:spPr>
          <a:xfrm>
            <a:off x="2435225" y="2171700"/>
            <a:ext cx="95250" cy="247650"/>
          </a:xfrm>
          <a:prstGeom prst="rect">
            <a:avLst/>
          </a:prstGeom>
          <a:solidFill>
            <a:srgbClr val="286F9E"/>
          </a:solidFill>
          <a:ln w="0">
            <a:noFill/>
            <a:prstDash val="solid"/>
          </a:ln>
        </p:spPr>
      </p:sp>
      <p:sp>
        <p:nvSpPr>
          <p:cNvPr id="9" name="圆角矩形 8"/>
          <p:cNvSpPr>
            <a:spLocks noGrp="1"/>
          </p:cNvSpPr>
          <p:nvPr/>
        </p:nvSpPr>
        <p:spPr>
          <a:xfrm>
            <a:off x="666750" y="1952625"/>
            <a:ext cx="1587500" cy="685800"/>
          </a:xfrm>
          <a:prstGeom prst="roundRect">
            <a:avLst>
              <a:gd name="adj" fmla="val 11111"/>
            </a:avLst>
          </a:prstGeom>
          <a:solidFill>
            <a:srgbClr val="EAF2F8"/>
          </a:solidFill>
          <a:ln w="9525">
            <a:solidFill>
              <a:srgbClr val="D7E0E7"/>
            </a:solidFill>
            <a:prstDash val="solid"/>
          </a:ln>
        </p:spPr>
      </p:sp>
      <p:sp>
        <p:nvSpPr>
          <p:cNvPr id="10" name="矩形 9"/>
          <p:cNvSpPr>
            <a:spLocks noGrp="1"/>
          </p:cNvSpPr>
          <p:nvPr/>
        </p:nvSpPr>
        <p:spPr>
          <a:xfrm>
            <a:off x="7429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用户路径</a:t>
            </a:r>
            <a:endParaRPr sz="1350" b="1">
              <a:solidFill>
                <a:srgbClr val="163A5F"/>
              </a:solidFill>
            </a:endParaRPr>
          </a:p>
        </p:txBody>
      </p:sp>
      <p:sp>
        <p:nvSpPr>
          <p:cNvPr id="11" name="矩形 10"/>
          <p:cNvSpPr>
            <a:spLocks noGrp="1"/>
          </p:cNvSpPr>
          <p:nvPr/>
        </p:nvSpPr>
        <p:spPr>
          <a:xfrm>
            <a:off x="4156075" y="2219325"/>
            <a:ext cx="171450" cy="152400"/>
          </a:xfrm>
          <a:prstGeom prst="rect">
            <a:avLst/>
          </a:prstGeom>
          <a:solidFill>
            <a:srgbClr val="286F9E"/>
          </a:solidFill>
          <a:ln w="0">
            <a:noFill/>
            <a:prstDash val="solid"/>
          </a:ln>
        </p:spPr>
      </p:sp>
      <p:sp>
        <p:nvSpPr>
          <p:cNvPr id="12" name="矩形 11"/>
          <p:cNvSpPr>
            <a:spLocks noGrp="1"/>
          </p:cNvSpPr>
          <p:nvPr/>
        </p:nvSpPr>
        <p:spPr>
          <a:xfrm>
            <a:off x="4289425" y="2171700"/>
            <a:ext cx="95250" cy="247650"/>
          </a:xfrm>
          <a:prstGeom prst="rect">
            <a:avLst/>
          </a:prstGeom>
          <a:solidFill>
            <a:srgbClr val="286F9E"/>
          </a:solidFill>
          <a:ln w="0">
            <a:noFill/>
            <a:prstDash val="solid"/>
          </a:ln>
        </p:spPr>
      </p:sp>
      <p:sp>
        <p:nvSpPr>
          <p:cNvPr id="13" name="圆角矩形 12"/>
          <p:cNvSpPr>
            <a:spLocks noGrp="1"/>
          </p:cNvSpPr>
          <p:nvPr/>
        </p:nvSpPr>
        <p:spPr>
          <a:xfrm>
            <a:off x="2520950" y="1952625"/>
            <a:ext cx="1587500" cy="685800"/>
          </a:xfrm>
          <a:prstGeom prst="roundRect">
            <a:avLst>
              <a:gd name="adj" fmla="val 11111"/>
            </a:avLst>
          </a:prstGeom>
          <a:solidFill>
            <a:srgbClr val="EAF5F4"/>
          </a:solidFill>
          <a:ln w="9525">
            <a:solidFill>
              <a:srgbClr val="D7E0E7"/>
            </a:solidFill>
            <a:prstDash val="solid"/>
          </a:ln>
        </p:spPr>
      </p:sp>
      <p:sp>
        <p:nvSpPr>
          <p:cNvPr id="14" name="矩形 13"/>
          <p:cNvSpPr>
            <a:spLocks noGrp="1"/>
          </p:cNvSpPr>
          <p:nvPr/>
        </p:nvSpPr>
        <p:spPr>
          <a:xfrm>
            <a:off x="25971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规范化</a:t>
            </a:r>
            <a:endParaRPr sz="1350" b="1">
              <a:solidFill>
                <a:srgbClr val="163A5F"/>
              </a:solidFill>
            </a:endParaRPr>
          </a:p>
        </p:txBody>
      </p:sp>
      <p:sp>
        <p:nvSpPr>
          <p:cNvPr id="15" name="矩形 14"/>
          <p:cNvSpPr>
            <a:spLocks noGrp="1"/>
          </p:cNvSpPr>
          <p:nvPr/>
        </p:nvSpPr>
        <p:spPr>
          <a:xfrm>
            <a:off x="6010275" y="2219325"/>
            <a:ext cx="171450" cy="152400"/>
          </a:xfrm>
          <a:prstGeom prst="rect">
            <a:avLst/>
          </a:prstGeom>
          <a:solidFill>
            <a:srgbClr val="286F9E"/>
          </a:solidFill>
          <a:ln w="0">
            <a:noFill/>
            <a:prstDash val="solid"/>
          </a:ln>
        </p:spPr>
      </p:sp>
      <p:sp>
        <p:nvSpPr>
          <p:cNvPr id="16" name="矩形 15"/>
          <p:cNvSpPr>
            <a:spLocks noGrp="1"/>
          </p:cNvSpPr>
          <p:nvPr/>
        </p:nvSpPr>
        <p:spPr>
          <a:xfrm>
            <a:off x="6143625" y="2171700"/>
            <a:ext cx="95250" cy="247650"/>
          </a:xfrm>
          <a:prstGeom prst="rect">
            <a:avLst/>
          </a:prstGeom>
          <a:solidFill>
            <a:srgbClr val="286F9E"/>
          </a:solidFill>
          <a:ln w="0">
            <a:noFill/>
            <a:prstDash val="solid"/>
          </a:ln>
        </p:spPr>
      </p:sp>
      <p:sp>
        <p:nvSpPr>
          <p:cNvPr id="17" name="圆角矩形 16"/>
          <p:cNvSpPr>
            <a:spLocks noGrp="1"/>
          </p:cNvSpPr>
          <p:nvPr/>
        </p:nvSpPr>
        <p:spPr>
          <a:xfrm>
            <a:off x="4375150" y="1952625"/>
            <a:ext cx="1587500" cy="685800"/>
          </a:xfrm>
          <a:prstGeom prst="roundRect">
            <a:avLst>
              <a:gd name="adj" fmla="val 11111"/>
            </a:avLst>
          </a:prstGeom>
          <a:solidFill>
            <a:srgbClr val="EAF2F8"/>
          </a:solidFill>
          <a:ln w="9525">
            <a:solidFill>
              <a:srgbClr val="D7E0E7"/>
            </a:solidFill>
            <a:prstDash val="solid"/>
          </a:ln>
        </p:spPr>
      </p:sp>
      <p:sp>
        <p:nvSpPr>
          <p:cNvPr id="18" name="矩形 17"/>
          <p:cNvSpPr>
            <a:spLocks noGrp="1"/>
          </p:cNvSpPr>
          <p:nvPr/>
        </p:nvSpPr>
        <p:spPr>
          <a:xfrm>
            <a:off x="44513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解析绝对路径</a:t>
            </a:r>
            <a:endParaRPr sz="1350" b="1">
              <a:solidFill>
                <a:srgbClr val="163A5F"/>
              </a:solidFill>
            </a:endParaRPr>
          </a:p>
        </p:txBody>
      </p:sp>
      <p:sp>
        <p:nvSpPr>
          <p:cNvPr id="19" name="矩形 18"/>
          <p:cNvSpPr>
            <a:spLocks noGrp="1"/>
          </p:cNvSpPr>
          <p:nvPr/>
        </p:nvSpPr>
        <p:spPr>
          <a:xfrm>
            <a:off x="7864475" y="2219325"/>
            <a:ext cx="171450" cy="152400"/>
          </a:xfrm>
          <a:prstGeom prst="rect">
            <a:avLst/>
          </a:prstGeom>
          <a:solidFill>
            <a:srgbClr val="286F9E"/>
          </a:solidFill>
          <a:ln w="0">
            <a:noFill/>
            <a:prstDash val="solid"/>
          </a:ln>
        </p:spPr>
      </p:sp>
      <p:sp>
        <p:nvSpPr>
          <p:cNvPr id="20" name="矩形 19"/>
          <p:cNvSpPr>
            <a:spLocks noGrp="1"/>
          </p:cNvSpPr>
          <p:nvPr/>
        </p:nvSpPr>
        <p:spPr>
          <a:xfrm>
            <a:off x="7997825" y="2171700"/>
            <a:ext cx="95250" cy="247650"/>
          </a:xfrm>
          <a:prstGeom prst="rect">
            <a:avLst/>
          </a:prstGeom>
          <a:solidFill>
            <a:srgbClr val="286F9E"/>
          </a:solidFill>
          <a:ln w="0">
            <a:noFill/>
            <a:prstDash val="solid"/>
          </a:ln>
        </p:spPr>
      </p:sp>
      <p:sp>
        <p:nvSpPr>
          <p:cNvPr id="21" name="圆角矩形 20"/>
          <p:cNvSpPr>
            <a:spLocks noGrp="1"/>
          </p:cNvSpPr>
          <p:nvPr/>
        </p:nvSpPr>
        <p:spPr>
          <a:xfrm>
            <a:off x="6229350" y="1952625"/>
            <a:ext cx="1587500" cy="685800"/>
          </a:xfrm>
          <a:prstGeom prst="roundRect">
            <a:avLst>
              <a:gd name="adj" fmla="val 11111"/>
            </a:avLst>
          </a:prstGeom>
          <a:solidFill>
            <a:srgbClr val="EAF5F4"/>
          </a:solidFill>
          <a:ln w="9525">
            <a:solidFill>
              <a:srgbClr val="D7E0E7"/>
            </a:solidFill>
            <a:prstDash val="solid"/>
          </a:ln>
        </p:spPr>
      </p:sp>
      <p:sp>
        <p:nvSpPr>
          <p:cNvPr id="22" name="矩形 21"/>
          <p:cNvSpPr>
            <a:spLocks noGrp="1"/>
          </p:cNvSpPr>
          <p:nvPr/>
        </p:nvSpPr>
        <p:spPr>
          <a:xfrm>
            <a:off x="63055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检查仍在 root</a:t>
            </a:r>
            <a:endParaRPr sz="1350" b="1">
              <a:solidFill>
                <a:srgbClr val="163A5F"/>
              </a:solidFill>
            </a:endParaRPr>
          </a:p>
        </p:txBody>
      </p:sp>
      <p:sp>
        <p:nvSpPr>
          <p:cNvPr id="23" name="矩形 22"/>
          <p:cNvSpPr>
            <a:spLocks noGrp="1"/>
          </p:cNvSpPr>
          <p:nvPr/>
        </p:nvSpPr>
        <p:spPr>
          <a:xfrm>
            <a:off x="9718675" y="2219325"/>
            <a:ext cx="171450" cy="152400"/>
          </a:xfrm>
          <a:prstGeom prst="rect">
            <a:avLst/>
          </a:prstGeom>
          <a:solidFill>
            <a:srgbClr val="286F9E"/>
          </a:solidFill>
          <a:ln w="0">
            <a:noFill/>
            <a:prstDash val="solid"/>
          </a:ln>
        </p:spPr>
      </p:sp>
      <p:sp>
        <p:nvSpPr>
          <p:cNvPr id="24" name="矩形 23"/>
          <p:cNvSpPr>
            <a:spLocks noGrp="1"/>
          </p:cNvSpPr>
          <p:nvPr/>
        </p:nvSpPr>
        <p:spPr>
          <a:xfrm>
            <a:off x="9852025" y="2171700"/>
            <a:ext cx="95250" cy="247650"/>
          </a:xfrm>
          <a:prstGeom prst="rect">
            <a:avLst/>
          </a:prstGeom>
          <a:solidFill>
            <a:srgbClr val="286F9E"/>
          </a:solidFill>
          <a:ln w="0">
            <a:noFill/>
            <a:prstDash val="solid"/>
          </a:ln>
        </p:spPr>
      </p:sp>
      <p:sp>
        <p:nvSpPr>
          <p:cNvPr id="25" name="圆角矩形 24"/>
          <p:cNvSpPr>
            <a:spLocks noGrp="1"/>
          </p:cNvSpPr>
          <p:nvPr/>
        </p:nvSpPr>
        <p:spPr>
          <a:xfrm>
            <a:off x="8083550" y="1952625"/>
            <a:ext cx="1587500" cy="685800"/>
          </a:xfrm>
          <a:prstGeom prst="roundRect">
            <a:avLst>
              <a:gd name="adj" fmla="val 11111"/>
            </a:avLst>
          </a:prstGeom>
          <a:solidFill>
            <a:srgbClr val="EAF2F8"/>
          </a:solidFill>
          <a:ln w="9525">
            <a:solidFill>
              <a:srgbClr val="D7E0E7"/>
            </a:solidFill>
            <a:prstDash val="solid"/>
          </a:ln>
        </p:spPr>
      </p:sp>
      <p:sp>
        <p:nvSpPr>
          <p:cNvPr id="26" name="矩形 25"/>
          <p:cNvSpPr>
            <a:spLocks noGrp="1"/>
          </p:cNvSpPr>
          <p:nvPr/>
        </p:nvSpPr>
        <p:spPr>
          <a:xfrm>
            <a:off x="81597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类型/大小限制</a:t>
            </a:r>
            <a:endParaRPr sz="1350" b="1">
              <a:solidFill>
                <a:srgbClr val="163A5F"/>
              </a:solidFill>
            </a:endParaRPr>
          </a:p>
        </p:txBody>
      </p:sp>
      <p:sp>
        <p:nvSpPr>
          <p:cNvPr id="27" name="圆角矩形 26"/>
          <p:cNvSpPr>
            <a:spLocks noGrp="1"/>
          </p:cNvSpPr>
          <p:nvPr/>
        </p:nvSpPr>
        <p:spPr>
          <a:xfrm>
            <a:off x="9937750" y="1952625"/>
            <a:ext cx="1587500" cy="685800"/>
          </a:xfrm>
          <a:prstGeom prst="roundRect">
            <a:avLst>
              <a:gd name="adj" fmla="val 11111"/>
            </a:avLst>
          </a:prstGeom>
          <a:solidFill>
            <a:srgbClr val="EAF5F4"/>
          </a:solidFill>
          <a:ln w="9525">
            <a:solidFill>
              <a:srgbClr val="D7E0E7"/>
            </a:solidFill>
            <a:prstDash val="solid"/>
          </a:ln>
        </p:spPr>
      </p:sp>
      <p:sp>
        <p:nvSpPr>
          <p:cNvPr id="28" name="矩形 27"/>
          <p:cNvSpPr>
            <a:spLocks noGrp="1"/>
          </p:cNvSpPr>
          <p:nvPr/>
        </p:nvSpPr>
        <p:spPr>
          <a:xfrm>
            <a:off x="100139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执行</a:t>
            </a:r>
            <a:endParaRPr sz="1350" b="1">
              <a:solidFill>
                <a:srgbClr val="163A5F"/>
              </a:solidFill>
            </a:endParaRPr>
          </a:p>
        </p:txBody>
      </p:sp>
      <p:sp>
        <p:nvSpPr>
          <p:cNvPr id="29" name="圆角矩形 28"/>
          <p:cNvSpPr>
            <a:spLocks noGrp="1"/>
          </p:cNvSpPr>
          <p:nvPr/>
        </p:nvSpPr>
        <p:spPr>
          <a:xfrm>
            <a:off x="609600" y="3238500"/>
            <a:ext cx="5257800" cy="1809750"/>
          </a:xfrm>
          <a:prstGeom prst="roundRect">
            <a:avLst>
              <a:gd name="adj" fmla="val 4211"/>
            </a:avLst>
          </a:prstGeom>
          <a:solidFill>
            <a:srgbClr val="F3F6F8"/>
          </a:solidFill>
          <a:ln w="9525">
            <a:solidFill>
              <a:srgbClr val="D7E0E7"/>
            </a:solidFill>
            <a:prstDash val="solid"/>
          </a:ln>
        </p:spPr>
      </p:sp>
      <p:sp>
        <p:nvSpPr>
          <p:cNvPr id="30" name="圆角矩形 29"/>
          <p:cNvSpPr>
            <a:spLocks noGrp="1"/>
          </p:cNvSpPr>
          <p:nvPr/>
        </p:nvSpPr>
        <p:spPr>
          <a:xfrm>
            <a:off x="609600" y="3238500"/>
            <a:ext cx="66675" cy="1809750"/>
          </a:xfrm>
          <a:prstGeom prst="roundRect">
            <a:avLst>
              <a:gd name="adj" fmla="val 50000"/>
            </a:avLst>
          </a:prstGeom>
          <a:solidFill>
            <a:srgbClr val="2F7D4A"/>
          </a:solidFill>
          <a:ln w="0">
            <a:noFill/>
            <a:prstDash val="solid"/>
          </a:ln>
        </p:spPr>
      </p:sp>
      <p:sp>
        <p:nvSpPr>
          <p:cNvPr id="31" name="矩形 30"/>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允许</a:t>
            </a:r>
            <a:endParaRPr sz="1650" b="1">
              <a:solidFill>
                <a:srgbClr val="2F7D4A"/>
              </a:solidFill>
            </a:endParaRPr>
          </a:p>
        </p:txBody>
      </p:sp>
      <p:sp>
        <p:nvSpPr>
          <p:cNvPr id="32" name="矩形 31"/>
          <p:cNvSpPr>
            <a:spLocks noGrp="1"/>
          </p:cNvSpPr>
          <p:nvPr/>
        </p:nvSpPr>
        <p:spPr>
          <a:xfrm>
            <a:off x="838200" y="379095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rules/a.txt</a:t>
            </a:r>
            <a:endParaRPr sz="1275" b="0">
              <a:solidFill>
                <a:srgbClr val="18212B"/>
              </a:solidFill>
            </a:endParaRPr>
          </a:p>
          <a:p>
            <a:pPr algn="l">
              <a:defRPr sz="1275" b="0">
                <a:solidFill>
                  <a:srgbClr val="18212B"/>
                </a:solidFill>
              </a:defRPr>
            </a:pPr>
            <a:r>
              <a:rPr sz="1275" b="0">
                <a:solidFill>
                  <a:srgbClr val="18212B"/>
                </a:solidFill>
              </a:rPr>
              <a:t>rules/../rules/a.txt（规范化后仍在 root）</a:t>
            </a:r>
            <a:endParaRPr sz="1275" b="0">
              <a:solidFill>
                <a:srgbClr val="18212B"/>
              </a:solidFill>
            </a:endParaRPr>
          </a:p>
          <a:p>
            <a:pPr algn="l">
              <a:defRPr sz="1275" b="0">
                <a:solidFill>
                  <a:srgbClr val="18212B"/>
                </a:solidFill>
              </a:defRPr>
            </a:pPr>
            <a:r>
              <a:rPr sz="1275" b="0">
                <a:solidFill>
                  <a:srgbClr val="18212B"/>
                </a:solidFill>
              </a:rPr>
              <a:t>受限扩展名与大小</a:t>
            </a:r>
            <a:endParaRPr sz="1275" b="0">
              <a:solidFill>
                <a:srgbClr val="18212B"/>
              </a:solidFill>
            </a:endParaRPr>
          </a:p>
        </p:txBody>
      </p:sp>
      <p:sp>
        <p:nvSpPr>
          <p:cNvPr id="33" name="圆角矩形 32"/>
          <p:cNvSpPr>
            <a:spLocks noGrp="1"/>
          </p:cNvSpPr>
          <p:nvPr/>
        </p:nvSpPr>
        <p:spPr>
          <a:xfrm>
            <a:off x="6324600" y="3238500"/>
            <a:ext cx="5257800" cy="1809750"/>
          </a:xfrm>
          <a:prstGeom prst="roundRect">
            <a:avLst>
              <a:gd name="adj" fmla="val 4211"/>
            </a:avLst>
          </a:prstGeom>
          <a:solidFill>
            <a:srgbClr val="F3F6F8"/>
          </a:solidFill>
          <a:ln w="9525">
            <a:solidFill>
              <a:srgbClr val="D7E0E7"/>
            </a:solidFill>
            <a:prstDash val="solid"/>
          </a:ln>
        </p:spPr>
      </p:sp>
      <p:sp>
        <p:nvSpPr>
          <p:cNvPr id="34" name="圆角矩形 33"/>
          <p:cNvSpPr>
            <a:spLocks noGrp="1"/>
          </p:cNvSpPr>
          <p:nvPr/>
        </p:nvSpPr>
        <p:spPr>
          <a:xfrm>
            <a:off x="6324600" y="3238500"/>
            <a:ext cx="66675" cy="1809750"/>
          </a:xfrm>
          <a:prstGeom prst="roundRect">
            <a:avLst>
              <a:gd name="adj" fmla="val 50000"/>
            </a:avLst>
          </a:prstGeom>
          <a:solidFill>
            <a:srgbClr val="A23B3B"/>
          </a:solidFill>
          <a:ln w="0">
            <a:noFill/>
            <a:prstDash val="solid"/>
          </a:ln>
        </p:spPr>
      </p:sp>
      <p:sp>
        <p:nvSpPr>
          <p:cNvPr id="35" name="矩形 34"/>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拒绝</a:t>
            </a:r>
            <a:endParaRPr sz="1650" b="1">
              <a:solidFill>
                <a:srgbClr val="A23B3B"/>
              </a:solidFill>
            </a:endParaRPr>
          </a:p>
        </p:txBody>
      </p:sp>
      <p:sp>
        <p:nvSpPr>
          <p:cNvPr id="36" name="矩形 35"/>
          <p:cNvSpPr>
            <a:spLocks noGrp="1"/>
          </p:cNvSpPr>
          <p:nvPr/>
        </p:nvSpPr>
        <p:spPr>
          <a:xfrm>
            <a:off x="6553200" y="379095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../.env</a:t>
            </a:r>
            <a:endParaRPr sz="1275" b="0">
              <a:solidFill>
                <a:srgbClr val="18212B"/>
              </a:solidFill>
            </a:endParaRPr>
          </a:p>
          <a:p>
            <a:pPr algn="l">
              <a:defRPr sz="1275" b="0">
                <a:solidFill>
                  <a:srgbClr val="18212B"/>
                </a:solidFill>
              </a:defRPr>
            </a:pPr>
            <a:r>
              <a:rPr sz="1275" b="0">
                <a:solidFill>
                  <a:srgbClr val="18212B"/>
                </a:solidFill>
              </a:rPr>
              <a:t>root 外绝对路径</a:t>
            </a:r>
            <a:endParaRPr sz="1275" b="0">
              <a:solidFill>
                <a:srgbClr val="18212B"/>
              </a:solidFill>
            </a:endParaRPr>
          </a:p>
          <a:p>
            <a:pPr algn="l">
              <a:defRPr sz="1275" b="0">
                <a:solidFill>
                  <a:srgbClr val="18212B"/>
                </a:solidFill>
              </a:defRPr>
            </a:pPr>
            <a:r>
              <a:rPr sz="1275" b="0">
                <a:solidFill>
                  <a:srgbClr val="18212B"/>
                </a:solidFill>
              </a:rPr>
              <a:t>符号链接逃逸</a:t>
            </a:r>
            <a:endParaRPr sz="1275" b="0">
              <a:solidFill>
                <a:srgbClr val="18212B"/>
              </a:solidFill>
            </a:endParaRPr>
          </a:p>
          <a:p>
            <a:pPr algn="l">
              <a:defRPr sz="1275" b="0">
                <a:solidFill>
                  <a:srgbClr val="18212B"/>
                </a:solidFill>
              </a:defRPr>
            </a:pPr>
            <a:r>
              <a:rPr sz="1275" b="0">
                <a:solidFill>
                  <a:srgbClr val="18212B"/>
                </a:solidFill>
              </a:rPr>
              <a:t>超大输出</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安全检查必须针对最终解析路径，而不是仅搜索字符串“..”；授权在执行前完成，并进入 Trace。</a:t>
            </a:r>
            <a:endParaRPr sz="1350" b="1">
              <a:solidFill>
                <a:srgbClr val="163A5F"/>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故障注入把偶然事故变成可重复实验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可靠性不能等待真实网络“碰巧失败”来验证</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26</a:t>
            </a:r>
            <a:endParaRPr sz="825" b="0">
              <a:solidFill>
                <a:srgbClr val="7D8994"/>
              </a:solidFill>
            </a:endParaRPr>
          </a:p>
        </p:txBody>
      </p:sp>
      <p:sp>
        <p:nvSpPr>
          <p:cNvPr id="7" name="圆角矩形 6"/>
          <p:cNvSpPr>
            <a:spLocks noGrp="1"/>
          </p:cNvSpPr>
          <p:nvPr/>
        </p:nvSpPr>
        <p:spPr>
          <a:xfrm>
            <a:off x="609600" y="1809750"/>
            <a:ext cx="3276600" cy="3381375"/>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81375"/>
          </a:xfrm>
          <a:prstGeom prst="roundRect">
            <a:avLst>
              <a:gd name="adj" fmla="val 50000"/>
            </a:avLst>
          </a:prstGeom>
          <a:solidFill>
            <a:srgbClr val="A23B3B"/>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Fault modes</a:t>
            </a:r>
            <a:endParaRPr sz="1650" b="1">
              <a:solidFill>
                <a:srgbClr val="A23B3B"/>
              </a:solidFill>
            </a:endParaRPr>
          </a:p>
        </p:txBody>
      </p:sp>
      <p:sp>
        <p:nvSpPr>
          <p:cNvPr id="10" name="矩形 9"/>
          <p:cNvSpPr>
            <a:spLocks noGrp="1"/>
          </p:cNvSpPr>
          <p:nvPr/>
        </p:nvSpPr>
        <p:spPr>
          <a:xfrm>
            <a:off x="8382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TimeoutOnce</a:t>
            </a:r>
            <a:endParaRPr sz="1275" b="0">
              <a:solidFill>
                <a:srgbClr val="18212B"/>
              </a:solidFill>
            </a:endParaRPr>
          </a:p>
          <a:p>
            <a:pPr algn="l">
              <a:defRPr sz="1275" b="0">
                <a:solidFill>
                  <a:srgbClr val="18212B"/>
                </a:solidFill>
              </a:defRPr>
            </a:pPr>
            <a:r>
              <a:rPr sz="1275" b="0">
                <a:solidFill>
                  <a:srgbClr val="18212B"/>
                </a:solidFill>
              </a:rPr>
              <a:t>AlwaysTimeout</a:t>
            </a:r>
            <a:endParaRPr sz="1275" b="0">
              <a:solidFill>
                <a:srgbClr val="18212B"/>
              </a:solidFill>
            </a:endParaRPr>
          </a:p>
          <a:p>
            <a:pPr algn="l">
              <a:defRPr sz="1275" b="0">
                <a:solidFill>
                  <a:srgbClr val="18212B"/>
                </a:solidFill>
              </a:defRPr>
            </a:pPr>
            <a:r>
              <a:rPr sz="1275" b="0">
                <a:solidFill>
                  <a:srgbClr val="18212B"/>
                </a:solidFill>
              </a:rPr>
              <a:t>MalformedOutput</a:t>
            </a:r>
            <a:endParaRPr sz="1275" b="0">
              <a:solidFill>
                <a:srgbClr val="18212B"/>
              </a:solidFill>
            </a:endParaRPr>
          </a:p>
          <a:p>
            <a:pPr algn="l">
              <a:defRPr sz="1275" b="0">
                <a:solidFill>
                  <a:srgbClr val="18212B"/>
                </a:solidFill>
              </a:defRPr>
            </a:pPr>
            <a:r>
              <a:rPr sz="1275" b="0">
                <a:solidFill>
                  <a:srgbClr val="18212B"/>
                </a:solidFill>
              </a:rPr>
              <a:t>PermissionDenied</a:t>
            </a:r>
            <a:endParaRPr sz="1275" b="0">
              <a:solidFill>
                <a:srgbClr val="18212B"/>
              </a:solidFill>
            </a:endParaRPr>
          </a:p>
          <a:p>
            <a:pPr algn="l">
              <a:defRPr sz="1275" b="0">
                <a:solidFill>
                  <a:srgbClr val="18212B"/>
                </a:solidFill>
              </a:defRPr>
            </a:pPr>
            <a:r>
              <a:rPr sz="1275" b="0">
                <a:solidFill>
                  <a:srgbClr val="18212B"/>
                </a:solidFill>
              </a:rPr>
              <a:t>SucceedAfter(n)</a:t>
            </a:r>
            <a:endParaRPr sz="1275" b="0">
              <a:solidFill>
                <a:srgbClr val="18212B"/>
              </a:solidFill>
            </a:endParaRPr>
          </a:p>
        </p:txBody>
      </p:sp>
      <p:sp>
        <p:nvSpPr>
          <p:cNvPr id="11" name="圆角矩形 10"/>
          <p:cNvSpPr>
            <a:spLocks noGrp="1"/>
          </p:cNvSpPr>
          <p:nvPr/>
        </p:nvSpPr>
        <p:spPr>
          <a:xfrm>
            <a:off x="4343400" y="1809750"/>
            <a:ext cx="3276600" cy="3381375"/>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81375"/>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恢复策略</a:t>
            </a:r>
            <a:endParaRPr sz="1650" b="1">
              <a:solidFill>
                <a:srgbClr val="2C7A7B"/>
              </a:solidFill>
            </a:endParaRPr>
          </a:p>
        </p:txBody>
      </p:sp>
      <p:sp>
        <p:nvSpPr>
          <p:cNvPr id="14" name="矩形 13"/>
          <p:cNvSpPr>
            <a:spLocks noGrp="1"/>
          </p:cNvSpPr>
          <p:nvPr/>
        </p:nvSpPr>
        <p:spPr>
          <a:xfrm>
            <a:off x="45720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错误分类</a:t>
            </a:r>
            <a:endParaRPr sz="1275" b="0">
              <a:solidFill>
                <a:srgbClr val="18212B"/>
              </a:solidFill>
            </a:endParaRPr>
          </a:p>
          <a:p>
            <a:pPr algn="l">
              <a:defRPr sz="1275" b="0">
                <a:solidFill>
                  <a:srgbClr val="18212B"/>
                </a:solidFill>
              </a:defRPr>
            </a:pPr>
            <a:r>
              <a:rPr sz="1275" b="0">
                <a:solidFill>
                  <a:srgbClr val="18212B"/>
                </a:solidFill>
              </a:rPr>
              <a:t>最大尝试次数</a:t>
            </a:r>
            <a:endParaRPr sz="1275" b="0">
              <a:solidFill>
                <a:srgbClr val="18212B"/>
              </a:solidFill>
            </a:endParaRPr>
          </a:p>
          <a:p>
            <a:pPr algn="l">
              <a:defRPr sz="1275" b="0">
                <a:solidFill>
                  <a:srgbClr val="18212B"/>
                </a:solidFill>
              </a:defRPr>
            </a:pPr>
            <a:r>
              <a:rPr sz="1275" b="0">
                <a:solidFill>
                  <a:srgbClr val="18212B"/>
                </a:solidFill>
              </a:rPr>
              <a:t>退避与总预算</a:t>
            </a:r>
            <a:endParaRPr sz="1275" b="0">
              <a:solidFill>
                <a:srgbClr val="18212B"/>
              </a:solidFill>
            </a:endParaRPr>
          </a:p>
          <a:p>
            <a:pPr algn="l">
              <a:defRPr sz="1275" b="0">
                <a:solidFill>
                  <a:srgbClr val="18212B"/>
                </a:solidFill>
              </a:defRPr>
            </a:pPr>
            <a:r>
              <a:rPr sz="1275" b="0">
                <a:solidFill>
                  <a:srgbClr val="18212B"/>
                </a:solidFill>
              </a:rPr>
              <a:t>幂等与确认</a:t>
            </a:r>
            <a:endParaRPr sz="1275" b="0">
              <a:solidFill>
                <a:srgbClr val="18212B"/>
              </a:solidFill>
            </a:endParaRPr>
          </a:p>
          <a:p>
            <a:pPr algn="l">
              <a:defRPr sz="1275" b="0">
                <a:solidFill>
                  <a:srgbClr val="18212B"/>
                </a:solidFill>
              </a:defRPr>
            </a:pPr>
            <a:r>
              <a:rPr sz="1275" b="0">
                <a:solidFill>
                  <a:srgbClr val="18212B"/>
                </a:solidFill>
              </a:rPr>
              <a:t>换工具/升级人工</a:t>
            </a:r>
            <a:endParaRPr sz="1275" b="0">
              <a:solidFill>
                <a:srgbClr val="18212B"/>
              </a:solidFill>
            </a:endParaRPr>
          </a:p>
        </p:txBody>
      </p:sp>
      <p:sp>
        <p:nvSpPr>
          <p:cNvPr id="15" name="圆角矩形 14"/>
          <p:cNvSpPr>
            <a:spLocks noGrp="1"/>
          </p:cNvSpPr>
          <p:nvPr/>
        </p:nvSpPr>
        <p:spPr>
          <a:xfrm>
            <a:off x="8077200" y="1809750"/>
            <a:ext cx="3276600" cy="3381375"/>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81375"/>
          </a:xfrm>
          <a:prstGeom prst="roundRect">
            <a:avLst>
              <a:gd name="adj" fmla="val 50000"/>
            </a:avLst>
          </a:prstGeom>
          <a:solidFill>
            <a:srgbClr val="286F9E"/>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验证问题</a:t>
            </a:r>
            <a:endParaRPr sz="1650" b="1">
              <a:solidFill>
                <a:srgbClr val="286F9E"/>
              </a:solidFill>
            </a:endParaRPr>
          </a:p>
        </p:txBody>
      </p:sp>
      <p:sp>
        <p:nvSpPr>
          <p:cNvPr id="18" name="矩形 17"/>
          <p:cNvSpPr>
            <a:spLocks noGrp="1"/>
          </p:cNvSpPr>
          <p:nvPr/>
        </p:nvSpPr>
        <p:spPr>
          <a:xfrm>
            <a:off x="83058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是否越权？</a:t>
            </a:r>
            <a:endParaRPr sz="1275" b="0">
              <a:solidFill>
                <a:srgbClr val="18212B"/>
              </a:solidFill>
            </a:endParaRPr>
          </a:p>
          <a:p>
            <a:pPr algn="l">
              <a:defRPr sz="1275" b="0">
                <a:solidFill>
                  <a:srgbClr val="18212B"/>
                </a:solidFill>
              </a:defRPr>
            </a:pPr>
            <a:r>
              <a:rPr sz="1275" b="0">
                <a:solidFill>
                  <a:srgbClr val="18212B"/>
                </a:solidFill>
              </a:rPr>
              <a:t>是否重复副作用？</a:t>
            </a:r>
            <a:endParaRPr sz="1275" b="0">
              <a:solidFill>
                <a:srgbClr val="18212B"/>
              </a:solidFill>
            </a:endParaRPr>
          </a:p>
          <a:p>
            <a:pPr algn="l">
              <a:defRPr sz="1275" b="0">
                <a:solidFill>
                  <a:srgbClr val="18212B"/>
                </a:solidFill>
              </a:defRPr>
            </a:pPr>
            <a:r>
              <a:rPr sz="1275" b="0">
                <a:solidFill>
                  <a:srgbClr val="18212B"/>
                </a:solidFill>
              </a:rPr>
              <a:t>是否静默成功？</a:t>
            </a:r>
            <a:endParaRPr sz="1275" b="0">
              <a:solidFill>
                <a:srgbClr val="18212B"/>
              </a:solidFill>
            </a:endParaRPr>
          </a:p>
          <a:p>
            <a:pPr algn="l">
              <a:defRPr sz="1275" b="0">
                <a:solidFill>
                  <a:srgbClr val="18212B"/>
                </a:solidFill>
              </a:defRPr>
            </a:pPr>
            <a:r>
              <a:rPr sz="1275" b="0">
                <a:solidFill>
                  <a:srgbClr val="18212B"/>
                </a:solidFill>
              </a:rPr>
              <a:t>是否在预算内停止？</a:t>
            </a:r>
            <a:endParaRPr sz="1275" b="0">
              <a:solidFill>
                <a:srgbClr val="18212B"/>
              </a:solidFill>
            </a:endParaRPr>
          </a:p>
          <a:p>
            <a:pPr algn="l">
              <a:defRPr sz="1275" b="0">
                <a:solidFill>
                  <a:srgbClr val="18212B"/>
                </a:solidFill>
              </a:defRPr>
            </a:pPr>
            <a:r>
              <a:rPr sz="1275" b="0">
                <a:solidFill>
                  <a:srgbClr val="18212B"/>
                </a:solidFill>
              </a:rPr>
              <a:t>Trace 是否完整？</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可靠 Tool Registry 的核心不是“调通工具”，而是证明未知、非法、失败和重复调用都不会突破系统边界。</a:t>
            </a:r>
            <a:endParaRPr sz="1350" b="1">
              <a:solidFill>
                <a:srgbClr val="163A5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工具层要同时衡量成功、恢复与代价</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单个工具成功率不能直接代表端到端任务成功率</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27</a:t>
            </a:r>
            <a:endParaRPr sz="825" b="0">
              <a:solidFill>
                <a:srgbClr val="7D8994"/>
              </a:solidFill>
            </a:endParaRPr>
          </a:p>
        </p:txBody>
      </p:sp>
      <p:sp>
        <p:nvSpPr>
          <p:cNvPr id="7" name="圆角矩形 6"/>
          <p:cNvSpPr>
            <a:spLocks noGrp="1"/>
          </p:cNvSpPr>
          <p:nvPr/>
        </p:nvSpPr>
        <p:spPr>
          <a:xfrm>
            <a:off x="762000" y="2000250"/>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952500" y="2171700"/>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rate</a:t>
            </a:r>
            <a:endParaRPr sz="2550" b="1">
              <a:solidFill>
                <a:srgbClr val="286F9E"/>
              </a:solidFill>
            </a:endParaRPr>
          </a:p>
        </p:txBody>
      </p:sp>
      <p:sp>
        <p:nvSpPr>
          <p:cNvPr id="9" name="矩形 8"/>
          <p:cNvSpPr>
            <a:spLocks noGrp="1"/>
          </p:cNvSpPr>
          <p:nvPr/>
        </p:nvSpPr>
        <p:spPr>
          <a:xfrm>
            <a:off x="9525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Task success</a:t>
            </a:r>
            <a:endParaRPr sz="1350" b="1">
              <a:solidFill>
                <a:srgbClr val="18212B"/>
              </a:solidFill>
            </a:endParaRPr>
          </a:p>
        </p:txBody>
      </p:sp>
      <p:sp>
        <p:nvSpPr>
          <p:cNvPr id="10" name="矩形 9"/>
          <p:cNvSpPr>
            <a:spLocks noGrp="1"/>
          </p:cNvSpPr>
          <p:nvPr/>
        </p:nvSpPr>
        <p:spPr>
          <a:xfrm>
            <a:off x="9525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任务最终完成</a:t>
            </a:r>
            <a:endParaRPr sz="1050" b="0">
              <a:solidFill>
                <a:srgbClr val="566573"/>
              </a:solidFill>
            </a:endParaRPr>
          </a:p>
        </p:txBody>
      </p:sp>
      <p:sp>
        <p:nvSpPr>
          <p:cNvPr id="11" name="圆角矩形 10"/>
          <p:cNvSpPr>
            <a:spLocks noGrp="1"/>
          </p:cNvSpPr>
          <p:nvPr/>
        </p:nvSpPr>
        <p:spPr>
          <a:xfrm>
            <a:off x="3524250" y="2000250"/>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714750" y="2171700"/>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rate</a:t>
            </a:r>
            <a:endParaRPr sz="2550" b="1">
              <a:solidFill>
                <a:srgbClr val="B7791F"/>
              </a:solidFill>
            </a:endParaRPr>
          </a:p>
        </p:txBody>
      </p:sp>
      <p:sp>
        <p:nvSpPr>
          <p:cNvPr id="13" name="矩形 12"/>
          <p:cNvSpPr>
            <a:spLocks noGrp="1"/>
          </p:cNvSpPr>
          <p:nvPr/>
        </p:nvSpPr>
        <p:spPr>
          <a:xfrm>
            <a:off x="37147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Invalid action</a:t>
            </a:r>
            <a:endParaRPr sz="1350" b="1">
              <a:solidFill>
                <a:srgbClr val="18212B"/>
              </a:solidFill>
            </a:endParaRPr>
          </a:p>
        </p:txBody>
      </p:sp>
      <p:sp>
        <p:nvSpPr>
          <p:cNvPr id="14" name="矩形 13"/>
          <p:cNvSpPr>
            <a:spLocks noGrp="1"/>
          </p:cNvSpPr>
          <p:nvPr/>
        </p:nvSpPr>
        <p:spPr>
          <a:xfrm>
            <a:off x="37147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无效调用比例</a:t>
            </a:r>
            <a:endParaRPr sz="1050" b="0">
              <a:solidFill>
                <a:srgbClr val="566573"/>
              </a:solidFill>
            </a:endParaRPr>
          </a:p>
        </p:txBody>
      </p:sp>
      <p:sp>
        <p:nvSpPr>
          <p:cNvPr id="15" name="圆角矩形 14"/>
          <p:cNvSpPr>
            <a:spLocks noGrp="1"/>
          </p:cNvSpPr>
          <p:nvPr/>
        </p:nvSpPr>
        <p:spPr>
          <a:xfrm>
            <a:off x="6286500" y="2000250"/>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477000" y="2171700"/>
            <a:ext cx="2000250" cy="438150"/>
          </a:xfrm>
          <a:prstGeom prst="rect">
            <a:avLst/>
          </a:prstGeom>
          <a:noFill/>
          <a:ln w="0">
            <a:noFill/>
            <a:prstDash val="solid"/>
          </a:ln>
        </p:spPr>
        <p:txBody>
          <a:bodyPr/>
          <a:lstStyle/>
          <a:p>
            <a:pPr algn="ctr">
              <a:defRPr sz="2550" b="1">
                <a:solidFill>
                  <a:srgbClr val="2C7A7B"/>
                </a:solidFill>
              </a:defRPr>
            </a:pPr>
            <a:r>
              <a:rPr sz="2550" b="1">
                <a:solidFill>
                  <a:srgbClr val="2C7A7B"/>
                </a:solidFill>
              </a:rPr>
              <a:t>rate</a:t>
            </a:r>
            <a:endParaRPr sz="2550" b="1">
              <a:solidFill>
                <a:srgbClr val="2C7A7B"/>
              </a:solidFill>
            </a:endParaRPr>
          </a:p>
        </p:txBody>
      </p:sp>
      <p:sp>
        <p:nvSpPr>
          <p:cNvPr id="17" name="矩形 16"/>
          <p:cNvSpPr>
            <a:spLocks noGrp="1"/>
          </p:cNvSpPr>
          <p:nvPr/>
        </p:nvSpPr>
        <p:spPr>
          <a:xfrm>
            <a:off x="64770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Recovery rate</a:t>
            </a:r>
            <a:endParaRPr sz="1350" b="1">
              <a:solidFill>
                <a:srgbClr val="18212B"/>
              </a:solidFill>
            </a:endParaRPr>
          </a:p>
        </p:txBody>
      </p:sp>
      <p:sp>
        <p:nvSpPr>
          <p:cNvPr id="18" name="矩形 17"/>
          <p:cNvSpPr>
            <a:spLocks noGrp="1"/>
          </p:cNvSpPr>
          <p:nvPr/>
        </p:nvSpPr>
        <p:spPr>
          <a:xfrm>
            <a:off x="64770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临时故障后恢复</a:t>
            </a:r>
            <a:endParaRPr sz="1050" b="0">
              <a:solidFill>
                <a:srgbClr val="566573"/>
              </a:solidFill>
            </a:endParaRPr>
          </a:p>
        </p:txBody>
      </p:sp>
      <p:sp>
        <p:nvSpPr>
          <p:cNvPr id="19" name="圆角矩形 18"/>
          <p:cNvSpPr>
            <a:spLocks noGrp="1"/>
          </p:cNvSpPr>
          <p:nvPr/>
        </p:nvSpPr>
        <p:spPr>
          <a:xfrm>
            <a:off x="9048750" y="2000250"/>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239250" y="2171700"/>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0</a:t>
            </a:r>
            <a:endParaRPr sz="2550" b="1">
              <a:solidFill>
                <a:srgbClr val="A23B3B"/>
              </a:solidFill>
            </a:endParaRPr>
          </a:p>
        </p:txBody>
      </p:sp>
      <p:sp>
        <p:nvSpPr>
          <p:cNvPr id="21" name="矩形 20"/>
          <p:cNvSpPr>
            <a:spLocks noGrp="1"/>
          </p:cNvSpPr>
          <p:nvPr/>
        </p:nvSpPr>
        <p:spPr>
          <a:xfrm>
            <a:off x="92392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Duplicate effects</a:t>
            </a:r>
            <a:endParaRPr sz="1350" b="1">
              <a:solidFill>
                <a:srgbClr val="18212B"/>
              </a:solidFill>
            </a:endParaRPr>
          </a:p>
        </p:txBody>
      </p:sp>
      <p:sp>
        <p:nvSpPr>
          <p:cNvPr id="22" name="矩形 21"/>
          <p:cNvSpPr>
            <a:spLocks noGrp="1"/>
          </p:cNvSpPr>
          <p:nvPr/>
        </p:nvSpPr>
        <p:spPr>
          <a:xfrm>
            <a:off x="92392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重复副作用次数</a:t>
            </a:r>
            <a:endParaRPr sz="1050" b="0">
              <a:solidFill>
                <a:srgbClr val="566573"/>
              </a:solidFill>
            </a:endParaRPr>
          </a:p>
        </p:txBody>
      </p:sp>
      <p:sp>
        <p:nvSpPr>
          <p:cNvPr id="23" name="圆角矩形 22"/>
          <p:cNvSpPr>
            <a:spLocks noGrp="1"/>
          </p:cNvSpPr>
          <p:nvPr/>
        </p:nvSpPr>
        <p:spPr>
          <a:xfrm>
            <a:off x="1714500" y="4000500"/>
            <a:ext cx="8763000" cy="1162050"/>
          </a:xfrm>
          <a:prstGeom prst="roundRect">
            <a:avLst>
              <a:gd name="adj" fmla="val 6557"/>
            </a:avLst>
          </a:prstGeom>
          <a:solidFill>
            <a:srgbClr val="F3F6F8"/>
          </a:solidFill>
          <a:ln w="9525">
            <a:solidFill>
              <a:srgbClr val="D7E0E7"/>
            </a:solidFill>
            <a:prstDash val="solid"/>
          </a:ln>
        </p:spPr>
      </p:sp>
      <p:sp>
        <p:nvSpPr>
          <p:cNvPr id="24" name="圆角矩形 23"/>
          <p:cNvSpPr>
            <a:spLocks noGrp="1"/>
          </p:cNvSpPr>
          <p:nvPr/>
        </p:nvSpPr>
        <p:spPr>
          <a:xfrm>
            <a:off x="1714500" y="4000500"/>
            <a:ext cx="66675" cy="1162050"/>
          </a:xfrm>
          <a:prstGeom prst="roundRect">
            <a:avLst>
              <a:gd name="adj" fmla="val 50000"/>
            </a:avLst>
          </a:prstGeom>
          <a:solidFill>
            <a:srgbClr val="163A5F"/>
          </a:solidFill>
          <a:ln w="0">
            <a:noFill/>
            <a:prstDash val="solid"/>
          </a:ln>
        </p:spPr>
      </p:sp>
      <p:sp>
        <p:nvSpPr>
          <p:cNvPr id="25" name="矩形 24"/>
          <p:cNvSpPr>
            <a:spLocks noGrp="1"/>
          </p:cNvSpPr>
          <p:nvPr/>
        </p:nvSpPr>
        <p:spPr>
          <a:xfrm>
            <a:off x="1943100" y="4171950"/>
            <a:ext cx="83629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为什么 99% 工具成功率仍可能不够</a:t>
            </a:r>
            <a:endParaRPr sz="1650" b="1">
              <a:solidFill>
                <a:srgbClr val="163A5F"/>
              </a:solidFill>
            </a:endParaRPr>
          </a:p>
        </p:txBody>
      </p:sp>
      <p:sp>
        <p:nvSpPr>
          <p:cNvPr id="26" name="矩形 25"/>
          <p:cNvSpPr>
            <a:spLocks noGrp="1"/>
          </p:cNvSpPr>
          <p:nvPr/>
        </p:nvSpPr>
        <p:spPr>
          <a:xfrm>
            <a:off x="1943100" y="4552950"/>
            <a:ext cx="8362950" cy="495300"/>
          </a:xfrm>
          <a:prstGeom prst="rect">
            <a:avLst/>
          </a:prstGeom>
          <a:noFill/>
          <a:ln w="0">
            <a:noFill/>
            <a:prstDash val="solid"/>
          </a:ln>
        </p:spPr>
        <p:txBody>
          <a:bodyPr/>
          <a:lstStyle/>
          <a:p>
            <a:pPr algn="l">
              <a:defRPr sz="1275" b="0">
                <a:solidFill>
                  <a:srgbClr val="18212B"/>
                </a:solidFill>
              </a:defRPr>
            </a:pPr>
            <a:r>
              <a:rPr sz="1275" b="0">
                <a:solidFill>
                  <a:srgbClr val="18212B"/>
                </a:solidFill>
              </a:rPr>
              <a:t>若任务链包含 10 次独立调用，粗略成功上限约为 0.99¹⁰ ≈ 90.4%；若错误相关或恢复策略不当，实际更低。</a:t>
            </a:r>
            <a:endParaRPr sz="1275" b="0">
              <a:solidFill>
                <a:srgbClr val="18212B"/>
              </a:solidFill>
            </a:endParaRPr>
          </a:p>
        </p:txBody>
      </p:sp>
      <p:sp>
        <p:nvSpPr>
          <p:cNvPr id="27" name="圆角矩形 2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8" name="矩形 2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端到端可靠性取决于调用链长度、错误相关性、恢复策略与副作用，而不是某个工具的孤立成功率。</a:t>
            </a:r>
            <a:endParaRPr sz="1350" b="1">
              <a:solidFill>
                <a:srgbClr val="163A5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8523605" cy="564515"/>
          </a:xfrm>
          <a:prstGeom prst="rect">
            <a:avLst/>
          </a:prstGeom>
          <a:noFill/>
        </p:spPr>
        <p:txBody>
          <a:bodyPr wrap="square" rtlCol="0">
            <a:spAutoFit/>
          </a:bodyPr>
          <a:p>
            <a:pPr>
              <a:lnSpc>
                <a:spcPct val="110000"/>
              </a:lnSpc>
              <a:buNone/>
            </a:pPr>
            <a:r>
              <a:rPr lang="zh-CN" altLang="en-US" sz="1400">
                <a:ea typeface="宋体" panose="02010600030101010101" pitchFamily="2" charset="-122"/>
              </a:rPr>
              <a:t>模型只能提出动作建议，</a:t>
            </a:r>
            <a:r>
              <a:rPr lang="en-US" altLang="zh-CN" sz="1400">
                <a:ea typeface="宋体" panose="02010600030101010101" pitchFamily="2" charset="-122"/>
              </a:rPr>
              <a:t>Registry </a:t>
            </a:r>
            <a:r>
              <a:rPr lang="zh-CN" altLang="en-US" sz="1400">
                <a:ea typeface="宋体" panose="02010600030101010101" pitchFamily="2" charset="-122"/>
              </a:rPr>
              <a:t>才拥有执行权。</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Tool Runtime </a:t>
            </a:r>
            <a:r>
              <a:rPr lang="zh-CN" altLang="en-US" sz="1400">
                <a:ea typeface="宋体" panose="02010600030101010101" pitchFamily="2" charset="-122"/>
              </a:rPr>
              <a:t>的职责，是把不可信建议变成受验证、受授权、可恢复、可审计的环境动作。</a:t>
            </a:r>
            <a:endParaRPr lang="zh-CN" altLang="en-US" sz="1400">
              <a:ea typeface="宋体" panose="02010600030101010101" pitchFamily="2" charset="-122"/>
            </a:endParaRPr>
          </a:p>
        </p:txBody>
      </p:sp>
      <p:sp>
        <p:nvSpPr>
          <p:cNvPr id="8" name="文本框 7"/>
          <p:cNvSpPr txBox="1"/>
          <p:nvPr/>
        </p:nvSpPr>
        <p:spPr>
          <a:xfrm>
            <a:off x="695325" y="2420620"/>
            <a:ext cx="9870440" cy="3409315"/>
          </a:xfrm>
          <a:prstGeom prst="rect">
            <a:avLst/>
          </a:prstGeom>
          <a:noFill/>
        </p:spPr>
        <p:txBody>
          <a:bodyPr wrap="square" rtlCol="0">
            <a:spAutoFit/>
          </a:bodyPr>
          <a:p>
            <a:pPr>
              <a:lnSpc>
                <a:spcPct val="120000"/>
              </a:lnSpc>
            </a:pPr>
            <a:r>
              <a:rPr lang="zh-CN" altLang="en-US" sz="1200"/>
              <a:t>模型建议</a:t>
            </a:r>
            <a:r>
              <a:rPr lang="en-US" altLang="zh-CN" sz="1200"/>
              <a:t> ToolRequest</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zh-CN" altLang="en-US" sz="1200"/>
              <a:t>精确查找</a:t>
            </a:r>
            <a:r>
              <a:rPr lang="en-US" altLang="zh-CN" sz="1200"/>
              <a:t> Tool</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zh-CN" altLang="en-US" sz="1200"/>
              <a:t>输入大小与</a:t>
            </a:r>
            <a:r>
              <a:rPr lang="en-US" altLang="zh-CN" sz="1200"/>
              <a:t> Schema</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en-US" altLang="zh-CN" sz="1200"/>
              <a:t>Permission</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en-US" altLang="zh-CN" sz="1200"/>
              <a:t>Idempotency</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en-US" altLang="zh-CN" sz="1200"/>
              <a:t>Timeout + Tool Call</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zh-CN" altLang="en-US" sz="1200"/>
              <a:t>输出</a:t>
            </a:r>
            <a:r>
              <a:rPr lang="en-US" altLang="zh-CN" sz="1200"/>
              <a:t> Schema </a:t>
            </a:r>
            <a:r>
              <a:rPr lang="zh-CN" altLang="en-US" sz="1200"/>
              <a:t>与大小</a:t>
            </a:r>
            <a:endParaRPr lang="zh-CN" altLang="en-US" sz="1200"/>
          </a:p>
          <a:p>
            <a:pPr>
              <a:lnSpc>
                <a:spcPct val="120000"/>
              </a:lnSpc>
            </a:pPr>
            <a:r>
              <a:rPr lang="en-US" altLang="zh-CN" sz="1200"/>
              <a:t>        </a:t>
            </a:r>
            <a:r>
              <a:rPr lang="en-US" altLang="en-US" sz="1200"/>
              <a:t>↓</a:t>
            </a:r>
            <a:endParaRPr lang="en-US" altLang="en-US" sz="1200"/>
          </a:p>
          <a:p>
            <a:pPr>
              <a:lnSpc>
                <a:spcPct val="120000"/>
              </a:lnSpc>
            </a:pPr>
            <a:r>
              <a:rPr lang="en-US" altLang="zh-CN" sz="1200"/>
              <a:t>Observation + Trace</a:t>
            </a:r>
            <a:endParaRPr lang="en-US" altLang="zh-CN" sz="12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8523605" cy="2693670"/>
          </a:xfrm>
          <a:prstGeom prst="rect">
            <a:avLst/>
          </a:prstGeom>
          <a:noFill/>
        </p:spPr>
        <p:txBody>
          <a:bodyPr wrap="square" rtlCol="0">
            <a:spAutoFit/>
          </a:bodyPr>
          <a:p>
            <a:pPr>
              <a:lnSpc>
                <a:spcPct val="110000"/>
              </a:lnSpc>
              <a:buNone/>
            </a:pPr>
            <a:r>
              <a:rPr lang="en-US" altLang="zh-CN" sz="1400">
                <a:ea typeface="宋体" panose="02010600030101010101" pitchFamily="2" charset="-122"/>
              </a:rPr>
              <a:t>let tool = tools.get(&amp;request.name).unwrap();</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let result = tool.call(request.arguments).await;</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这段代码，会不会有问题？</a:t>
            </a:r>
            <a:endParaRPr lang="zh-CN" altLang="en-US" sz="1400">
              <a:ea typeface="宋体" panose="02010600030101010101" pitchFamily="2" charset="-122"/>
            </a:endParaRPr>
          </a:p>
          <a:p>
            <a:pPr>
              <a:lnSpc>
                <a:spcPct val="110000"/>
              </a:lnSpc>
              <a:buNone/>
            </a:pP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模型把</a:t>
            </a:r>
            <a:r>
              <a:rPr lang="en-US" altLang="zh-CN" sz="1400">
                <a:ea typeface="宋体" panose="02010600030101010101" pitchFamily="2" charset="-122"/>
              </a:rPr>
              <a:t> read_file </a:t>
            </a:r>
            <a:r>
              <a:rPr lang="zh-CN" altLang="en-US" sz="1400">
                <a:ea typeface="宋体" panose="02010600030101010101" pitchFamily="2" charset="-122"/>
              </a:rPr>
              <a:t>拼成</a:t>
            </a:r>
            <a:r>
              <a:rPr lang="en-US" altLang="zh-CN" sz="1400">
                <a:ea typeface="宋体" panose="02010600030101010101" pitchFamily="2" charset="-122"/>
              </a:rPr>
              <a:t> read_flle </a:t>
            </a:r>
            <a:r>
              <a:rPr lang="zh-CN" altLang="en-US" sz="1400">
                <a:ea typeface="宋体" panose="02010600030101010101" pitchFamily="2" charset="-122"/>
              </a:rPr>
              <a:t>怎么办？</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参数类型错了，谁负责发现？</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模型要求读取</a:t>
            </a:r>
            <a:r>
              <a:rPr lang="en-US" altLang="zh-CN" sz="1400">
                <a:ea typeface="宋体" panose="02010600030101010101" pitchFamily="2" charset="-122"/>
              </a:rPr>
              <a:t> ../../secret.txt </a:t>
            </a:r>
            <a:r>
              <a:rPr lang="zh-CN" altLang="en-US" sz="1400">
                <a:ea typeface="宋体" panose="02010600030101010101" pitchFamily="2" charset="-122"/>
              </a:rPr>
              <a:t>怎么办？</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工具永久失败，</a:t>
            </a:r>
            <a:r>
              <a:rPr lang="en-US" altLang="zh-CN" sz="1400">
                <a:ea typeface="宋体" panose="02010600030101010101" pitchFamily="2" charset="-122"/>
              </a:rPr>
              <a:t>Agent </a:t>
            </a:r>
            <a:r>
              <a:rPr lang="zh-CN" altLang="en-US" sz="1400">
                <a:ea typeface="宋体" panose="02010600030101010101" pitchFamily="2" charset="-122"/>
              </a:rPr>
              <a:t>是否会无限重试？</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工具已经扣款，但响应超时了，能不能再执行？</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工具返回了错误格式，是否还算成功？</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出事故后，我们怎么知道执行过几次？</a:t>
            </a:r>
            <a:endParaRPr lang="zh-CN" altLang="en-US" sz="1400">
              <a:ea typeface="宋体" panose="02010600030101010101" pitchFamily="2" charset="-122"/>
            </a:endParaRPr>
          </a:p>
        </p:txBody>
      </p:sp>
      <p:sp>
        <p:nvSpPr>
          <p:cNvPr id="4" name="文本框 3"/>
          <p:cNvSpPr txBox="1"/>
          <p:nvPr/>
        </p:nvSpPr>
        <p:spPr>
          <a:xfrm>
            <a:off x="5880100" y="2636520"/>
            <a:ext cx="4064000" cy="922020"/>
          </a:xfrm>
          <a:prstGeom prst="rect">
            <a:avLst/>
          </a:prstGeom>
          <a:solidFill>
            <a:srgbClr val="FFC000"/>
          </a:solidFill>
        </p:spPr>
        <p:txBody>
          <a:bodyPr wrap="square" rtlCol="0">
            <a:spAutoFit/>
          </a:bodyPr>
          <a:p>
            <a:r>
              <a:rPr lang="zh-CN" altLang="en-US"/>
              <a:t>能调用</a:t>
            </a:r>
            <a:r>
              <a:rPr lang="en-US" altLang="zh-CN"/>
              <a:t> ≠ </a:t>
            </a:r>
            <a:r>
              <a:rPr lang="zh-CN" altLang="en-US"/>
              <a:t>应该调用</a:t>
            </a:r>
            <a:endParaRPr lang="zh-CN" altLang="en-US"/>
          </a:p>
          <a:p>
            <a:r>
              <a:rPr lang="zh-CN" altLang="en-US"/>
              <a:t>函数返回成功</a:t>
            </a:r>
            <a:r>
              <a:rPr lang="en-US" altLang="zh-CN"/>
              <a:t> ≠ </a:t>
            </a:r>
            <a:r>
              <a:rPr lang="zh-CN" altLang="en-US"/>
              <a:t>结果可信</a:t>
            </a:r>
            <a:endParaRPr lang="zh-CN" altLang="en-US"/>
          </a:p>
          <a:p>
            <a:r>
              <a:rPr lang="en-US" altLang="zh-CN"/>
              <a:t>Timeout ≠ </a:t>
            </a:r>
            <a:r>
              <a:rPr lang="zh-CN" altLang="en-US"/>
              <a:t>没有产生副作用</a:t>
            </a: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en-US" altLang="zh-CN" sz="2700" b="1">
                <a:solidFill>
                  <a:srgbClr val="18212B"/>
                </a:solidFill>
                <a:ea typeface="宋体" panose="02010600030101010101" pitchFamily="2" charset="-122"/>
              </a:rPr>
              <a:t>   Tool Contract</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2656840" cy="4586605"/>
          </a:xfrm>
          <a:prstGeom prst="rect">
            <a:avLst/>
          </a:prstGeom>
          <a:noFill/>
        </p:spPr>
        <p:txBody>
          <a:bodyPr wrap="square" rtlCol="0">
            <a:spAutoFit/>
          </a:bodyPr>
          <a:p>
            <a:pPr>
              <a:lnSpc>
                <a:spcPct val="110000"/>
              </a:lnSpc>
              <a:buNone/>
            </a:pPr>
            <a:r>
              <a:rPr lang="en-US" altLang="zh-CN" sz="1400">
                <a:ea typeface="宋体" panose="02010600030101010101" pitchFamily="2" charset="-122"/>
              </a:rPr>
              <a:t>1. ToolSpec</a:t>
            </a:r>
            <a:r>
              <a:rPr lang="zh-CN" altLang="en-US" sz="1400">
                <a:ea typeface="宋体" panose="02010600030101010101" pitchFamily="2" charset="-122"/>
              </a:rPr>
              <a:t>：能力声明</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name</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description</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input_schema</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output_schema</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side_effect</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required_permissions</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requires_idempotency_key</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timeout_ms</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max_input_bytes</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max_output_bytes</a:t>
            </a: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sym typeface="+mn-ea"/>
              </a:rPr>
              <a:t>ToolSpec </a:t>
            </a:r>
            <a:r>
              <a:rPr lang="zh-CN" altLang="en-US" sz="1400">
                <a:sym typeface="+mn-ea"/>
              </a:rPr>
              <a:t>不是文档，它是执行时约束。</a:t>
            </a:r>
            <a:endParaRPr lang="zh-CN" altLang="en-US" sz="1400"/>
          </a:p>
          <a:p>
            <a:pPr>
              <a:lnSpc>
                <a:spcPct val="110000"/>
              </a:lnSpc>
              <a:buNone/>
            </a:pPr>
            <a:endParaRPr lang="en-US" altLang="zh-CN" sz="1400"/>
          </a:p>
          <a:p>
            <a:pPr>
              <a:lnSpc>
                <a:spcPct val="110000"/>
              </a:lnSpc>
              <a:buNone/>
            </a:pPr>
            <a:r>
              <a:rPr lang="zh-CN" altLang="en-US" sz="1400">
                <a:sym typeface="+mn-ea"/>
              </a:rPr>
              <a:t>尤其强调输入和输出都要校验。工具即使正常返回，也可能返回错误结构。</a:t>
            </a:r>
            <a:endParaRPr lang="zh-CN" altLang="en-US" sz="1400"/>
          </a:p>
          <a:p>
            <a:pPr>
              <a:lnSpc>
                <a:spcPct val="110000"/>
              </a:lnSpc>
              <a:buNone/>
            </a:pPr>
            <a:endParaRPr lang="en-US" altLang="zh-CN" sz="1400">
              <a:ea typeface="宋体" panose="02010600030101010101" pitchFamily="2" charset="-122"/>
            </a:endParaRPr>
          </a:p>
        </p:txBody>
      </p:sp>
      <p:sp>
        <p:nvSpPr>
          <p:cNvPr id="9" name="文本框 8"/>
          <p:cNvSpPr txBox="1"/>
          <p:nvPr/>
        </p:nvSpPr>
        <p:spPr>
          <a:xfrm>
            <a:off x="3431540" y="1700530"/>
            <a:ext cx="2504440" cy="1747520"/>
          </a:xfrm>
          <a:prstGeom prst="rect">
            <a:avLst/>
          </a:prstGeom>
          <a:noFill/>
        </p:spPr>
        <p:txBody>
          <a:bodyPr wrap="square" rtlCol="0">
            <a:spAutoFit/>
          </a:bodyPr>
          <a:p>
            <a:pPr algn="l">
              <a:lnSpc>
                <a:spcPct val="110000"/>
              </a:lnSpc>
              <a:buClrTx/>
              <a:buSzTx/>
              <a:buNone/>
            </a:pPr>
            <a:r>
              <a:rPr lang="en-US" altLang="zh-CN" sz="1400">
                <a:ea typeface="宋体" panose="02010600030101010101" pitchFamily="2" charset="-122"/>
              </a:rPr>
              <a:t>2. ToolRequest：动作建议</a:t>
            </a:r>
            <a:endParaRPr lang="en-US" altLang="zh-CN" sz="1400">
              <a:ea typeface="宋体" panose="02010600030101010101" pitchFamily="2" charset="-122"/>
            </a:endParaRPr>
          </a:p>
          <a:p>
            <a:pPr algn="l">
              <a:lnSpc>
                <a:spcPct val="110000"/>
              </a:lnSpc>
              <a:buClrTx/>
              <a:buSzTx/>
              <a:buNone/>
            </a:pP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模型只能提交：</a:t>
            </a: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工具名 + JSON 参数 + 幂等键</a:t>
            </a:r>
            <a:endParaRPr lang="en-US" altLang="zh-CN" sz="1400">
              <a:ea typeface="宋体" panose="02010600030101010101" pitchFamily="2" charset="-122"/>
            </a:endParaRPr>
          </a:p>
          <a:p>
            <a:pPr algn="l">
              <a:lnSpc>
                <a:spcPct val="110000"/>
              </a:lnSpc>
              <a:buClrTx/>
              <a:buSzTx/>
              <a:buNone/>
            </a:pP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它不能自行决定权限、重试次数或跳过校验。</a:t>
            </a:r>
            <a:endParaRPr lang="en-US" altLang="zh-CN" sz="1400">
              <a:ea typeface="宋体" panose="02010600030101010101" pitchFamily="2" charset="-122"/>
            </a:endParaRPr>
          </a:p>
        </p:txBody>
      </p:sp>
      <p:sp>
        <p:nvSpPr>
          <p:cNvPr id="11" name="文本框 10"/>
          <p:cNvSpPr txBox="1"/>
          <p:nvPr/>
        </p:nvSpPr>
        <p:spPr>
          <a:xfrm>
            <a:off x="6456045" y="1700530"/>
            <a:ext cx="2744470" cy="1037590"/>
          </a:xfrm>
          <a:prstGeom prst="rect">
            <a:avLst/>
          </a:prstGeom>
          <a:noFill/>
        </p:spPr>
        <p:txBody>
          <a:bodyPr wrap="square" rtlCol="0">
            <a:spAutoFit/>
          </a:bodyPr>
          <a:p>
            <a:pPr algn="l">
              <a:lnSpc>
                <a:spcPct val="110000"/>
              </a:lnSpc>
              <a:buClrTx/>
              <a:buSzTx/>
              <a:buNone/>
            </a:pPr>
            <a:r>
              <a:rPr lang="en-US" altLang="zh-CN" sz="1400">
                <a:ea typeface="宋体" panose="02010600030101010101" pitchFamily="2" charset="-122"/>
              </a:rPr>
              <a:t>3</a:t>
            </a:r>
            <a:r>
              <a:rPr lang="zh-CN" altLang="en-US" sz="1400">
                <a:ea typeface="宋体" panose="02010600030101010101" pitchFamily="2" charset="-122"/>
              </a:rPr>
              <a:t>、</a:t>
            </a:r>
            <a:r>
              <a:rPr lang="en-US" altLang="zh-CN" sz="1400">
                <a:ea typeface="宋体" panose="02010600030101010101" pitchFamily="2" charset="-122"/>
              </a:rPr>
              <a:t>ToolObservation</a:t>
            </a:r>
            <a:r>
              <a:rPr lang="zh-CN" altLang="en-US" sz="1400">
                <a:ea typeface="宋体" panose="02010600030101010101" pitchFamily="2" charset="-122"/>
              </a:rPr>
              <a:t>：程序事实</a:t>
            </a:r>
            <a:endParaRPr lang="zh-CN" altLang="en-US" sz="1400">
              <a:ea typeface="宋体" panose="02010600030101010101" pitchFamily="2" charset="-122"/>
            </a:endParaRPr>
          </a:p>
          <a:p>
            <a:pPr algn="l">
              <a:lnSpc>
                <a:spcPct val="110000"/>
              </a:lnSpc>
              <a:buClrTx/>
              <a:buSzTx/>
              <a:buNone/>
            </a:pPr>
            <a:r>
              <a:rPr lang="zh-CN" altLang="en-US" sz="1400">
                <a:ea typeface="宋体" panose="02010600030101010101" pitchFamily="2" charset="-122"/>
              </a:rPr>
              <a:t>统一分成：</a:t>
            </a:r>
            <a:endParaRPr lang="zh-CN" altLang="en-US"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Success</a:t>
            </a: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Failure</a:t>
            </a:r>
            <a:endParaRPr lang="en-US" altLang="zh-CN" sz="1400">
              <a:ea typeface="宋体" panose="02010600030101010101" pitchFamily="2" charset="-122"/>
            </a:endParaRPr>
          </a:p>
        </p:txBody>
      </p:sp>
      <p:sp>
        <p:nvSpPr>
          <p:cNvPr id="12" name="文本框 11"/>
          <p:cNvSpPr txBox="1"/>
          <p:nvPr/>
        </p:nvSpPr>
        <p:spPr>
          <a:xfrm>
            <a:off x="6695440" y="3721100"/>
            <a:ext cx="4064000" cy="922020"/>
          </a:xfrm>
          <a:prstGeom prst="rect">
            <a:avLst/>
          </a:prstGeom>
          <a:noFill/>
        </p:spPr>
        <p:txBody>
          <a:bodyPr wrap="square" rtlCol="0">
            <a:spAutoFit/>
          </a:bodyPr>
          <a:p>
            <a:r>
              <a:rPr lang="en-US" altLang="zh-CN"/>
              <a:t>4. ToolErrorKind</a:t>
            </a:r>
            <a:r>
              <a:rPr lang="zh-CN" altLang="en-US"/>
              <a:t>：重试依据</a:t>
            </a:r>
            <a:endParaRPr lang="zh-CN" altLang="en-US"/>
          </a:p>
          <a:p>
            <a:endParaRPr lang="zh-CN" altLang="en-US"/>
          </a:p>
          <a:p>
            <a:endParaRPr lang="zh-CN" altLang="en-US"/>
          </a:p>
        </p:txBody>
      </p:sp>
      <p:graphicFrame>
        <p:nvGraphicFramePr>
          <p:cNvPr id="13" name="表格 12"/>
          <p:cNvGraphicFramePr/>
          <p:nvPr/>
        </p:nvGraphicFramePr>
        <p:xfrm>
          <a:off x="6311900" y="4292600"/>
          <a:ext cx="4491990" cy="1173480"/>
        </p:xfrm>
        <a:graphic>
          <a:graphicData uri="http://schemas.openxmlformats.org/drawingml/2006/table">
            <a:tbl>
              <a:tblPr/>
              <a:tblGrid>
                <a:gridCol w="2502535"/>
                <a:gridCol w="1989455"/>
              </a:tblGrid>
              <a:tr h="0">
                <a:tc>
                  <a:txBody>
                    <a:bodyPr/>
                    <a:p>
                      <a:pPr algn="ctr">
                        <a:lnSpc>
                          <a:spcPct val="120000"/>
                        </a:lnSpc>
                      </a:pPr>
                      <a:r>
                        <a:rPr lang="zh-CN" altLang="en-US" sz="1200"/>
                        <a:t>错误</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是否自动重试</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Transient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可以，且必须有限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Permanent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Timeout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默认不可以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InvalidArguments</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PermissionDenied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MalformedOutput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14" name="文本框 13"/>
          <p:cNvSpPr txBox="1"/>
          <p:nvPr/>
        </p:nvSpPr>
        <p:spPr>
          <a:xfrm>
            <a:off x="5118100" y="6031865"/>
            <a:ext cx="5208905" cy="583565"/>
          </a:xfrm>
          <a:prstGeom prst="rect">
            <a:avLst/>
          </a:prstGeom>
          <a:noFill/>
        </p:spPr>
        <p:txBody>
          <a:bodyPr wrap="square" rtlCol="0">
            <a:spAutoFit/>
          </a:bodyPr>
          <a:p>
            <a:r>
              <a:rPr lang="zh-CN" altLang="en-US" sz="1600">
                <a:highlight>
                  <a:srgbClr val="FFFF00"/>
                </a:highlight>
              </a:rPr>
              <a:t>为什么</a:t>
            </a:r>
            <a:r>
              <a:rPr lang="en-US" altLang="zh-CN" sz="1600">
                <a:highlight>
                  <a:srgbClr val="FFFF00"/>
                </a:highlight>
              </a:rPr>
              <a:t>timeout</a:t>
            </a:r>
            <a:r>
              <a:rPr lang="zh-CN" altLang="en-US" sz="1600">
                <a:highlight>
                  <a:srgbClr val="FFFF00"/>
                </a:highlight>
                <a:ea typeface="宋体" panose="02010600030101010101" pitchFamily="2" charset="-122"/>
              </a:rPr>
              <a:t>不自动重试？因为</a:t>
            </a:r>
            <a:r>
              <a:rPr lang="en-US" altLang="zh-CN" sz="1600">
                <a:highlight>
                  <a:srgbClr val="FFFF00"/>
                </a:highlight>
                <a:ea typeface="宋体" panose="02010600030101010101" pitchFamily="2" charset="-122"/>
              </a:rPr>
              <a:t>time</a:t>
            </a:r>
            <a:r>
              <a:rPr lang="zh-CN" altLang="en-US" sz="1600">
                <a:highlight>
                  <a:srgbClr val="FFFF00"/>
                </a:highlight>
                <a:ea typeface="宋体" panose="02010600030101010101" pitchFamily="2" charset="-122"/>
              </a:rPr>
              <a:t>只表示我们没有按时收到结果，不代表外部动作没有发生。</a:t>
            </a:r>
            <a:endParaRPr lang="zh-CN" altLang="en-US" sz="1600">
              <a:highlight>
                <a:srgbClr val="FFFF00"/>
              </a:highlight>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1113790" y="2324100"/>
            <a:ext cx="10050145" cy="1765935"/>
          </a:xfrm>
          <a:prstGeom prst="rect">
            <a:avLst/>
          </a:prstGeom>
        </p:spPr>
        <p:txBody>
          <a:bodyPr>
            <a:noAutofit/>
          </a:bodyPr>
          <a:p>
            <a:r>
              <a:rPr lang="en-US" altLang="zh-CN" sz="1600"/>
              <a:t>Lesson 1 </a:t>
            </a:r>
            <a:r>
              <a:rPr lang="zh-CN" altLang="en-US" sz="1600"/>
              <a:t>证明 </a:t>
            </a:r>
            <a:r>
              <a:rPr lang="en-US" altLang="zh-CN" sz="1600"/>
              <a:t>Agent </a:t>
            </a:r>
            <a:r>
              <a:rPr lang="zh-CN" altLang="en-US" sz="1600"/>
              <a:t>拥有运行时决策权；</a:t>
            </a:r>
            <a:r>
              <a:rPr lang="en-US" altLang="zh-CN" sz="1600"/>
              <a:t>Lesson 2 </a:t>
            </a:r>
            <a:r>
              <a:rPr lang="zh-CN" altLang="en-US" sz="1600"/>
              <a:t>为这个决策过程加上协议、预算和终止边界；</a:t>
            </a:r>
            <a:r>
              <a:rPr lang="en-US" altLang="zh-CN" sz="1600"/>
              <a:t>Lesson 3 </a:t>
            </a:r>
            <a:r>
              <a:rPr lang="zh-CN" altLang="en-US" sz="1600"/>
              <a:t>则继续追问：当 </a:t>
            </a:r>
            <a:r>
              <a:rPr lang="en-US" altLang="zh-CN" sz="1600"/>
              <a:t>Agent </a:t>
            </a:r>
            <a:r>
              <a:rPr lang="zh-CN" altLang="en-US" sz="1600"/>
              <a:t>的动作要真正改变外部世界时，谁来阻止非法、重复、失控和不可审计的执行？答案不是模型提示词，而是 </a:t>
            </a:r>
            <a:r>
              <a:rPr lang="en-US" altLang="zh-CN" sz="1600"/>
              <a:t>Tool Runtime</a:t>
            </a:r>
            <a:r>
              <a:rPr lang="zh-CN" altLang="en-US" sz="1600"/>
              <a:t>。</a:t>
            </a:r>
            <a:endParaRPr lang="zh-CN" altLang="en-US" sz="1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86F9E"/>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86F9E"/>
                </a:solidFill>
              </a:defRPr>
            </a:pPr>
            <a:r>
              <a:rPr sz="6000" b="1">
                <a:solidFill>
                  <a:srgbClr val="286F9E"/>
                </a:solidFill>
              </a:rPr>
              <a:t>04</a:t>
            </a:r>
            <a:endParaRPr sz="6000" b="1">
              <a:solidFill>
                <a:srgbClr val="286F9E"/>
              </a:solidFill>
            </a:endParaRPr>
          </a:p>
        </p:txBody>
      </p:sp>
      <p:sp>
        <p:nvSpPr>
          <p:cNvPr id="3" name="矩形 2"/>
          <p:cNvSpPr>
            <a:spLocks noGrp="1"/>
          </p:cNvSpPr>
          <p:nvPr/>
        </p:nvSpPr>
        <p:spPr>
          <a:xfrm>
            <a:off x="800100" y="2266950"/>
            <a:ext cx="1714500" cy="38100"/>
          </a:xfrm>
          <a:prstGeom prst="rect">
            <a:avLst/>
          </a:prstGeom>
          <a:solidFill>
            <a:srgbClr val="286F9E"/>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Evidence 与 RAG</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把“检索到相关文本”升级为“结论能够被证据核验”。</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86F9E"/>
                </a:solidFill>
              </a:defRPr>
            </a:pPr>
            <a:r>
              <a:rPr sz="1350" b="1">
                <a:solidFill>
                  <a:srgbClr val="286F9E"/>
                </a:solidFill>
              </a:rPr>
              <a:t>原理  →  实现  →  故障  →  评测</a:t>
            </a:r>
            <a:endParaRPr sz="1350" b="1">
              <a:solidFill>
                <a:srgbClr val="286F9E"/>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28</a:t>
            </a:r>
            <a:endParaRPr sz="825" b="0">
              <a:solidFill>
                <a:srgbClr val="7D8994"/>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矩形 2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可靠回答需要区分四个逻辑层</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主题相关不等于逻辑支持，模型自信不等于证据充分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29</a:t>
            </a:r>
            <a:endParaRPr sz="825" b="0">
              <a:solidFill>
                <a:srgbClr val="7D8994"/>
              </a:solidFill>
            </a:endParaRPr>
          </a:p>
        </p:txBody>
      </p:sp>
      <p:sp>
        <p:nvSpPr>
          <p:cNvPr id="7" name="矩形 6"/>
          <p:cNvSpPr>
            <a:spLocks noGrp="1"/>
          </p:cNvSpPr>
          <p:nvPr/>
        </p:nvSpPr>
        <p:spPr>
          <a:xfrm>
            <a:off x="3248025" y="2352675"/>
            <a:ext cx="171450" cy="152400"/>
          </a:xfrm>
          <a:prstGeom prst="rect">
            <a:avLst/>
          </a:prstGeom>
          <a:solidFill>
            <a:srgbClr val="286F9E"/>
          </a:solidFill>
          <a:ln w="0">
            <a:noFill/>
            <a:prstDash val="solid"/>
          </a:ln>
        </p:spPr>
      </p:sp>
      <p:sp>
        <p:nvSpPr>
          <p:cNvPr id="8" name="矩形 7"/>
          <p:cNvSpPr>
            <a:spLocks noGrp="1"/>
          </p:cNvSpPr>
          <p:nvPr/>
        </p:nvSpPr>
        <p:spPr>
          <a:xfrm>
            <a:off x="3381375" y="2305050"/>
            <a:ext cx="95250" cy="247650"/>
          </a:xfrm>
          <a:prstGeom prst="rect">
            <a:avLst/>
          </a:prstGeom>
          <a:solidFill>
            <a:srgbClr val="286F9E"/>
          </a:solidFill>
          <a:ln w="0">
            <a:noFill/>
            <a:prstDash val="solid"/>
          </a:ln>
        </p:spPr>
      </p:sp>
      <p:sp>
        <p:nvSpPr>
          <p:cNvPr id="9" name="圆角矩形 8"/>
          <p:cNvSpPr>
            <a:spLocks noGrp="1"/>
          </p:cNvSpPr>
          <p:nvPr/>
        </p:nvSpPr>
        <p:spPr>
          <a:xfrm>
            <a:off x="704850" y="2000250"/>
            <a:ext cx="2495550" cy="857250"/>
          </a:xfrm>
          <a:prstGeom prst="roundRect">
            <a:avLst>
              <a:gd name="adj" fmla="val 8889"/>
            </a:avLst>
          </a:prstGeom>
          <a:solidFill>
            <a:srgbClr val="EAF2F8"/>
          </a:solidFill>
          <a:ln w="9525">
            <a:solidFill>
              <a:srgbClr val="D7E0E7"/>
            </a:solidFill>
            <a:prstDash val="solid"/>
          </a:ln>
        </p:spPr>
      </p:sp>
      <p:sp>
        <p:nvSpPr>
          <p:cNvPr id="10" name="矩形 9"/>
          <p:cNvSpPr>
            <a:spLocks noGrp="1"/>
          </p:cNvSpPr>
          <p:nvPr/>
        </p:nvSpPr>
        <p:spPr>
          <a:xfrm>
            <a:off x="78105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Claim</a:t>
            </a:r>
            <a:endParaRPr sz="1350" b="1">
              <a:solidFill>
                <a:srgbClr val="163A5F"/>
              </a:solidFill>
            </a:endParaRPr>
          </a:p>
          <a:p>
            <a:pPr algn="ctr">
              <a:defRPr sz="1350" b="1">
                <a:solidFill>
                  <a:srgbClr val="163A5F"/>
                </a:solidFill>
              </a:defRPr>
            </a:pPr>
            <a:r>
              <a:rPr sz="1350" b="1">
                <a:solidFill>
                  <a:srgbClr val="163A5F"/>
                </a:solidFill>
              </a:rPr>
              <a:t>待判断主张</a:t>
            </a:r>
            <a:endParaRPr sz="1350" b="1">
              <a:solidFill>
                <a:srgbClr val="163A5F"/>
              </a:solidFill>
            </a:endParaRPr>
          </a:p>
        </p:txBody>
      </p:sp>
      <p:sp>
        <p:nvSpPr>
          <p:cNvPr id="11" name="矩形 10"/>
          <p:cNvSpPr>
            <a:spLocks noGrp="1"/>
          </p:cNvSpPr>
          <p:nvPr/>
        </p:nvSpPr>
        <p:spPr>
          <a:xfrm>
            <a:off x="6010275" y="2352675"/>
            <a:ext cx="171450" cy="152400"/>
          </a:xfrm>
          <a:prstGeom prst="rect">
            <a:avLst/>
          </a:prstGeom>
          <a:solidFill>
            <a:srgbClr val="286F9E"/>
          </a:solidFill>
          <a:ln w="0">
            <a:noFill/>
            <a:prstDash val="solid"/>
          </a:ln>
        </p:spPr>
      </p:sp>
      <p:sp>
        <p:nvSpPr>
          <p:cNvPr id="12" name="矩形 11"/>
          <p:cNvSpPr>
            <a:spLocks noGrp="1"/>
          </p:cNvSpPr>
          <p:nvPr/>
        </p:nvSpPr>
        <p:spPr>
          <a:xfrm>
            <a:off x="6143625" y="2305050"/>
            <a:ext cx="95250" cy="247650"/>
          </a:xfrm>
          <a:prstGeom prst="rect">
            <a:avLst/>
          </a:prstGeom>
          <a:solidFill>
            <a:srgbClr val="286F9E"/>
          </a:solidFill>
          <a:ln w="0">
            <a:noFill/>
            <a:prstDash val="solid"/>
          </a:ln>
        </p:spPr>
      </p:sp>
      <p:sp>
        <p:nvSpPr>
          <p:cNvPr id="13" name="圆角矩形 12"/>
          <p:cNvSpPr>
            <a:spLocks noGrp="1"/>
          </p:cNvSpPr>
          <p:nvPr/>
        </p:nvSpPr>
        <p:spPr>
          <a:xfrm>
            <a:off x="3467100" y="2000250"/>
            <a:ext cx="2495550" cy="857250"/>
          </a:xfrm>
          <a:prstGeom prst="roundRect">
            <a:avLst>
              <a:gd name="adj" fmla="val 8889"/>
            </a:avLst>
          </a:prstGeom>
          <a:solidFill>
            <a:srgbClr val="EAF5F4"/>
          </a:solidFill>
          <a:ln w="9525">
            <a:solidFill>
              <a:srgbClr val="D7E0E7"/>
            </a:solidFill>
            <a:prstDash val="solid"/>
          </a:ln>
        </p:spPr>
      </p:sp>
      <p:sp>
        <p:nvSpPr>
          <p:cNvPr id="14" name="矩形 13"/>
          <p:cNvSpPr>
            <a:spLocks noGrp="1"/>
          </p:cNvSpPr>
          <p:nvPr/>
        </p:nvSpPr>
        <p:spPr>
          <a:xfrm>
            <a:off x="354330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Evidence</a:t>
            </a:r>
            <a:endParaRPr sz="1350" b="1">
              <a:solidFill>
                <a:srgbClr val="163A5F"/>
              </a:solidFill>
            </a:endParaRPr>
          </a:p>
          <a:p>
            <a:pPr algn="ctr">
              <a:defRPr sz="1350" b="1">
                <a:solidFill>
                  <a:srgbClr val="163A5F"/>
                </a:solidFill>
              </a:defRPr>
            </a:pPr>
            <a:r>
              <a:rPr sz="1350" b="1">
                <a:solidFill>
                  <a:srgbClr val="163A5F"/>
                </a:solidFill>
              </a:rPr>
              <a:t>可定位原文</a:t>
            </a:r>
            <a:endParaRPr sz="1350" b="1">
              <a:solidFill>
                <a:srgbClr val="163A5F"/>
              </a:solidFill>
            </a:endParaRPr>
          </a:p>
        </p:txBody>
      </p:sp>
      <p:sp>
        <p:nvSpPr>
          <p:cNvPr id="15" name="矩形 14"/>
          <p:cNvSpPr>
            <a:spLocks noGrp="1"/>
          </p:cNvSpPr>
          <p:nvPr/>
        </p:nvSpPr>
        <p:spPr>
          <a:xfrm>
            <a:off x="8772525" y="2352675"/>
            <a:ext cx="171450" cy="152400"/>
          </a:xfrm>
          <a:prstGeom prst="rect">
            <a:avLst/>
          </a:prstGeom>
          <a:solidFill>
            <a:srgbClr val="286F9E"/>
          </a:solidFill>
          <a:ln w="0">
            <a:noFill/>
            <a:prstDash val="solid"/>
          </a:ln>
        </p:spPr>
      </p:sp>
      <p:sp>
        <p:nvSpPr>
          <p:cNvPr id="16" name="矩形 15"/>
          <p:cNvSpPr>
            <a:spLocks noGrp="1"/>
          </p:cNvSpPr>
          <p:nvPr/>
        </p:nvSpPr>
        <p:spPr>
          <a:xfrm>
            <a:off x="8905875" y="2305050"/>
            <a:ext cx="95250" cy="247650"/>
          </a:xfrm>
          <a:prstGeom prst="rect">
            <a:avLst/>
          </a:prstGeom>
          <a:solidFill>
            <a:srgbClr val="286F9E"/>
          </a:solidFill>
          <a:ln w="0">
            <a:noFill/>
            <a:prstDash val="solid"/>
          </a:ln>
        </p:spPr>
      </p:sp>
      <p:sp>
        <p:nvSpPr>
          <p:cNvPr id="17" name="圆角矩形 16"/>
          <p:cNvSpPr>
            <a:spLocks noGrp="1"/>
          </p:cNvSpPr>
          <p:nvPr/>
        </p:nvSpPr>
        <p:spPr>
          <a:xfrm>
            <a:off x="6229350" y="2000250"/>
            <a:ext cx="2495550" cy="857250"/>
          </a:xfrm>
          <a:prstGeom prst="roundRect">
            <a:avLst>
              <a:gd name="adj" fmla="val 8889"/>
            </a:avLst>
          </a:prstGeom>
          <a:solidFill>
            <a:srgbClr val="EAF2F8"/>
          </a:solidFill>
          <a:ln w="9525">
            <a:solidFill>
              <a:srgbClr val="D7E0E7"/>
            </a:solidFill>
            <a:prstDash val="solid"/>
          </a:ln>
        </p:spPr>
      </p:sp>
      <p:sp>
        <p:nvSpPr>
          <p:cNvPr id="18" name="矩形 17"/>
          <p:cNvSpPr>
            <a:spLocks noGrp="1"/>
          </p:cNvSpPr>
          <p:nvPr/>
        </p:nvSpPr>
        <p:spPr>
          <a:xfrm>
            <a:off x="630555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Inference</a:t>
            </a:r>
            <a:endParaRPr sz="1350" b="1">
              <a:solidFill>
                <a:srgbClr val="163A5F"/>
              </a:solidFill>
            </a:endParaRPr>
          </a:p>
          <a:p>
            <a:pPr algn="ctr">
              <a:defRPr sz="1350" b="1">
                <a:solidFill>
                  <a:srgbClr val="163A5F"/>
                </a:solidFill>
              </a:defRPr>
            </a:pPr>
            <a:r>
              <a:rPr sz="1350" b="1">
                <a:solidFill>
                  <a:srgbClr val="163A5F"/>
                </a:solidFill>
              </a:rPr>
              <a:t>从证据到主张</a:t>
            </a:r>
            <a:endParaRPr sz="1350" b="1">
              <a:solidFill>
                <a:srgbClr val="163A5F"/>
              </a:solidFill>
            </a:endParaRPr>
          </a:p>
        </p:txBody>
      </p:sp>
      <p:sp>
        <p:nvSpPr>
          <p:cNvPr id="19" name="圆角矩形 18"/>
          <p:cNvSpPr>
            <a:spLocks noGrp="1"/>
          </p:cNvSpPr>
          <p:nvPr/>
        </p:nvSpPr>
        <p:spPr>
          <a:xfrm>
            <a:off x="8991600" y="2000250"/>
            <a:ext cx="2495550" cy="857250"/>
          </a:xfrm>
          <a:prstGeom prst="roundRect">
            <a:avLst>
              <a:gd name="adj" fmla="val 8889"/>
            </a:avLst>
          </a:prstGeom>
          <a:solidFill>
            <a:srgbClr val="EAF5F4"/>
          </a:solidFill>
          <a:ln w="9525">
            <a:solidFill>
              <a:srgbClr val="D7E0E7"/>
            </a:solidFill>
            <a:prstDash val="solid"/>
          </a:ln>
        </p:spPr>
      </p:sp>
      <p:sp>
        <p:nvSpPr>
          <p:cNvPr id="20" name="矩形 19"/>
          <p:cNvSpPr>
            <a:spLocks noGrp="1"/>
          </p:cNvSpPr>
          <p:nvPr/>
        </p:nvSpPr>
        <p:spPr>
          <a:xfrm>
            <a:off x="906780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Conclusion</a:t>
            </a:r>
            <a:endParaRPr sz="1350" b="1">
              <a:solidFill>
                <a:srgbClr val="163A5F"/>
              </a:solidFill>
            </a:endParaRPr>
          </a:p>
          <a:p>
            <a:pPr algn="ctr">
              <a:defRPr sz="1350" b="1">
                <a:solidFill>
                  <a:srgbClr val="163A5F"/>
                </a:solidFill>
              </a:defRPr>
            </a:pPr>
            <a:r>
              <a:rPr sz="1350" b="1">
                <a:solidFill>
                  <a:srgbClr val="163A5F"/>
                </a:solidFill>
              </a:rPr>
              <a:t>带边界结论</a:t>
            </a:r>
            <a:endParaRPr sz="1350" b="1">
              <a:solidFill>
                <a:srgbClr val="163A5F"/>
              </a:solidFill>
            </a:endParaRPr>
          </a:p>
        </p:txBody>
      </p:sp>
      <p:sp>
        <p:nvSpPr>
          <p:cNvPr id="21" name="圆角矩形 20"/>
          <p:cNvSpPr>
            <a:spLocks noGrp="1"/>
          </p:cNvSpPr>
          <p:nvPr/>
        </p:nvSpPr>
        <p:spPr>
          <a:xfrm>
            <a:off x="1524000" y="3524250"/>
            <a:ext cx="9144000" cy="1619250"/>
          </a:xfrm>
          <a:prstGeom prst="roundRect">
            <a:avLst>
              <a:gd name="adj" fmla="val 4706"/>
            </a:avLst>
          </a:prstGeom>
          <a:solidFill>
            <a:srgbClr val="EAF5F4"/>
          </a:solidFill>
          <a:ln w="9525">
            <a:solidFill>
              <a:srgbClr val="D7E0E7"/>
            </a:solidFill>
            <a:prstDash val="solid"/>
          </a:ln>
        </p:spPr>
      </p:sp>
      <p:sp>
        <p:nvSpPr>
          <p:cNvPr id="22" name="圆角矩形 21"/>
          <p:cNvSpPr>
            <a:spLocks noGrp="1"/>
          </p:cNvSpPr>
          <p:nvPr/>
        </p:nvSpPr>
        <p:spPr>
          <a:xfrm>
            <a:off x="1524000" y="3524250"/>
            <a:ext cx="66675" cy="1619250"/>
          </a:xfrm>
          <a:prstGeom prst="roundRect">
            <a:avLst>
              <a:gd name="adj" fmla="val 50000"/>
            </a:avLst>
          </a:prstGeom>
          <a:solidFill>
            <a:srgbClr val="2C7A7B"/>
          </a:solidFill>
          <a:ln w="0">
            <a:noFill/>
            <a:prstDash val="solid"/>
          </a:ln>
        </p:spPr>
      </p:sp>
      <p:sp>
        <p:nvSpPr>
          <p:cNvPr id="23" name="矩形 22"/>
          <p:cNvSpPr>
            <a:spLocks noGrp="1"/>
          </p:cNvSpPr>
          <p:nvPr/>
        </p:nvSpPr>
        <p:spPr>
          <a:xfrm>
            <a:off x="1752600" y="3695700"/>
            <a:ext cx="8743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示例</a:t>
            </a:r>
            <a:endParaRPr sz="1650" b="1">
              <a:solidFill>
                <a:srgbClr val="2C7A7B"/>
              </a:solidFill>
            </a:endParaRPr>
          </a:p>
        </p:txBody>
      </p:sp>
      <p:sp>
        <p:nvSpPr>
          <p:cNvPr id="24" name="矩形 23"/>
          <p:cNvSpPr>
            <a:spLocks noGrp="1"/>
          </p:cNvSpPr>
          <p:nvPr/>
        </p:nvSpPr>
        <p:spPr>
          <a:xfrm>
            <a:off x="1752600" y="4076700"/>
            <a:ext cx="8743950" cy="952500"/>
          </a:xfrm>
          <a:prstGeom prst="rect">
            <a:avLst/>
          </a:prstGeom>
          <a:noFill/>
          <a:ln w="0">
            <a:noFill/>
            <a:prstDash val="solid"/>
          </a:ln>
        </p:spPr>
        <p:txBody>
          <a:bodyPr/>
          <a:lstStyle/>
          <a:p>
            <a:pPr algn="l">
              <a:defRPr sz="1275" b="0">
                <a:solidFill>
                  <a:srgbClr val="18212B"/>
                </a:solidFill>
              </a:defRPr>
            </a:pPr>
            <a:r>
              <a:rPr sz="1275" b="0">
                <a:solidFill>
                  <a:srgbClr val="18212B"/>
                </a:solidFill>
              </a:rPr>
              <a:t>Claim：保证金比例存在超限风险</a:t>
            </a:r>
            <a:endParaRPr sz="1275" b="0">
              <a:solidFill>
                <a:srgbClr val="18212B"/>
              </a:solidFill>
            </a:endParaRPr>
          </a:p>
          <a:p>
            <a:pPr algn="l">
              <a:defRPr sz="1275" b="0">
                <a:solidFill>
                  <a:srgbClr val="18212B"/>
                </a:solidFill>
              </a:defRPr>
            </a:pPr>
            <a:r>
              <a:rPr sz="1275" b="0">
                <a:solidFill>
                  <a:srgbClr val="18212B"/>
                </a:solidFill>
              </a:rPr>
              <a:t>Evidence：规则上限 2%；条款写明 5%</a:t>
            </a:r>
            <a:endParaRPr sz="1275" b="0">
              <a:solidFill>
                <a:srgbClr val="18212B"/>
              </a:solidFill>
            </a:endParaRPr>
          </a:p>
          <a:p>
            <a:pPr algn="l">
              <a:defRPr sz="1275" b="0">
                <a:solidFill>
                  <a:srgbClr val="18212B"/>
                </a:solidFill>
              </a:defRPr>
            </a:pPr>
            <a:r>
              <a:rPr sz="1275" b="0">
                <a:solidFill>
                  <a:srgbClr val="18212B"/>
                </a:solidFill>
              </a:rPr>
              <a:t>Inference：5% &gt; 2%</a:t>
            </a:r>
            <a:endParaRPr sz="1275" b="0">
              <a:solidFill>
                <a:srgbClr val="18212B"/>
              </a:solidFill>
            </a:endParaRPr>
          </a:p>
          <a:p>
            <a:pPr algn="l">
              <a:defRPr sz="1275" b="0">
                <a:solidFill>
                  <a:srgbClr val="18212B"/>
                </a:solidFill>
              </a:defRPr>
            </a:pPr>
            <a:r>
              <a:rPr sz="1275" b="0">
                <a:solidFill>
                  <a:srgbClr val="18212B"/>
                </a:solidFill>
              </a:rPr>
              <a:t>Conclusion：存在风险；但仍需确认规则适用范围</a:t>
            </a:r>
            <a:endParaRPr sz="1275" b="0">
              <a:solidFill>
                <a:srgbClr val="18212B"/>
              </a:solidFill>
            </a:endParaRPr>
          </a:p>
        </p:txBody>
      </p:sp>
      <p:sp>
        <p:nvSpPr>
          <p:cNvPr id="25" name="圆角矩形 2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6" name="矩形 2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Evidence-First 不是把引用附在答案后，而是让每个关键主张都能回到来源、定位和明确推断。</a:t>
            </a:r>
            <a:endParaRPr sz="1350" b="1">
              <a:solidFill>
                <a:srgbClr val="163A5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RAG 是两段系统：先找对，再说对</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检索错误与生成错误必须分开测量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30</a:t>
            </a:r>
            <a:endParaRPr sz="825" b="0">
              <a:solidFill>
                <a:srgbClr val="7D8994"/>
              </a:solidFill>
            </a:endParaRPr>
          </a:p>
        </p:txBody>
      </p:sp>
      <p:sp>
        <p:nvSpPr>
          <p:cNvPr id="7" name="矩形 6"/>
          <p:cNvSpPr>
            <a:spLocks noGrp="1"/>
          </p:cNvSpPr>
          <p:nvPr/>
        </p:nvSpPr>
        <p:spPr>
          <a:xfrm>
            <a:off x="2695575" y="2266950"/>
            <a:ext cx="171450" cy="152400"/>
          </a:xfrm>
          <a:prstGeom prst="rect">
            <a:avLst/>
          </a:prstGeom>
          <a:solidFill>
            <a:srgbClr val="286F9E"/>
          </a:solidFill>
          <a:ln w="0">
            <a:noFill/>
            <a:prstDash val="solid"/>
          </a:ln>
        </p:spPr>
      </p:sp>
      <p:sp>
        <p:nvSpPr>
          <p:cNvPr id="8" name="矩形 7"/>
          <p:cNvSpPr>
            <a:spLocks noGrp="1"/>
          </p:cNvSpPr>
          <p:nvPr/>
        </p:nvSpPr>
        <p:spPr>
          <a:xfrm>
            <a:off x="2828925" y="2219325"/>
            <a:ext cx="95250" cy="247650"/>
          </a:xfrm>
          <a:prstGeom prst="rect">
            <a:avLst/>
          </a:prstGeom>
          <a:solidFill>
            <a:srgbClr val="286F9E"/>
          </a:solidFill>
          <a:ln w="0">
            <a:noFill/>
            <a:prstDash val="solid"/>
          </a:ln>
        </p:spPr>
      </p:sp>
      <p:sp>
        <p:nvSpPr>
          <p:cNvPr id="9" name="圆角矩形 8"/>
          <p:cNvSpPr>
            <a:spLocks noGrp="1"/>
          </p:cNvSpPr>
          <p:nvPr/>
        </p:nvSpPr>
        <p:spPr>
          <a:xfrm>
            <a:off x="704850" y="1952625"/>
            <a:ext cx="194310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810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Document</a:t>
            </a:r>
            <a:endParaRPr sz="1350" b="1">
              <a:solidFill>
                <a:srgbClr val="163A5F"/>
              </a:solidFill>
            </a:endParaRPr>
          </a:p>
          <a:p>
            <a:pPr algn="ctr">
              <a:defRPr sz="1350" b="1">
                <a:solidFill>
                  <a:srgbClr val="163A5F"/>
                </a:solidFill>
              </a:defRPr>
            </a:pPr>
            <a:r>
              <a:rPr sz="1350" b="1">
                <a:solidFill>
                  <a:srgbClr val="163A5F"/>
                </a:solidFill>
              </a:rPr>
              <a:t>切分与版本</a:t>
            </a:r>
            <a:endParaRPr sz="1350" b="1">
              <a:solidFill>
                <a:srgbClr val="163A5F"/>
              </a:solidFill>
            </a:endParaRPr>
          </a:p>
        </p:txBody>
      </p:sp>
      <p:sp>
        <p:nvSpPr>
          <p:cNvPr id="11" name="矩形 10"/>
          <p:cNvSpPr>
            <a:spLocks noGrp="1"/>
          </p:cNvSpPr>
          <p:nvPr/>
        </p:nvSpPr>
        <p:spPr>
          <a:xfrm>
            <a:off x="4905375" y="2266950"/>
            <a:ext cx="171450" cy="152400"/>
          </a:xfrm>
          <a:prstGeom prst="rect">
            <a:avLst/>
          </a:prstGeom>
          <a:solidFill>
            <a:srgbClr val="286F9E"/>
          </a:solidFill>
          <a:ln w="0">
            <a:noFill/>
            <a:prstDash val="solid"/>
          </a:ln>
        </p:spPr>
      </p:sp>
      <p:sp>
        <p:nvSpPr>
          <p:cNvPr id="12" name="矩形 11"/>
          <p:cNvSpPr>
            <a:spLocks noGrp="1"/>
          </p:cNvSpPr>
          <p:nvPr/>
        </p:nvSpPr>
        <p:spPr>
          <a:xfrm>
            <a:off x="5038725" y="2219325"/>
            <a:ext cx="95250" cy="247650"/>
          </a:xfrm>
          <a:prstGeom prst="rect">
            <a:avLst/>
          </a:prstGeom>
          <a:solidFill>
            <a:srgbClr val="286F9E"/>
          </a:solidFill>
          <a:ln w="0">
            <a:noFill/>
            <a:prstDash val="solid"/>
          </a:ln>
        </p:spPr>
      </p:sp>
      <p:sp>
        <p:nvSpPr>
          <p:cNvPr id="13" name="圆角矩形 12"/>
          <p:cNvSpPr>
            <a:spLocks noGrp="1"/>
          </p:cNvSpPr>
          <p:nvPr/>
        </p:nvSpPr>
        <p:spPr>
          <a:xfrm>
            <a:off x="2914650" y="1952625"/>
            <a:ext cx="194310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908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Tokenizer</a:t>
            </a:r>
            <a:endParaRPr sz="1350" b="1">
              <a:solidFill>
                <a:srgbClr val="163A5F"/>
              </a:solidFill>
            </a:endParaRPr>
          </a:p>
          <a:p>
            <a:pPr algn="ctr">
              <a:defRPr sz="1350" b="1">
                <a:solidFill>
                  <a:srgbClr val="163A5F"/>
                </a:solidFill>
              </a:defRPr>
            </a:pPr>
            <a:r>
              <a:rPr sz="1350" b="1">
                <a:solidFill>
                  <a:srgbClr val="163A5F"/>
                </a:solidFill>
              </a:rPr>
              <a:t>统一表示</a:t>
            </a:r>
            <a:endParaRPr sz="1350" b="1">
              <a:solidFill>
                <a:srgbClr val="163A5F"/>
              </a:solidFill>
            </a:endParaRPr>
          </a:p>
        </p:txBody>
      </p:sp>
      <p:sp>
        <p:nvSpPr>
          <p:cNvPr id="15" name="矩形 14"/>
          <p:cNvSpPr>
            <a:spLocks noGrp="1"/>
          </p:cNvSpPr>
          <p:nvPr/>
        </p:nvSpPr>
        <p:spPr>
          <a:xfrm>
            <a:off x="7115175" y="2266950"/>
            <a:ext cx="171450" cy="152400"/>
          </a:xfrm>
          <a:prstGeom prst="rect">
            <a:avLst/>
          </a:prstGeom>
          <a:solidFill>
            <a:srgbClr val="286F9E"/>
          </a:solidFill>
          <a:ln w="0">
            <a:noFill/>
            <a:prstDash val="solid"/>
          </a:ln>
        </p:spPr>
      </p:sp>
      <p:sp>
        <p:nvSpPr>
          <p:cNvPr id="16" name="矩形 15"/>
          <p:cNvSpPr>
            <a:spLocks noGrp="1"/>
          </p:cNvSpPr>
          <p:nvPr/>
        </p:nvSpPr>
        <p:spPr>
          <a:xfrm>
            <a:off x="7248525" y="2219325"/>
            <a:ext cx="95250" cy="247650"/>
          </a:xfrm>
          <a:prstGeom prst="rect">
            <a:avLst/>
          </a:prstGeom>
          <a:solidFill>
            <a:srgbClr val="286F9E"/>
          </a:solidFill>
          <a:ln w="0">
            <a:noFill/>
            <a:prstDash val="solid"/>
          </a:ln>
        </p:spPr>
      </p:sp>
      <p:sp>
        <p:nvSpPr>
          <p:cNvPr id="17" name="圆角矩形 16"/>
          <p:cNvSpPr>
            <a:spLocks noGrp="1"/>
          </p:cNvSpPr>
          <p:nvPr/>
        </p:nvSpPr>
        <p:spPr>
          <a:xfrm>
            <a:off x="5124450" y="1952625"/>
            <a:ext cx="194310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2006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Retriever</a:t>
            </a:r>
            <a:endParaRPr sz="1350" b="1">
              <a:solidFill>
                <a:srgbClr val="163A5F"/>
              </a:solidFill>
            </a:endParaRPr>
          </a:p>
          <a:p>
            <a:pPr algn="ctr">
              <a:defRPr sz="1350" b="1">
                <a:solidFill>
                  <a:srgbClr val="163A5F"/>
                </a:solidFill>
              </a:defRPr>
            </a:pPr>
            <a:r>
              <a:rPr sz="1350" b="1">
                <a:solidFill>
                  <a:srgbClr val="163A5F"/>
                </a:solidFill>
              </a:rPr>
              <a:t>Top-K</a:t>
            </a:r>
            <a:endParaRPr sz="1350" b="1">
              <a:solidFill>
                <a:srgbClr val="163A5F"/>
              </a:solidFill>
            </a:endParaRPr>
          </a:p>
        </p:txBody>
      </p:sp>
      <p:sp>
        <p:nvSpPr>
          <p:cNvPr id="19" name="矩形 18"/>
          <p:cNvSpPr>
            <a:spLocks noGrp="1"/>
          </p:cNvSpPr>
          <p:nvPr/>
        </p:nvSpPr>
        <p:spPr>
          <a:xfrm>
            <a:off x="9324975" y="2266950"/>
            <a:ext cx="171450" cy="152400"/>
          </a:xfrm>
          <a:prstGeom prst="rect">
            <a:avLst/>
          </a:prstGeom>
          <a:solidFill>
            <a:srgbClr val="286F9E"/>
          </a:solidFill>
          <a:ln w="0">
            <a:noFill/>
            <a:prstDash val="solid"/>
          </a:ln>
        </p:spPr>
      </p:sp>
      <p:sp>
        <p:nvSpPr>
          <p:cNvPr id="20" name="矩形 19"/>
          <p:cNvSpPr>
            <a:spLocks noGrp="1"/>
          </p:cNvSpPr>
          <p:nvPr/>
        </p:nvSpPr>
        <p:spPr>
          <a:xfrm>
            <a:off x="9458325" y="2219325"/>
            <a:ext cx="95250" cy="247650"/>
          </a:xfrm>
          <a:prstGeom prst="rect">
            <a:avLst/>
          </a:prstGeom>
          <a:solidFill>
            <a:srgbClr val="286F9E"/>
          </a:solidFill>
          <a:ln w="0">
            <a:noFill/>
            <a:prstDash val="solid"/>
          </a:ln>
        </p:spPr>
      </p:sp>
      <p:sp>
        <p:nvSpPr>
          <p:cNvPr id="21" name="圆角矩形 20"/>
          <p:cNvSpPr>
            <a:spLocks noGrp="1"/>
          </p:cNvSpPr>
          <p:nvPr/>
        </p:nvSpPr>
        <p:spPr>
          <a:xfrm>
            <a:off x="7334250" y="1952625"/>
            <a:ext cx="194310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04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Generator</a:t>
            </a:r>
            <a:endParaRPr sz="1350" b="1">
              <a:solidFill>
                <a:srgbClr val="163A5F"/>
              </a:solidFill>
            </a:endParaRPr>
          </a:p>
          <a:p>
            <a:pPr algn="ctr">
              <a:defRPr sz="1350" b="1">
                <a:solidFill>
                  <a:srgbClr val="163A5F"/>
                </a:solidFill>
              </a:defRPr>
            </a:pPr>
            <a:r>
              <a:rPr sz="1350" b="1">
                <a:solidFill>
                  <a:srgbClr val="163A5F"/>
                </a:solidFill>
              </a:rPr>
              <a:t>提出 claim</a:t>
            </a:r>
            <a:endParaRPr sz="1350" b="1">
              <a:solidFill>
                <a:srgbClr val="163A5F"/>
              </a:solidFill>
            </a:endParaRPr>
          </a:p>
        </p:txBody>
      </p:sp>
      <p:sp>
        <p:nvSpPr>
          <p:cNvPr id="23" name="圆角矩形 22"/>
          <p:cNvSpPr>
            <a:spLocks noGrp="1"/>
          </p:cNvSpPr>
          <p:nvPr/>
        </p:nvSpPr>
        <p:spPr>
          <a:xfrm>
            <a:off x="9544050" y="1952625"/>
            <a:ext cx="194310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202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Verifier</a:t>
            </a:r>
            <a:endParaRPr sz="1350" b="1">
              <a:solidFill>
                <a:srgbClr val="163A5F"/>
              </a:solidFill>
            </a:endParaRPr>
          </a:p>
          <a:p>
            <a:pPr algn="ctr">
              <a:defRPr sz="1350" b="1">
                <a:solidFill>
                  <a:srgbClr val="163A5F"/>
                </a:solidFill>
              </a:defRPr>
            </a:pPr>
            <a:r>
              <a:rPr sz="1350" b="1">
                <a:solidFill>
                  <a:srgbClr val="163A5F"/>
                </a:solidFill>
              </a:rPr>
              <a:t>核验支持</a:t>
            </a:r>
            <a:endParaRPr sz="1350" b="1">
              <a:solidFill>
                <a:srgbClr val="163A5F"/>
              </a:solidFill>
            </a:endParaRPr>
          </a:p>
        </p:txBody>
      </p:sp>
      <p:sp>
        <p:nvSpPr>
          <p:cNvPr id="25" name="圆角矩形 24"/>
          <p:cNvSpPr>
            <a:spLocks noGrp="1"/>
          </p:cNvSpPr>
          <p:nvPr/>
        </p:nvSpPr>
        <p:spPr>
          <a:xfrm>
            <a:off x="609600" y="3333750"/>
            <a:ext cx="5257800" cy="1809750"/>
          </a:xfrm>
          <a:prstGeom prst="roundRect">
            <a:avLst>
              <a:gd name="adj" fmla="val 4211"/>
            </a:avLst>
          </a:prstGeom>
          <a:solidFill>
            <a:srgbClr val="F3F6F8"/>
          </a:solidFill>
          <a:ln w="9525">
            <a:solidFill>
              <a:srgbClr val="D7E0E7"/>
            </a:solidFill>
            <a:prstDash val="solid"/>
          </a:ln>
        </p:spPr>
      </p:sp>
      <p:sp>
        <p:nvSpPr>
          <p:cNvPr id="26" name="圆角矩形 25"/>
          <p:cNvSpPr>
            <a:spLocks noGrp="1"/>
          </p:cNvSpPr>
          <p:nvPr/>
        </p:nvSpPr>
        <p:spPr>
          <a:xfrm>
            <a:off x="609600" y="3333750"/>
            <a:ext cx="66675" cy="1809750"/>
          </a:xfrm>
          <a:prstGeom prst="roundRect">
            <a:avLst>
              <a:gd name="adj" fmla="val 50000"/>
            </a:avLst>
          </a:prstGeom>
          <a:solidFill>
            <a:srgbClr val="286F9E"/>
          </a:solidFill>
          <a:ln w="0">
            <a:noFill/>
            <a:prstDash val="solid"/>
          </a:ln>
        </p:spPr>
      </p:sp>
      <p:sp>
        <p:nvSpPr>
          <p:cNvPr id="27" name="矩形 26"/>
          <p:cNvSpPr>
            <a:spLocks noGrp="1"/>
          </p:cNvSpPr>
          <p:nvPr/>
        </p:nvSpPr>
        <p:spPr>
          <a:xfrm>
            <a:off x="838200" y="3505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Retrieval failure</a:t>
            </a:r>
            <a:endParaRPr sz="1650" b="1">
              <a:solidFill>
                <a:srgbClr val="286F9E"/>
              </a:solidFill>
            </a:endParaRPr>
          </a:p>
        </p:txBody>
      </p:sp>
      <p:sp>
        <p:nvSpPr>
          <p:cNvPr id="28" name="矩形 27"/>
          <p:cNvSpPr>
            <a:spLocks noGrp="1"/>
          </p:cNvSpPr>
          <p:nvPr/>
        </p:nvSpPr>
        <p:spPr>
          <a:xfrm>
            <a:off x="838200" y="388620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相关文档未进入 Top-K</a:t>
            </a:r>
            <a:endParaRPr sz="1275" b="0">
              <a:solidFill>
                <a:srgbClr val="18212B"/>
              </a:solidFill>
            </a:endParaRPr>
          </a:p>
          <a:p>
            <a:pPr algn="l">
              <a:defRPr sz="1275" b="0">
                <a:solidFill>
                  <a:srgbClr val="18212B"/>
                </a:solidFill>
              </a:defRPr>
            </a:pPr>
            <a:r>
              <a:rPr sz="1275" b="0">
                <a:solidFill>
                  <a:srgbClr val="18212B"/>
                </a:solidFill>
              </a:rPr>
              <a:t>切分破坏数字/否定词</a:t>
            </a:r>
            <a:endParaRPr sz="1275" b="0">
              <a:solidFill>
                <a:srgbClr val="18212B"/>
              </a:solidFill>
            </a:endParaRPr>
          </a:p>
          <a:p>
            <a:pPr algn="l">
              <a:defRPr sz="1275" b="0">
                <a:solidFill>
                  <a:srgbClr val="18212B"/>
                </a:solidFill>
              </a:defRPr>
            </a:pPr>
            <a:r>
              <a:rPr sz="1275" b="0">
                <a:solidFill>
                  <a:srgbClr val="18212B"/>
                </a:solidFill>
              </a:rPr>
              <a:t>query 改写丢失关键条件</a:t>
            </a:r>
            <a:endParaRPr sz="1275" b="0">
              <a:solidFill>
                <a:srgbClr val="18212B"/>
              </a:solidFill>
            </a:endParaRPr>
          </a:p>
          <a:p>
            <a:pPr algn="l">
              <a:defRPr sz="1275" b="0">
                <a:solidFill>
                  <a:srgbClr val="18212B"/>
                </a:solidFill>
              </a:defRPr>
            </a:pPr>
            <a:r>
              <a:rPr sz="1275" b="0">
                <a:solidFill>
                  <a:srgbClr val="18212B"/>
                </a:solidFill>
              </a:rPr>
              <a:t>版本选择错误</a:t>
            </a:r>
            <a:endParaRPr sz="1275" b="0">
              <a:solidFill>
                <a:srgbClr val="18212B"/>
              </a:solidFill>
            </a:endParaRPr>
          </a:p>
        </p:txBody>
      </p:sp>
      <p:sp>
        <p:nvSpPr>
          <p:cNvPr id="29" name="圆角矩形 28"/>
          <p:cNvSpPr>
            <a:spLocks noGrp="1"/>
          </p:cNvSpPr>
          <p:nvPr/>
        </p:nvSpPr>
        <p:spPr>
          <a:xfrm>
            <a:off x="6324600" y="3333750"/>
            <a:ext cx="5257800" cy="1809750"/>
          </a:xfrm>
          <a:prstGeom prst="roundRect">
            <a:avLst>
              <a:gd name="adj" fmla="val 4211"/>
            </a:avLst>
          </a:prstGeom>
          <a:solidFill>
            <a:srgbClr val="F3F6F8"/>
          </a:solidFill>
          <a:ln w="9525">
            <a:solidFill>
              <a:srgbClr val="D7E0E7"/>
            </a:solidFill>
            <a:prstDash val="solid"/>
          </a:ln>
        </p:spPr>
      </p:sp>
      <p:sp>
        <p:nvSpPr>
          <p:cNvPr id="30" name="圆角矩形 29"/>
          <p:cNvSpPr>
            <a:spLocks noGrp="1"/>
          </p:cNvSpPr>
          <p:nvPr/>
        </p:nvSpPr>
        <p:spPr>
          <a:xfrm>
            <a:off x="6324600" y="3333750"/>
            <a:ext cx="66675" cy="1809750"/>
          </a:xfrm>
          <a:prstGeom prst="roundRect">
            <a:avLst>
              <a:gd name="adj" fmla="val 50000"/>
            </a:avLst>
          </a:prstGeom>
          <a:solidFill>
            <a:srgbClr val="2C7A7B"/>
          </a:solidFill>
          <a:ln w="0">
            <a:noFill/>
            <a:prstDash val="solid"/>
          </a:ln>
        </p:spPr>
      </p:sp>
      <p:sp>
        <p:nvSpPr>
          <p:cNvPr id="31" name="矩形 30"/>
          <p:cNvSpPr>
            <a:spLocks noGrp="1"/>
          </p:cNvSpPr>
          <p:nvPr/>
        </p:nvSpPr>
        <p:spPr>
          <a:xfrm>
            <a:off x="6553200" y="3505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Reasoning / citation failure</a:t>
            </a:r>
            <a:endParaRPr sz="1650" b="1">
              <a:solidFill>
                <a:srgbClr val="2C7A7B"/>
              </a:solidFill>
            </a:endParaRPr>
          </a:p>
        </p:txBody>
      </p:sp>
      <p:sp>
        <p:nvSpPr>
          <p:cNvPr id="32" name="矩形 31"/>
          <p:cNvSpPr>
            <a:spLocks noGrp="1"/>
          </p:cNvSpPr>
          <p:nvPr/>
        </p:nvSpPr>
        <p:spPr>
          <a:xfrm>
            <a:off x="6553200" y="388620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引用存在但不支持主张</a:t>
            </a:r>
            <a:endParaRPr sz="1275" b="0">
              <a:solidFill>
                <a:srgbClr val="18212B"/>
              </a:solidFill>
            </a:endParaRPr>
          </a:p>
          <a:p>
            <a:pPr algn="l">
              <a:defRPr sz="1275" b="0">
                <a:solidFill>
                  <a:srgbClr val="18212B"/>
                </a:solidFill>
              </a:defRPr>
            </a:pPr>
            <a:r>
              <a:rPr sz="1275" b="0">
                <a:solidFill>
                  <a:srgbClr val="18212B"/>
                </a:solidFill>
              </a:rPr>
              <a:t>quote 被模型改写</a:t>
            </a:r>
            <a:endParaRPr sz="1275" b="0">
              <a:solidFill>
                <a:srgbClr val="18212B"/>
              </a:solidFill>
            </a:endParaRPr>
          </a:p>
          <a:p>
            <a:pPr algn="l">
              <a:defRPr sz="1275" b="0">
                <a:solidFill>
                  <a:srgbClr val="18212B"/>
                </a:solidFill>
              </a:defRPr>
            </a:pPr>
            <a:r>
              <a:rPr sz="1275" b="0">
                <a:solidFill>
                  <a:srgbClr val="18212B"/>
                </a:solidFill>
              </a:rPr>
              <a:t>忽略冲突证据</a:t>
            </a:r>
            <a:endParaRPr sz="1275" b="0">
              <a:solidFill>
                <a:srgbClr val="18212B"/>
              </a:solidFill>
            </a:endParaRPr>
          </a:p>
          <a:p>
            <a:pPr algn="l">
              <a:defRPr sz="1275" b="0">
                <a:solidFill>
                  <a:srgbClr val="18212B"/>
                </a:solidFill>
              </a:defRPr>
            </a:pPr>
            <a:r>
              <a:rPr sz="1275" b="0">
                <a:solidFill>
                  <a:srgbClr val="18212B"/>
                </a:solidFill>
              </a:rPr>
              <a:t>把可能适用写成确定适用</a:t>
            </a:r>
            <a:endParaRPr sz="1275"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只有把检索与推理拆开，才能知道应该改 tokenizer、排序、Prompt、Verifier，还是语料本身。</a:t>
            </a:r>
            <a:endParaRPr sz="1350" b="1">
              <a:solidFill>
                <a:srgbClr val="163A5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检索指标只回答“找到了什么”</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Recall@K 高不能证明最终答案正确</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31</a:t>
            </a:r>
            <a:endParaRPr sz="825" b="0">
              <a:solidFill>
                <a:srgbClr val="7D8994"/>
              </a:solidFill>
            </a:endParaRPr>
          </a:p>
        </p:txBody>
      </p:sp>
      <p:sp>
        <p:nvSpPr>
          <p:cNvPr id="7" name="圆角矩形 6"/>
          <p:cNvSpPr>
            <a:spLocks noGrp="1"/>
          </p:cNvSpPr>
          <p:nvPr/>
        </p:nvSpPr>
        <p:spPr>
          <a:xfrm>
            <a:off x="857250" y="1952625"/>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1047750" y="2124075"/>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Rₖ</a:t>
            </a:r>
            <a:endParaRPr sz="2550" b="1">
              <a:solidFill>
                <a:srgbClr val="286F9E"/>
              </a:solidFill>
            </a:endParaRPr>
          </a:p>
        </p:txBody>
      </p:sp>
      <p:sp>
        <p:nvSpPr>
          <p:cNvPr id="9" name="矩形 8"/>
          <p:cNvSpPr>
            <a:spLocks noGrp="1"/>
          </p:cNvSpPr>
          <p:nvPr/>
        </p:nvSpPr>
        <p:spPr>
          <a:xfrm>
            <a:off x="1047750"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Recall@K</a:t>
            </a:r>
            <a:endParaRPr sz="1350" b="1">
              <a:solidFill>
                <a:srgbClr val="18212B"/>
              </a:solidFill>
            </a:endParaRPr>
          </a:p>
        </p:txBody>
      </p:sp>
      <p:sp>
        <p:nvSpPr>
          <p:cNvPr id="10" name="矩形 9"/>
          <p:cNvSpPr>
            <a:spLocks noGrp="1"/>
          </p:cNvSpPr>
          <p:nvPr/>
        </p:nvSpPr>
        <p:spPr>
          <a:xfrm>
            <a:off x="1047750"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相关证据被召回多少</a:t>
            </a:r>
            <a:endParaRPr sz="1050" b="0">
              <a:solidFill>
                <a:srgbClr val="566573"/>
              </a:solidFill>
            </a:endParaRPr>
          </a:p>
        </p:txBody>
      </p:sp>
      <p:sp>
        <p:nvSpPr>
          <p:cNvPr id="11" name="圆角矩形 10"/>
          <p:cNvSpPr>
            <a:spLocks noGrp="1"/>
          </p:cNvSpPr>
          <p:nvPr/>
        </p:nvSpPr>
        <p:spPr>
          <a:xfrm>
            <a:off x="3667125" y="1952625"/>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857625" y="2124075"/>
            <a:ext cx="2000250" cy="438150"/>
          </a:xfrm>
          <a:prstGeom prst="rect">
            <a:avLst/>
          </a:prstGeom>
          <a:noFill/>
          <a:ln w="0">
            <a:noFill/>
            <a:prstDash val="solid"/>
          </a:ln>
        </p:spPr>
        <p:txBody>
          <a:bodyPr/>
          <a:lstStyle/>
          <a:p>
            <a:pPr algn="ctr">
              <a:defRPr sz="2550" b="1">
                <a:solidFill>
                  <a:srgbClr val="2C7A7B"/>
                </a:solidFill>
              </a:defRPr>
            </a:pPr>
            <a:r>
              <a:rPr sz="2550" b="1">
                <a:solidFill>
                  <a:srgbClr val="2C7A7B"/>
                </a:solidFill>
              </a:rPr>
              <a:t>Pₖ</a:t>
            </a:r>
            <a:endParaRPr sz="2550" b="1">
              <a:solidFill>
                <a:srgbClr val="2C7A7B"/>
              </a:solidFill>
            </a:endParaRPr>
          </a:p>
        </p:txBody>
      </p:sp>
      <p:sp>
        <p:nvSpPr>
          <p:cNvPr id="13" name="矩形 12"/>
          <p:cNvSpPr>
            <a:spLocks noGrp="1"/>
          </p:cNvSpPr>
          <p:nvPr/>
        </p:nvSpPr>
        <p:spPr>
          <a:xfrm>
            <a:off x="3857625"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Precision@K</a:t>
            </a:r>
            <a:endParaRPr sz="1350" b="1">
              <a:solidFill>
                <a:srgbClr val="18212B"/>
              </a:solidFill>
            </a:endParaRPr>
          </a:p>
        </p:txBody>
      </p:sp>
      <p:sp>
        <p:nvSpPr>
          <p:cNvPr id="14" name="矩形 13"/>
          <p:cNvSpPr>
            <a:spLocks noGrp="1"/>
          </p:cNvSpPr>
          <p:nvPr/>
        </p:nvSpPr>
        <p:spPr>
          <a:xfrm>
            <a:off x="3857625"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Top-K 中多少真正相关</a:t>
            </a:r>
            <a:endParaRPr sz="1050" b="0">
              <a:solidFill>
                <a:srgbClr val="566573"/>
              </a:solidFill>
            </a:endParaRPr>
          </a:p>
        </p:txBody>
      </p:sp>
      <p:sp>
        <p:nvSpPr>
          <p:cNvPr id="15" name="圆角矩形 14"/>
          <p:cNvSpPr>
            <a:spLocks noGrp="1"/>
          </p:cNvSpPr>
          <p:nvPr/>
        </p:nvSpPr>
        <p:spPr>
          <a:xfrm>
            <a:off x="6477000" y="1952625"/>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667500" y="2124075"/>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1/rank</a:t>
            </a:r>
            <a:endParaRPr sz="2550" b="1">
              <a:solidFill>
                <a:srgbClr val="B7791F"/>
              </a:solidFill>
            </a:endParaRPr>
          </a:p>
        </p:txBody>
      </p:sp>
      <p:sp>
        <p:nvSpPr>
          <p:cNvPr id="17" name="矩形 16"/>
          <p:cNvSpPr>
            <a:spLocks noGrp="1"/>
          </p:cNvSpPr>
          <p:nvPr/>
        </p:nvSpPr>
        <p:spPr>
          <a:xfrm>
            <a:off x="6667500"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MRR</a:t>
            </a:r>
            <a:endParaRPr sz="1350" b="1">
              <a:solidFill>
                <a:srgbClr val="18212B"/>
              </a:solidFill>
            </a:endParaRPr>
          </a:p>
        </p:txBody>
      </p:sp>
      <p:sp>
        <p:nvSpPr>
          <p:cNvPr id="18" name="矩形 17"/>
          <p:cNvSpPr>
            <a:spLocks noGrp="1"/>
          </p:cNvSpPr>
          <p:nvPr/>
        </p:nvSpPr>
        <p:spPr>
          <a:xfrm>
            <a:off x="6667500"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首个相关结果排多前</a:t>
            </a:r>
            <a:endParaRPr sz="1050" b="0">
              <a:solidFill>
                <a:srgbClr val="566573"/>
              </a:solidFill>
            </a:endParaRPr>
          </a:p>
        </p:txBody>
      </p:sp>
      <p:sp>
        <p:nvSpPr>
          <p:cNvPr id="19" name="圆角矩形 18"/>
          <p:cNvSpPr>
            <a:spLocks noGrp="1"/>
          </p:cNvSpPr>
          <p:nvPr/>
        </p:nvSpPr>
        <p:spPr>
          <a:xfrm>
            <a:off x="9286875" y="1952625"/>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477375" y="2124075"/>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 / ✗</a:t>
            </a:r>
            <a:endParaRPr sz="2550" b="1">
              <a:solidFill>
                <a:srgbClr val="A23B3B"/>
              </a:solidFill>
            </a:endParaRPr>
          </a:p>
        </p:txBody>
      </p:sp>
      <p:sp>
        <p:nvSpPr>
          <p:cNvPr id="21" name="矩形 20"/>
          <p:cNvSpPr>
            <a:spLocks noGrp="1"/>
          </p:cNvSpPr>
          <p:nvPr/>
        </p:nvSpPr>
        <p:spPr>
          <a:xfrm>
            <a:off x="9477375"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Citation support</a:t>
            </a:r>
            <a:endParaRPr sz="1350" b="1">
              <a:solidFill>
                <a:srgbClr val="18212B"/>
              </a:solidFill>
            </a:endParaRPr>
          </a:p>
        </p:txBody>
      </p:sp>
      <p:sp>
        <p:nvSpPr>
          <p:cNvPr id="22" name="矩形 21"/>
          <p:cNvSpPr>
            <a:spLocks noGrp="1"/>
          </p:cNvSpPr>
          <p:nvPr/>
        </p:nvSpPr>
        <p:spPr>
          <a:xfrm>
            <a:off x="9477375"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引用能否推出主张</a:t>
            </a:r>
            <a:endParaRPr sz="1050" b="0">
              <a:solidFill>
                <a:srgbClr val="566573"/>
              </a:solidFill>
            </a:endParaRPr>
          </a:p>
        </p:txBody>
      </p:sp>
      <p:sp>
        <p:nvSpPr>
          <p:cNvPr id="23" name="圆角矩形 22"/>
          <p:cNvSpPr>
            <a:spLocks noGrp="1"/>
          </p:cNvSpPr>
          <p:nvPr/>
        </p:nvSpPr>
        <p:spPr>
          <a:xfrm>
            <a:off x="1571625" y="4000500"/>
            <a:ext cx="9048750" cy="1200150"/>
          </a:xfrm>
          <a:prstGeom prst="roundRect">
            <a:avLst>
              <a:gd name="adj" fmla="val 6349"/>
            </a:avLst>
          </a:prstGeom>
          <a:solidFill>
            <a:srgbClr val="F3F6F8"/>
          </a:solidFill>
          <a:ln w="9525">
            <a:solidFill>
              <a:srgbClr val="D7E0E7"/>
            </a:solidFill>
            <a:prstDash val="solid"/>
          </a:ln>
        </p:spPr>
      </p:sp>
      <p:sp>
        <p:nvSpPr>
          <p:cNvPr id="24" name="圆角矩形 23"/>
          <p:cNvSpPr>
            <a:spLocks noGrp="1"/>
          </p:cNvSpPr>
          <p:nvPr/>
        </p:nvSpPr>
        <p:spPr>
          <a:xfrm>
            <a:off x="1571625" y="4000500"/>
            <a:ext cx="66675" cy="1200150"/>
          </a:xfrm>
          <a:prstGeom prst="roundRect">
            <a:avLst>
              <a:gd name="adj" fmla="val 50000"/>
            </a:avLst>
          </a:prstGeom>
          <a:solidFill>
            <a:srgbClr val="163A5F"/>
          </a:solidFill>
          <a:ln w="0">
            <a:noFill/>
            <a:prstDash val="solid"/>
          </a:ln>
        </p:spPr>
      </p:sp>
      <p:sp>
        <p:nvSpPr>
          <p:cNvPr id="25" name="矩形 24"/>
          <p:cNvSpPr>
            <a:spLocks noGrp="1"/>
          </p:cNvSpPr>
          <p:nvPr/>
        </p:nvSpPr>
        <p:spPr>
          <a:xfrm>
            <a:off x="1800225" y="4171950"/>
            <a:ext cx="864870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公平比较三种检索策略</a:t>
            </a:r>
            <a:endParaRPr sz="1650" b="1">
              <a:solidFill>
                <a:srgbClr val="163A5F"/>
              </a:solidFill>
            </a:endParaRPr>
          </a:p>
        </p:txBody>
      </p:sp>
      <p:sp>
        <p:nvSpPr>
          <p:cNvPr id="26" name="矩形 25"/>
          <p:cNvSpPr>
            <a:spLocks noGrp="1"/>
          </p:cNvSpPr>
          <p:nvPr/>
        </p:nvSpPr>
        <p:spPr>
          <a:xfrm>
            <a:off x="1800225" y="4552950"/>
            <a:ext cx="8648700" cy="533400"/>
          </a:xfrm>
          <a:prstGeom prst="rect">
            <a:avLst/>
          </a:prstGeom>
          <a:noFill/>
          <a:ln w="0">
            <a:noFill/>
            <a:prstDash val="solid"/>
          </a:ln>
        </p:spPr>
        <p:txBody>
          <a:bodyPr/>
          <a:lstStyle/>
          <a:p>
            <a:pPr algn="l">
              <a:defRPr sz="1275" b="0">
                <a:solidFill>
                  <a:srgbClr val="18212B"/>
                </a:solidFill>
              </a:defRPr>
            </a:pPr>
            <a:r>
              <a:rPr sz="1275" b="0">
                <a:solidFill>
                  <a:srgbClr val="18212B"/>
                </a:solidFill>
              </a:rPr>
              <a:t>Always Retrieve、Rule Router、Agentic Retrieve 必须使用同一 tokenizer、语料版本、测试集与调用预算；否则不能把更多调用带来的收益归因于“更智能”。</a:t>
            </a:r>
            <a:endParaRPr sz="1275" b="0">
              <a:solidFill>
                <a:srgbClr val="18212B"/>
              </a:solidFill>
            </a:endParaRPr>
          </a:p>
        </p:txBody>
      </p:sp>
      <p:sp>
        <p:nvSpPr>
          <p:cNvPr id="27" name="圆角矩形 2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8" name="矩形 2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检索评测与回答评测是两个层次：先判断证据是否进入候选，再判断引用是否真实支持结论。</a:t>
            </a:r>
            <a:endParaRPr sz="1350" b="1">
              <a:solidFill>
                <a:srgbClr val="163A5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Citation Correctness 至少要通过三问</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引用格式正确仍可能是“装饰性引用”</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32</a:t>
            </a:r>
            <a:endParaRPr sz="825" b="0">
              <a:solidFill>
                <a:srgbClr val="7D8994"/>
              </a:solidFill>
            </a:endParaRPr>
          </a:p>
        </p:txBody>
      </p:sp>
      <p:sp>
        <p:nvSpPr>
          <p:cNvPr id="7" name="圆角矩形 6"/>
          <p:cNvSpPr>
            <a:spLocks noGrp="1"/>
          </p:cNvSpPr>
          <p:nvPr/>
        </p:nvSpPr>
        <p:spPr>
          <a:xfrm>
            <a:off x="609600" y="1952625"/>
            <a:ext cx="3276600" cy="3143250"/>
          </a:xfrm>
          <a:prstGeom prst="roundRect">
            <a:avLst>
              <a:gd name="adj" fmla="val 2424"/>
            </a:avLst>
          </a:prstGeom>
          <a:solidFill>
            <a:srgbClr val="F3F6F8"/>
          </a:solidFill>
          <a:ln w="9525">
            <a:solidFill>
              <a:srgbClr val="D7E0E7"/>
            </a:solidFill>
            <a:prstDash val="solid"/>
          </a:ln>
        </p:spPr>
      </p:sp>
      <p:sp>
        <p:nvSpPr>
          <p:cNvPr id="8" name="圆角矩形 7"/>
          <p:cNvSpPr>
            <a:spLocks noGrp="1"/>
          </p:cNvSpPr>
          <p:nvPr/>
        </p:nvSpPr>
        <p:spPr>
          <a:xfrm>
            <a:off x="609600" y="1952625"/>
            <a:ext cx="66675" cy="31432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2124075"/>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存在性</a:t>
            </a:r>
            <a:endParaRPr sz="1650" b="1">
              <a:solidFill>
                <a:srgbClr val="286F9E"/>
              </a:solidFill>
            </a:endParaRPr>
          </a:p>
        </p:txBody>
      </p:sp>
      <p:sp>
        <p:nvSpPr>
          <p:cNvPr id="10" name="矩形 9"/>
          <p:cNvSpPr>
            <a:spLocks noGrp="1"/>
          </p:cNvSpPr>
          <p:nvPr/>
        </p:nvSpPr>
        <p:spPr>
          <a:xfrm>
            <a:off x="8382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source_id + locator 是否真实存在？</a:t>
            </a:r>
            <a:endParaRPr sz="1275" b="0">
              <a:solidFill>
                <a:srgbClr val="18212B"/>
              </a:solidFill>
            </a:endParaRPr>
          </a:p>
          <a:p>
            <a:pPr algn="l">
              <a:defRPr sz="1275" b="0">
                <a:solidFill>
                  <a:srgbClr val="18212B"/>
                </a:solidFill>
              </a:defRPr>
            </a:pPr>
            <a:r>
              <a:rPr sz="1275" b="0">
                <a:solidFill>
                  <a:srgbClr val="18212B"/>
                </a:solidFill>
              </a:rPr>
              <a:t>引用目标是否属于当前语料版本？</a:t>
            </a:r>
            <a:endParaRPr sz="1275" b="0">
              <a:solidFill>
                <a:srgbClr val="18212B"/>
              </a:solidFill>
            </a:endParaRPr>
          </a:p>
        </p:txBody>
      </p:sp>
      <p:sp>
        <p:nvSpPr>
          <p:cNvPr id="11" name="圆角矩形 10"/>
          <p:cNvSpPr>
            <a:spLocks noGrp="1"/>
          </p:cNvSpPr>
          <p:nvPr/>
        </p:nvSpPr>
        <p:spPr>
          <a:xfrm>
            <a:off x="4343400" y="1952625"/>
            <a:ext cx="3276600" cy="3143250"/>
          </a:xfrm>
          <a:prstGeom prst="roundRect">
            <a:avLst>
              <a:gd name="adj" fmla="val 2424"/>
            </a:avLst>
          </a:prstGeom>
          <a:solidFill>
            <a:srgbClr val="F3F6F8"/>
          </a:solidFill>
          <a:ln w="9525">
            <a:solidFill>
              <a:srgbClr val="D7E0E7"/>
            </a:solidFill>
            <a:prstDash val="solid"/>
          </a:ln>
        </p:spPr>
      </p:sp>
      <p:sp>
        <p:nvSpPr>
          <p:cNvPr id="12" name="圆角矩形 11"/>
          <p:cNvSpPr>
            <a:spLocks noGrp="1"/>
          </p:cNvSpPr>
          <p:nvPr/>
        </p:nvSpPr>
        <p:spPr>
          <a:xfrm>
            <a:off x="4343400" y="1952625"/>
            <a:ext cx="66675" cy="31432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2124075"/>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一致性</a:t>
            </a:r>
            <a:endParaRPr sz="1650" b="1">
              <a:solidFill>
                <a:srgbClr val="2C7A7B"/>
              </a:solidFill>
            </a:endParaRPr>
          </a:p>
        </p:txBody>
      </p:sp>
      <p:sp>
        <p:nvSpPr>
          <p:cNvPr id="14" name="矩形 13"/>
          <p:cNvSpPr>
            <a:spLocks noGrp="1"/>
          </p:cNvSpPr>
          <p:nvPr/>
        </p:nvSpPr>
        <p:spPr>
          <a:xfrm>
            <a:off x="45720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quote 是否与原文逐字一致？</a:t>
            </a:r>
            <a:endParaRPr sz="1275" b="0">
              <a:solidFill>
                <a:srgbClr val="18212B"/>
              </a:solidFill>
            </a:endParaRPr>
          </a:p>
          <a:p>
            <a:pPr algn="l">
              <a:defRPr sz="1275" b="0">
                <a:solidFill>
                  <a:srgbClr val="18212B"/>
                </a:solidFill>
              </a:defRPr>
            </a:pPr>
            <a:r>
              <a:rPr sz="1275" b="0">
                <a:solidFill>
                  <a:srgbClr val="18212B"/>
                </a:solidFill>
              </a:rPr>
              <a:t>是否保留数字、否定词和条件？</a:t>
            </a:r>
            <a:endParaRPr sz="1275" b="0">
              <a:solidFill>
                <a:srgbClr val="18212B"/>
              </a:solidFill>
            </a:endParaRPr>
          </a:p>
        </p:txBody>
      </p:sp>
      <p:sp>
        <p:nvSpPr>
          <p:cNvPr id="15" name="圆角矩形 14"/>
          <p:cNvSpPr>
            <a:spLocks noGrp="1"/>
          </p:cNvSpPr>
          <p:nvPr/>
        </p:nvSpPr>
        <p:spPr>
          <a:xfrm>
            <a:off x="8077200" y="1952625"/>
            <a:ext cx="3276600" cy="3143250"/>
          </a:xfrm>
          <a:prstGeom prst="roundRect">
            <a:avLst>
              <a:gd name="adj" fmla="val 2424"/>
            </a:avLst>
          </a:prstGeom>
          <a:solidFill>
            <a:srgbClr val="F3F6F8"/>
          </a:solidFill>
          <a:ln w="9525">
            <a:solidFill>
              <a:srgbClr val="D7E0E7"/>
            </a:solidFill>
            <a:prstDash val="solid"/>
          </a:ln>
        </p:spPr>
      </p:sp>
      <p:sp>
        <p:nvSpPr>
          <p:cNvPr id="16" name="圆角矩形 15"/>
          <p:cNvSpPr>
            <a:spLocks noGrp="1"/>
          </p:cNvSpPr>
          <p:nvPr/>
        </p:nvSpPr>
        <p:spPr>
          <a:xfrm>
            <a:off x="8077200" y="1952625"/>
            <a:ext cx="66675" cy="3143250"/>
          </a:xfrm>
          <a:prstGeom prst="roundRect">
            <a:avLst>
              <a:gd name="adj" fmla="val 50000"/>
            </a:avLst>
          </a:prstGeom>
          <a:solidFill>
            <a:srgbClr val="A23B3B"/>
          </a:solidFill>
          <a:ln w="0">
            <a:noFill/>
            <a:prstDash val="solid"/>
          </a:ln>
        </p:spPr>
      </p:sp>
      <p:sp>
        <p:nvSpPr>
          <p:cNvPr id="17" name="矩形 16"/>
          <p:cNvSpPr>
            <a:spLocks noGrp="1"/>
          </p:cNvSpPr>
          <p:nvPr/>
        </p:nvSpPr>
        <p:spPr>
          <a:xfrm>
            <a:off x="8305800" y="2124075"/>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支持性</a:t>
            </a:r>
            <a:endParaRPr sz="1650" b="1">
              <a:solidFill>
                <a:srgbClr val="A23B3B"/>
              </a:solidFill>
            </a:endParaRPr>
          </a:p>
        </p:txBody>
      </p:sp>
      <p:sp>
        <p:nvSpPr>
          <p:cNvPr id="18" name="矩形 17"/>
          <p:cNvSpPr>
            <a:spLocks noGrp="1"/>
          </p:cNvSpPr>
          <p:nvPr/>
        </p:nvSpPr>
        <p:spPr>
          <a:xfrm>
            <a:off x="83058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原文是否能推出 claim？</a:t>
            </a:r>
            <a:endParaRPr sz="1275" b="0">
              <a:solidFill>
                <a:srgbClr val="18212B"/>
              </a:solidFill>
            </a:endParaRPr>
          </a:p>
          <a:p>
            <a:pPr algn="l">
              <a:defRPr sz="1275" b="0">
                <a:solidFill>
                  <a:srgbClr val="18212B"/>
                </a:solidFill>
              </a:defRPr>
            </a:pPr>
            <a:r>
              <a:rPr sz="1275" b="0">
                <a:solidFill>
                  <a:srgbClr val="18212B"/>
                </a:solidFill>
              </a:rPr>
              <a:t>是否缺少中间事实或适用条件？</a:t>
            </a:r>
            <a:endParaRPr sz="1275" b="0">
              <a:solidFill>
                <a:srgbClr val="18212B"/>
              </a:solidFill>
            </a:endParaRPr>
          </a:p>
        </p:txBody>
      </p:sp>
      <p:sp>
        <p:nvSpPr>
          <p:cNvPr id="19" name="圆角矩形 18"/>
          <p:cNvSpPr>
            <a:spLocks noGrp="1"/>
          </p:cNvSpPr>
          <p:nvPr/>
        </p:nvSpPr>
        <p:spPr>
          <a:xfrm>
            <a:off x="1524000" y="5105400"/>
            <a:ext cx="9144000" cy="685800"/>
          </a:xfrm>
          <a:prstGeom prst="roundRect">
            <a:avLst>
              <a:gd name="adj" fmla="val 11111"/>
            </a:avLst>
          </a:prstGeom>
          <a:solidFill>
            <a:srgbClr val="EAF2F8"/>
          </a:solidFill>
          <a:ln w="9525">
            <a:solidFill>
              <a:srgbClr val="D7E0E7"/>
            </a:solidFill>
            <a:prstDash val="solid"/>
          </a:ln>
        </p:spPr>
      </p:sp>
      <p:sp>
        <p:nvSpPr>
          <p:cNvPr id="20" name="矩形 19"/>
          <p:cNvSpPr>
            <a:spLocks noGrp="1"/>
          </p:cNvSpPr>
          <p:nvPr/>
        </p:nvSpPr>
        <p:spPr>
          <a:xfrm>
            <a:off x="1771650" y="5276850"/>
            <a:ext cx="8686800" cy="342900"/>
          </a:xfrm>
          <a:prstGeom prst="rect">
            <a:avLst/>
          </a:prstGeom>
          <a:noFill/>
          <a:ln w="0">
            <a:noFill/>
            <a:prstDash val="solid"/>
          </a:ln>
        </p:spPr>
        <p:txBody>
          <a:bodyPr/>
          <a:lstStyle/>
          <a:p>
            <a:pPr algn="l">
              <a:defRPr sz="1275" b="1">
                <a:solidFill>
                  <a:srgbClr val="163A5F"/>
                </a:solidFill>
              </a:defRPr>
            </a:pPr>
            <a:r>
              <a:rPr sz="1275" b="1">
                <a:solidFill>
                  <a:srgbClr val="163A5F"/>
                </a:solidFill>
              </a:rPr>
              <a:t>最佳实践：模型只返回 evidence_refs；Runtime 按 ref 从版本化原文快照提取 quote，不让模型自行重写“原文”。</a:t>
            </a:r>
            <a:endParaRPr sz="1275" b="1">
              <a:solidFill>
                <a:srgbClr val="163A5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证据不足与证据冲突是不同状态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拒答不是系统失败，而是证据纪律的一部分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33</a:t>
            </a:r>
            <a:endParaRPr sz="825" b="0">
              <a:solidFill>
                <a:srgbClr val="7D8994"/>
              </a:solidFill>
            </a:endParaRPr>
          </a:p>
        </p:txBody>
      </p:sp>
      <p:sp>
        <p:nvSpPr>
          <p:cNvPr id="7" name="圆角矩形 6"/>
          <p:cNvSpPr>
            <a:spLocks noGrp="1"/>
          </p:cNvSpPr>
          <p:nvPr/>
        </p:nvSpPr>
        <p:spPr>
          <a:xfrm>
            <a:off x="609600" y="1809750"/>
            <a:ext cx="3276600" cy="3048000"/>
          </a:xfrm>
          <a:prstGeom prst="roundRect">
            <a:avLst>
              <a:gd name="adj" fmla="val 2500"/>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048000"/>
          </a:xfrm>
          <a:prstGeom prst="roundRect">
            <a:avLst>
              <a:gd name="adj" fmla="val 50000"/>
            </a:avLst>
          </a:prstGeom>
          <a:solidFill>
            <a:srgbClr val="2F7D4A"/>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Supported</a:t>
            </a:r>
            <a:endParaRPr sz="1650" b="1">
              <a:solidFill>
                <a:srgbClr val="2F7D4A"/>
              </a:solidFill>
            </a:endParaRPr>
          </a:p>
        </p:txBody>
      </p:sp>
      <p:sp>
        <p:nvSpPr>
          <p:cNvPr id="10" name="矩形 9"/>
          <p:cNvSpPr>
            <a:spLocks noGrp="1"/>
          </p:cNvSpPr>
          <p:nvPr/>
        </p:nvSpPr>
        <p:spPr>
          <a:xfrm>
            <a:off x="838200" y="2362200"/>
            <a:ext cx="2876550" cy="2381250"/>
          </a:xfrm>
          <a:prstGeom prst="rect">
            <a:avLst/>
          </a:prstGeom>
          <a:noFill/>
          <a:ln w="0">
            <a:noFill/>
            <a:prstDash val="solid"/>
          </a:ln>
        </p:spPr>
        <p:txBody>
          <a:bodyPr/>
          <a:lstStyle/>
          <a:p>
            <a:pPr algn="l">
              <a:defRPr sz="1275" b="0">
                <a:solidFill>
                  <a:srgbClr val="18212B"/>
                </a:solidFill>
              </a:defRPr>
            </a:pPr>
            <a:r>
              <a:rPr sz="1275" b="0">
                <a:solidFill>
                  <a:srgbClr val="18212B"/>
                </a:solidFill>
              </a:rPr>
              <a:t>直接证据存在，引用可定位，支持关系成立；结论仍需表达适用边界。</a:t>
            </a:r>
            <a:endParaRPr sz="1275" b="0">
              <a:solidFill>
                <a:srgbClr val="18212B"/>
              </a:solidFill>
            </a:endParaRPr>
          </a:p>
        </p:txBody>
      </p:sp>
      <p:sp>
        <p:nvSpPr>
          <p:cNvPr id="11" name="圆角矩形 10"/>
          <p:cNvSpPr>
            <a:spLocks noGrp="1"/>
          </p:cNvSpPr>
          <p:nvPr/>
        </p:nvSpPr>
        <p:spPr>
          <a:xfrm>
            <a:off x="4343400" y="1809750"/>
            <a:ext cx="3276600" cy="3048000"/>
          </a:xfrm>
          <a:prstGeom prst="roundRect">
            <a:avLst>
              <a:gd name="adj" fmla="val 2500"/>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048000"/>
          </a:xfrm>
          <a:prstGeom prst="roundRect">
            <a:avLst>
              <a:gd name="adj" fmla="val 50000"/>
            </a:avLst>
          </a:prstGeom>
          <a:solidFill>
            <a:srgbClr val="B7791F"/>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Insufficient</a:t>
            </a:r>
            <a:endParaRPr sz="1650" b="1">
              <a:solidFill>
                <a:srgbClr val="B7791F"/>
              </a:solidFill>
            </a:endParaRPr>
          </a:p>
        </p:txBody>
      </p:sp>
      <p:sp>
        <p:nvSpPr>
          <p:cNvPr id="14" name="矩形 13"/>
          <p:cNvSpPr>
            <a:spLocks noGrp="1"/>
          </p:cNvSpPr>
          <p:nvPr/>
        </p:nvSpPr>
        <p:spPr>
          <a:xfrm>
            <a:off x="4572000" y="2362200"/>
            <a:ext cx="2876550" cy="2381250"/>
          </a:xfrm>
          <a:prstGeom prst="rect">
            <a:avLst/>
          </a:prstGeom>
          <a:noFill/>
          <a:ln w="0">
            <a:noFill/>
            <a:prstDash val="solid"/>
          </a:ln>
        </p:spPr>
        <p:txBody>
          <a:bodyPr/>
          <a:lstStyle/>
          <a:p>
            <a:pPr algn="l">
              <a:defRPr sz="1275" b="0">
                <a:solidFill>
                  <a:srgbClr val="18212B"/>
                </a:solidFill>
              </a:defRPr>
            </a:pPr>
            <a:r>
              <a:rPr sz="1275" b="0">
                <a:solidFill>
                  <a:srgbClr val="18212B"/>
                </a:solidFill>
              </a:rPr>
              <a:t>没有足够直接证据，正确输出是“当前资料不足以判断”。</a:t>
            </a:r>
            <a:endParaRPr sz="1275" b="0">
              <a:solidFill>
                <a:srgbClr val="18212B"/>
              </a:solidFill>
            </a:endParaRPr>
          </a:p>
        </p:txBody>
      </p:sp>
      <p:sp>
        <p:nvSpPr>
          <p:cNvPr id="15" name="圆角矩形 14"/>
          <p:cNvSpPr>
            <a:spLocks noGrp="1"/>
          </p:cNvSpPr>
          <p:nvPr/>
        </p:nvSpPr>
        <p:spPr>
          <a:xfrm>
            <a:off x="8077200" y="1809750"/>
            <a:ext cx="3276600" cy="3048000"/>
          </a:xfrm>
          <a:prstGeom prst="roundRect">
            <a:avLst>
              <a:gd name="adj" fmla="val 2500"/>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048000"/>
          </a:xfrm>
          <a:prstGeom prst="roundRect">
            <a:avLst>
              <a:gd name="adj" fmla="val 50000"/>
            </a:avLst>
          </a:prstGeom>
          <a:solidFill>
            <a:srgbClr val="A23B3B"/>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Conflicting</a:t>
            </a:r>
            <a:endParaRPr sz="1650" b="1">
              <a:solidFill>
                <a:srgbClr val="A23B3B"/>
              </a:solidFill>
            </a:endParaRPr>
          </a:p>
        </p:txBody>
      </p:sp>
      <p:sp>
        <p:nvSpPr>
          <p:cNvPr id="18" name="矩形 17"/>
          <p:cNvSpPr>
            <a:spLocks noGrp="1"/>
          </p:cNvSpPr>
          <p:nvPr/>
        </p:nvSpPr>
        <p:spPr>
          <a:xfrm>
            <a:off x="8305800" y="2362200"/>
            <a:ext cx="2876550" cy="2381250"/>
          </a:xfrm>
          <a:prstGeom prst="rect">
            <a:avLst/>
          </a:prstGeom>
          <a:noFill/>
          <a:ln w="0">
            <a:noFill/>
            <a:prstDash val="solid"/>
          </a:ln>
        </p:spPr>
        <p:txBody>
          <a:bodyPr/>
          <a:lstStyle/>
          <a:p>
            <a:pPr algn="l">
              <a:defRPr sz="1275" b="0">
                <a:solidFill>
                  <a:srgbClr val="18212B"/>
                </a:solidFill>
              </a:defRPr>
            </a:pPr>
            <a:r>
              <a:rPr sz="1275" b="0">
                <a:solidFill>
                  <a:srgbClr val="18212B"/>
                </a:solidFill>
              </a:rPr>
              <a:t>不同来源或版本相互冲突；必须并列呈现并升级确认。</a:t>
            </a:r>
            <a:endParaRPr sz="1275" b="0">
              <a:solidFill>
                <a:srgbClr val="18212B"/>
              </a:solidFill>
            </a:endParaRPr>
          </a:p>
        </p:txBody>
      </p:sp>
      <p:sp>
        <p:nvSpPr>
          <p:cNvPr id="19" name="圆角矩形 18"/>
          <p:cNvSpPr>
            <a:spLocks noGrp="1"/>
          </p:cNvSpPr>
          <p:nvPr/>
        </p:nvSpPr>
        <p:spPr>
          <a:xfrm>
            <a:off x="1619250" y="5143500"/>
            <a:ext cx="8953500" cy="628650"/>
          </a:xfrm>
          <a:prstGeom prst="roundRect">
            <a:avLst>
              <a:gd name="adj" fmla="val 12121"/>
            </a:avLst>
          </a:prstGeom>
          <a:solidFill>
            <a:srgbClr val="EAF2F8"/>
          </a:solidFill>
          <a:ln w="9525">
            <a:solidFill>
              <a:srgbClr val="D7E0E7"/>
            </a:solidFill>
            <a:prstDash val="solid"/>
          </a:ln>
        </p:spPr>
      </p:sp>
      <p:sp>
        <p:nvSpPr>
          <p:cNvPr id="20" name="矩形 19"/>
          <p:cNvSpPr>
            <a:spLocks noGrp="1"/>
          </p:cNvSpPr>
          <p:nvPr/>
        </p:nvSpPr>
        <p:spPr>
          <a:xfrm>
            <a:off x="1847850" y="5305425"/>
            <a:ext cx="8496300" cy="304800"/>
          </a:xfrm>
          <a:prstGeom prst="rect">
            <a:avLst/>
          </a:prstGeom>
          <a:noFill/>
          <a:ln w="0">
            <a:noFill/>
            <a:prstDash val="solid"/>
          </a:ln>
        </p:spPr>
        <p:txBody>
          <a:bodyPr/>
          <a:lstStyle/>
          <a:p>
            <a:pPr algn="l">
              <a:defRPr sz="1275" b="1">
                <a:solidFill>
                  <a:srgbClr val="163A5F"/>
                </a:solidFill>
              </a:defRPr>
            </a:pPr>
            <a:r>
              <a:rPr sz="1275" b="1">
                <a:solidFill>
                  <a:srgbClr val="163A5F"/>
                </a:solidFill>
              </a:rPr>
              <a:t>Prompt Injection 边界：检索文档只是数据，不能提升权限；工具授权仍由 Runtime 强制执行。</a:t>
            </a:r>
            <a:endParaRPr sz="1275" b="1">
              <a:solidFill>
                <a:srgbClr val="163A5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Evidence 实验要包含“看起来相关但不支持”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最有价值的反例不是完全无关，而是足以诱骗系统的半相关证据</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34</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构造反例</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同关键词、不同适用范围</a:t>
            </a:r>
            <a:endParaRPr sz="1275" b="0">
              <a:solidFill>
                <a:srgbClr val="18212B"/>
              </a:solidFill>
            </a:endParaRPr>
          </a:p>
          <a:p>
            <a:pPr algn="l">
              <a:defRPr sz="1275" b="0">
                <a:solidFill>
                  <a:srgbClr val="18212B"/>
                </a:solidFill>
              </a:defRPr>
            </a:pPr>
            <a:r>
              <a:rPr sz="1275" b="0">
                <a:solidFill>
                  <a:srgbClr val="18212B"/>
                </a:solidFill>
              </a:rPr>
              <a:t>规则版本冲突</a:t>
            </a:r>
            <a:endParaRPr sz="1275" b="0">
              <a:solidFill>
                <a:srgbClr val="18212B"/>
              </a:solidFill>
            </a:endParaRPr>
          </a:p>
          <a:p>
            <a:pPr algn="l">
              <a:defRPr sz="1275" b="0">
                <a:solidFill>
                  <a:srgbClr val="18212B"/>
                </a:solidFill>
              </a:defRPr>
            </a:pPr>
            <a:r>
              <a:rPr sz="1275" b="0">
                <a:solidFill>
                  <a:srgbClr val="18212B"/>
                </a:solidFill>
              </a:rPr>
              <a:t>缺少关键数字</a:t>
            </a:r>
            <a:endParaRPr sz="1275" b="0">
              <a:solidFill>
                <a:srgbClr val="18212B"/>
              </a:solidFill>
            </a:endParaRPr>
          </a:p>
          <a:p>
            <a:pPr algn="l">
              <a:defRPr sz="1275" b="0">
                <a:solidFill>
                  <a:srgbClr val="18212B"/>
                </a:solidFill>
              </a:defRPr>
            </a:pPr>
            <a:r>
              <a:rPr sz="1275" b="0">
                <a:solidFill>
                  <a:srgbClr val="18212B"/>
                </a:solidFill>
              </a:rPr>
              <a:t>原文只有原则性描述</a:t>
            </a:r>
            <a:endParaRPr sz="1275" b="0">
              <a:solidFill>
                <a:srgbClr val="18212B"/>
              </a:solidFill>
            </a:endParaRPr>
          </a:p>
          <a:p>
            <a:pPr algn="l">
              <a:defRPr sz="1275" b="0">
                <a:solidFill>
                  <a:srgbClr val="18212B"/>
                </a:solidFill>
              </a:defRPr>
            </a:pPr>
            <a:r>
              <a:rPr sz="1275" b="0">
                <a:solidFill>
                  <a:srgbClr val="18212B"/>
                </a:solidFill>
              </a:rPr>
              <a:t>文档内恶意指令</a:t>
            </a:r>
            <a:endParaRPr sz="1275" b="0">
              <a:solidFill>
                <a:srgbClr val="18212B"/>
              </a:solidFill>
            </a:endParaRPr>
          </a:p>
          <a:p>
            <a:pPr algn="l">
              <a:defRPr sz="1275" b="0">
                <a:solidFill>
                  <a:srgbClr val="18212B"/>
                </a:solidFill>
              </a:defRPr>
            </a:pPr>
            <a:r>
              <a:rPr sz="1275" b="0">
                <a:solidFill>
                  <a:srgbClr val="18212B"/>
                </a:solidFill>
              </a:rPr>
              <a:t>无答案问题</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观察系统</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是否虚构 locator</a:t>
            </a:r>
            <a:endParaRPr sz="1275" b="0">
              <a:solidFill>
                <a:srgbClr val="18212B"/>
              </a:solidFill>
            </a:endParaRPr>
          </a:p>
          <a:p>
            <a:pPr algn="l">
              <a:defRPr sz="1275" b="0">
                <a:solidFill>
                  <a:srgbClr val="18212B"/>
                </a:solidFill>
              </a:defRPr>
            </a:pPr>
            <a:r>
              <a:rPr sz="1275" b="0">
                <a:solidFill>
                  <a:srgbClr val="18212B"/>
                </a:solidFill>
              </a:rPr>
              <a:t>是否把主题相关当支持</a:t>
            </a:r>
            <a:endParaRPr sz="1275" b="0">
              <a:solidFill>
                <a:srgbClr val="18212B"/>
              </a:solidFill>
            </a:endParaRPr>
          </a:p>
          <a:p>
            <a:pPr algn="l">
              <a:defRPr sz="1275" b="0">
                <a:solidFill>
                  <a:srgbClr val="18212B"/>
                </a:solidFill>
              </a:defRPr>
            </a:pPr>
            <a:r>
              <a:rPr sz="1275" b="0">
                <a:solidFill>
                  <a:srgbClr val="18212B"/>
                </a:solidFill>
              </a:rPr>
              <a:t>是否静默删除冲突</a:t>
            </a:r>
            <a:endParaRPr sz="1275" b="0">
              <a:solidFill>
                <a:srgbClr val="18212B"/>
              </a:solidFill>
            </a:endParaRPr>
          </a:p>
          <a:p>
            <a:pPr algn="l">
              <a:defRPr sz="1275" b="0">
                <a:solidFill>
                  <a:srgbClr val="18212B"/>
                </a:solidFill>
              </a:defRPr>
            </a:pPr>
            <a:r>
              <a:rPr sz="1275" b="0">
                <a:solidFill>
                  <a:srgbClr val="18212B"/>
                </a:solidFill>
              </a:rPr>
              <a:t>是否拒答</a:t>
            </a:r>
            <a:endParaRPr sz="1275" b="0">
              <a:solidFill>
                <a:srgbClr val="18212B"/>
              </a:solidFill>
            </a:endParaRPr>
          </a:p>
          <a:p>
            <a:pPr algn="l">
              <a:defRPr sz="1275" b="0">
                <a:solidFill>
                  <a:srgbClr val="18212B"/>
                </a:solidFill>
              </a:defRPr>
            </a:pPr>
            <a:r>
              <a:rPr sz="1275" b="0">
                <a:solidFill>
                  <a:srgbClr val="18212B"/>
                </a:solidFill>
              </a:rPr>
              <a:t>是否扩大工具权限</a:t>
            </a:r>
            <a:endParaRPr sz="1275" b="0">
              <a:solidFill>
                <a:srgbClr val="18212B"/>
              </a:solidFill>
            </a:endParaRPr>
          </a:p>
          <a:p>
            <a:pPr algn="l">
              <a:defRPr sz="1275" b="0">
                <a:solidFill>
                  <a:srgbClr val="18212B"/>
                </a:solidFill>
              </a:defRPr>
            </a:pPr>
            <a:r>
              <a:rPr sz="1275" b="0">
                <a:solidFill>
                  <a:srgbClr val="18212B"/>
                </a:solidFill>
              </a:rPr>
              <a:t>是否记录限制</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真正的深度在于亲自审判 evidence → claim 的逻辑关系，而不是只看召回分数或模型自信。</a:t>
            </a:r>
            <a:endParaRPr sz="1350" b="1">
              <a:solidFill>
                <a:srgbClr val="163A5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1113790" y="2324100"/>
            <a:ext cx="10050145" cy="1765935"/>
          </a:xfrm>
          <a:prstGeom prst="rect">
            <a:avLst/>
          </a:prstGeom>
        </p:spPr>
        <p:txBody>
          <a:bodyPr>
            <a:noAutofit/>
          </a:bodyPr>
          <a:p>
            <a:endParaRPr lang="zh-CN" altLang="en-US" sz="1600"/>
          </a:p>
        </p:txBody>
      </p:sp>
      <p:graphicFrame>
        <p:nvGraphicFramePr>
          <p:cNvPr id="7" name="表格 6"/>
          <p:cNvGraphicFramePr/>
          <p:nvPr/>
        </p:nvGraphicFramePr>
        <p:xfrm>
          <a:off x="1061085" y="1760855"/>
          <a:ext cx="5796915" cy="1640840"/>
        </p:xfrm>
        <a:graphic>
          <a:graphicData uri="http://schemas.openxmlformats.org/drawingml/2006/table">
            <a:tbl>
              <a:tblPr/>
              <a:tblGrid>
                <a:gridCol w="2001499"/>
                <a:gridCol w="1897708"/>
                <a:gridCol w="1897708"/>
              </a:tblGrid>
              <a:tr h="0">
                <a:tc>
                  <a:txBody>
                    <a:bodyPr/>
                    <a:p>
                      <a:pPr algn="ctr"/>
                      <a:r>
                        <a:rPr lang="zh-CN" altLang="en-US" sz="1200" b="0" i="0">
                          <a:solidFill>
                            <a:schemeClr val="tx1"/>
                          </a:solidFill>
                          <a:latin typeface="-apple-system"/>
                          <a:ea typeface="-apple-system"/>
                        </a:rPr>
                        <a:t>指标</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翻译</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对应</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Answer Accuracy</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回答正确率</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该回答的问题答了吗？</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Recall@3</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召回率</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该搜到的文档搜到了吗？</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Citation Correctness</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引用正确率</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搜到的东西里真正有用的占多少？</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Abstention Accuracy</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拒答正确率</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不该回答的问题拒答了吗？</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Avg Searches</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平均搜索次数</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每条问题搜了几次？</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Avg Latency</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平均延迟</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每条问题花了多久？</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C7A7B"/>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C7A7B"/>
                </a:solidFill>
              </a:defRPr>
            </a:pPr>
            <a:r>
              <a:rPr sz="6000" b="1">
                <a:solidFill>
                  <a:srgbClr val="2C7A7B"/>
                </a:solidFill>
              </a:rPr>
              <a:t>05</a:t>
            </a:r>
            <a:endParaRPr sz="6000" b="1">
              <a:solidFill>
                <a:srgbClr val="2C7A7B"/>
              </a:solidFill>
            </a:endParaRPr>
          </a:p>
        </p:txBody>
      </p:sp>
      <p:sp>
        <p:nvSpPr>
          <p:cNvPr id="3" name="矩形 2"/>
          <p:cNvSpPr>
            <a:spLocks noGrp="1"/>
          </p:cNvSpPr>
          <p:nvPr/>
        </p:nvSpPr>
        <p:spPr>
          <a:xfrm>
            <a:off x="800100" y="2266950"/>
            <a:ext cx="1714500" cy="38100"/>
          </a:xfrm>
          <a:prstGeom prst="rect">
            <a:avLst/>
          </a:prstGeom>
          <a:solidFill>
            <a:srgbClr val="2C7A7B"/>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Planning 与 RePlan</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规划不是输出步骤列表，而是验证依赖、执行状态并在假设失效时重构计划。</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C7A7B"/>
                </a:solidFill>
              </a:defRPr>
            </a:pPr>
            <a:r>
              <a:rPr sz="1350" b="1">
                <a:solidFill>
                  <a:srgbClr val="2C7A7B"/>
                </a:solidFill>
              </a:rPr>
              <a:t>原理  →  实现  →  故障  →  评测</a:t>
            </a:r>
            <a:endParaRPr sz="1350" b="1">
              <a:solidFill>
                <a:srgbClr val="2C7A7B"/>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35</a:t>
            </a:r>
            <a:endParaRPr sz="825" b="0">
              <a:solidFill>
                <a:srgbClr val="7D8994"/>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三种控制策略适合不同任务结构</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规划并不天然优于 Workflow 或 ReAct</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36</a:t>
            </a:r>
            <a:endParaRPr sz="825" b="0">
              <a:solidFill>
                <a:srgbClr val="7D8994"/>
              </a:solidFill>
            </a:endParaRPr>
          </a:p>
        </p:txBody>
      </p:sp>
      <p:sp>
        <p:nvSpPr>
          <p:cNvPr id="7" name="圆角矩形 6"/>
          <p:cNvSpPr>
            <a:spLocks noGrp="1"/>
          </p:cNvSpPr>
          <p:nvPr/>
        </p:nvSpPr>
        <p:spPr>
          <a:xfrm>
            <a:off x="609600" y="1809750"/>
            <a:ext cx="3276600" cy="3333750"/>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Workflow</a:t>
            </a:r>
            <a:endParaRPr sz="1650" b="1">
              <a:solidFill>
                <a:srgbClr val="286F9E"/>
              </a:solidFill>
            </a:endParaRPr>
          </a:p>
        </p:txBody>
      </p:sp>
      <p:sp>
        <p:nvSpPr>
          <p:cNvPr id="10" name="矩形 9"/>
          <p:cNvSpPr>
            <a:spLocks noGrp="1"/>
          </p:cNvSpPr>
          <p:nvPr/>
        </p:nvSpPr>
        <p:spPr>
          <a:xfrm>
            <a:off x="8382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结构固定</a:t>
            </a:r>
            <a:endParaRPr sz="1275" b="0">
              <a:solidFill>
                <a:srgbClr val="18212B"/>
              </a:solidFill>
            </a:endParaRPr>
          </a:p>
          <a:p>
            <a:pPr algn="l">
              <a:defRPr sz="1275" b="0">
                <a:solidFill>
                  <a:srgbClr val="18212B"/>
                </a:solidFill>
              </a:defRPr>
            </a:pPr>
            <a:r>
              <a:rPr sz="1275" b="0">
                <a:solidFill>
                  <a:srgbClr val="18212B"/>
                </a:solidFill>
              </a:rPr>
              <a:t>成本低、易测试</a:t>
            </a:r>
            <a:endParaRPr sz="1275" b="0">
              <a:solidFill>
                <a:srgbClr val="18212B"/>
              </a:solidFill>
            </a:endParaRPr>
          </a:p>
          <a:p>
            <a:pPr algn="l">
              <a:defRPr sz="1275" b="0">
                <a:solidFill>
                  <a:srgbClr val="18212B"/>
                </a:solidFill>
              </a:defRPr>
            </a:pPr>
            <a:r>
              <a:rPr sz="1275" b="0">
                <a:solidFill>
                  <a:srgbClr val="18212B"/>
                </a:solidFill>
              </a:rPr>
              <a:t>适合重复稳定流程</a:t>
            </a:r>
            <a:endParaRPr sz="1275" b="0">
              <a:solidFill>
                <a:srgbClr val="18212B"/>
              </a:solidFill>
            </a:endParaRPr>
          </a:p>
        </p:txBody>
      </p:sp>
      <p:sp>
        <p:nvSpPr>
          <p:cNvPr id="11" name="圆角矩形 10"/>
          <p:cNvSpPr>
            <a:spLocks noGrp="1"/>
          </p:cNvSpPr>
          <p:nvPr/>
        </p:nvSpPr>
        <p:spPr>
          <a:xfrm>
            <a:off x="4343400" y="1809750"/>
            <a:ext cx="3276600" cy="3333750"/>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ReAct</a:t>
            </a:r>
            <a:endParaRPr sz="1650" b="1">
              <a:solidFill>
                <a:srgbClr val="2C7A7B"/>
              </a:solidFill>
            </a:endParaRPr>
          </a:p>
        </p:txBody>
      </p:sp>
      <p:sp>
        <p:nvSpPr>
          <p:cNvPr id="14" name="矩形 13"/>
          <p:cNvSpPr>
            <a:spLocks noGrp="1"/>
          </p:cNvSpPr>
          <p:nvPr/>
        </p:nvSpPr>
        <p:spPr>
          <a:xfrm>
            <a:off x="45720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一步一观察</a:t>
            </a:r>
            <a:endParaRPr sz="1275" b="0">
              <a:solidFill>
                <a:srgbClr val="18212B"/>
              </a:solidFill>
            </a:endParaRPr>
          </a:p>
          <a:p>
            <a:pPr algn="l">
              <a:defRPr sz="1275" b="0">
                <a:solidFill>
                  <a:srgbClr val="18212B"/>
                </a:solidFill>
              </a:defRPr>
            </a:pPr>
            <a:r>
              <a:rPr sz="1275" b="0">
                <a:solidFill>
                  <a:srgbClr val="18212B"/>
                </a:solidFill>
              </a:rPr>
              <a:t>适应局部变化</a:t>
            </a:r>
            <a:endParaRPr sz="1275" b="0">
              <a:solidFill>
                <a:srgbClr val="18212B"/>
              </a:solidFill>
            </a:endParaRPr>
          </a:p>
          <a:p>
            <a:pPr algn="l">
              <a:defRPr sz="1275" b="0">
                <a:solidFill>
                  <a:srgbClr val="18212B"/>
                </a:solidFill>
              </a:defRPr>
            </a:pPr>
            <a:r>
              <a:rPr sz="1275" b="0">
                <a:solidFill>
                  <a:srgbClr val="18212B"/>
                </a:solidFill>
              </a:rPr>
              <a:t>易游走、重复、忘记全局目标</a:t>
            </a:r>
            <a:endParaRPr sz="1275" b="0">
              <a:solidFill>
                <a:srgbClr val="18212B"/>
              </a:solidFill>
            </a:endParaRPr>
          </a:p>
        </p:txBody>
      </p:sp>
      <p:sp>
        <p:nvSpPr>
          <p:cNvPr id="15" name="圆角矩形 14"/>
          <p:cNvSpPr>
            <a:spLocks noGrp="1"/>
          </p:cNvSpPr>
          <p:nvPr/>
        </p:nvSpPr>
        <p:spPr>
          <a:xfrm>
            <a:off x="8077200" y="1809750"/>
            <a:ext cx="3276600" cy="3333750"/>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3375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Plan–Execute–RePlan</a:t>
            </a:r>
            <a:endParaRPr sz="1650" b="1">
              <a:solidFill>
                <a:srgbClr val="B7791F"/>
              </a:solidFill>
            </a:endParaRPr>
          </a:p>
        </p:txBody>
      </p:sp>
      <p:sp>
        <p:nvSpPr>
          <p:cNvPr id="18" name="矩形 17"/>
          <p:cNvSpPr>
            <a:spLocks noGrp="1"/>
          </p:cNvSpPr>
          <p:nvPr/>
        </p:nvSpPr>
        <p:spPr>
          <a:xfrm>
            <a:off x="83058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显式依赖与假设</a:t>
            </a:r>
            <a:endParaRPr sz="1275" b="0">
              <a:solidFill>
                <a:srgbClr val="18212B"/>
              </a:solidFill>
            </a:endParaRPr>
          </a:p>
          <a:p>
            <a:pPr algn="l">
              <a:defRPr sz="1275" b="0">
                <a:solidFill>
                  <a:srgbClr val="18212B"/>
                </a:solidFill>
              </a:defRPr>
            </a:pPr>
            <a:r>
              <a:rPr sz="1275" b="0">
                <a:solidFill>
                  <a:srgbClr val="18212B"/>
                </a:solidFill>
              </a:rPr>
              <a:t>适合多步骤任务</a:t>
            </a:r>
            <a:endParaRPr sz="1275" b="0">
              <a:solidFill>
                <a:srgbClr val="18212B"/>
              </a:solidFill>
            </a:endParaRPr>
          </a:p>
          <a:p>
            <a:pPr algn="l">
              <a:defRPr sz="1275" b="0">
                <a:solidFill>
                  <a:srgbClr val="18212B"/>
                </a:solidFill>
              </a:defRPr>
            </a:pPr>
            <a:r>
              <a:rPr sz="1275" b="0">
                <a:solidFill>
                  <a:srgbClr val="18212B"/>
                </a:solidFill>
              </a:rPr>
              <a:t>增加校验、状态与重规划成本</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架构选择应由任务的结构不确定性与环境变化决定，而不是由“Agent 越复杂越高级”的偏好决定。</a:t>
            </a:r>
            <a:endParaRPr sz="1350" b="1">
              <a:solidFill>
                <a:srgbClr val="163A5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可执行计划必须携带依赖与成功标准</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一段合法 JSON 仍可能是不可执行计划</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37</a:t>
            </a:r>
            <a:endParaRPr sz="825" b="0">
              <a:solidFill>
                <a:srgbClr val="7D8994"/>
              </a:solidFill>
            </a:endParaRPr>
          </a:p>
        </p:txBody>
      </p:sp>
      <p:sp>
        <p:nvSpPr>
          <p:cNvPr id="7" name="圆角矩形 6"/>
          <p:cNvSpPr>
            <a:spLocks noGrp="1"/>
          </p:cNvSpPr>
          <p:nvPr/>
        </p:nvSpPr>
        <p:spPr>
          <a:xfrm>
            <a:off x="762000" y="1809750"/>
            <a:ext cx="3810000" cy="2724150"/>
          </a:xfrm>
          <a:prstGeom prst="roundRect">
            <a:avLst>
              <a:gd name="adj" fmla="val 2797"/>
            </a:avLst>
          </a:prstGeom>
          <a:solidFill>
            <a:srgbClr val="F6F8FA"/>
          </a:solidFill>
          <a:ln w="9525">
            <a:solidFill>
              <a:srgbClr val="D7E0E7"/>
            </a:solidFill>
            <a:prstDash val="solid"/>
          </a:ln>
        </p:spPr>
      </p:sp>
      <p:sp>
        <p:nvSpPr>
          <p:cNvPr id="8" name="矩形 7"/>
          <p:cNvSpPr>
            <a:spLocks noGrp="1"/>
          </p:cNvSpPr>
          <p:nvPr/>
        </p:nvSpPr>
        <p:spPr>
          <a:xfrm>
            <a:off x="971550" y="1981200"/>
            <a:ext cx="3390900" cy="2400300"/>
          </a:xfrm>
          <a:prstGeom prst="rect">
            <a:avLst/>
          </a:prstGeom>
          <a:noFill/>
          <a:ln w="0">
            <a:noFill/>
            <a:prstDash val="solid"/>
          </a:ln>
        </p:spPr>
        <p:txBody>
          <a:bodyPr/>
          <a:lstStyle/>
          <a:p>
            <a:pPr algn="l">
              <a:defRPr sz="1500" b="0">
                <a:solidFill>
                  <a:srgbClr val="263238"/>
                </a:solidFill>
              </a:defRPr>
            </a:pPr>
            <a:r>
              <a:rPr sz="1500" b="0">
                <a:solidFill>
                  <a:srgbClr val="263238"/>
                </a:solidFill>
              </a:rPr>
              <a:t>PlanStep {</a:t>
            </a:r>
            <a:endParaRPr sz="1500" b="0">
              <a:solidFill>
                <a:srgbClr val="263238"/>
              </a:solidFill>
            </a:endParaRPr>
          </a:p>
          <a:p>
            <a:pPr algn="l">
              <a:defRPr sz="1500" b="0">
                <a:solidFill>
                  <a:srgbClr val="263238"/>
                </a:solidFill>
              </a:defRPr>
            </a:pPr>
            <a:r>
              <a:rPr sz="1500" b="0">
                <a:solidFill>
                  <a:srgbClr val="263238"/>
                </a:solidFill>
              </a:rPr>
              <a:t>  id,</a:t>
            </a:r>
            <a:endParaRPr sz="1500" b="0">
              <a:solidFill>
                <a:srgbClr val="263238"/>
              </a:solidFill>
            </a:endParaRPr>
          </a:p>
          <a:p>
            <a:pPr algn="l">
              <a:defRPr sz="1500" b="0">
                <a:solidFill>
                  <a:srgbClr val="263238"/>
                </a:solidFill>
              </a:defRPr>
            </a:pPr>
            <a:r>
              <a:rPr sz="1500" b="0">
                <a:solidFill>
                  <a:srgbClr val="263238"/>
                </a:solidFill>
              </a:rPr>
              <a:t>  goal,</a:t>
            </a:r>
            <a:endParaRPr sz="1500" b="0">
              <a:solidFill>
                <a:srgbClr val="263238"/>
              </a:solidFill>
            </a:endParaRPr>
          </a:p>
          <a:p>
            <a:pPr algn="l">
              <a:defRPr sz="1500" b="0">
                <a:solidFill>
                  <a:srgbClr val="263238"/>
                </a:solidFill>
              </a:defRPr>
            </a:pPr>
            <a:r>
              <a:rPr sz="1500" b="0">
                <a:solidFill>
                  <a:srgbClr val="263238"/>
                </a:solidFill>
              </a:rPr>
              <a:t>  action,</a:t>
            </a:r>
            <a:endParaRPr sz="1500" b="0">
              <a:solidFill>
                <a:srgbClr val="263238"/>
              </a:solidFill>
            </a:endParaRPr>
          </a:p>
          <a:p>
            <a:pPr algn="l">
              <a:defRPr sz="1500" b="0">
                <a:solidFill>
                  <a:srgbClr val="263238"/>
                </a:solidFill>
              </a:defRPr>
            </a:pPr>
            <a:r>
              <a:rPr sz="1500" b="0">
                <a:solidFill>
                  <a:srgbClr val="263238"/>
                </a:solidFill>
              </a:rPr>
              <a:t>  depends_on,</a:t>
            </a:r>
            <a:endParaRPr sz="1500" b="0">
              <a:solidFill>
                <a:srgbClr val="263238"/>
              </a:solidFill>
            </a:endParaRPr>
          </a:p>
          <a:p>
            <a:pPr algn="l">
              <a:defRPr sz="1500" b="0">
                <a:solidFill>
                  <a:srgbClr val="263238"/>
                </a:solidFill>
              </a:defRPr>
            </a:pPr>
            <a:r>
              <a:rPr sz="1500" b="0">
                <a:solidFill>
                  <a:srgbClr val="263238"/>
                </a:solidFill>
              </a:rPr>
              <a:t>  success_criteria,</a:t>
            </a:r>
            <a:endParaRPr sz="1500" b="0">
              <a:solidFill>
                <a:srgbClr val="263238"/>
              </a:solidFill>
            </a:endParaRPr>
          </a:p>
          <a:p>
            <a:pPr algn="l">
              <a:defRPr sz="1500" b="0">
                <a:solidFill>
                  <a:srgbClr val="263238"/>
                </a:solidFill>
              </a:defRPr>
            </a:pPr>
            <a:r>
              <a:rPr sz="1500" b="0">
                <a:solidFill>
                  <a:srgbClr val="263238"/>
                </a:solidFill>
              </a:rPr>
              <a:t>  max_attempts</a:t>
            </a:r>
            <a:endParaRPr sz="1500" b="0">
              <a:solidFill>
                <a:srgbClr val="263238"/>
              </a:solidFill>
            </a:endParaRPr>
          </a:p>
          <a:p>
            <a:pPr algn="l">
              <a:defRPr sz="1500" b="0">
                <a:solidFill>
                  <a:srgbClr val="263238"/>
                </a:solidFill>
              </a:defRPr>
            </a:pPr>
            <a:r>
              <a:rPr sz="1500" b="0">
                <a:solidFill>
                  <a:srgbClr val="263238"/>
                </a:solidFill>
              </a:rPr>
              <a:t>}</a:t>
            </a:r>
            <a:endParaRPr sz="1500" b="0">
              <a:solidFill>
                <a:srgbClr val="263238"/>
              </a:solidFill>
            </a:endParaRPr>
          </a:p>
        </p:txBody>
      </p:sp>
      <p:sp>
        <p:nvSpPr>
          <p:cNvPr id="9" name="圆角矩形 8"/>
          <p:cNvSpPr>
            <a:spLocks noGrp="1"/>
          </p:cNvSpPr>
          <p:nvPr/>
        </p:nvSpPr>
        <p:spPr>
          <a:xfrm>
            <a:off x="5429250" y="18954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5638800" y="18097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step id 唯一，所有依赖存在；</a:t>
            </a:r>
            <a:endParaRPr sz="1425" b="0">
              <a:solidFill>
                <a:srgbClr val="18212B"/>
              </a:solidFill>
            </a:endParaRPr>
          </a:p>
        </p:txBody>
      </p:sp>
      <p:sp>
        <p:nvSpPr>
          <p:cNvPr id="11" name="圆角矩形 10"/>
          <p:cNvSpPr>
            <a:spLocks noGrp="1"/>
          </p:cNvSpPr>
          <p:nvPr/>
        </p:nvSpPr>
        <p:spPr>
          <a:xfrm>
            <a:off x="5429250" y="248602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5638800" y="24003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依赖图无环，至少存在 Ready step；</a:t>
            </a:r>
            <a:endParaRPr sz="1425" b="0">
              <a:solidFill>
                <a:srgbClr val="18212B"/>
              </a:solidFill>
            </a:endParaRPr>
          </a:p>
        </p:txBody>
      </p:sp>
      <p:sp>
        <p:nvSpPr>
          <p:cNvPr id="13" name="圆角矩形 12"/>
          <p:cNvSpPr>
            <a:spLocks noGrp="1"/>
          </p:cNvSpPr>
          <p:nvPr/>
        </p:nvSpPr>
        <p:spPr>
          <a:xfrm>
            <a:off x="5429250" y="307657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5638800" y="29908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action 已注册、参数合法、权限可满足；</a:t>
            </a:r>
            <a:endParaRPr sz="1425" b="0">
              <a:solidFill>
                <a:srgbClr val="18212B"/>
              </a:solidFill>
            </a:endParaRPr>
          </a:p>
        </p:txBody>
      </p:sp>
      <p:sp>
        <p:nvSpPr>
          <p:cNvPr id="15" name="圆角矩形 14"/>
          <p:cNvSpPr>
            <a:spLocks noGrp="1"/>
          </p:cNvSpPr>
          <p:nvPr/>
        </p:nvSpPr>
        <p:spPr>
          <a:xfrm>
            <a:off x="5429250" y="366712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5638800" y="35814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成功标准可验证，而不是“做得很好”；</a:t>
            </a:r>
            <a:endParaRPr sz="1425" b="0">
              <a:solidFill>
                <a:srgbClr val="18212B"/>
              </a:solidFill>
            </a:endParaRPr>
          </a:p>
        </p:txBody>
      </p:sp>
      <p:sp>
        <p:nvSpPr>
          <p:cNvPr id="17" name="圆角矩形 16"/>
          <p:cNvSpPr>
            <a:spLocks noGrp="1"/>
          </p:cNvSpPr>
          <p:nvPr/>
        </p:nvSpPr>
        <p:spPr>
          <a:xfrm>
            <a:off x="5429250" y="4257675"/>
            <a:ext cx="76200" cy="76200"/>
          </a:xfrm>
          <a:prstGeom prst="roundRect">
            <a:avLst>
              <a:gd name="adj" fmla="val 50000"/>
            </a:avLst>
          </a:prstGeom>
          <a:solidFill>
            <a:srgbClr val="286F9E"/>
          </a:solidFill>
          <a:ln w="0">
            <a:noFill/>
            <a:prstDash val="solid"/>
          </a:ln>
        </p:spPr>
      </p:sp>
      <p:sp>
        <p:nvSpPr>
          <p:cNvPr id="18" name="矩形 17"/>
          <p:cNvSpPr>
            <a:spLocks noGrp="1"/>
          </p:cNvSpPr>
          <p:nvPr/>
        </p:nvSpPr>
        <p:spPr>
          <a:xfrm>
            <a:off x="5638800" y="41719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估算成本不超过剩余预算。</a:t>
            </a:r>
            <a:endParaRPr sz="142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Planner 负责提出计划；PlanValidator 负责拒绝不可执行计划。不要让同一个模型既出题又自行判满分。</a:t>
            </a:r>
            <a:endParaRPr sz="1350" b="1">
              <a:solidFill>
                <a:srgbClr val="163A5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 name="矩形 3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计划执行本质上是依赖图上的状态机</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步骤顺序由依赖关系决定，而不是盲信模型给出的数组顺序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38</a:t>
            </a:r>
            <a:endParaRPr sz="825" b="0">
              <a:solidFill>
                <a:srgbClr val="7D8994"/>
              </a:solidFill>
            </a:endParaRPr>
          </a:p>
        </p:txBody>
      </p:sp>
      <p:sp>
        <p:nvSpPr>
          <p:cNvPr id="7" name="矩形 6"/>
          <p:cNvSpPr>
            <a:spLocks noGrp="1"/>
          </p:cNvSpPr>
          <p:nvPr/>
        </p:nvSpPr>
        <p:spPr>
          <a:xfrm>
            <a:off x="2657475" y="2276475"/>
            <a:ext cx="171450" cy="152400"/>
          </a:xfrm>
          <a:prstGeom prst="rect">
            <a:avLst/>
          </a:prstGeom>
          <a:solidFill>
            <a:srgbClr val="286F9E"/>
          </a:solidFill>
          <a:ln w="0">
            <a:noFill/>
            <a:prstDash val="solid"/>
          </a:ln>
        </p:spPr>
      </p:sp>
      <p:sp>
        <p:nvSpPr>
          <p:cNvPr id="8" name="矩形 7"/>
          <p:cNvSpPr>
            <a:spLocks noGrp="1"/>
          </p:cNvSpPr>
          <p:nvPr/>
        </p:nvSpPr>
        <p:spPr>
          <a:xfrm>
            <a:off x="2790825" y="2228850"/>
            <a:ext cx="95250" cy="247650"/>
          </a:xfrm>
          <a:prstGeom prst="rect">
            <a:avLst/>
          </a:prstGeom>
          <a:solidFill>
            <a:srgbClr val="286F9E"/>
          </a:solidFill>
          <a:ln w="0">
            <a:noFill/>
            <a:prstDash val="solid"/>
          </a:ln>
        </p:spPr>
      </p:sp>
      <p:sp>
        <p:nvSpPr>
          <p:cNvPr id="9" name="圆角矩形 8"/>
          <p:cNvSpPr>
            <a:spLocks noGrp="1"/>
          </p:cNvSpPr>
          <p:nvPr/>
        </p:nvSpPr>
        <p:spPr>
          <a:xfrm>
            <a:off x="857250" y="2000250"/>
            <a:ext cx="1752600" cy="704850"/>
          </a:xfrm>
          <a:prstGeom prst="roundRect">
            <a:avLst>
              <a:gd name="adj" fmla="val 10811"/>
            </a:avLst>
          </a:prstGeom>
          <a:solidFill>
            <a:srgbClr val="EAF2F8"/>
          </a:solidFill>
          <a:ln w="9525">
            <a:solidFill>
              <a:srgbClr val="D7E0E7"/>
            </a:solidFill>
            <a:prstDash val="solid"/>
          </a:ln>
        </p:spPr>
      </p:sp>
      <p:sp>
        <p:nvSpPr>
          <p:cNvPr id="10" name="矩形 9"/>
          <p:cNvSpPr>
            <a:spLocks noGrp="1"/>
          </p:cNvSpPr>
          <p:nvPr/>
        </p:nvSpPr>
        <p:spPr>
          <a:xfrm>
            <a:off x="9334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Pending</a:t>
            </a:r>
            <a:endParaRPr sz="1350" b="1">
              <a:solidFill>
                <a:srgbClr val="163A5F"/>
              </a:solidFill>
            </a:endParaRPr>
          </a:p>
        </p:txBody>
      </p:sp>
      <p:sp>
        <p:nvSpPr>
          <p:cNvPr id="11" name="矩形 10"/>
          <p:cNvSpPr>
            <a:spLocks noGrp="1"/>
          </p:cNvSpPr>
          <p:nvPr/>
        </p:nvSpPr>
        <p:spPr>
          <a:xfrm>
            <a:off x="4676775" y="2276475"/>
            <a:ext cx="171450" cy="152400"/>
          </a:xfrm>
          <a:prstGeom prst="rect">
            <a:avLst/>
          </a:prstGeom>
          <a:solidFill>
            <a:srgbClr val="286F9E"/>
          </a:solidFill>
          <a:ln w="0">
            <a:noFill/>
            <a:prstDash val="solid"/>
          </a:ln>
        </p:spPr>
      </p:sp>
      <p:sp>
        <p:nvSpPr>
          <p:cNvPr id="12" name="矩形 11"/>
          <p:cNvSpPr>
            <a:spLocks noGrp="1"/>
          </p:cNvSpPr>
          <p:nvPr/>
        </p:nvSpPr>
        <p:spPr>
          <a:xfrm>
            <a:off x="4810125" y="2228850"/>
            <a:ext cx="95250" cy="247650"/>
          </a:xfrm>
          <a:prstGeom prst="rect">
            <a:avLst/>
          </a:prstGeom>
          <a:solidFill>
            <a:srgbClr val="286F9E"/>
          </a:solidFill>
          <a:ln w="0">
            <a:noFill/>
            <a:prstDash val="solid"/>
          </a:ln>
        </p:spPr>
      </p:sp>
      <p:sp>
        <p:nvSpPr>
          <p:cNvPr id="13" name="圆角矩形 12"/>
          <p:cNvSpPr>
            <a:spLocks noGrp="1"/>
          </p:cNvSpPr>
          <p:nvPr/>
        </p:nvSpPr>
        <p:spPr>
          <a:xfrm>
            <a:off x="2876550" y="2000250"/>
            <a:ext cx="1752600" cy="704850"/>
          </a:xfrm>
          <a:prstGeom prst="roundRect">
            <a:avLst>
              <a:gd name="adj" fmla="val 10811"/>
            </a:avLst>
          </a:prstGeom>
          <a:solidFill>
            <a:srgbClr val="EAF5F4"/>
          </a:solidFill>
          <a:ln w="9525">
            <a:solidFill>
              <a:srgbClr val="D7E0E7"/>
            </a:solidFill>
            <a:prstDash val="solid"/>
          </a:ln>
        </p:spPr>
      </p:sp>
      <p:sp>
        <p:nvSpPr>
          <p:cNvPr id="14" name="矩形 13"/>
          <p:cNvSpPr>
            <a:spLocks noGrp="1"/>
          </p:cNvSpPr>
          <p:nvPr/>
        </p:nvSpPr>
        <p:spPr>
          <a:xfrm>
            <a:off x="29527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Ready</a:t>
            </a:r>
            <a:endParaRPr sz="1350" b="1">
              <a:solidFill>
                <a:srgbClr val="163A5F"/>
              </a:solidFill>
            </a:endParaRPr>
          </a:p>
        </p:txBody>
      </p:sp>
      <p:sp>
        <p:nvSpPr>
          <p:cNvPr id="15" name="矩形 14"/>
          <p:cNvSpPr>
            <a:spLocks noGrp="1"/>
          </p:cNvSpPr>
          <p:nvPr/>
        </p:nvSpPr>
        <p:spPr>
          <a:xfrm>
            <a:off x="6696075" y="2276475"/>
            <a:ext cx="171450" cy="152400"/>
          </a:xfrm>
          <a:prstGeom prst="rect">
            <a:avLst/>
          </a:prstGeom>
          <a:solidFill>
            <a:srgbClr val="286F9E"/>
          </a:solidFill>
          <a:ln w="0">
            <a:noFill/>
            <a:prstDash val="solid"/>
          </a:ln>
        </p:spPr>
      </p:sp>
      <p:sp>
        <p:nvSpPr>
          <p:cNvPr id="16" name="矩形 15"/>
          <p:cNvSpPr>
            <a:spLocks noGrp="1"/>
          </p:cNvSpPr>
          <p:nvPr/>
        </p:nvSpPr>
        <p:spPr>
          <a:xfrm>
            <a:off x="6829425" y="2228850"/>
            <a:ext cx="95250" cy="247650"/>
          </a:xfrm>
          <a:prstGeom prst="rect">
            <a:avLst/>
          </a:prstGeom>
          <a:solidFill>
            <a:srgbClr val="286F9E"/>
          </a:solidFill>
          <a:ln w="0">
            <a:noFill/>
            <a:prstDash val="solid"/>
          </a:ln>
        </p:spPr>
      </p:sp>
      <p:sp>
        <p:nvSpPr>
          <p:cNvPr id="17" name="圆角矩形 16"/>
          <p:cNvSpPr>
            <a:spLocks noGrp="1"/>
          </p:cNvSpPr>
          <p:nvPr/>
        </p:nvSpPr>
        <p:spPr>
          <a:xfrm>
            <a:off x="4895850" y="2000250"/>
            <a:ext cx="1752600" cy="704850"/>
          </a:xfrm>
          <a:prstGeom prst="roundRect">
            <a:avLst>
              <a:gd name="adj" fmla="val 10811"/>
            </a:avLst>
          </a:prstGeom>
          <a:solidFill>
            <a:srgbClr val="EAF2F8"/>
          </a:solidFill>
          <a:ln w="9525">
            <a:solidFill>
              <a:srgbClr val="D7E0E7"/>
            </a:solidFill>
            <a:prstDash val="solid"/>
          </a:ln>
        </p:spPr>
      </p:sp>
      <p:sp>
        <p:nvSpPr>
          <p:cNvPr id="18" name="矩形 17"/>
          <p:cNvSpPr>
            <a:spLocks noGrp="1"/>
          </p:cNvSpPr>
          <p:nvPr/>
        </p:nvSpPr>
        <p:spPr>
          <a:xfrm>
            <a:off x="49720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Running</a:t>
            </a:r>
            <a:endParaRPr sz="1350" b="1">
              <a:solidFill>
                <a:srgbClr val="163A5F"/>
              </a:solidFill>
            </a:endParaRPr>
          </a:p>
        </p:txBody>
      </p:sp>
      <p:sp>
        <p:nvSpPr>
          <p:cNvPr id="19" name="圆角矩形 18"/>
          <p:cNvSpPr>
            <a:spLocks noGrp="1"/>
          </p:cNvSpPr>
          <p:nvPr/>
        </p:nvSpPr>
        <p:spPr>
          <a:xfrm>
            <a:off x="6915150" y="2000250"/>
            <a:ext cx="1752600" cy="704850"/>
          </a:xfrm>
          <a:prstGeom prst="roundRect">
            <a:avLst>
              <a:gd name="adj" fmla="val 10811"/>
            </a:avLst>
          </a:prstGeom>
          <a:solidFill>
            <a:srgbClr val="EAF5F4"/>
          </a:solidFill>
          <a:ln w="9525">
            <a:solidFill>
              <a:srgbClr val="D7E0E7"/>
            </a:solidFill>
            <a:prstDash val="solid"/>
          </a:ln>
        </p:spPr>
      </p:sp>
      <p:sp>
        <p:nvSpPr>
          <p:cNvPr id="20" name="矩形 19"/>
          <p:cNvSpPr>
            <a:spLocks noGrp="1"/>
          </p:cNvSpPr>
          <p:nvPr/>
        </p:nvSpPr>
        <p:spPr>
          <a:xfrm>
            <a:off x="69913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Succeeded</a:t>
            </a:r>
            <a:endParaRPr sz="1350" b="1">
              <a:solidFill>
                <a:srgbClr val="163A5F"/>
              </a:solidFill>
            </a:endParaRPr>
          </a:p>
        </p:txBody>
      </p:sp>
      <p:sp>
        <p:nvSpPr>
          <p:cNvPr id="21" name="圆角矩形 20"/>
          <p:cNvSpPr>
            <a:spLocks noGrp="1"/>
          </p:cNvSpPr>
          <p:nvPr/>
        </p:nvSpPr>
        <p:spPr>
          <a:xfrm>
            <a:off x="8953500" y="2000250"/>
            <a:ext cx="2095500" cy="704850"/>
          </a:xfrm>
          <a:prstGeom prst="roundRect">
            <a:avLst>
              <a:gd name="adj" fmla="val 10811"/>
            </a:avLst>
          </a:prstGeom>
          <a:solidFill>
            <a:srgbClr val="FBECEC"/>
          </a:solidFill>
          <a:ln w="9525">
            <a:solidFill>
              <a:srgbClr val="D7E0E7"/>
            </a:solidFill>
            <a:prstDash val="solid"/>
          </a:ln>
        </p:spPr>
      </p:sp>
      <p:sp>
        <p:nvSpPr>
          <p:cNvPr id="22" name="矩形 21"/>
          <p:cNvSpPr>
            <a:spLocks noGrp="1"/>
          </p:cNvSpPr>
          <p:nvPr/>
        </p:nvSpPr>
        <p:spPr>
          <a:xfrm>
            <a:off x="9048750" y="2209800"/>
            <a:ext cx="1905000" cy="285750"/>
          </a:xfrm>
          <a:prstGeom prst="rect">
            <a:avLst/>
          </a:prstGeom>
          <a:noFill/>
          <a:ln w="0">
            <a:noFill/>
            <a:prstDash val="solid"/>
          </a:ln>
        </p:spPr>
        <p:txBody>
          <a:bodyPr/>
          <a:lstStyle/>
          <a:p>
            <a:pPr algn="ctr">
              <a:defRPr sz="1425" b="1">
                <a:solidFill>
                  <a:srgbClr val="A23B3B"/>
                </a:solidFill>
              </a:defRPr>
            </a:pPr>
            <a:r>
              <a:rPr sz="1425" b="1">
                <a:solidFill>
                  <a:srgbClr val="A23B3B"/>
                </a:solidFill>
              </a:rPr>
              <a:t>Failed</a:t>
            </a:r>
            <a:endParaRPr sz="1425" b="1">
              <a:solidFill>
                <a:srgbClr val="A23B3B"/>
              </a:solidFill>
            </a:endParaRPr>
          </a:p>
        </p:txBody>
      </p:sp>
      <p:sp>
        <p:nvSpPr>
          <p:cNvPr id="23" name="矩形 22"/>
          <p:cNvSpPr>
            <a:spLocks noGrp="1"/>
          </p:cNvSpPr>
          <p:nvPr/>
        </p:nvSpPr>
        <p:spPr>
          <a:xfrm>
            <a:off x="7620000" y="3143250"/>
            <a:ext cx="2667000" cy="28575"/>
          </a:xfrm>
          <a:prstGeom prst="rect">
            <a:avLst/>
          </a:prstGeom>
          <a:solidFill>
            <a:srgbClr val="A23B3B"/>
          </a:solidFill>
          <a:ln w="0">
            <a:noFill/>
            <a:prstDash val="solid"/>
          </a:ln>
        </p:spPr>
      </p:sp>
      <p:sp>
        <p:nvSpPr>
          <p:cNvPr id="24" name="矩形 23"/>
          <p:cNvSpPr>
            <a:spLocks noGrp="1"/>
          </p:cNvSpPr>
          <p:nvPr/>
        </p:nvSpPr>
        <p:spPr>
          <a:xfrm>
            <a:off x="7429500" y="3314700"/>
            <a:ext cx="3143250" cy="323850"/>
          </a:xfrm>
          <a:prstGeom prst="rect">
            <a:avLst/>
          </a:prstGeom>
          <a:noFill/>
          <a:ln w="0">
            <a:noFill/>
            <a:prstDash val="solid"/>
          </a:ln>
        </p:spPr>
        <p:txBody>
          <a:bodyPr/>
          <a:lstStyle/>
          <a:p>
            <a:pPr algn="ctr">
              <a:defRPr sz="1350" b="1">
                <a:solidFill>
                  <a:srgbClr val="A23B3B"/>
                </a:solidFill>
              </a:defRPr>
            </a:pPr>
            <a:r>
              <a:rPr sz="1350" b="1">
                <a:solidFill>
                  <a:srgbClr val="A23B3B"/>
                </a:solidFill>
              </a:rPr>
              <a:t>依赖 Failed → 后继 Blocked</a:t>
            </a:r>
            <a:endParaRPr sz="1350" b="1">
              <a:solidFill>
                <a:srgbClr val="A23B3B"/>
              </a:solidFill>
            </a:endParaRPr>
          </a:p>
        </p:txBody>
      </p:sp>
      <p:sp>
        <p:nvSpPr>
          <p:cNvPr id="25" name="圆角矩形 24"/>
          <p:cNvSpPr>
            <a:spLocks noGrp="1"/>
          </p:cNvSpPr>
          <p:nvPr/>
        </p:nvSpPr>
        <p:spPr>
          <a:xfrm>
            <a:off x="1143000" y="4000500"/>
            <a:ext cx="9906000" cy="1123950"/>
          </a:xfrm>
          <a:prstGeom prst="roundRect">
            <a:avLst>
              <a:gd name="adj" fmla="val 6780"/>
            </a:avLst>
          </a:prstGeom>
          <a:solidFill>
            <a:srgbClr val="EAF5F4"/>
          </a:solidFill>
          <a:ln w="9525">
            <a:solidFill>
              <a:srgbClr val="D7E0E7"/>
            </a:solidFill>
            <a:prstDash val="solid"/>
          </a:ln>
        </p:spPr>
      </p:sp>
      <p:sp>
        <p:nvSpPr>
          <p:cNvPr id="26" name="圆角矩形 25"/>
          <p:cNvSpPr>
            <a:spLocks noGrp="1"/>
          </p:cNvSpPr>
          <p:nvPr/>
        </p:nvSpPr>
        <p:spPr>
          <a:xfrm>
            <a:off x="1143000" y="4000500"/>
            <a:ext cx="66675" cy="1123950"/>
          </a:xfrm>
          <a:prstGeom prst="roundRect">
            <a:avLst>
              <a:gd name="adj" fmla="val 50000"/>
            </a:avLst>
          </a:prstGeom>
          <a:solidFill>
            <a:srgbClr val="2C7A7B"/>
          </a:solidFill>
          <a:ln w="0">
            <a:noFill/>
            <a:prstDash val="solid"/>
          </a:ln>
        </p:spPr>
      </p:sp>
      <p:sp>
        <p:nvSpPr>
          <p:cNvPr id="27" name="矩形 26"/>
          <p:cNvSpPr>
            <a:spLocks noGrp="1"/>
          </p:cNvSpPr>
          <p:nvPr/>
        </p:nvSpPr>
        <p:spPr>
          <a:xfrm>
            <a:off x="1371600" y="4171950"/>
            <a:ext cx="9505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拓扑排序</a:t>
            </a:r>
            <a:endParaRPr sz="1650" b="1">
              <a:solidFill>
                <a:srgbClr val="2C7A7B"/>
              </a:solidFill>
            </a:endParaRPr>
          </a:p>
        </p:txBody>
      </p:sp>
      <p:sp>
        <p:nvSpPr>
          <p:cNvPr id="28" name="矩形 27"/>
          <p:cNvSpPr>
            <a:spLocks noGrp="1"/>
          </p:cNvSpPr>
          <p:nvPr/>
        </p:nvSpPr>
        <p:spPr>
          <a:xfrm>
            <a:off x="1371600" y="4552950"/>
            <a:ext cx="9505950" cy="457200"/>
          </a:xfrm>
          <a:prstGeom prst="rect">
            <a:avLst/>
          </a:prstGeom>
          <a:noFill/>
          <a:ln w="0">
            <a:noFill/>
            <a:prstDash val="solid"/>
          </a:ln>
        </p:spPr>
        <p:txBody>
          <a:bodyPr/>
          <a:lstStyle/>
          <a:p>
            <a:pPr algn="l">
              <a:defRPr sz="1275" b="0">
                <a:solidFill>
                  <a:srgbClr val="18212B"/>
                </a:solidFill>
              </a:defRPr>
            </a:pPr>
            <a:r>
              <a:rPr sz="1275" b="0">
                <a:solidFill>
                  <a:srgbClr val="18212B"/>
                </a:solidFill>
              </a:rPr>
              <a:t>持续取入度为 0 的节点；若最终访问数量小于总节点数，说明存在依赖环，计划没有可完成的执行序列。</a:t>
            </a:r>
            <a:endParaRPr sz="1275" b="0">
              <a:solidFill>
                <a:srgbClr val="18212B"/>
              </a:solidFill>
            </a:endParaRPr>
          </a:p>
        </p:txBody>
      </p:sp>
      <p:sp>
        <p:nvSpPr>
          <p:cNvPr id="29" name="圆角矩形 2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0" name="矩形 2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执行器的职责是维护状态转换与失败传播；它不应把“未执行”误记为“成功”，也不应越过失败依赖。</a:t>
            </a:r>
            <a:endParaRPr sz="1350" b="1">
              <a:solidFill>
                <a:srgbClr val="163A5F"/>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Step 成功不等于 Goal 完成</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工具层成功只能证明动作执行，不证明用户约束被满足</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39</a:t>
            </a:r>
            <a:endParaRPr sz="825" b="0">
              <a:solidFill>
                <a:srgbClr val="7D8994"/>
              </a:solidFill>
            </a:endParaRPr>
          </a:p>
        </p:txBody>
      </p:sp>
      <p:sp>
        <p:nvSpPr>
          <p:cNvPr id="7" name="圆角矩形 6"/>
          <p:cNvSpPr>
            <a:spLocks noGrp="1"/>
          </p:cNvSpPr>
          <p:nvPr/>
        </p:nvSpPr>
        <p:spPr>
          <a:xfrm>
            <a:off x="762000" y="1809750"/>
            <a:ext cx="4762500" cy="2857500"/>
          </a:xfrm>
          <a:prstGeom prst="roundRect">
            <a:avLst>
              <a:gd name="adj" fmla="val 2667"/>
            </a:avLst>
          </a:prstGeom>
          <a:solidFill>
            <a:srgbClr val="F6F8FA"/>
          </a:solidFill>
          <a:ln w="9525">
            <a:solidFill>
              <a:srgbClr val="D7E0E7"/>
            </a:solidFill>
            <a:prstDash val="solid"/>
          </a:ln>
        </p:spPr>
      </p:sp>
      <p:sp>
        <p:nvSpPr>
          <p:cNvPr id="8" name="矩形 7"/>
          <p:cNvSpPr>
            <a:spLocks noGrp="1"/>
          </p:cNvSpPr>
          <p:nvPr/>
        </p:nvSpPr>
        <p:spPr>
          <a:xfrm>
            <a:off x="971550" y="1981200"/>
            <a:ext cx="4343400" cy="2533650"/>
          </a:xfrm>
          <a:prstGeom prst="rect">
            <a:avLst/>
          </a:prstGeom>
          <a:noFill/>
          <a:ln w="0">
            <a:noFill/>
            <a:prstDash val="solid"/>
          </a:ln>
        </p:spPr>
        <p:txBody>
          <a:bodyPr/>
          <a:lstStyle/>
          <a:p>
            <a:pPr algn="l">
              <a:defRPr sz="1500" b="0">
                <a:solidFill>
                  <a:srgbClr val="263238"/>
                </a:solidFill>
              </a:defRPr>
            </a:pPr>
            <a:r>
              <a:rPr sz="1500" b="0">
                <a:solidFill>
                  <a:srgbClr val="263238"/>
                </a:solidFill>
              </a:rPr>
              <a:t>search_transport → 1800 元  ✓</a:t>
            </a:r>
            <a:endParaRPr sz="1500" b="0">
              <a:solidFill>
                <a:srgbClr val="263238"/>
              </a:solidFill>
            </a:endParaRPr>
          </a:p>
          <a:p>
            <a:pPr algn="l">
              <a:defRPr sz="1500" b="0">
                <a:solidFill>
                  <a:srgbClr val="263238"/>
                </a:solidFill>
              </a:defRPr>
            </a:pPr>
            <a:r>
              <a:rPr sz="1500" b="0">
                <a:solidFill>
                  <a:srgbClr val="263238"/>
                </a:solidFill>
              </a:rPr>
              <a:t>search_hotel     → 1600 元  ✓</a:t>
            </a:r>
            <a:endParaRPr sz="1500" b="0">
              <a:solidFill>
                <a:srgbClr val="263238"/>
              </a:solidFill>
            </a:endParaRPr>
          </a:p>
          <a:p>
            <a:pPr algn="l">
              <a:defRPr sz="1500" b="0">
                <a:solidFill>
                  <a:srgbClr val="263238"/>
                </a:solidFill>
              </a:defRPr>
            </a:pPr>
            <a:r>
              <a:rPr sz="1500" b="0">
                <a:solidFill>
                  <a:srgbClr val="263238"/>
                </a:solidFill>
              </a:rPr>
              <a:t>calculate_cost   → 3400 元  ✓</a:t>
            </a:r>
            <a:endParaRPr sz="1500" b="0">
              <a:solidFill>
                <a:srgbClr val="263238"/>
              </a:solidFill>
            </a:endParaRPr>
          </a:p>
          <a:p>
            <a:endParaRPr sz="1500"/>
          </a:p>
          <a:p>
            <a:pPr algn="l">
              <a:defRPr sz="1500" b="0">
                <a:solidFill>
                  <a:srgbClr val="263238"/>
                </a:solidFill>
              </a:defRPr>
            </a:pPr>
            <a:r>
              <a:rPr sz="1500" b="0">
                <a:solidFill>
                  <a:srgbClr val="263238"/>
                </a:solidFill>
              </a:rPr>
              <a:t>用户预算：3000 元</a:t>
            </a:r>
            <a:endParaRPr sz="1500" b="0">
              <a:solidFill>
                <a:srgbClr val="263238"/>
              </a:solidFill>
            </a:endParaRPr>
          </a:p>
          <a:p>
            <a:pPr algn="l">
              <a:defRPr sz="1500" b="0">
                <a:solidFill>
                  <a:srgbClr val="263238"/>
                </a:solidFill>
              </a:defRPr>
            </a:pPr>
            <a:r>
              <a:rPr sz="1500" b="0">
                <a:solidFill>
                  <a:srgbClr val="263238"/>
                </a:solidFill>
              </a:rPr>
              <a:t>GoalVerifier：constraint_violation</a:t>
            </a:r>
            <a:endParaRPr sz="1500" b="0">
              <a:solidFill>
                <a:srgbClr val="263238"/>
              </a:solidFill>
            </a:endParaRPr>
          </a:p>
        </p:txBody>
      </p:sp>
      <p:sp>
        <p:nvSpPr>
          <p:cNvPr id="9" name="圆角矩形 8"/>
          <p:cNvSpPr>
            <a:spLocks noGrp="1"/>
          </p:cNvSpPr>
          <p:nvPr/>
        </p:nvSpPr>
        <p:spPr>
          <a:xfrm>
            <a:off x="6191250" y="1809750"/>
            <a:ext cx="4762500" cy="1200150"/>
          </a:xfrm>
          <a:prstGeom prst="roundRect">
            <a:avLst>
              <a:gd name="adj" fmla="val 6349"/>
            </a:avLst>
          </a:prstGeom>
          <a:solidFill>
            <a:srgbClr val="EAF2F8"/>
          </a:solidFill>
          <a:ln w="9525">
            <a:solidFill>
              <a:srgbClr val="D7E0E7"/>
            </a:solidFill>
            <a:prstDash val="solid"/>
          </a:ln>
        </p:spPr>
      </p:sp>
      <p:sp>
        <p:nvSpPr>
          <p:cNvPr id="10" name="圆角矩形 9"/>
          <p:cNvSpPr>
            <a:spLocks noGrp="1"/>
          </p:cNvSpPr>
          <p:nvPr/>
        </p:nvSpPr>
        <p:spPr>
          <a:xfrm>
            <a:off x="6191250" y="1809750"/>
            <a:ext cx="66675" cy="1200150"/>
          </a:xfrm>
          <a:prstGeom prst="roundRect">
            <a:avLst>
              <a:gd name="adj" fmla="val 50000"/>
            </a:avLst>
          </a:prstGeom>
          <a:solidFill>
            <a:srgbClr val="286F9E"/>
          </a:solidFill>
          <a:ln w="0">
            <a:noFill/>
            <a:prstDash val="solid"/>
          </a:ln>
        </p:spPr>
      </p:sp>
      <p:sp>
        <p:nvSpPr>
          <p:cNvPr id="11" name="矩形 10"/>
          <p:cNvSpPr>
            <a:spLocks noGrp="1"/>
          </p:cNvSpPr>
          <p:nvPr/>
        </p:nvSpPr>
        <p:spPr>
          <a:xfrm>
            <a:off x="6419850" y="1981200"/>
            <a:ext cx="43624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StepVerifier</a:t>
            </a:r>
            <a:endParaRPr sz="1650" b="1">
              <a:solidFill>
                <a:srgbClr val="286F9E"/>
              </a:solidFill>
            </a:endParaRPr>
          </a:p>
        </p:txBody>
      </p:sp>
      <p:sp>
        <p:nvSpPr>
          <p:cNvPr id="12" name="矩形 11"/>
          <p:cNvSpPr>
            <a:spLocks noGrp="1"/>
          </p:cNvSpPr>
          <p:nvPr/>
        </p:nvSpPr>
        <p:spPr>
          <a:xfrm>
            <a:off x="6419850" y="2362200"/>
            <a:ext cx="4362450" cy="533400"/>
          </a:xfrm>
          <a:prstGeom prst="rect">
            <a:avLst/>
          </a:prstGeom>
          <a:noFill/>
          <a:ln w="0">
            <a:noFill/>
            <a:prstDash val="solid"/>
          </a:ln>
        </p:spPr>
        <p:txBody>
          <a:bodyPr/>
          <a:lstStyle/>
          <a:p>
            <a:pPr algn="l">
              <a:defRPr sz="1275" b="0">
                <a:solidFill>
                  <a:srgbClr val="18212B"/>
                </a:solidFill>
              </a:defRPr>
            </a:pPr>
            <a:r>
              <a:rPr sz="1275" b="0">
                <a:solidFill>
                  <a:srgbClr val="18212B"/>
                </a:solidFill>
              </a:rPr>
              <a:t>该步骤的输出是否满足 success_criteria？例如返回了有效价格、日期与来源。</a:t>
            </a:r>
            <a:endParaRPr sz="1275" b="0">
              <a:solidFill>
                <a:srgbClr val="18212B"/>
              </a:solidFill>
            </a:endParaRPr>
          </a:p>
        </p:txBody>
      </p:sp>
      <p:sp>
        <p:nvSpPr>
          <p:cNvPr id="13" name="圆角矩形 12"/>
          <p:cNvSpPr>
            <a:spLocks noGrp="1"/>
          </p:cNvSpPr>
          <p:nvPr/>
        </p:nvSpPr>
        <p:spPr>
          <a:xfrm>
            <a:off x="6191250" y="3314700"/>
            <a:ext cx="4762500" cy="1200150"/>
          </a:xfrm>
          <a:prstGeom prst="roundRect">
            <a:avLst>
              <a:gd name="adj" fmla="val 6349"/>
            </a:avLst>
          </a:prstGeom>
          <a:solidFill>
            <a:srgbClr val="EAF5F4"/>
          </a:solidFill>
          <a:ln w="9525">
            <a:solidFill>
              <a:srgbClr val="D7E0E7"/>
            </a:solidFill>
            <a:prstDash val="solid"/>
          </a:ln>
        </p:spPr>
      </p:sp>
      <p:sp>
        <p:nvSpPr>
          <p:cNvPr id="14" name="圆角矩形 13"/>
          <p:cNvSpPr>
            <a:spLocks noGrp="1"/>
          </p:cNvSpPr>
          <p:nvPr/>
        </p:nvSpPr>
        <p:spPr>
          <a:xfrm>
            <a:off x="6191250" y="3314700"/>
            <a:ext cx="66675" cy="1200150"/>
          </a:xfrm>
          <a:prstGeom prst="roundRect">
            <a:avLst>
              <a:gd name="adj" fmla="val 50000"/>
            </a:avLst>
          </a:prstGeom>
          <a:solidFill>
            <a:srgbClr val="2C7A7B"/>
          </a:solidFill>
          <a:ln w="0">
            <a:noFill/>
            <a:prstDash val="solid"/>
          </a:ln>
        </p:spPr>
      </p:sp>
      <p:sp>
        <p:nvSpPr>
          <p:cNvPr id="15" name="矩形 14"/>
          <p:cNvSpPr>
            <a:spLocks noGrp="1"/>
          </p:cNvSpPr>
          <p:nvPr/>
        </p:nvSpPr>
        <p:spPr>
          <a:xfrm>
            <a:off x="6419850" y="3486150"/>
            <a:ext cx="43624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GoalVerifier</a:t>
            </a:r>
            <a:endParaRPr sz="1650" b="1">
              <a:solidFill>
                <a:srgbClr val="2C7A7B"/>
              </a:solidFill>
            </a:endParaRPr>
          </a:p>
        </p:txBody>
      </p:sp>
      <p:sp>
        <p:nvSpPr>
          <p:cNvPr id="16" name="矩形 15"/>
          <p:cNvSpPr>
            <a:spLocks noGrp="1"/>
          </p:cNvSpPr>
          <p:nvPr/>
        </p:nvSpPr>
        <p:spPr>
          <a:xfrm>
            <a:off x="6419850" y="3867150"/>
            <a:ext cx="4362450" cy="533400"/>
          </a:xfrm>
          <a:prstGeom prst="rect">
            <a:avLst/>
          </a:prstGeom>
          <a:noFill/>
          <a:ln w="0">
            <a:noFill/>
            <a:prstDash val="solid"/>
          </a:ln>
        </p:spPr>
        <p:txBody>
          <a:bodyPr/>
          <a:lstStyle/>
          <a:p>
            <a:pPr algn="l">
              <a:defRPr sz="1275" b="0">
                <a:solidFill>
                  <a:srgbClr val="18212B"/>
                </a:solidFill>
              </a:defRPr>
            </a:pPr>
            <a:r>
              <a:rPr sz="1275" b="0">
                <a:solidFill>
                  <a:srgbClr val="18212B"/>
                </a:solidFill>
              </a:rPr>
              <a:t>所有硬约束是否满足？最终产物是否完整？用户目标是否真的完成？</a:t>
            </a:r>
            <a:endParaRPr sz="1275" b="0">
              <a:solidFill>
                <a:srgbClr val="18212B"/>
              </a:solidFill>
            </a:endParaRPr>
          </a:p>
        </p:txBody>
      </p:sp>
      <p:sp>
        <p:nvSpPr>
          <p:cNvPr id="17" name="圆角矩形 1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8" name="矩形 1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“所有函数返回 Ok”是实现状态；“用户目标满足”是任务状态。二者必须由不同验证器判断。</a:t>
            </a:r>
            <a:endParaRPr sz="1350" b="1">
              <a:solidFill>
                <a:srgbClr val="163A5F"/>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RePlan 只在假设失效时发生，并且必须有上限</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无条件重规划会造成成本爆炸和重复劳动</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40</a:t>
            </a:r>
            <a:endParaRPr sz="825" b="0">
              <a:solidFill>
                <a:srgbClr val="7D8994"/>
              </a:solidFill>
            </a:endParaRPr>
          </a:p>
        </p:txBody>
      </p:sp>
      <p:sp>
        <p:nvSpPr>
          <p:cNvPr id="7" name="圆角矩形 6"/>
          <p:cNvSpPr>
            <a:spLocks noGrp="1"/>
          </p:cNvSpPr>
          <p:nvPr/>
        </p:nvSpPr>
        <p:spPr>
          <a:xfrm>
            <a:off x="609600" y="1809750"/>
            <a:ext cx="3276600" cy="3381375"/>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81375"/>
          </a:xfrm>
          <a:prstGeom prst="roundRect">
            <a:avLst>
              <a:gd name="adj" fmla="val 50000"/>
            </a:avLst>
          </a:prstGeom>
          <a:solidFill>
            <a:srgbClr val="A23B3B"/>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触发</a:t>
            </a:r>
            <a:endParaRPr sz="1650" b="1">
              <a:solidFill>
                <a:srgbClr val="A23B3B"/>
              </a:solidFill>
            </a:endParaRPr>
          </a:p>
        </p:txBody>
      </p:sp>
      <p:sp>
        <p:nvSpPr>
          <p:cNvPr id="10" name="矩形 9"/>
          <p:cNvSpPr>
            <a:spLocks noGrp="1"/>
          </p:cNvSpPr>
          <p:nvPr/>
        </p:nvSpPr>
        <p:spPr>
          <a:xfrm>
            <a:off x="8382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永久工具失败</a:t>
            </a:r>
            <a:endParaRPr sz="1275" b="0">
              <a:solidFill>
                <a:srgbClr val="18212B"/>
              </a:solidFill>
            </a:endParaRPr>
          </a:p>
          <a:p>
            <a:pPr algn="l">
              <a:defRPr sz="1275" b="0">
                <a:solidFill>
                  <a:srgbClr val="18212B"/>
                </a:solidFill>
              </a:defRPr>
            </a:pPr>
            <a:r>
              <a:rPr sz="1275" b="0">
                <a:solidFill>
                  <a:srgbClr val="18212B"/>
                </a:solidFill>
              </a:rPr>
              <a:t>环境状态改变</a:t>
            </a:r>
            <a:endParaRPr sz="1275" b="0">
              <a:solidFill>
                <a:srgbClr val="18212B"/>
              </a:solidFill>
            </a:endParaRPr>
          </a:p>
          <a:p>
            <a:pPr algn="l">
              <a:defRPr sz="1275" b="0">
                <a:solidFill>
                  <a:srgbClr val="18212B"/>
                </a:solidFill>
              </a:defRPr>
            </a:pPr>
            <a:r>
              <a:rPr sz="1275" b="0">
                <a:solidFill>
                  <a:srgbClr val="18212B"/>
                </a:solidFill>
              </a:rPr>
              <a:t>用户改变目标</a:t>
            </a:r>
            <a:endParaRPr sz="1275" b="0">
              <a:solidFill>
                <a:srgbClr val="18212B"/>
              </a:solidFill>
            </a:endParaRPr>
          </a:p>
          <a:p>
            <a:pPr algn="l">
              <a:defRPr sz="1275" b="0">
                <a:solidFill>
                  <a:srgbClr val="18212B"/>
                </a:solidFill>
              </a:defRPr>
            </a:pPr>
            <a:r>
              <a:rPr sz="1275" b="0">
                <a:solidFill>
                  <a:srgbClr val="18212B"/>
                </a:solidFill>
              </a:rPr>
              <a:t>目标验证失败</a:t>
            </a:r>
            <a:endParaRPr sz="1275" b="0">
              <a:solidFill>
                <a:srgbClr val="18212B"/>
              </a:solidFill>
            </a:endParaRPr>
          </a:p>
          <a:p>
            <a:pPr algn="l">
              <a:defRPr sz="1275" b="0">
                <a:solidFill>
                  <a:srgbClr val="18212B"/>
                </a:solidFill>
              </a:defRPr>
            </a:pPr>
            <a:r>
              <a:rPr sz="1275" b="0">
                <a:solidFill>
                  <a:srgbClr val="18212B"/>
                </a:solidFill>
              </a:rPr>
              <a:t>预算不足</a:t>
            </a:r>
            <a:endParaRPr sz="1275" b="0">
              <a:solidFill>
                <a:srgbClr val="18212B"/>
              </a:solidFill>
            </a:endParaRPr>
          </a:p>
        </p:txBody>
      </p:sp>
      <p:sp>
        <p:nvSpPr>
          <p:cNvPr id="11" name="圆角矩形 10"/>
          <p:cNvSpPr>
            <a:spLocks noGrp="1"/>
          </p:cNvSpPr>
          <p:nvPr/>
        </p:nvSpPr>
        <p:spPr>
          <a:xfrm>
            <a:off x="4343400" y="1809750"/>
            <a:ext cx="3276600" cy="3381375"/>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81375"/>
          </a:xfrm>
          <a:prstGeom prst="roundRect">
            <a:avLst>
              <a:gd name="adj" fmla="val 50000"/>
            </a:avLst>
          </a:prstGeom>
          <a:solidFill>
            <a:srgbClr val="2F7D4A"/>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保留</a:t>
            </a:r>
            <a:endParaRPr sz="1650" b="1">
              <a:solidFill>
                <a:srgbClr val="2F7D4A"/>
              </a:solidFill>
            </a:endParaRPr>
          </a:p>
        </p:txBody>
      </p:sp>
      <p:sp>
        <p:nvSpPr>
          <p:cNvPr id="14" name="矩形 13"/>
          <p:cNvSpPr>
            <a:spLocks noGrp="1"/>
          </p:cNvSpPr>
          <p:nvPr/>
        </p:nvSpPr>
        <p:spPr>
          <a:xfrm>
            <a:off x="45720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仍有效的工具结果</a:t>
            </a:r>
            <a:endParaRPr sz="1275" b="0">
              <a:solidFill>
                <a:srgbClr val="18212B"/>
              </a:solidFill>
            </a:endParaRPr>
          </a:p>
          <a:p>
            <a:pPr algn="l">
              <a:defRPr sz="1275" b="0">
                <a:solidFill>
                  <a:srgbClr val="18212B"/>
                </a:solidFill>
              </a:defRPr>
            </a:pPr>
            <a:r>
              <a:rPr sz="1275" b="0">
                <a:solidFill>
                  <a:srgbClr val="18212B"/>
                </a:solidFill>
              </a:rPr>
              <a:t>已验证证据</a:t>
            </a:r>
            <a:endParaRPr sz="1275" b="0">
              <a:solidFill>
                <a:srgbClr val="18212B"/>
              </a:solidFill>
            </a:endParaRPr>
          </a:p>
          <a:p>
            <a:pPr algn="l">
              <a:defRPr sz="1275" b="0">
                <a:solidFill>
                  <a:srgbClr val="18212B"/>
                </a:solidFill>
              </a:defRPr>
            </a:pPr>
            <a:r>
              <a:rPr sz="1275" b="0">
                <a:solidFill>
                  <a:srgbClr val="18212B"/>
                </a:solidFill>
              </a:rPr>
              <a:t>已完成且未失效步骤</a:t>
            </a:r>
            <a:endParaRPr sz="1275" b="0">
              <a:solidFill>
                <a:srgbClr val="18212B"/>
              </a:solidFill>
            </a:endParaRPr>
          </a:p>
          <a:p>
            <a:pPr algn="l">
              <a:defRPr sz="1275" b="0">
                <a:solidFill>
                  <a:srgbClr val="18212B"/>
                </a:solidFill>
              </a:defRPr>
            </a:pPr>
            <a:r>
              <a:rPr sz="1275" b="0">
                <a:solidFill>
                  <a:srgbClr val="18212B"/>
                </a:solidFill>
              </a:rPr>
              <a:t>失败 Observation</a:t>
            </a:r>
            <a:endParaRPr sz="1275" b="0">
              <a:solidFill>
                <a:srgbClr val="18212B"/>
              </a:solidFill>
            </a:endParaRPr>
          </a:p>
        </p:txBody>
      </p:sp>
      <p:sp>
        <p:nvSpPr>
          <p:cNvPr id="15" name="圆角矩形 14"/>
          <p:cNvSpPr>
            <a:spLocks noGrp="1"/>
          </p:cNvSpPr>
          <p:nvPr/>
        </p:nvSpPr>
        <p:spPr>
          <a:xfrm>
            <a:off x="8077200" y="1809750"/>
            <a:ext cx="3276600" cy="3381375"/>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81375"/>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限制</a:t>
            </a:r>
            <a:endParaRPr sz="1650" b="1">
              <a:solidFill>
                <a:srgbClr val="B7791F"/>
              </a:solidFill>
            </a:endParaRPr>
          </a:p>
        </p:txBody>
      </p:sp>
      <p:sp>
        <p:nvSpPr>
          <p:cNvPr id="18" name="矩形 17"/>
          <p:cNvSpPr>
            <a:spLocks noGrp="1"/>
          </p:cNvSpPr>
          <p:nvPr/>
        </p:nvSpPr>
        <p:spPr>
          <a:xfrm>
            <a:off x="83058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max_replans</a:t>
            </a:r>
            <a:endParaRPr sz="1275" b="0">
              <a:solidFill>
                <a:srgbClr val="18212B"/>
              </a:solidFill>
            </a:endParaRPr>
          </a:p>
          <a:p>
            <a:pPr algn="l">
              <a:defRPr sz="1275" b="0">
                <a:solidFill>
                  <a:srgbClr val="18212B"/>
                </a:solidFill>
              </a:defRPr>
            </a:pPr>
            <a:r>
              <a:rPr sz="1275" b="0">
                <a:solidFill>
                  <a:srgbClr val="18212B"/>
                </a:solidFill>
              </a:rPr>
              <a:t>重复 trigger 检测</a:t>
            </a:r>
            <a:endParaRPr sz="1275" b="0">
              <a:solidFill>
                <a:srgbClr val="18212B"/>
              </a:solidFill>
            </a:endParaRPr>
          </a:p>
          <a:p>
            <a:pPr algn="l">
              <a:defRPr sz="1275" b="0">
                <a:solidFill>
                  <a:srgbClr val="18212B"/>
                </a:solidFill>
              </a:defRPr>
            </a:pPr>
            <a:r>
              <a:rPr sz="1275" b="0">
                <a:solidFill>
                  <a:srgbClr val="18212B"/>
                </a:solidFill>
              </a:rPr>
              <a:t>剩余预算</a:t>
            </a:r>
            <a:endParaRPr sz="1275" b="0">
              <a:solidFill>
                <a:srgbClr val="18212B"/>
              </a:solidFill>
            </a:endParaRPr>
          </a:p>
          <a:p>
            <a:pPr algn="l">
              <a:defRPr sz="1275" b="0">
                <a:solidFill>
                  <a:srgbClr val="18212B"/>
                </a:solidFill>
              </a:defRPr>
            </a:pPr>
            <a:r>
              <a:rPr sz="1275" b="0">
                <a:solidFill>
                  <a:srgbClr val="18212B"/>
                </a:solidFill>
              </a:rPr>
              <a:t>新旧计划关联</a:t>
            </a:r>
            <a:endParaRPr sz="1275" b="0">
              <a:solidFill>
                <a:srgbClr val="18212B"/>
              </a:solidFill>
            </a:endParaRPr>
          </a:p>
          <a:p>
            <a:pPr algn="l">
              <a:defRPr sz="1275" b="0">
                <a:solidFill>
                  <a:srgbClr val="18212B"/>
                </a:solidFill>
              </a:defRPr>
            </a:pPr>
            <a:r>
              <a:rPr sz="1275" b="0">
                <a:solidFill>
                  <a:srgbClr val="18212B"/>
                </a:solidFill>
              </a:rPr>
              <a:t>变更理由</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RePlan 是对失败假设的局部修复，不是每次都从零开始；保留有效结果能减少成本和副作用。</a:t>
            </a:r>
            <a:endParaRPr sz="1350" b="1">
              <a:solidFill>
                <a:srgbClr val="163A5F"/>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公平比较策略需要控制实验变量</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否则“Planner 更好”可能只是因为它得到更多调用预算</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41</a:t>
            </a:r>
            <a:endParaRPr sz="825" b="0">
              <a:solidFill>
                <a:srgbClr val="7D8994"/>
              </a:solidFill>
            </a:endParaRPr>
          </a:p>
        </p:txBody>
      </p:sp>
      <p:sp>
        <p:nvSpPr>
          <p:cNvPr id="7" name="圆角矩形 6"/>
          <p:cNvSpPr>
            <a:spLocks noGrp="1"/>
          </p:cNvSpPr>
          <p:nvPr/>
        </p:nvSpPr>
        <p:spPr>
          <a:xfrm>
            <a:off x="723900" y="1895475"/>
            <a:ext cx="76200" cy="76200"/>
          </a:xfrm>
          <a:prstGeom prst="roundRect">
            <a:avLst>
              <a:gd name="adj" fmla="val 50000"/>
            </a:avLst>
          </a:prstGeom>
          <a:solidFill>
            <a:srgbClr val="286F9E"/>
          </a:solidFill>
          <a:ln w="0">
            <a:noFill/>
            <a:prstDash val="solid"/>
          </a:ln>
        </p:spPr>
      </p:sp>
      <p:sp>
        <p:nvSpPr>
          <p:cNvPr id="8" name="矩形 7"/>
          <p:cNvSpPr>
            <a:spLocks noGrp="1"/>
          </p:cNvSpPr>
          <p:nvPr/>
        </p:nvSpPr>
        <p:spPr>
          <a:xfrm>
            <a:off x="933450" y="18097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同一模型、同一工具与 fixture、同一任务集；</a:t>
            </a:r>
            <a:endParaRPr sz="1425" b="0">
              <a:solidFill>
                <a:srgbClr val="18212B"/>
              </a:solidFill>
            </a:endParaRPr>
          </a:p>
        </p:txBody>
      </p:sp>
      <p:sp>
        <p:nvSpPr>
          <p:cNvPr id="9" name="圆角矩形 8"/>
          <p:cNvSpPr>
            <a:spLocks noGrp="1"/>
          </p:cNvSpPr>
          <p:nvPr/>
        </p:nvSpPr>
        <p:spPr>
          <a:xfrm>
            <a:off x="723900" y="25431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933450" y="24574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同一成功条件、timeout 与总调用预算；</a:t>
            </a:r>
            <a:endParaRPr sz="1425" b="0">
              <a:solidFill>
                <a:srgbClr val="18212B"/>
              </a:solidFill>
            </a:endParaRPr>
          </a:p>
        </p:txBody>
      </p:sp>
      <p:sp>
        <p:nvSpPr>
          <p:cNvPr id="11" name="圆角矩形 10"/>
          <p:cNvSpPr>
            <a:spLocks noGrp="1"/>
          </p:cNvSpPr>
          <p:nvPr/>
        </p:nvSpPr>
        <p:spPr>
          <a:xfrm>
            <a:off x="723900" y="319087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933450" y="31051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报告 goal completion、constraint violation、调用次数、延迟；</a:t>
            </a:r>
            <a:endParaRPr sz="1425" b="0">
              <a:solidFill>
                <a:srgbClr val="18212B"/>
              </a:solidFill>
            </a:endParaRPr>
          </a:p>
        </p:txBody>
      </p:sp>
      <p:sp>
        <p:nvSpPr>
          <p:cNvPr id="13" name="圆角矩形 12"/>
          <p:cNvSpPr>
            <a:spLocks noGrp="1"/>
          </p:cNvSpPr>
          <p:nvPr/>
        </p:nvSpPr>
        <p:spPr>
          <a:xfrm>
            <a:off x="723900" y="383857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933450" y="37528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关闭 PlanValidator 做单变量消融；</a:t>
            </a:r>
            <a:endParaRPr sz="1425" b="0">
              <a:solidFill>
                <a:srgbClr val="18212B"/>
              </a:solidFill>
            </a:endParaRPr>
          </a:p>
        </p:txBody>
      </p:sp>
      <p:sp>
        <p:nvSpPr>
          <p:cNvPr id="15" name="圆角矩形 14"/>
          <p:cNvSpPr>
            <a:spLocks noGrp="1"/>
          </p:cNvSpPr>
          <p:nvPr/>
        </p:nvSpPr>
        <p:spPr>
          <a:xfrm>
            <a:off x="723900" y="448627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933450" y="44005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即使 Workflow 获胜，也把它作为正确工程结论。</a:t>
            </a:r>
            <a:endParaRPr sz="1425" b="0">
              <a:solidFill>
                <a:srgbClr val="18212B"/>
              </a:solidFill>
            </a:endParaRPr>
          </a:p>
        </p:txBody>
      </p:sp>
      <p:sp>
        <p:nvSpPr>
          <p:cNvPr id="17" name="圆角矩形 16"/>
          <p:cNvSpPr>
            <a:spLocks noGrp="1"/>
          </p:cNvSpPr>
          <p:nvPr/>
        </p:nvSpPr>
        <p:spPr>
          <a:xfrm>
            <a:off x="6572250" y="2000250"/>
            <a:ext cx="4476750" cy="2381250"/>
          </a:xfrm>
          <a:prstGeom prst="roundRect">
            <a:avLst>
              <a:gd name="adj" fmla="val 3200"/>
            </a:avLst>
          </a:prstGeom>
          <a:solidFill>
            <a:srgbClr val="F6F8FA"/>
          </a:solidFill>
          <a:ln w="9525">
            <a:solidFill>
              <a:srgbClr val="D7E0E7"/>
            </a:solidFill>
            <a:prstDash val="solid"/>
          </a:ln>
        </p:spPr>
      </p:sp>
      <p:sp>
        <p:nvSpPr>
          <p:cNvPr id="18" name="矩形 17"/>
          <p:cNvSpPr>
            <a:spLocks noGrp="1"/>
          </p:cNvSpPr>
          <p:nvPr/>
        </p:nvSpPr>
        <p:spPr>
          <a:xfrm>
            <a:off x="6781800" y="2171700"/>
            <a:ext cx="4057650" cy="2057400"/>
          </a:xfrm>
          <a:prstGeom prst="rect">
            <a:avLst/>
          </a:prstGeom>
          <a:noFill/>
          <a:ln w="0">
            <a:noFill/>
            <a:prstDash val="solid"/>
          </a:ln>
        </p:spPr>
        <p:txBody>
          <a:bodyPr/>
          <a:lstStyle/>
          <a:p>
            <a:pPr algn="l">
              <a:defRPr sz="1425" b="0">
                <a:solidFill>
                  <a:srgbClr val="263238"/>
                </a:solidFill>
              </a:defRPr>
            </a:pPr>
            <a:r>
              <a:rPr sz="1425" b="0">
                <a:solidFill>
                  <a:srgbClr val="263238"/>
                </a:solidFill>
              </a:rPr>
              <a:t>实验问题：</a:t>
            </a:r>
            <a:endParaRPr sz="1425" b="0">
              <a:solidFill>
                <a:srgbClr val="263238"/>
              </a:solidFill>
            </a:endParaRPr>
          </a:p>
          <a:p>
            <a:endParaRPr sz="1425"/>
          </a:p>
          <a:p>
            <a:pPr algn="l">
              <a:defRPr sz="1425" b="0">
                <a:solidFill>
                  <a:srgbClr val="263238"/>
                </a:solidFill>
              </a:defRPr>
            </a:pPr>
            <a:r>
              <a:rPr sz="1425" b="0">
                <a:solidFill>
                  <a:srgbClr val="263238"/>
                </a:solidFill>
              </a:rPr>
              <a:t>加入 Planning 后，完成率提升多少？</a:t>
            </a:r>
            <a:endParaRPr sz="1425" b="0">
              <a:solidFill>
                <a:srgbClr val="263238"/>
              </a:solidFill>
            </a:endParaRPr>
          </a:p>
          <a:p>
            <a:pPr algn="l">
              <a:defRPr sz="1425" b="0">
                <a:solidFill>
                  <a:srgbClr val="263238"/>
                </a:solidFill>
              </a:defRPr>
            </a:pPr>
            <a:r>
              <a:rPr sz="1425" b="0">
                <a:solidFill>
                  <a:srgbClr val="263238"/>
                </a:solidFill>
              </a:rPr>
              <a:t>平均多付出多少模型/工具调用？</a:t>
            </a:r>
            <a:endParaRPr sz="1425" b="0">
              <a:solidFill>
                <a:srgbClr val="263238"/>
              </a:solidFill>
            </a:endParaRPr>
          </a:p>
          <a:p>
            <a:pPr algn="l">
              <a:defRPr sz="1425" b="0">
                <a:solidFill>
                  <a:srgbClr val="263238"/>
                </a:solidFill>
              </a:defRPr>
            </a:pPr>
            <a:r>
              <a:rPr sz="1425" b="0">
                <a:solidFill>
                  <a:srgbClr val="263238"/>
                </a:solidFill>
              </a:rPr>
              <a:t>哪些失败被修复，哪些新失败被引入？</a:t>
            </a:r>
            <a:endParaRPr sz="1425" b="0">
              <a:solidFill>
                <a:srgbClr val="263238"/>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规划的价值不是“步骤看起来更完整”，而是在相同资源约束下提高目标完成并减少约束违规。</a:t>
            </a:r>
            <a:endParaRPr sz="1350" b="1">
              <a:solidFill>
                <a:srgbClr val="163A5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5</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479425" y="1772285"/>
            <a:ext cx="5227955" cy="1334770"/>
          </a:xfrm>
          <a:prstGeom prst="rect">
            <a:avLst/>
          </a:prstGeom>
        </p:spPr>
        <p:txBody>
          <a:bodyPr>
            <a:noAutofit/>
          </a:bodyPr>
          <a:p>
            <a:r>
              <a:rPr lang="en-US" altLang="zh-CN" sz="1600"/>
              <a:t>Lesson 1</a:t>
            </a:r>
            <a:r>
              <a:rPr lang="zh-CN" altLang="en-US" sz="1600"/>
              <a:t>：</a:t>
            </a:r>
            <a:r>
              <a:rPr lang="en-US" altLang="zh-CN" sz="1600"/>
              <a:t>Agent </a:t>
            </a:r>
            <a:r>
              <a:rPr lang="zh-CN" altLang="en-US" sz="1600"/>
              <a:t>拥有运行时决策权</a:t>
            </a:r>
            <a:endParaRPr lang="zh-CN" altLang="en-US" sz="1600"/>
          </a:p>
          <a:p>
            <a:r>
              <a:rPr lang="en-US" altLang="zh-CN" sz="1600"/>
              <a:t>Lesson 2</a:t>
            </a:r>
            <a:r>
              <a:rPr lang="zh-CN" altLang="en-US" sz="1600"/>
              <a:t>：决策必须受协议、预算和终止约束</a:t>
            </a:r>
            <a:endParaRPr lang="zh-CN" altLang="en-US" sz="1600"/>
          </a:p>
          <a:p>
            <a:r>
              <a:rPr lang="en-US" altLang="zh-CN" sz="1600"/>
              <a:t>Lesson 3</a:t>
            </a:r>
            <a:r>
              <a:rPr lang="zh-CN" altLang="en-US" sz="1600"/>
              <a:t>：环境动作必须受</a:t>
            </a:r>
            <a:r>
              <a:rPr lang="en-US" altLang="zh-CN" sz="1600"/>
              <a:t> Tool Runtime </a:t>
            </a:r>
            <a:r>
              <a:rPr lang="zh-CN" altLang="en-US" sz="1600"/>
              <a:t>约束</a:t>
            </a:r>
            <a:endParaRPr lang="zh-CN" altLang="en-US" sz="1600"/>
          </a:p>
          <a:p>
            <a:r>
              <a:rPr lang="en-US" altLang="zh-CN" sz="1600"/>
              <a:t>Lesson 4</a:t>
            </a:r>
            <a:r>
              <a:rPr lang="zh-CN" altLang="en-US" sz="1600"/>
              <a:t>：结论必须有证据支撑</a:t>
            </a:r>
            <a:endParaRPr lang="zh-CN" altLang="en-US" sz="1600"/>
          </a:p>
          <a:p>
            <a:r>
              <a:rPr lang="en-US" altLang="zh-CN" sz="1600"/>
              <a:t>Lesson 5</a:t>
            </a:r>
            <a:r>
              <a:rPr lang="zh-CN" altLang="en-US" sz="1600"/>
              <a:t>：多步骤任务如何组织、验证、执行和修正</a:t>
            </a:r>
            <a:endParaRPr lang="zh-CN" altLang="en-US" sz="1600"/>
          </a:p>
        </p:txBody>
      </p:sp>
      <p:sp>
        <p:nvSpPr>
          <p:cNvPr id="7" name="文本框 6"/>
          <p:cNvSpPr txBox="1"/>
          <p:nvPr/>
        </p:nvSpPr>
        <p:spPr>
          <a:xfrm>
            <a:off x="335280" y="3356610"/>
            <a:ext cx="4064000" cy="645160"/>
          </a:xfrm>
          <a:prstGeom prst="rect">
            <a:avLst/>
          </a:prstGeom>
          <a:noFill/>
        </p:spPr>
        <p:txBody>
          <a:bodyPr wrap="square" rtlCol="0">
            <a:spAutoFit/>
          </a:bodyPr>
          <a:p>
            <a:r>
              <a:rPr lang="en-US" altLang="zh-CN"/>
              <a:t>s1</a:t>
            </a:r>
            <a:r>
              <a:rPr lang="zh-CN" altLang="en-US"/>
              <a:t>：选择酒店，依赖</a:t>
            </a:r>
            <a:r>
              <a:rPr lang="en-US" altLang="zh-CN"/>
              <a:t> s2</a:t>
            </a:r>
            <a:endParaRPr lang="en-US" altLang="zh-CN"/>
          </a:p>
          <a:p>
            <a:r>
              <a:rPr lang="en-US" altLang="zh-CN"/>
              <a:t>s2</a:t>
            </a:r>
            <a:r>
              <a:rPr lang="zh-CN" altLang="en-US"/>
              <a:t>：计算总价，依赖</a:t>
            </a:r>
            <a:r>
              <a:rPr lang="en-US" altLang="zh-CN"/>
              <a:t> s1</a:t>
            </a:r>
            <a:endParaRPr lang="en-US" altLang="zh-CN"/>
          </a:p>
        </p:txBody>
      </p:sp>
      <p:pic>
        <p:nvPicPr>
          <p:cNvPr id="8" name="图片 7"/>
          <p:cNvPicPr>
            <a:picLocks noChangeAspect="1"/>
          </p:cNvPicPr>
          <p:nvPr/>
        </p:nvPicPr>
        <p:blipFill>
          <a:blip r:embed="rId1"/>
          <a:stretch>
            <a:fillRect/>
          </a:stretch>
        </p:blipFill>
        <p:spPr>
          <a:xfrm>
            <a:off x="407670" y="4004945"/>
            <a:ext cx="7893050" cy="609600"/>
          </a:xfrm>
          <a:prstGeom prst="rect">
            <a:avLst/>
          </a:prstGeom>
        </p:spPr>
      </p:pic>
      <p:sp>
        <p:nvSpPr>
          <p:cNvPr id="9" name="文本框 8"/>
          <p:cNvSpPr txBox="1"/>
          <p:nvPr/>
        </p:nvSpPr>
        <p:spPr>
          <a:xfrm>
            <a:off x="407670" y="4796790"/>
            <a:ext cx="4064000" cy="645160"/>
          </a:xfrm>
          <a:prstGeom prst="rect">
            <a:avLst/>
          </a:prstGeom>
          <a:noFill/>
        </p:spPr>
        <p:txBody>
          <a:bodyPr wrap="square" rtlCol="0">
            <a:spAutoFit/>
          </a:bodyPr>
          <a:p>
            <a:r>
              <a:rPr lang="en-US" altLang="zh-CN"/>
              <a:t>Planner </a:t>
            </a:r>
            <a:r>
              <a:rPr lang="zh-CN" altLang="en-US"/>
              <a:t>只能提出计划，</a:t>
            </a:r>
            <a:r>
              <a:rPr lang="en-US" altLang="zh-CN"/>
              <a:t>Validator </a:t>
            </a:r>
            <a:r>
              <a:rPr lang="zh-CN" altLang="en-US"/>
              <a:t>决定计划能否进入执行阶段。</a:t>
            </a:r>
            <a:endParaRPr lang="zh-CN" altLang="en-US"/>
          </a:p>
        </p:txBody>
      </p:sp>
      <p:sp>
        <p:nvSpPr>
          <p:cNvPr id="10" name="文本框 9"/>
          <p:cNvSpPr txBox="1"/>
          <p:nvPr/>
        </p:nvSpPr>
        <p:spPr>
          <a:xfrm>
            <a:off x="7607935" y="1458595"/>
            <a:ext cx="4064000" cy="2306955"/>
          </a:xfrm>
          <a:prstGeom prst="rect">
            <a:avLst/>
          </a:prstGeom>
          <a:noFill/>
        </p:spPr>
        <p:txBody>
          <a:bodyPr wrap="square" rtlCol="0">
            <a:spAutoFit/>
          </a:bodyPr>
          <a:p>
            <a:r>
              <a:rPr lang="zh-CN" altLang="en-US"/>
              <a:t>类比编译器：</a:t>
            </a:r>
            <a:endParaRPr lang="zh-CN" altLang="en-US"/>
          </a:p>
          <a:p>
            <a:r>
              <a:rPr lang="en-US" altLang="zh-CN"/>
              <a:t>Planner          </a:t>
            </a:r>
            <a:r>
              <a:rPr lang="en-US" altLang="en-US"/>
              <a:t>→</a:t>
            </a:r>
            <a:r>
              <a:rPr lang="en-US" altLang="zh-CN"/>
              <a:t> </a:t>
            </a:r>
            <a:r>
              <a:rPr lang="zh-CN" altLang="en-US"/>
              <a:t>写程序</a:t>
            </a:r>
            <a:endParaRPr lang="zh-CN" altLang="en-US"/>
          </a:p>
          <a:p>
            <a:r>
              <a:rPr lang="en-US" altLang="zh-CN"/>
              <a:t>PlanValidator    </a:t>
            </a:r>
            <a:r>
              <a:rPr lang="en-US" altLang="en-US"/>
              <a:t>→</a:t>
            </a:r>
            <a:r>
              <a:rPr lang="en-US" altLang="zh-CN"/>
              <a:t> </a:t>
            </a:r>
            <a:r>
              <a:rPr lang="zh-CN" altLang="en-US"/>
              <a:t>编译器</a:t>
            </a:r>
            <a:endParaRPr lang="zh-CN" altLang="en-US"/>
          </a:p>
          <a:p>
            <a:r>
              <a:rPr lang="en-US" altLang="zh-CN"/>
              <a:t>Executor         </a:t>
            </a:r>
            <a:r>
              <a:rPr lang="en-US" altLang="en-US"/>
              <a:t>→</a:t>
            </a:r>
            <a:r>
              <a:rPr lang="en-US" altLang="zh-CN"/>
              <a:t> </a:t>
            </a:r>
            <a:r>
              <a:rPr lang="zh-CN" altLang="en-US"/>
              <a:t>运行时</a:t>
            </a:r>
            <a:endParaRPr lang="zh-CN" altLang="en-US"/>
          </a:p>
          <a:p>
            <a:r>
              <a:rPr lang="en-US" altLang="zh-CN"/>
              <a:t>StepVerifier     </a:t>
            </a:r>
            <a:r>
              <a:rPr lang="en-US" altLang="en-US"/>
              <a:t>→</a:t>
            </a:r>
            <a:r>
              <a:rPr lang="en-US" altLang="zh-CN"/>
              <a:t> </a:t>
            </a:r>
            <a:r>
              <a:rPr lang="zh-CN" altLang="en-US"/>
              <a:t>局部断言</a:t>
            </a:r>
            <a:endParaRPr lang="zh-CN" altLang="en-US"/>
          </a:p>
          <a:p>
            <a:r>
              <a:rPr lang="en-US" altLang="zh-CN"/>
              <a:t>GoalVerifier     </a:t>
            </a:r>
            <a:r>
              <a:rPr lang="en-US" altLang="en-US"/>
              <a:t>→</a:t>
            </a:r>
            <a:r>
              <a:rPr lang="en-US" altLang="zh-CN"/>
              <a:t> </a:t>
            </a:r>
            <a:r>
              <a:rPr lang="zh-CN" altLang="en-US"/>
              <a:t>程序后置条件</a:t>
            </a:r>
            <a:endParaRPr lang="zh-CN" altLang="en-US"/>
          </a:p>
          <a:p>
            <a:r>
              <a:rPr lang="en-US" altLang="zh-CN"/>
              <a:t>RePlan           </a:t>
            </a:r>
            <a:r>
              <a:rPr lang="en-US" altLang="en-US"/>
              <a:t>→</a:t>
            </a:r>
            <a:r>
              <a:rPr lang="en-US" altLang="zh-CN"/>
              <a:t> </a:t>
            </a:r>
            <a:r>
              <a:rPr lang="zh-CN" altLang="en-US"/>
              <a:t>基于运行结果生成新程序</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5</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en-US" altLang="zh-CN" sz="2700" b="1">
                <a:solidFill>
                  <a:srgbClr val="18212B"/>
                </a:solidFill>
                <a:ea typeface="宋体" panose="02010600030101010101" pitchFamily="2" charset="-122"/>
              </a:rPr>
              <a:t>RePlan </a:t>
            </a:r>
            <a:r>
              <a:rPr lang="zh-CN" altLang="en-US" sz="2700" b="1">
                <a:solidFill>
                  <a:srgbClr val="18212B"/>
                </a:solidFill>
                <a:ea typeface="宋体" panose="02010600030101010101" pitchFamily="2" charset="-122"/>
              </a:rPr>
              <a:t>不是重新开始</a:t>
            </a:r>
            <a:endParaRPr lang="zh-CN" altLang="en-US"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479425" y="1412240"/>
            <a:ext cx="5227955" cy="1334770"/>
          </a:xfrm>
          <a:prstGeom prst="rect">
            <a:avLst/>
          </a:prstGeom>
        </p:spPr>
        <p:txBody>
          <a:bodyPr>
            <a:noAutofit/>
          </a:bodyPr>
          <a:p>
            <a:r>
              <a:rPr lang="zh-CN" altLang="en-US" sz="1600"/>
              <a:t>旧计划：</a:t>
            </a:r>
            <a:endParaRPr lang="zh-CN" altLang="en-US" sz="1600"/>
          </a:p>
          <a:p>
            <a:r>
              <a:rPr lang="en-US" altLang="zh-CN" sz="1600"/>
              <a:t>transport(date=08-01)</a:t>
            </a:r>
            <a:endParaRPr lang="en-US" altLang="zh-CN" sz="1600"/>
          </a:p>
          <a:p>
            <a:r>
              <a:rPr lang="en-US" altLang="zh-CN" sz="1600"/>
              <a:t>hotel(date=08-01)</a:t>
            </a:r>
            <a:endParaRPr lang="en-US" altLang="zh-CN" sz="1600"/>
          </a:p>
          <a:p>
            <a:endParaRPr lang="en-US" altLang="zh-CN" sz="1600"/>
          </a:p>
          <a:p>
            <a:r>
              <a:rPr lang="zh-CN" altLang="en-US" sz="1600"/>
              <a:t>用户只把酒店日期改成</a:t>
            </a:r>
            <a:r>
              <a:rPr lang="en-US" altLang="zh-CN" sz="1600"/>
              <a:t> 08-02</a:t>
            </a:r>
            <a:endParaRPr lang="en-US" altLang="zh-CN" sz="1600"/>
          </a:p>
          <a:p>
            <a:endParaRPr lang="en-US" altLang="zh-CN" sz="1600"/>
          </a:p>
          <a:p>
            <a:endParaRPr lang="en-US" altLang="zh-CN" sz="1600"/>
          </a:p>
        </p:txBody>
      </p:sp>
      <p:sp>
        <p:nvSpPr>
          <p:cNvPr id="7" name="文本框 6"/>
          <p:cNvSpPr txBox="1"/>
          <p:nvPr/>
        </p:nvSpPr>
        <p:spPr>
          <a:xfrm>
            <a:off x="407670" y="2795905"/>
            <a:ext cx="4064000" cy="1476375"/>
          </a:xfrm>
          <a:prstGeom prst="rect">
            <a:avLst/>
          </a:prstGeom>
          <a:noFill/>
        </p:spPr>
        <p:txBody>
          <a:bodyPr wrap="square" rtlCol="0">
            <a:spAutoFit/>
          </a:bodyPr>
          <a:p>
            <a:r>
              <a:rPr lang="zh-CN" altLang="en-US"/>
              <a:t>交通结果还能不能用？</a:t>
            </a:r>
            <a:endParaRPr lang="zh-CN" altLang="en-US"/>
          </a:p>
          <a:p>
            <a:r>
              <a:rPr lang="zh-CN" altLang="en-US"/>
              <a:t>酒店结果还能不能用？</a:t>
            </a:r>
            <a:endParaRPr lang="zh-CN" altLang="en-US"/>
          </a:p>
          <a:p>
            <a:r>
              <a:rPr lang="zh-CN" altLang="en-US"/>
              <a:t>新计划是否要把所有</a:t>
            </a:r>
            <a:r>
              <a:rPr lang="en-US" altLang="zh-CN"/>
              <a:t> Tool </a:t>
            </a:r>
            <a:r>
              <a:rPr lang="zh-CN" altLang="en-US"/>
              <a:t>重跑一遍？</a:t>
            </a:r>
            <a:endParaRPr lang="zh-CN" altLang="en-US"/>
          </a:p>
          <a:p>
            <a:r>
              <a:rPr lang="zh-CN" altLang="en-US"/>
              <a:t>如果</a:t>
            </a:r>
            <a:r>
              <a:rPr lang="en-US" altLang="zh-CN"/>
              <a:t> Planner </a:t>
            </a:r>
            <a:r>
              <a:rPr lang="zh-CN" altLang="en-US"/>
              <a:t>连续生成相同错误计划怎么办？</a:t>
            </a:r>
            <a:endParaRPr lang="zh-CN" altLang="en-US"/>
          </a:p>
        </p:txBody>
      </p:sp>
      <p:pic>
        <p:nvPicPr>
          <p:cNvPr id="12" name="图片 11"/>
          <p:cNvPicPr>
            <a:picLocks noChangeAspect="1"/>
          </p:cNvPicPr>
          <p:nvPr/>
        </p:nvPicPr>
        <p:blipFill>
          <a:blip r:embed="rId1"/>
          <a:stretch>
            <a:fillRect/>
          </a:stretch>
        </p:blipFill>
        <p:spPr>
          <a:xfrm>
            <a:off x="551180" y="4281805"/>
            <a:ext cx="8058150" cy="1701800"/>
          </a:xfrm>
          <a:prstGeom prst="rect">
            <a:avLst/>
          </a:prstGeom>
        </p:spPr>
      </p:pic>
      <p:sp>
        <p:nvSpPr>
          <p:cNvPr id="13" name="文本框 12"/>
          <p:cNvSpPr txBox="1"/>
          <p:nvPr/>
        </p:nvSpPr>
        <p:spPr>
          <a:xfrm>
            <a:off x="479425" y="6083935"/>
            <a:ext cx="7052310" cy="368300"/>
          </a:xfrm>
          <a:prstGeom prst="rect">
            <a:avLst/>
          </a:prstGeom>
          <a:noFill/>
        </p:spPr>
        <p:txBody>
          <a:bodyPr wrap="square" rtlCol="0">
            <a:spAutoFit/>
          </a:bodyPr>
          <a:p>
            <a:r>
              <a:rPr lang="en-US" altLang="zh-CN"/>
              <a:t>RePlan </a:t>
            </a:r>
            <a:r>
              <a:rPr lang="zh-CN" altLang="en-US"/>
              <a:t>是带状态迁移的计划修订，不是删除历史并重新开始。</a:t>
            </a: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5</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zh-CN" altLang="en-US"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479425" y="1412240"/>
            <a:ext cx="5227955" cy="1334770"/>
          </a:xfrm>
          <a:prstGeom prst="rect">
            <a:avLst/>
          </a:prstGeom>
        </p:spPr>
        <p:txBody>
          <a:bodyPr>
            <a:noAutofit/>
          </a:bodyPr>
          <a:p>
            <a:endParaRPr lang="en-US" altLang="zh-CN" sz="1600"/>
          </a:p>
        </p:txBody>
      </p:sp>
      <p:sp>
        <p:nvSpPr>
          <p:cNvPr id="7" name="文本框 6"/>
          <p:cNvSpPr txBox="1"/>
          <p:nvPr/>
        </p:nvSpPr>
        <p:spPr>
          <a:xfrm>
            <a:off x="407670" y="2795905"/>
            <a:ext cx="9149715" cy="922020"/>
          </a:xfrm>
          <a:prstGeom prst="rect">
            <a:avLst/>
          </a:prstGeom>
          <a:noFill/>
        </p:spPr>
        <p:txBody>
          <a:bodyPr wrap="square" rtlCol="0">
            <a:spAutoFit/>
          </a:bodyPr>
          <a:p>
            <a:r>
              <a:rPr lang="en-US" altLang="zh-CN"/>
              <a:t>Planning Agent </a:t>
            </a:r>
            <a:r>
              <a:rPr lang="zh-CN" altLang="en-US"/>
              <a:t>的能力，不在于它能列出多少步骤，而在于系统能否把计划当作一段不可信程序进行验证、执行、观察和修正。真正可靠的</a:t>
            </a:r>
            <a:r>
              <a:rPr lang="en-US" altLang="zh-CN"/>
              <a:t> Planning</a:t>
            </a:r>
            <a:r>
              <a:rPr lang="zh-CN" altLang="en-US"/>
              <a:t>，是</a:t>
            </a:r>
            <a:r>
              <a:rPr lang="en-US" altLang="zh-CN"/>
              <a:t> Validator</a:t>
            </a:r>
            <a:r>
              <a:rPr lang="zh-CN" altLang="en-US"/>
              <a:t>、依赖图、执行状态机、</a:t>
            </a:r>
            <a:r>
              <a:rPr lang="en-US" altLang="zh-CN"/>
              <a:t>StepVerifier</a:t>
            </a:r>
            <a:r>
              <a:rPr lang="zh-CN" altLang="en-US"/>
              <a:t>、</a:t>
            </a:r>
            <a:r>
              <a:rPr lang="en-US" altLang="zh-CN"/>
              <a:t>GoalVerifier</a:t>
            </a:r>
            <a:r>
              <a:rPr lang="zh-CN" altLang="en-US"/>
              <a:t>、预算和有限</a:t>
            </a:r>
            <a:r>
              <a:rPr lang="en-US" altLang="zh-CN"/>
              <a:t> RePlan </a:t>
            </a:r>
            <a:r>
              <a:rPr lang="zh-CN" altLang="en-US"/>
              <a:t>的组合。</a:t>
            </a: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163A5F"/>
                </a:solidFill>
              </a:defRPr>
            </a:pPr>
            <a:r>
              <a:rPr sz="6000" b="1">
                <a:solidFill>
                  <a:srgbClr val="163A5F"/>
                </a:solidFill>
              </a:rPr>
              <a:t>06</a:t>
            </a:r>
            <a:endParaRPr sz="6000" b="1">
              <a:solidFill>
                <a:srgbClr val="163A5F"/>
              </a:solidFill>
            </a:endParaRPr>
          </a:p>
        </p:txBody>
      </p:sp>
      <p:sp>
        <p:nvSpPr>
          <p:cNvPr id="3" name="矩形 2"/>
          <p:cNvSpPr>
            <a:spLocks noGrp="1"/>
          </p:cNvSpPr>
          <p:nvPr/>
        </p:nvSpPr>
        <p:spPr>
          <a:xfrm>
            <a:off x="800100" y="2266950"/>
            <a:ext cx="1714500" cy="38100"/>
          </a:xfrm>
          <a:prstGeom prst="rect">
            <a:avLst/>
          </a:prstGeom>
          <a:solidFill>
            <a:srgbClr val="163A5F"/>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Agent Evaluation</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把单次 Demo 升级为可复现的测量系统：效果、成本、稳定性与失败边界。</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163A5F"/>
                </a:solidFill>
              </a:defRPr>
            </a:pPr>
            <a:r>
              <a:rPr sz="1350" b="1">
                <a:solidFill>
                  <a:srgbClr val="163A5F"/>
                </a:solidFill>
              </a:rPr>
              <a:t>原理  →  实现  →  故障  →  评测</a:t>
            </a:r>
            <a:endParaRPr sz="1350" b="1">
              <a:solidFill>
                <a:srgbClr val="163A5F"/>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42</a:t>
            </a:r>
            <a:endParaRPr sz="825" b="0">
              <a:solidFill>
                <a:srgbClr val="7D8994"/>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四层测试把失败定位到不同抽象层</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只测最终答案会把检索、工具、决策和汇总错误混在一起</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43</a:t>
            </a:r>
            <a:endParaRPr sz="825" b="0">
              <a:solidFill>
                <a:srgbClr val="7D8994"/>
              </a:solidFill>
            </a:endParaRPr>
          </a:p>
        </p:txBody>
      </p:sp>
      <p:sp>
        <p:nvSpPr>
          <p:cNvPr id="7" name="圆角矩形 6"/>
          <p:cNvSpPr>
            <a:spLocks noGrp="1"/>
          </p:cNvSpPr>
          <p:nvPr/>
        </p:nvSpPr>
        <p:spPr>
          <a:xfrm>
            <a:off x="1428750" y="1762125"/>
            <a:ext cx="9334500" cy="647700"/>
          </a:xfrm>
          <a:prstGeom prst="roundRect">
            <a:avLst>
              <a:gd name="adj" fmla="val 11765"/>
            </a:avLst>
          </a:prstGeom>
          <a:solidFill>
            <a:srgbClr val="EAF2F8"/>
          </a:solidFill>
          <a:ln w="9525">
            <a:solidFill>
              <a:srgbClr val="D7E0E7"/>
            </a:solidFill>
            <a:prstDash val="solid"/>
          </a:ln>
        </p:spPr>
      </p:sp>
      <p:sp>
        <p:nvSpPr>
          <p:cNvPr id="8" name="矩形 7"/>
          <p:cNvSpPr>
            <a:spLocks noGrp="1"/>
          </p:cNvSpPr>
          <p:nvPr/>
        </p:nvSpPr>
        <p:spPr>
          <a:xfrm>
            <a:off x="1714500" y="1924050"/>
            <a:ext cx="1809750" cy="285750"/>
          </a:xfrm>
          <a:prstGeom prst="rect">
            <a:avLst/>
          </a:prstGeom>
          <a:noFill/>
          <a:ln w="0">
            <a:noFill/>
            <a:prstDash val="solid"/>
          </a:ln>
        </p:spPr>
        <p:txBody>
          <a:bodyPr/>
          <a:lstStyle/>
          <a:p>
            <a:pPr algn="l">
              <a:defRPr sz="1500" b="1">
                <a:solidFill>
                  <a:srgbClr val="286F9E"/>
                </a:solidFill>
              </a:defRPr>
            </a:pPr>
            <a:r>
              <a:rPr sz="1500" b="1">
                <a:solidFill>
                  <a:srgbClr val="286F9E"/>
                </a:solidFill>
              </a:rPr>
              <a:t>Unit</a:t>
            </a:r>
            <a:endParaRPr sz="1500" b="1">
              <a:solidFill>
                <a:srgbClr val="286F9E"/>
              </a:solidFill>
            </a:endParaRPr>
          </a:p>
        </p:txBody>
      </p:sp>
      <p:sp>
        <p:nvSpPr>
          <p:cNvPr id="9" name="矩形 8"/>
          <p:cNvSpPr>
            <a:spLocks noGrp="1"/>
          </p:cNvSpPr>
          <p:nvPr/>
        </p:nvSpPr>
        <p:spPr>
          <a:xfrm>
            <a:off x="3714750" y="1866900"/>
            <a:ext cx="647700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纯函数与状态</a:t>
            </a:r>
            <a:endParaRPr sz="1275" b="0">
              <a:solidFill>
                <a:srgbClr val="18212B"/>
              </a:solidFill>
            </a:endParaRPr>
          </a:p>
          <a:p>
            <a:pPr algn="l">
              <a:defRPr sz="1275" b="0">
                <a:solidFill>
                  <a:srgbClr val="18212B"/>
                </a:solidFill>
              </a:defRPr>
            </a:pPr>
            <a:r>
              <a:rPr sz="1275" b="0">
                <a:solidFill>
                  <a:srgbClr val="18212B"/>
                </a:solidFill>
              </a:rPr>
              <a:t>预算、Reducer、指标</a:t>
            </a:r>
            <a:endParaRPr sz="1275" b="0">
              <a:solidFill>
                <a:srgbClr val="18212B"/>
              </a:solidFill>
            </a:endParaRPr>
          </a:p>
        </p:txBody>
      </p:sp>
      <p:sp>
        <p:nvSpPr>
          <p:cNvPr id="10" name="圆角矩形 9"/>
          <p:cNvSpPr>
            <a:spLocks noGrp="1"/>
          </p:cNvSpPr>
          <p:nvPr/>
        </p:nvSpPr>
        <p:spPr>
          <a:xfrm>
            <a:off x="2143125" y="2581275"/>
            <a:ext cx="7905750" cy="647700"/>
          </a:xfrm>
          <a:prstGeom prst="roundRect">
            <a:avLst>
              <a:gd name="adj" fmla="val 11765"/>
            </a:avLst>
          </a:prstGeom>
          <a:solidFill>
            <a:srgbClr val="EAF5F4"/>
          </a:solidFill>
          <a:ln w="9525">
            <a:solidFill>
              <a:srgbClr val="D7E0E7"/>
            </a:solidFill>
            <a:prstDash val="solid"/>
          </a:ln>
        </p:spPr>
      </p:sp>
      <p:sp>
        <p:nvSpPr>
          <p:cNvPr id="11" name="矩形 10"/>
          <p:cNvSpPr>
            <a:spLocks noGrp="1"/>
          </p:cNvSpPr>
          <p:nvPr/>
        </p:nvSpPr>
        <p:spPr>
          <a:xfrm>
            <a:off x="2428875" y="2743200"/>
            <a:ext cx="1809750" cy="285750"/>
          </a:xfrm>
          <a:prstGeom prst="rect">
            <a:avLst/>
          </a:prstGeom>
          <a:noFill/>
          <a:ln w="0">
            <a:noFill/>
            <a:prstDash val="solid"/>
          </a:ln>
        </p:spPr>
        <p:txBody>
          <a:bodyPr/>
          <a:lstStyle/>
          <a:p>
            <a:pPr algn="l">
              <a:defRPr sz="1500" b="1">
                <a:solidFill>
                  <a:srgbClr val="2C7A7B"/>
                </a:solidFill>
              </a:defRPr>
            </a:pPr>
            <a:r>
              <a:rPr sz="1500" b="1">
                <a:solidFill>
                  <a:srgbClr val="2C7A7B"/>
                </a:solidFill>
              </a:rPr>
              <a:t>Contract</a:t>
            </a:r>
            <a:endParaRPr sz="1500" b="1">
              <a:solidFill>
                <a:srgbClr val="2C7A7B"/>
              </a:solidFill>
            </a:endParaRPr>
          </a:p>
        </p:txBody>
      </p:sp>
      <p:sp>
        <p:nvSpPr>
          <p:cNvPr id="12" name="矩形 11"/>
          <p:cNvSpPr>
            <a:spLocks noGrp="1"/>
          </p:cNvSpPr>
          <p:nvPr/>
        </p:nvSpPr>
        <p:spPr>
          <a:xfrm>
            <a:off x="4238625" y="2686050"/>
            <a:ext cx="504825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组件边界</a:t>
            </a:r>
            <a:endParaRPr sz="1275" b="0">
              <a:solidFill>
                <a:srgbClr val="18212B"/>
              </a:solidFill>
            </a:endParaRPr>
          </a:p>
          <a:p>
            <a:pPr algn="l">
              <a:defRPr sz="1275" b="0">
                <a:solidFill>
                  <a:srgbClr val="18212B"/>
                </a:solidFill>
              </a:defRPr>
            </a:pPr>
            <a:r>
              <a:rPr sz="1275" b="0">
                <a:solidFill>
                  <a:srgbClr val="18212B"/>
                </a:solidFill>
              </a:rPr>
              <a:t>schema、超时、权限</a:t>
            </a:r>
            <a:endParaRPr sz="1275" b="0">
              <a:solidFill>
                <a:srgbClr val="18212B"/>
              </a:solidFill>
            </a:endParaRPr>
          </a:p>
        </p:txBody>
      </p:sp>
      <p:sp>
        <p:nvSpPr>
          <p:cNvPr id="13" name="圆角矩形 12"/>
          <p:cNvSpPr>
            <a:spLocks noGrp="1"/>
          </p:cNvSpPr>
          <p:nvPr/>
        </p:nvSpPr>
        <p:spPr>
          <a:xfrm>
            <a:off x="2857500" y="3400425"/>
            <a:ext cx="6477000" cy="647700"/>
          </a:xfrm>
          <a:prstGeom prst="roundRect">
            <a:avLst>
              <a:gd name="adj" fmla="val 11765"/>
            </a:avLst>
          </a:prstGeom>
          <a:solidFill>
            <a:srgbClr val="EAF2F8"/>
          </a:solidFill>
          <a:ln w="9525">
            <a:solidFill>
              <a:srgbClr val="D7E0E7"/>
            </a:solidFill>
            <a:prstDash val="solid"/>
          </a:ln>
        </p:spPr>
      </p:sp>
      <p:sp>
        <p:nvSpPr>
          <p:cNvPr id="14" name="矩形 13"/>
          <p:cNvSpPr>
            <a:spLocks noGrp="1"/>
          </p:cNvSpPr>
          <p:nvPr/>
        </p:nvSpPr>
        <p:spPr>
          <a:xfrm>
            <a:off x="3143250" y="3562350"/>
            <a:ext cx="1809750" cy="285750"/>
          </a:xfrm>
          <a:prstGeom prst="rect">
            <a:avLst/>
          </a:prstGeom>
          <a:noFill/>
          <a:ln w="0">
            <a:noFill/>
            <a:prstDash val="solid"/>
          </a:ln>
        </p:spPr>
        <p:txBody>
          <a:bodyPr/>
          <a:lstStyle/>
          <a:p>
            <a:pPr algn="l">
              <a:defRPr sz="1500" b="1">
                <a:solidFill>
                  <a:srgbClr val="286F9E"/>
                </a:solidFill>
              </a:defRPr>
            </a:pPr>
            <a:r>
              <a:rPr sz="1500" b="1">
                <a:solidFill>
                  <a:srgbClr val="286F9E"/>
                </a:solidFill>
              </a:rPr>
              <a:t>Trajectory</a:t>
            </a:r>
            <a:endParaRPr sz="1500" b="1">
              <a:solidFill>
                <a:srgbClr val="286F9E"/>
              </a:solidFill>
            </a:endParaRPr>
          </a:p>
        </p:txBody>
      </p:sp>
      <p:sp>
        <p:nvSpPr>
          <p:cNvPr id="15" name="矩形 14"/>
          <p:cNvSpPr>
            <a:spLocks noGrp="1"/>
          </p:cNvSpPr>
          <p:nvPr/>
        </p:nvSpPr>
        <p:spPr>
          <a:xfrm>
            <a:off x="4762500" y="3505200"/>
            <a:ext cx="361950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行为过程</a:t>
            </a:r>
            <a:endParaRPr sz="1275" b="0">
              <a:solidFill>
                <a:srgbClr val="18212B"/>
              </a:solidFill>
            </a:endParaRPr>
          </a:p>
          <a:p>
            <a:pPr algn="l">
              <a:defRPr sz="1275" b="0">
                <a:solidFill>
                  <a:srgbClr val="18212B"/>
                </a:solidFill>
              </a:defRPr>
            </a:pPr>
            <a:r>
              <a:rPr sz="1275" b="0">
                <a:solidFill>
                  <a:srgbClr val="18212B"/>
                </a:solidFill>
              </a:rPr>
              <a:t>恢复、重复、终止</a:t>
            </a:r>
            <a:endParaRPr sz="1275" b="0">
              <a:solidFill>
                <a:srgbClr val="18212B"/>
              </a:solidFill>
            </a:endParaRPr>
          </a:p>
        </p:txBody>
      </p:sp>
      <p:sp>
        <p:nvSpPr>
          <p:cNvPr id="16" name="圆角矩形 15"/>
          <p:cNvSpPr>
            <a:spLocks noGrp="1"/>
          </p:cNvSpPr>
          <p:nvPr/>
        </p:nvSpPr>
        <p:spPr>
          <a:xfrm>
            <a:off x="3571875" y="4219575"/>
            <a:ext cx="5048250" cy="647700"/>
          </a:xfrm>
          <a:prstGeom prst="roundRect">
            <a:avLst>
              <a:gd name="adj" fmla="val 11765"/>
            </a:avLst>
          </a:prstGeom>
          <a:solidFill>
            <a:srgbClr val="EAF5F4"/>
          </a:solidFill>
          <a:ln w="9525">
            <a:solidFill>
              <a:srgbClr val="D7E0E7"/>
            </a:solidFill>
            <a:prstDash val="solid"/>
          </a:ln>
        </p:spPr>
      </p:sp>
      <p:sp>
        <p:nvSpPr>
          <p:cNvPr id="17" name="矩形 16"/>
          <p:cNvSpPr>
            <a:spLocks noGrp="1"/>
          </p:cNvSpPr>
          <p:nvPr/>
        </p:nvSpPr>
        <p:spPr>
          <a:xfrm>
            <a:off x="3857625" y="4381500"/>
            <a:ext cx="1809750" cy="285750"/>
          </a:xfrm>
          <a:prstGeom prst="rect">
            <a:avLst/>
          </a:prstGeom>
          <a:noFill/>
          <a:ln w="0">
            <a:noFill/>
            <a:prstDash val="solid"/>
          </a:ln>
        </p:spPr>
        <p:txBody>
          <a:bodyPr/>
          <a:lstStyle/>
          <a:p>
            <a:pPr algn="l">
              <a:defRPr sz="1500" b="1">
                <a:solidFill>
                  <a:srgbClr val="2C7A7B"/>
                </a:solidFill>
              </a:defRPr>
            </a:pPr>
            <a:r>
              <a:rPr sz="1500" b="1">
                <a:solidFill>
                  <a:srgbClr val="2C7A7B"/>
                </a:solidFill>
              </a:rPr>
              <a:t>End-to-End</a:t>
            </a:r>
            <a:endParaRPr sz="1500" b="1">
              <a:solidFill>
                <a:srgbClr val="2C7A7B"/>
              </a:solidFill>
            </a:endParaRPr>
          </a:p>
        </p:txBody>
      </p:sp>
      <p:sp>
        <p:nvSpPr>
          <p:cNvPr id="18" name="矩形 17"/>
          <p:cNvSpPr>
            <a:spLocks noGrp="1"/>
          </p:cNvSpPr>
          <p:nvPr/>
        </p:nvSpPr>
        <p:spPr>
          <a:xfrm>
            <a:off x="5286375" y="4324350"/>
            <a:ext cx="219075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最终任务</a:t>
            </a:r>
            <a:endParaRPr sz="1275" b="0">
              <a:solidFill>
                <a:srgbClr val="18212B"/>
              </a:solidFill>
            </a:endParaRPr>
          </a:p>
          <a:p>
            <a:pPr algn="l">
              <a:defRPr sz="1275" b="0">
                <a:solidFill>
                  <a:srgbClr val="18212B"/>
                </a:solidFill>
              </a:defRPr>
            </a:pPr>
            <a:r>
              <a:rPr sz="1275" b="0">
                <a:solidFill>
                  <a:srgbClr val="18212B"/>
                </a:solidFill>
              </a:rPr>
              <a:t>正确性、证据、成本</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测试金字塔不是数量教条，而是诊断结构：越靠下越确定、越便宜；越靠上越接近真实任务。</a:t>
            </a:r>
            <a:endParaRPr sz="1350" b="1">
              <a:solidFill>
                <a:srgbClr val="163A5F"/>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矩形 2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Precision 与 Recall 描述不同代价</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只优化 Recall 会奖励“把所有条款都判风险”</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44</a:t>
            </a:r>
            <a:endParaRPr sz="825" b="0">
              <a:solidFill>
                <a:srgbClr val="7D8994"/>
              </a:solidFill>
            </a:endParaRPr>
          </a:p>
        </p:txBody>
      </p:sp>
      <p:sp>
        <p:nvSpPr>
          <p:cNvPr id="7" name="圆角矩形 6"/>
          <p:cNvSpPr>
            <a:spLocks noGrp="1"/>
          </p:cNvSpPr>
          <p:nvPr/>
        </p:nvSpPr>
        <p:spPr>
          <a:xfrm>
            <a:off x="857250" y="2000250"/>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1047750" y="2171700"/>
            <a:ext cx="2000250" cy="438150"/>
          </a:xfrm>
          <a:prstGeom prst="rect">
            <a:avLst/>
          </a:prstGeom>
          <a:noFill/>
          <a:ln w="0">
            <a:noFill/>
            <a:prstDash val="solid"/>
          </a:ln>
        </p:spPr>
        <p:txBody>
          <a:bodyPr/>
          <a:lstStyle/>
          <a:p>
            <a:pPr algn="ctr">
              <a:defRPr sz="2550" b="1">
                <a:solidFill>
                  <a:srgbClr val="2F7D4A"/>
                </a:solidFill>
              </a:defRPr>
            </a:pPr>
            <a:r>
              <a:rPr sz="2550" b="1">
                <a:solidFill>
                  <a:srgbClr val="2F7D4A"/>
                </a:solidFill>
              </a:rPr>
              <a:t>2</a:t>
            </a:r>
            <a:endParaRPr sz="2550" b="1">
              <a:solidFill>
                <a:srgbClr val="2F7D4A"/>
              </a:solidFill>
            </a:endParaRPr>
          </a:p>
        </p:txBody>
      </p:sp>
      <p:sp>
        <p:nvSpPr>
          <p:cNvPr id="9" name="矩形 8"/>
          <p:cNvSpPr>
            <a:spLocks noGrp="1"/>
          </p:cNvSpPr>
          <p:nvPr/>
        </p:nvSpPr>
        <p:spPr>
          <a:xfrm>
            <a:off x="10477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TP</a:t>
            </a:r>
            <a:endParaRPr sz="1350" b="1">
              <a:solidFill>
                <a:srgbClr val="18212B"/>
              </a:solidFill>
            </a:endParaRPr>
          </a:p>
        </p:txBody>
      </p:sp>
      <p:sp>
        <p:nvSpPr>
          <p:cNvPr id="10" name="矩形 9"/>
          <p:cNvSpPr>
            <a:spLocks noGrp="1"/>
          </p:cNvSpPr>
          <p:nvPr/>
        </p:nvSpPr>
        <p:spPr>
          <a:xfrm>
            <a:off x="10477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正确发现风险</a:t>
            </a:r>
            <a:endParaRPr sz="1050" b="0">
              <a:solidFill>
                <a:srgbClr val="566573"/>
              </a:solidFill>
            </a:endParaRPr>
          </a:p>
        </p:txBody>
      </p:sp>
      <p:sp>
        <p:nvSpPr>
          <p:cNvPr id="11" name="圆角矩形 10"/>
          <p:cNvSpPr>
            <a:spLocks noGrp="1"/>
          </p:cNvSpPr>
          <p:nvPr/>
        </p:nvSpPr>
        <p:spPr>
          <a:xfrm>
            <a:off x="3667125" y="2000250"/>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857625" y="2171700"/>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1</a:t>
            </a:r>
            <a:endParaRPr sz="2550" b="1">
              <a:solidFill>
                <a:srgbClr val="A23B3B"/>
              </a:solidFill>
            </a:endParaRPr>
          </a:p>
        </p:txBody>
      </p:sp>
      <p:sp>
        <p:nvSpPr>
          <p:cNvPr id="13" name="矩形 12"/>
          <p:cNvSpPr>
            <a:spLocks noGrp="1"/>
          </p:cNvSpPr>
          <p:nvPr/>
        </p:nvSpPr>
        <p:spPr>
          <a:xfrm>
            <a:off x="3857625"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FP</a:t>
            </a:r>
            <a:endParaRPr sz="1350" b="1">
              <a:solidFill>
                <a:srgbClr val="18212B"/>
              </a:solidFill>
            </a:endParaRPr>
          </a:p>
        </p:txBody>
      </p:sp>
      <p:sp>
        <p:nvSpPr>
          <p:cNvPr id="14" name="矩形 13"/>
          <p:cNvSpPr>
            <a:spLocks noGrp="1"/>
          </p:cNvSpPr>
          <p:nvPr/>
        </p:nvSpPr>
        <p:spPr>
          <a:xfrm>
            <a:off x="3857625"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正常条款被误报</a:t>
            </a:r>
            <a:endParaRPr sz="1050" b="0">
              <a:solidFill>
                <a:srgbClr val="566573"/>
              </a:solidFill>
            </a:endParaRPr>
          </a:p>
        </p:txBody>
      </p:sp>
      <p:sp>
        <p:nvSpPr>
          <p:cNvPr id="15" name="圆角矩形 14"/>
          <p:cNvSpPr>
            <a:spLocks noGrp="1"/>
          </p:cNvSpPr>
          <p:nvPr/>
        </p:nvSpPr>
        <p:spPr>
          <a:xfrm>
            <a:off x="6477000" y="2000250"/>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667500" y="2171700"/>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1</a:t>
            </a:r>
            <a:endParaRPr sz="2550" b="1">
              <a:solidFill>
                <a:srgbClr val="B7791F"/>
              </a:solidFill>
            </a:endParaRPr>
          </a:p>
        </p:txBody>
      </p:sp>
      <p:sp>
        <p:nvSpPr>
          <p:cNvPr id="17" name="矩形 16"/>
          <p:cNvSpPr>
            <a:spLocks noGrp="1"/>
          </p:cNvSpPr>
          <p:nvPr/>
        </p:nvSpPr>
        <p:spPr>
          <a:xfrm>
            <a:off x="66675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FN</a:t>
            </a:r>
            <a:endParaRPr sz="1350" b="1">
              <a:solidFill>
                <a:srgbClr val="18212B"/>
              </a:solidFill>
            </a:endParaRPr>
          </a:p>
        </p:txBody>
      </p:sp>
      <p:sp>
        <p:nvSpPr>
          <p:cNvPr id="18" name="矩形 17"/>
          <p:cNvSpPr>
            <a:spLocks noGrp="1"/>
          </p:cNvSpPr>
          <p:nvPr/>
        </p:nvSpPr>
        <p:spPr>
          <a:xfrm>
            <a:off x="66675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真实风险被漏掉</a:t>
            </a:r>
            <a:endParaRPr sz="1050" b="0">
              <a:solidFill>
                <a:srgbClr val="566573"/>
              </a:solidFill>
            </a:endParaRPr>
          </a:p>
        </p:txBody>
      </p:sp>
      <p:sp>
        <p:nvSpPr>
          <p:cNvPr id="19" name="圆角矩形 18"/>
          <p:cNvSpPr>
            <a:spLocks noGrp="1"/>
          </p:cNvSpPr>
          <p:nvPr/>
        </p:nvSpPr>
        <p:spPr>
          <a:xfrm>
            <a:off x="9286875" y="2000250"/>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477375" y="2171700"/>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0.67</a:t>
            </a:r>
            <a:endParaRPr sz="2550" b="1">
              <a:solidFill>
                <a:srgbClr val="286F9E"/>
              </a:solidFill>
            </a:endParaRPr>
          </a:p>
        </p:txBody>
      </p:sp>
      <p:sp>
        <p:nvSpPr>
          <p:cNvPr id="21" name="矩形 20"/>
          <p:cNvSpPr>
            <a:spLocks noGrp="1"/>
          </p:cNvSpPr>
          <p:nvPr/>
        </p:nvSpPr>
        <p:spPr>
          <a:xfrm>
            <a:off x="9477375"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F1</a:t>
            </a:r>
            <a:endParaRPr sz="1350" b="1">
              <a:solidFill>
                <a:srgbClr val="18212B"/>
              </a:solidFill>
            </a:endParaRPr>
          </a:p>
        </p:txBody>
      </p:sp>
      <p:sp>
        <p:nvSpPr>
          <p:cNvPr id="22" name="矩形 21"/>
          <p:cNvSpPr>
            <a:spLocks noGrp="1"/>
          </p:cNvSpPr>
          <p:nvPr/>
        </p:nvSpPr>
        <p:spPr>
          <a:xfrm>
            <a:off x="9477375"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P 与 R 的调和平均</a:t>
            </a:r>
            <a:endParaRPr sz="1050" b="0">
              <a:solidFill>
                <a:srgbClr val="566573"/>
              </a:solidFill>
            </a:endParaRPr>
          </a:p>
        </p:txBody>
      </p:sp>
      <p:sp>
        <p:nvSpPr>
          <p:cNvPr id="23" name="圆角矩形 22"/>
          <p:cNvSpPr>
            <a:spLocks noGrp="1"/>
          </p:cNvSpPr>
          <p:nvPr/>
        </p:nvSpPr>
        <p:spPr>
          <a:xfrm>
            <a:off x="2857500" y="4000500"/>
            <a:ext cx="6477000" cy="1200150"/>
          </a:xfrm>
          <a:prstGeom prst="roundRect">
            <a:avLst>
              <a:gd name="adj" fmla="val 6349"/>
            </a:avLst>
          </a:prstGeom>
          <a:solidFill>
            <a:srgbClr val="F6F8FA"/>
          </a:solidFill>
          <a:ln w="9525">
            <a:solidFill>
              <a:srgbClr val="D7E0E7"/>
            </a:solidFill>
            <a:prstDash val="solid"/>
          </a:ln>
        </p:spPr>
      </p:sp>
      <p:sp>
        <p:nvSpPr>
          <p:cNvPr id="24" name="矩形 23"/>
          <p:cNvSpPr>
            <a:spLocks noGrp="1"/>
          </p:cNvSpPr>
          <p:nvPr/>
        </p:nvSpPr>
        <p:spPr>
          <a:xfrm>
            <a:off x="3067050" y="4171950"/>
            <a:ext cx="6057900" cy="876300"/>
          </a:xfrm>
          <a:prstGeom prst="rect">
            <a:avLst/>
          </a:prstGeom>
          <a:noFill/>
          <a:ln w="0">
            <a:noFill/>
            <a:prstDash val="solid"/>
          </a:ln>
        </p:spPr>
        <p:txBody>
          <a:bodyPr/>
          <a:lstStyle/>
          <a:p>
            <a:pPr algn="l">
              <a:defRPr sz="1500" b="0">
                <a:solidFill>
                  <a:srgbClr val="263238"/>
                </a:solidFill>
              </a:defRPr>
            </a:pPr>
            <a:r>
              <a:rPr sz="1500" b="0">
                <a:solidFill>
                  <a:srgbClr val="263238"/>
                </a:solidFill>
              </a:rPr>
              <a:t>Precision = TP / (TP + FP)</a:t>
            </a:r>
            <a:endParaRPr sz="1500" b="0">
              <a:solidFill>
                <a:srgbClr val="263238"/>
              </a:solidFill>
            </a:endParaRPr>
          </a:p>
          <a:p>
            <a:pPr algn="l">
              <a:defRPr sz="1500" b="0">
                <a:solidFill>
                  <a:srgbClr val="263238"/>
                </a:solidFill>
              </a:defRPr>
            </a:pPr>
            <a:r>
              <a:rPr sz="1500" b="0">
                <a:solidFill>
                  <a:srgbClr val="263238"/>
                </a:solidFill>
              </a:rPr>
              <a:t>Recall    = TP / (TP + FN)</a:t>
            </a:r>
            <a:endParaRPr sz="1500" b="0">
              <a:solidFill>
                <a:srgbClr val="263238"/>
              </a:solidFill>
            </a:endParaRPr>
          </a:p>
          <a:p>
            <a:pPr algn="l">
              <a:defRPr sz="1500" b="0">
                <a:solidFill>
                  <a:srgbClr val="263238"/>
                </a:solidFill>
              </a:defRPr>
            </a:pPr>
            <a:r>
              <a:rPr sz="1500" b="0">
                <a:solidFill>
                  <a:srgbClr val="263238"/>
                </a:solidFill>
              </a:rPr>
              <a:t>F1        = 2PR / (P + R)</a:t>
            </a:r>
            <a:endParaRPr sz="1500" b="0">
              <a:solidFill>
                <a:srgbClr val="263238"/>
              </a:solidFill>
            </a:endParaRPr>
          </a:p>
        </p:txBody>
      </p:sp>
      <p:sp>
        <p:nvSpPr>
          <p:cNvPr id="25" name="圆角矩形 2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6" name="矩形 2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指标选择体现业务代价：误报增加人工复核，漏报遗漏风险；课程要求同时呈现两者而不是选择性汇报。</a:t>
            </a:r>
            <a:endParaRPr sz="1350" b="1">
              <a:solidFill>
                <a:srgbClr val="163A5F"/>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Eval Harness 必须保存每一次运行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panic、timeout、parse error 与 refusal 都属于结果，不能从分母消失</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45</a:t>
            </a:r>
            <a:endParaRPr sz="825" b="0">
              <a:solidFill>
                <a:srgbClr val="7D8994"/>
              </a:solidFill>
            </a:endParaRPr>
          </a:p>
        </p:txBody>
      </p:sp>
      <p:sp>
        <p:nvSpPr>
          <p:cNvPr id="7" name="矩形 6"/>
          <p:cNvSpPr>
            <a:spLocks noGrp="1"/>
          </p:cNvSpPr>
          <p:nvPr/>
        </p:nvSpPr>
        <p:spPr>
          <a:xfrm>
            <a:off x="2729865" y="2200275"/>
            <a:ext cx="171450" cy="152400"/>
          </a:xfrm>
          <a:prstGeom prst="rect">
            <a:avLst/>
          </a:prstGeom>
          <a:solidFill>
            <a:srgbClr val="286F9E"/>
          </a:solidFill>
          <a:ln w="0">
            <a:noFill/>
            <a:prstDash val="solid"/>
          </a:ln>
        </p:spPr>
      </p:sp>
      <p:sp>
        <p:nvSpPr>
          <p:cNvPr id="8" name="矩形 7"/>
          <p:cNvSpPr>
            <a:spLocks noGrp="1"/>
          </p:cNvSpPr>
          <p:nvPr/>
        </p:nvSpPr>
        <p:spPr>
          <a:xfrm>
            <a:off x="2863215" y="2152650"/>
            <a:ext cx="95250" cy="247650"/>
          </a:xfrm>
          <a:prstGeom prst="rect">
            <a:avLst/>
          </a:prstGeom>
          <a:solidFill>
            <a:srgbClr val="286F9E"/>
          </a:solidFill>
          <a:ln w="0">
            <a:noFill/>
            <a:prstDash val="solid"/>
          </a:ln>
        </p:spPr>
      </p:sp>
      <p:sp>
        <p:nvSpPr>
          <p:cNvPr id="9" name="圆角矩形 8"/>
          <p:cNvSpPr>
            <a:spLocks noGrp="1"/>
          </p:cNvSpPr>
          <p:nvPr/>
        </p:nvSpPr>
        <p:spPr>
          <a:xfrm>
            <a:off x="762000" y="1905000"/>
            <a:ext cx="1920240" cy="742950"/>
          </a:xfrm>
          <a:prstGeom prst="roundRect">
            <a:avLst>
              <a:gd name="adj" fmla="val 10256"/>
            </a:avLst>
          </a:prstGeom>
          <a:solidFill>
            <a:srgbClr val="EAF2F8"/>
          </a:solidFill>
          <a:ln w="9525">
            <a:solidFill>
              <a:srgbClr val="D7E0E7"/>
            </a:solidFill>
            <a:prstDash val="solid"/>
          </a:ln>
        </p:spPr>
      </p:sp>
      <p:sp>
        <p:nvSpPr>
          <p:cNvPr id="10" name="矩形 9"/>
          <p:cNvSpPr>
            <a:spLocks noGrp="1"/>
          </p:cNvSpPr>
          <p:nvPr/>
        </p:nvSpPr>
        <p:spPr>
          <a:xfrm>
            <a:off x="83820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EvalCase</a:t>
            </a:r>
            <a:endParaRPr sz="1350" b="1">
              <a:solidFill>
                <a:srgbClr val="163A5F"/>
              </a:solidFill>
            </a:endParaRPr>
          </a:p>
        </p:txBody>
      </p:sp>
      <p:sp>
        <p:nvSpPr>
          <p:cNvPr id="11" name="矩形 10"/>
          <p:cNvSpPr>
            <a:spLocks noGrp="1"/>
          </p:cNvSpPr>
          <p:nvPr/>
        </p:nvSpPr>
        <p:spPr>
          <a:xfrm>
            <a:off x="4916805" y="2200275"/>
            <a:ext cx="171450" cy="152400"/>
          </a:xfrm>
          <a:prstGeom prst="rect">
            <a:avLst/>
          </a:prstGeom>
          <a:solidFill>
            <a:srgbClr val="286F9E"/>
          </a:solidFill>
          <a:ln w="0">
            <a:noFill/>
            <a:prstDash val="solid"/>
          </a:ln>
        </p:spPr>
      </p:sp>
      <p:sp>
        <p:nvSpPr>
          <p:cNvPr id="12" name="矩形 11"/>
          <p:cNvSpPr>
            <a:spLocks noGrp="1"/>
          </p:cNvSpPr>
          <p:nvPr/>
        </p:nvSpPr>
        <p:spPr>
          <a:xfrm>
            <a:off x="5050155" y="2152650"/>
            <a:ext cx="95250" cy="247650"/>
          </a:xfrm>
          <a:prstGeom prst="rect">
            <a:avLst/>
          </a:prstGeom>
          <a:solidFill>
            <a:srgbClr val="286F9E"/>
          </a:solidFill>
          <a:ln w="0">
            <a:noFill/>
            <a:prstDash val="solid"/>
          </a:ln>
        </p:spPr>
      </p:sp>
      <p:sp>
        <p:nvSpPr>
          <p:cNvPr id="13" name="圆角矩形 12"/>
          <p:cNvSpPr>
            <a:spLocks noGrp="1"/>
          </p:cNvSpPr>
          <p:nvPr/>
        </p:nvSpPr>
        <p:spPr>
          <a:xfrm>
            <a:off x="2948940" y="1905000"/>
            <a:ext cx="1920240" cy="742950"/>
          </a:xfrm>
          <a:prstGeom prst="roundRect">
            <a:avLst>
              <a:gd name="adj" fmla="val 10256"/>
            </a:avLst>
          </a:prstGeom>
          <a:solidFill>
            <a:srgbClr val="EAF5F4"/>
          </a:solidFill>
          <a:ln w="9525">
            <a:solidFill>
              <a:srgbClr val="D7E0E7"/>
            </a:solidFill>
            <a:prstDash val="solid"/>
          </a:ln>
        </p:spPr>
      </p:sp>
      <p:sp>
        <p:nvSpPr>
          <p:cNvPr id="14" name="矩形 13"/>
          <p:cNvSpPr>
            <a:spLocks noGrp="1"/>
          </p:cNvSpPr>
          <p:nvPr/>
        </p:nvSpPr>
        <p:spPr>
          <a:xfrm>
            <a:off x="302514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repeat N 次</a:t>
            </a:r>
            <a:endParaRPr sz="1350" b="1">
              <a:solidFill>
                <a:srgbClr val="163A5F"/>
              </a:solidFill>
            </a:endParaRPr>
          </a:p>
        </p:txBody>
      </p:sp>
      <p:sp>
        <p:nvSpPr>
          <p:cNvPr id="15" name="矩形 14"/>
          <p:cNvSpPr>
            <a:spLocks noGrp="1"/>
          </p:cNvSpPr>
          <p:nvPr/>
        </p:nvSpPr>
        <p:spPr>
          <a:xfrm>
            <a:off x="7103745" y="2200275"/>
            <a:ext cx="171450" cy="152400"/>
          </a:xfrm>
          <a:prstGeom prst="rect">
            <a:avLst/>
          </a:prstGeom>
          <a:solidFill>
            <a:srgbClr val="286F9E"/>
          </a:solidFill>
          <a:ln w="0">
            <a:noFill/>
            <a:prstDash val="solid"/>
          </a:ln>
        </p:spPr>
      </p:sp>
      <p:sp>
        <p:nvSpPr>
          <p:cNvPr id="16" name="矩形 15"/>
          <p:cNvSpPr>
            <a:spLocks noGrp="1"/>
          </p:cNvSpPr>
          <p:nvPr/>
        </p:nvSpPr>
        <p:spPr>
          <a:xfrm>
            <a:off x="7237095" y="2152650"/>
            <a:ext cx="95250" cy="247650"/>
          </a:xfrm>
          <a:prstGeom prst="rect">
            <a:avLst/>
          </a:prstGeom>
          <a:solidFill>
            <a:srgbClr val="286F9E"/>
          </a:solidFill>
          <a:ln w="0">
            <a:noFill/>
            <a:prstDash val="solid"/>
          </a:ln>
        </p:spPr>
      </p:sp>
      <p:sp>
        <p:nvSpPr>
          <p:cNvPr id="17" name="圆角矩形 16"/>
          <p:cNvSpPr>
            <a:spLocks noGrp="1"/>
          </p:cNvSpPr>
          <p:nvPr/>
        </p:nvSpPr>
        <p:spPr>
          <a:xfrm>
            <a:off x="5135880" y="1905000"/>
            <a:ext cx="1920240" cy="742950"/>
          </a:xfrm>
          <a:prstGeom prst="roundRect">
            <a:avLst>
              <a:gd name="adj" fmla="val 10256"/>
            </a:avLst>
          </a:prstGeom>
          <a:solidFill>
            <a:srgbClr val="EAF2F8"/>
          </a:solidFill>
          <a:ln w="9525">
            <a:solidFill>
              <a:srgbClr val="D7E0E7"/>
            </a:solidFill>
            <a:prstDash val="solid"/>
          </a:ln>
        </p:spPr>
      </p:sp>
      <p:sp>
        <p:nvSpPr>
          <p:cNvPr id="18" name="矩形 17"/>
          <p:cNvSpPr>
            <a:spLocks noGrp="1"/>
          </p:cNvSpPr>
          <p:nvPr/>
        </p:nvSpPr>
        <p:spPr>
          <a:xfrm>
            <a:off x="521208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RunResult</a:t>
            </a:r>
            <a:endParaRPr sz="1350" b="1">
              <a:solidFill>
                <a:srgbClr val="163A5F"/>
              </a:solidFill>
            </a:endParaRPr>
          </a:p>
        </p:txBody>
      </p:sp>
      <p:sp>
        <p:nvSpPr>
          <p:cNvPr id="19" name="矩形 18"/>
          <p:cNvSpPr>
            <a:spLocks noGrp="1"/>
          </p:cNvSpPr>
          <p:nvPr/>
        </p:nvSpPr>
        <p:spPr>
          <a:xfrm>
            <a:off x="9290685" y="2200275"/>
            <a:ext cx="171450" cy="152400"/>
          </a:xfrm>
          <a:prstGeom prst="rect">
            <a:avLst/>
          </a:prstGeom>
          <a:solidFill>
            <a:srgbClr val="286F9E"/>
          </a:solidFill>
          <a:ln w="0">
            <a:noFill/>
            <a:prstDash val="solid"/>
          </a:ln>
        </p:spPr>
      </p:sp>
      <p:sp>
        <p:nvSpPr>
          <p:cNvPr id="20" name="矩形 19"/>
          <p:cNvSpPr>
            <a:spLocks noGrp="1"/>
          </p:cNvSpPr>
          <p:nvPr/>
        </p:nvSpPr>
        <p:spPr>
          <a:xfrm>
            <a:off x="9424035" y="2152650"/>
            <a:ext cx="95250" cy="247650"/>
          </a:xfrm>
          <a:prstGeom prst="rect">
            <a:avLst/>
          </a:prstGeom>
          <a:solidFill>
            <a:srgbClr val="286F9E"/>
          </a:solidFill>
          <a:ln w="0">
            <a:noFill/>
            <a:prstDash val="solid"/>
          </a:ln>
        </p:spPr>
      </p:sp>
      <p:sp>
        <p:nvSpPr>
          <p:cNvPr id="21" name="圆角矩形 20"/>
          <p:cNvSpPr>
            <a:spLocks noGrp="1"/>
          </p:cNvSpPr>
          <p:nvPr/>
        </p:nvSpPr>
        <p:spPr>
          <a:xfrm>
            <a:off x="7322820" y="1905000"/>
            <a:ext cx="1920240" cy="742950"/>
          </a:xfrm>
          <a:prstGeom prst="roundRect">
            <a:avLst>
              <a:gd name="adj" fmla="val 10256"/>
            </a:avLst>
          </a:prstGeom>
          <a:solidFill>
            <a:srgbClr val="EAF5F4"/>
          </a:solidFill>
          <a:ln w="9525">
            <a:solidFill>
              <a:srgbClr val="D7E0E7"/>
            </a:solidFill>
            <a:prstDash val="solid"/>
          </a:ln>
        </p:spPr>
      </p:sp>
      <p:sp>
        <p:nvSpPr>
          <p:cNvPr id="22" name="矩形 21"/>
          <p:cNvSpPr>
            <a:spLocks noGrp="1"/>
          </p:cNvSpPr>
          <p:nvPr/>
        </p:nvSpPr>
        <p:spPr>
          <a:xfrm>
            <a:off x="739902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Trace path</a:t>
            </a:r>
            <a:endParaRPr sz="1350" b="1">
              <a:solidFill>
                <a:srgbClr val="163A5F"/>
              </a:solidFill>
            </a:endParaRPr>
          </a:p>
        </p:txBody>
      </p:sp>
      <p:sp>
        <p:nvSpPr>
          <p:cNvPr id="23" name="圆角矩形 22"/>
          <p:cNvSpPr>
            <a:spLocks noGrp="1"/>
          </p:cNvSpPr>
          <p:nvPr/>
        </p:nvSpPr>
        <p:spPr>
          <a:xfrm>
            <a:off x="9509760" y="1905000"/>
            <a:ext cx="1920240" cy="742950"/>
          </a:xfrm>
          <a:prstGeom prst="roundRect">
            <a:avLst>
              <a:gd name="adj" fmla="val 10256"/>
            </a:avLst>
          </a:prstGeom>
          <a:solidFill>
            <a:srgbClr val="EAF2F8"/>
          </a:solidFill>
          <a:ln w="9525">
            <a:solidFill>
              <a:srgbClr val="D7E0E7"/>
            </a:solidFill>
            <a:prstDash val="solid"/>
          </a:ln>
        </p:spPr>
      </p:sp>
      <p:sp>
        <p:nvSpPr>
          <p:cNvPr id="24" name="矩形 23"/>
          <p:cNvSpPr>
            <a:spLocks noGrp="1"/>
          </p:cNvSpPr>
          <p:nvPr/>
        </p:nvSpPr>
        <p:spPr>
          <a:xfrm>
            <a:off x="958596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Aggregate</a:t>
            </a:r>
            <a:endParaRPr sz="1350" b="1">
              <a:solidFill>
                <a:srgbClr val="163A5F"/>
              </a:solidFill>
            </a:endParaRPr>
          </a:p>
        </p:txBody>
      </p:sp>
      <p:sp>
        <p:nvSpPr>
          <p:cNvPr id="25" name="圆角矩形 24"/>
          <p:cNvSpPr>
            <a:spLocks noGrp="1"/>
          </p:cNvSpPr>
          <p:nvPr/>
        </p:nvSpPr>
        <p:spPr>
          <a:xfrm>
            <a:off x="609600" y="3238500"/>
            <a:ext cx="5257800" cy="2000250"/>
          </a:xfrm>
          <a:prstGeom prst="roundRect">
            <a:avLst>
              <a:gd name="adj" fmla="val 3810"/>
            </a:avLst>
          </a:prstGeom>
          <a:solidFill>
            <a:srgbClr val="F3F6F8"/>
          </a:solidFill>
          <a:ln w="9525">
            <a:solidFill>
              <a:srgbClr val="D7E0E7"/>
            </a:solidFill>
            <a:prstDash val="solid"/>
          </a:ln>
        </p:spPr>
      </p:sp>
      <p:sp>
        <p:nvSpPr>
          <p:cNvPr id="26" name="圆角矩形 25"/>
          <p:cNvSpPr>
            <a:spLocks noGrp="1"/>
          </p:cNvSpPr>
          <p:nvPr/>
        </p:nvSpPr>
        <p:spPr>
          <a:xfrm>
            <a:off x="609600" y="3238500"/>
            <a:ext cx="66675" cy="2000250"/>
          </a:xfrm>
          <a:prstGeom prst="roundRect">
            <a:avLst>
              <a:gd name="adj" fmla="val 50000"/>
            </a:avLst>
          </a:prstGeom>
          <a:solidFill>
            <a:srgbClr val="286F9E"/>
          </a:solidFill>
          <a:ln w="0">
            <a:noFill/>
            <a:prstDash val="solid"/>
          </a:ln>
        </p:spPr>
      </p:sp>
      <p:sp>
        <p:nvSpPr>
          <p:cNvPr id="27" name="矩形 26"/>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EvalCase</a:t>
            </a:r>
            <a:endParaRPr sz="1650" b="1">
              <a:solidFill>
                <a:srgbClr val="286F9E"/>
              </a:solidFill>
            </a:endParaRPr>
          </a:p>
        </p:txBody>
      </p:sp>
      <p:sp>
        <p:nvSpPr>
          <p:cNvPr id="28" name="矩形 27"/>
          <p:cNvSpPr>
            <a:spLocks noGrp="1"/>
          </p:cNvSpPr>
          <p:nvPr/>
        </p:nvSpPr>
        <p:spPr>
          <a:xfrm>
            <a:off x="838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case_id / input</a:t>
            </a:r>
            <a:endParaRPr sz="1275" b="0">
              <a:solidFill>
                <a:srgbClr val="18212B"/>
              </a:solidFill>
            </a:endParaRPr>
          </a:p>
          <a:p>
            <a:pPr algn="l">
              <a:defRPr sz="1275" b="0">
                <a:solidFill>
                  <a:srgbClr val="18212B"/>
                </a:solidFill>
              </a:defRPr>
            </a:pPr>
            <a:r>
              <a:rPr sz="1275" b="0">
                <a:solidFill>
                  <a:srgbClr val="18212B"/>
                </a:solidFill>
              </a:rPr>
              <a:t>expected_label</a:t>
            </a:r>
            <a:endParaRPr sz="1275" b="0">
              <a:solidFill>
                <a:srgbClr val="18212B"/>
              </a:solidFill>
            </a:endParaRPr>
          </a:p>
          <a:p>
            <a:pPr algn="l">
              <a:defRPr sz="1275" b="0">
                <a:solidFill>
                  <a:srgbClr val="18212B"/>
                </a:solidFill>
              </a:defRPr>
            </a:pPr>
            <a:r>
              <a:rPr sz="1275" b="0">
                <a:solidFill>
                  <a:srgbClr val="18212B"/>
                </a:solidFill>
              </a:rPr>
              <a:t>evidence_refs / tags</a:t>
            </a:r>
            <a:endParaRPr sz="1275" b="0">
              <a:solidFill>
                <a:srgbClr val="18212B"/>
              </a:solidFill>
            </a:endParaRPr>
          </a:p>
          <a:p>
            <a:pPr algn="l">
              <a:defRPr sz="1275" b="0">
                <a:solidFill>
                  <a:srgbClr val="18212B"/>
                </a:solidFill>
              </a:defRPr>
            </a:pPr>
            <a:r>
              <a:rPr sz="1275" b="0">
                <a:solidFill>
                  <a:srgbClr val="18212B"/>
                </a:solidFill>
              </a:rPr>
              <a:t>数据版本与歧义标记</a:t>
            </a:r>
            <a:endParaRPr sz="1275" b="0">
              <a:solidFill>
                <a:srgbClr val="18212B"/>
              </a:solidFill>
            </a:endParaRPr>
          </a:p>
        </p:txBody>
      </p:sp>
      <p:sp>
        <p:nvSpPr>
          <p:cNvPr id="29" name="圆角矩形 28"/>
          <p:cNvSpPr>
            <a:spLocks noGrp="1"/>
          </p:cNvSpPr>
          <p:nvPr/>
        </p:nvSpPr>
        <p:spPr>
          <a:xfrm>
            <a:off x="6324600" y="3238500"/>
            <a:ext cx="5257800" cy="2000250"/>
          </a:xfrm>
          <a:prstGeom prst="roundRect">
            <a:avLst>
              <a:gd name="adj" fmla="val 3810"/>
            </a:avLst>
          </a:prstGeom>
          <a:solidFill>
            <a:srgbClr val="F3F6F8"/>
          </a:solidFill>
          <a:ln w="9525">
            <a:solidFill>
              <a:srgbClr val="D7E0E7"/>
            </a:solidFill>
            <a:prstDash val="solid"/>
          </a:ln>
        </p:spPr>
      </p:sp>
      <p:sp>
        <p:nvSpPr>
          <p:cNvPr id="30" name="圆角矩形 29"/>
          <p:cNvSpPr>
            <a:spLocks noGrp="1"/>
          </p:cNvSpPr>
          <p:nvPr/>
        </p:nvSpPr>
        <p:spPr>
          <a:xfrm>
            <a:off x="6324600" y="3238500"/>
            <a:ext cx="66675" cy="2000250"/>
          </a:xfrm>
          <a:prstGeom prst="roundRect">
            <a:avLst>
              <a:gd name="adj" fmla="val 50000"/>
            </a:avLst>
          </a:prstGeom>
          <a:solidFill>
            <a:srgbClr val="2C7A7B"/>
          </a:solidFill>
          <a:ln w="0">
            <a:noFill/>
            <a:prstDash val="solid"/>
          </a:ln>
        </p:spPr>
      </p:sp>
      <p:sp>
        <p:nvSpPr>
          <p:cNvPr id="31" name="矩形 30"/>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RunResult</a:t>
            </a:r>
            <a:endParaRPr sz="1650" b="1">
              <a:solidFill>
                <a:srgbClr val="2C7A7B"/>
              </a:solidFill>
            </a:endParaRPr>
          </a:p>
        </p:txBody>
      </p:sp>
      <p:sp>
        <p:nvSpPr>
          <p:cNvPr id="32" name="矩形 31"/>
          <p:cNvSpPr>
            <a:spLocks noGrp="1"/>
          </p:cNvSpPr>
          <p:nvPr/>
        </p:nvSpPr>
        <p:spPr>
          <a:xfrm>
            <a:off x="6553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prediction / evidence</a:t>
            </a:r>
            <a:endParaRPr sz="1275" b="0">
              <a:solidFill>
                <a:srgbClr val="18212B"/>
              </a:solidFill>
            </a:endParaRPr>
          </a:p>
          <a:p>
            <a:pPr algn="l">
              <a:defRPr sz="1275" b="0">
                <a:solidFill>
                  <a:srgbClr val="18212B"/>
                </a:solidFill>
              </a:defRPr>
            </a:pPr>
            <a:r>
              <a:rPr sz="1275" b="0">
                <a:solidFill>
                  <a:srgbClr val="18212B"/>
                </a:solidFill>
              </a:rPr>
              <a:t>success / StopReason</a:t>
            </a:r>
            <a:endParaRPr sz="1275" b="0">
              <a:solidFill>
                <a:srgbClr val="18212B"/>
              </a:solidFill>
            </a:endParaRPr>
          </a:p>
          <a:p>
            <a:pPr algn="l">
              <a:defRPr sz="1275" b="0">
                <a:solidFill>
                  <a:srgbClr val="18212B"/>
                </a:solidFill>
              </a:defRPr>
            </a:pPr>
            <a:r>
              <a:rPr sz="1275" b="0">
                <a:solidFill>
                  <a:srgbClr val="18212B"/>
                </a:solidFill>
              </a:rPr>
              <a:t>model &amp; tool calls / latency</a:t>
            </a:r>
            <a:endParaRPr sz="1275" b="0">
              <a:solidFill>
                <a:srgbClr val="18212B"/>
              </a:solidFill>
            </a:endParaRPr>
          </a:p>
          <a:p>
            <a:pPr algn="l">
              <a:defRPr sz="1275" b="0">
                <a:solidFill>
                  <a:srgbClr val="18212B"/>
                </a:solidFill>
              </a:defRPr>
            </a:pPr>
            <a:r>
              <a:rPr sz="1275" b="0">
                <a:solidFill>
                  <a:srgbClr val="18212B"/>
                </a:solidFill>
              </a:rPr>
              <a:t>trace_path / version stamp</a:t>
            </a:r>
            <a:endParaRPr sz="1275"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总运行数必须等于 cases × repeats。任何失败若没有 RunResult，就会产生幸存者偏差。</a:t>
            </a:r>
            <a:endParaRPr sz="1350" b="1">
              <a:solidFill>
                <a:srgbClr val="163A5F"/>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矩形 2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非确定性系统需要分布，而不是一次分数</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真实模型相同输入可能产生不同轨迹和终止原因</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46</a:t>
            </a:r>
            <a:endParaRPr sz="825" b="0">
              <a:solidFill>
                <a:srgbClr val="7D8994"/>
              </a:solidFill>
            </a:endParaRPr>
          </a:p>
        </p:txBody>
      </p:sp>
      <p:sp>
        <p:nvSpPr>
          <p:cNvPr id="7" name="圆角矩形 6"/>
          <p:cNvSpPr>
            <a:spLocks noGrp="1"/>
          </p:cNvSpPr>
          <p:nvPr/>
        </p:nvSpPr>
        <p:spPr>
          <a:xfrm>
            <a:off x="704850" y="1809750"/>
            <a:ext cx="4953000" cy="1428750"/>
          </a:xfrm>
          <a:prstGeom prst="roundRect">
            <a:avLst>
              <a:gd name="adj" fmla="val 5333"/>
            </a:avLst>
          </a:prstGeom>
          <a:solidFill>
            <a:srgbClr val="EAF2F8"/>
          </a:solidFill>
          <a:ln w="9525">
            <a:solidFill>
              <a:srgbClr val="D7E0E7"/>
            </a:solidFill>
            <a:prstDash val="solid"/>
          </a:ln>
        </p:spPr>
      </p:sp>
      <p:sp>
        <p:nvSpPr>
          <p:cNvPr id="8" name="圆角矩形 7"/>
          <p:cNvSpPr>
            <a:spLocks noGrp="1"/>
          </p:cNvSpPr>
          <p:nvPr/>
        </p:nvSpPr>
        <p:spPr>
          <a:xfrm>
            <a:off x="704850" y="1809750"/>
            <a:ext cx="66675" cy="1428750"/>
          </a:xfrm>
          <a:prstGeom prst="roundRect">
            <a:avLst>
              <a:gd name="adj" fmla="val 50000"/>
            </a:avLst>
          </a:prstGeom>
          <a:solidFill>
            <a:srgbClr val="286F9E"/>
          </a:solidFill>
          <a:ln w="0">
            <a:noFill/>
            <a:prstDash val="solid"/>
          </a:ln>
        </p:spPr>
      </p:sp>
      <p:sp>
        <p:nvSpPr>
          <p:cNvPr id="9" name="矩形 8"/>
          <p:cNvSpPr>
            <a:spLocks noGrp="1"/>
          </p:cNvSpPr>
          <p:nvPr/>
        </p:nvSpPr>
        <p:spPr>
          <a:xfrm>
            <a:off x="933450" y="1981200"/>
            <a:ext cx="45529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重复运行</a:t>
            </a:r>
            <a:endParaRPr sz="1650" b="1">
              <a:solidFill>
                <a:srgbClr val="286F9E"/>
              </a:solidFill>
            </a:endParaRPr>
          </a:p>
        </p:txBody>
      </p:sp>
      <p:sp>
        <p:nvSpPr>
          <p:cNvPr id="10" name="矩形 9"/>
          <p:cNvSpPr>
            <a:spLocks noGrp="1"/>
          </p:cNvSpPr>
          <p:nvPr/>
        </p:nvSpPr>
        <p:spPr>
          <a:xfrm>
            <a:off x="9334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关键样本至少运行 5 次；保存成功次数、均值、最差值、失败类型与每次 Trace。</a:t>
            </a:r>
            <a:endParaRPr sz="1275" b="0">
              <a:solidFill>
                <a:srgbClr val="18212B"/>
              </a:solidFill>
            </a:endParaRPr>
          </a:p>
        </p:txBody>
      </p:sp>
      <p:sp>
        <p:nvSpPr>
          <p:cNvPr id="11" name="圆角矩形 10"/>
          <p:cNvSpPr>
            <a:spLocks noGrp="1"/>
          </p:cNvSpPr>
          <p:nvPr/>
        </p:nvSpPr>
        <p:spPr>
          <a:xfrm>
            <a:off x="6153150" y="1809750"/>
            <a:ext cx="4953000" cy="1428750"/>
          </a:xfrm>
          <a:prstGeom prst="roundRect">
            <a:avLst>
              <a:gd name="adj" fmla="val 5333"/>
            </a:avLst>
          </a:prstGeom>
          <a:solidFill>
            <a:srgbClr val="EAF5F4"/>
          </a:solidFill>
          <a:ln w="9525">
            <a:solidFill>
              <a:srgbClr val="D7E0E7"/>
            </a:solidFill>
            <a:prstDash val="solid"/>
          </a:ln>
        </p:spPr>
      </p:sp>
      <p:sp>
        <p:nvSpPr>
          <p:cNvPr id="12" name="圆角矩形 11"/>
          <p:cNvSpPr>
            <a:spLocks noGrp="1"/>
          </p:cNvSpPr>
          <p:nvPr/>
        </p:nvSpPr>
        <p:spPr>
          <a:xfrm>
            <a:off x="6153150" y="1809750"/>
            <a:ext cx="66675" cy="1428750"/>
          </a:xfrm>
          <a:prstGeom prst="roundRect">
            <a:avLst>
              <a:gd name="adj" fmla="val 50000"/>
            </a:avLst>
          </a:prstGeom>
          <a:solidFill>
            <a:srgbClr val="2C7A7B"/>
          </a:solidFill>
          <a:ln w="0">
            <a:noFill/>
            <a:prstDash val="solid"/>
          </a:ln>
        </p:spPr>
      </p:sp>
      <p:sp>
        <p:nvSpPr>
          <p:cNvPr id="13" name="矩形 12"/>
          <p:cNvSpPr>
            <a:spLocks noGrp="1"/>
          </p:cNvSpPr>
          <p:nvPr/>
        </p:nvSpPr>
        <p:spPr>
          <a:xfrm>
            <a:off x="6381750" y="1981200"/>
            <a:ext cx="4552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版本固定</a:t>
            </a:r>
            <a:endParaRPr sz="1650" b="1">
              <a:solidFill>
                <a:srgbClr val="2C7A7B"/>
              </a:solidFill>
            </a:endParaRPr>
          </a:p>
        </p:txBody>
      </p:sp>
      <p:sp>
        <p:nvSpPr>
          <p:cNvPr id="14" name="矩形 13"/>
          <p:cNvSpPr>
            <a:spLocks noGrp="1"/>
          </p:cNvSpPr>
          <p:nvPr/>
        </p:nvSpPr>
        <p:spPr>
          <a:xfrm>
            <a:off x="63817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记录模型、参数、Prompt hash、工具版本、数据版本与代码版本；否则结果无法复现。</a:t>
            </a:r>
            <a:endParaRPr sz="1275" b="0">
              <a:solidFill>
                <a:srgbClr val="18212B"/>
              </a:solidFill>
            </a:endParaRPr>
          </a:p>
        </p:txBody>
      </p:sp>
      <p:sp>
        <p:nvSpPr>
          <p:cNvPr id="15" name="圆角矩形 14"/>
          <p:cNvSpPr>
            <a:spLocks noGrp="1"/>
          </p:cNvSpPr>
          <p:nvPr/>
        </p:nvSpPr>
        <p:spPr>
          <a:xfrm>
            <a:off x="704850" y="3638550"/>
            <a:ext cx="4953000" cy="1428750"/>
          </a:xfrm>
          <a:prstGeom prst="roundRect">
            <a:avLst>
              <a:gd name="adj" fmla="val 5333"/>
            </a:avLst>
          </a:prstGeom>
          <a:solidFill>
            <a:srgbClr val="FFF7E6"/>
          </a:solidFill>
          <a:ln w="9525">
            <a:solidFill>
              <a:srgbClr val="D7E0E7"/>
            </a:solidFill>
            <a:prstDash val="solid"/>
          </a:ln>
        </p:spPr>
      </p:sp>
      <p:sp>
        <p:nvSpPr>
          <p:cNvPr id="16" name="圆角矩形 15"/>
          <p:cNvSpPr>
            <a:spLocks noGrp="1"/>
          </p:cNvSpPr>
          <p:nvPr/>
        </p:nvSpPr>
        <p:spPr>
          <a:xfrm>
            <a:off x="704850" y="3638550"/>
            <a:ext cx="66675" cy="1428750"/>
          </a:xfrm>
          <a:prstGeom prst="roundRect">
            <a:avLst>
              <a:gd name="adj" fmla="val 50000"/>
            </a:avLst>
          </a:prstGeom>
          <a:solidFill>
            <a:srgbClr val="B7791F"/>
          </a:solidFill>
          <a:ln w="0">
            <a:noFill/>
            <a:prstDash val="solid"/>
          </a:ln>
        </p:spPr>
      </p:sp>
      <p:sp>
        <p:nvSpPr>
          <p:cNvPr id="17" name="矩形 16"/>
          <p:cNvSpPr>
            <a:spLocks noGrp="1"/>
          </p:cNvSpPr>
          <p:nvPr/>
        </p:nvSpPr>
        <p:spPr>
          <a:xfrm>
            <a:off x="933450" y="3810000"/>
            <a:ext cx="45529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稳定性</a:t>
            </a:r>
            <a:endParaRPr sz="1650" b="1">
              <a:solidFill>
                <a:srgbClr val="B7791F"/>
              </a:solidFill>
            </a:endParaRPr>
          </a:p>
        </p:txBody>
      </p:sp>
      <p:sp>
        <p:nvSpPr>
          <p:cNvPr id="18" name="矩形 17"/>
          <p:cNvSpPr>
            <a:spLocks noGrp="1"/>
          </p:cNvSpPr>
          <p:nvPr/>
        </p:nvSpPr>
        <p:spPr>
          <a:xfrm>
            <a:off x="933450" y="41910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不仅看平均成功率，还要看同一样本的决策一致性、成本方差和失败尾部。</a:t>
            </a:r>
            <a:endParaRPr sz="1275" b="0">
              <a:solidFill>
                <a:srgbClr val="18212B"/>
              </a:solidFill>
            </a:endParaRPr>
          </a:p>
        </p:txBody>
      </p:sp>
      <p:sp>
        <p:nvSpPr>
          <p:cNvPr id="19" name="圆角矩形 18"/>
          <p:cNvSpPr>
            <a:spLocks noGrp="1"/>
          </p:cNvSpPr>
          <p:nvPr/>
        </p:nvSpPr>
        <p:spPr>
          <a:xfrm>
            <a:off x="6153150" y="3638550"/>
            <a:ext cx="4953000" cy="1428750"/>
          </a:xfrm>
          <a:prstGeom prst="roundRect">
            <a:avLst>
              <a:gd name="adj" fmla="val 5333"/>
            </a:avLst>
          </a:prstGeom>
          <a:solidFill>
            <a:srgbClr val="F3F6F8"/>
          </a:solidFill>
          <a:ln w="9525">
            <a:solidFill>
              <a:srgbClr val="D7E0E7"/>
            </a:solidFill>
            <a:prstDash val="solid"/>
          </a:ln>
        </p:spPr>
      </p:sp>
      <p:sp>
        <p:nvSpPr>
          <p:cNvPr id="20" name="圆角矩形 19"/>
          <p:cNvSpPr>
            <a:spLocks noGrp="1"/>
          </p:cNvSpPr>
          <p:nvPr/>
        </p:nvSpPr>
        <p:spPr>
          <a:xfrm>
            <a:off x="6153150" y="3638550"/>
            <a:ext cx="66675" cy="1428750"/>
          </a:xfrm>
          <a:prstGeom prst="roundRect">
            <a:avLst>
              <a:gd name="adj" fmla="val 50000"/>
            </a:avLst>
          </a:prstGeom>
          <a:solidFill>
            <a:srgbClr val="163A5F"/>
          </a:solidFill>
          <a:ln w="0">
            <a:noFill/>
            <a:prstDash val="solid"/>
          </a:ln>
        </p:spPr>
      </p:sp>
      <p:sp>
        <p:nvSpPr>
          <p:cNvPr id="21" name="矩形 20"/>
          <p:cNvSpPr>
            <a:spLocks noGrp="1"/>
          </p:cNvSpPr>
          <p:nvPr/>
        </p:nvSpPr>
        <p:spPr>
          <a:xfrm>
            <a:off x="6381750" y="3810000"/>
            <a:ext cx="45529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比较原则</a:t>
            </a:r>
            <a:endParaRPr sz="1650" b="1">
              <a:solidFill>
                <a:srgbClr val="163A5F"/>
              </a:solidFill>
            </a:endParaRPr>
          </a:p>
        </p:txBody>
      </p:sp>
      <p:sp>
        <p:nvSpPr>
          <p:cNvPr id="22" name="矩形 21"/>
          <p:cNvSpPr>
            <a:spLocks noGrp="1"/>
          </p:cNvSpPr>
          <p:nvPr/>
        </p:nvSpPr>
        <p:spPr>
          <a:xfrm>
            <a:off x="6381750" y="41910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Baseline 与 Variant 使用相同样本与重复次数；报告差值，同时保留原始运行记录。</a:t>
            </a:r>
            <a:endParaRPr sz="1275" b="0">
              <a:solidFill>
                <a:srgbClr val="18212B"/>
              </a:solidFill>
            </a:endParaRPr>
          </a:p>
        </p:txBody>
      </p:sp>
      <p:sp>
        <p:nvSpPr>
          <p:cNvPr id="23" name="圆角矩形 2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4" name="矩形 2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一次 Demo 证明“曾经成功”；重复实验才能估计“通常多可靠，以及最坏会怎样失败”。</a:t>
            </a:r>
            <a:endParaRPr sz="1350" b="1">
              <a:solidFill>
                <a:srgbClr val="163A5F"/>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变形测试检查系统应保持的关系</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自然语言任务难写精确答案，但可以断言输入变化与输出变化的关系</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47</a:t>
            </a:r>
            <a:endParaRPr sz="825" b="0">
              <a:solidFill>
                <a:srgbClr val="7D8994"/>
              </a:solidFill>
            </a:endParaRPr>
          </a:p>
        </p:txBody>
      </p:sp>
      <p:sp>
        <p:nvSpPr>
          <p:cNvPr id="7" name="圆角矩形 6"/>
          <p:cNvSpPr>
            <a:spLocks noGrp="1"/>
          </p:cNvSpPr>
          <p:nvPr/>
        </p:nvSpPr>
        <p:spPr>
          <a:xfrm>
            <a:off x="723900" y="1762125"/>
            <a:ext cx="5219700" cy="914400"/>
          </a:xfrm>
          <a:prstGeom prst="roundRect">
            <a:avLst>
              <a:gd name="adj" fmla="val 8333"/>
            </a:avLst>
          </a:prstGeom>
          <a:solidFill>
            <a:srgbClr val="F3F6F8"/>
          </a:solidFill>
          <a:ln w="9525">
            <a:solidFill>
              <a:srgbClr val="D7E0E7"/>
            </a:solidFill>
            <a:prstDash val="solid"/>
          </a:ln>
        </p:spPr>
      </p:sp>
      <p:sp>
        <p:nvSpPr>
          <p:cNvPr id="8" name="圆角矩形 7"/>
          <p:cNvSpPr>
            <a:spLocks noGrp="1"/>
          </p:cNvSpPr>
          <p:nvPr/>
        </p:nvSpPr>
        <p:spPr>
          <a:xfrm>
            <a:off x="723900" y="1762125"/>
            <a:ext cx="66675" cy="914400"/>
          </a:xfrm>
          <a:prstGeom prst="roundRect">
            <a:avLst>
              <a:gd name="adj" fmla="val 50000"/>
            </a:avLst>
          </a:prstGeom>
          <a:solidFill>
            <a:srgbClr val="286F9E"/>
          </a:solidFill>
          <a:ln w="0">
            <a:noFill/>
            <a:prstDash val="solid"/>
          </a:ln>
        </p:spPr>
      </p:sp>
      <p:sp>
        <p:nvSpPr>
          <p:cNvPr id="9" name="矩形 8"/>
          <p:cNvSpPr>
            <a:spLocks noGrp="1"/>
          </p:cNvSpPr>
          <p:nvPr/>
        </p:nvSpPr>
        <p:spPr>
          <a:xfrm>
            <a:off x="952500" y="1933575"/>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同义改写</a:t>
            </a:r>
            <a:endParaRPr sz="1650" b="1">
              <a:solidFill>
                <a:srgbClr val="286F9E"/>
              </a:solidFill>
            </a:endParaRPr>
          </a:p>
        </p:txBody>
      </p:sp>
      <p:sp>
        <p:nvSpPr>
          <p:cNvPr id="10" name="矩形 9"/>
          <p:cNvSpPr>
            <a:spLocks noGrp="1"/>
          </p:cNvSpPr>
          <p:nvPr/>
        </p:nvSpPr>
        <p:spPr>
          <a:xfrm>
            <a:off x="952500" y="231457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事实结论应保持</a:t>
            </a:r>
            <a:endParaRPr sz="1275" b="0">
              <a:solidFill>
                <a:srgbClr val="18212B"/>
              </a:solidFill>
            </a:endParaRPr>
          </a:p>
        </p:txBody>
      </p:sp>
      <p:sp>
        <p:nvSpPr>
          <p:cNvPr id="11" name="圆角矩形 10"/>
          <p:cNvSpPr>
            <a:spLocks noGrp="1"/>
          </p:cNvSpPr>
          <p:nvPr/>
        </p:nvSpPr>
        <p:spPr>
          <a:xfrm>
            <a:off x="6248400" y="1762125"/>
            <a:ext cx="5219700" cy="914400"/>
          </a:xfrm>
          <a:prstGeom prst="roundRect">
            <a:avLst>
              <a:gd name="adj" fmla="val 8333"/>
            </a:avLst>
          </a:prstGeom>
          <a:solidFill>
            <a:srgbClr val="F3F6F8"/>
          </a:solidFill>
          <a:ln w="9525">
            <a:solidFill>
              <a:srgbClr val="D7E0E7"/>
            </a:solidFill>
            <a:prstDash val="solid"/>
          </a:ln>
        </p:spPr>
      </p:sp>
      <p:sp>
        <p:nvSpPr>
          <p:cNvPr id="12" name="圆角矩形 11"/>
          <p:cNvSpPr>
            <a:spLocks noGrp="1"/>
          </p:cNvSpPr>
          <p:nvPr/>
        </p:nvSpPr>
        <p:spPr>
          <a:xfrm>
            <a:off x="6248400" y="1762125"/>
            <a:ext cx="66675" cy="914400"/>
          </a:xfrm>
          <a:prstGeom prst="roundRect">
            <a:avLst>
              <a:gd name="adj" fmla="val 50000"/>
            </a:avLst>
          </a:prstGeom>
          <a:solidFill>
            <a:srgbClr val="2C7A7B"/>
          </a:solidFill>
          <a:ln w="0">
            <a:noFill/>
            <a:prstDash val="solid"/>
          </a:ln>
        </p:spPr>
      </p:sp>
      <p:sp>
        <p:nvSpPr>
          <p:cNvPr id="13" name="矩形 12"/>
          <p:cNvSpPr>
            <a:spLocks noGrp="1"/>
          </p:cNvSpPr>
          <p:nvPr/>
        </p:nvSpPr>
        <p:spPr>
          <a:xfrm>
            <a:off x="6477000" y="1933575"/>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无关段落</a:t>
            </a:r>
            <a:endParaRPr sz="1650" b="1">
              <a:solidFill>
                <a:srgbClr val="2C7A7B"/>
              </a:solidFill>
            </a:endParaRPr>
          </a:p>
        </p:txBody>
      </p:sp>
      <p:sp>
        <p:nvSpPr>
          <p:cNvPr id="14" name="矩形 13"/>
          <p:cNvSpPr>
            <a:spLocks noGrp="1"/>
          </p:cNvSpPr>
          <p:nvPr/>
        </p:nvSpPr>
        <p:spPr>
          <a:xfrm>
            <a:off x="6477000" y="231457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风险等级不应改变</a:t>
            </a:r>
            <a:endParaRPr sz="1275" b="0">
              <a:solidFill>
                <a:srgbClr val="18212B"/>
              </a:solidFill>
            </a:endParaRPr>
          </a:p>
        </p:txBody>
      </p:sp>
      <p:sp>
        <p:nvSpPr>
          <p:cNvPr id="15" name="圆角矩形 14"/>
          <p:cNvSpPr>
            <a:spLocks noGrp="1"/>
          </p:cNvSpPr>
          <p:nvPr/>
        </p:nvSpPr>
        <p:spPr>
          <a:xfrm>
            <a:off x="723900" y="2952750"/>
            <a:ext cx="5219700" cy="914400"/>
          </a:xfrm>
          <a:prstGeom prst="roundRect">
            <a:avLst>
              <a:gd name="adj" fmla="val 8333"/>
            </a:avLst>
          </a:prstGeom>
          <a:solidFill>
            <a:srgbClr val="F3F6F8"/>
          </a:solidFill>
          <a:ln w="9525">
            <a:solidFill>
              <a:srgbClr val="D7E0E7"/>
            </a:solidFill>
            <a:prstDash val="solid"/>
          </a:ln>
        </p:spPr>
      </p:sp>
      <p:sp>
        <p:nvSpPr>
          <p:cNvPr id="16" name="圆角矩形 15"/>
          <p:cNvSpPr>
            <a:spLocks noGrp="1"/>
          </p:cNvSpPr>
          <p:nvPr/>
        </p:nvSpPr>
        <p:spPr>
          <a:xfrm>
            <a:off x="723900" y="2952750"/>
            <a:ext cx="66675" cy="914400"/>
          </a:xfrm>
          <a:prstGeom prst="roundRect">
            <a:avLst>
              <a:gd name="adj" fmla="val 50000"/>
            </a:avLst>
          </a:prstGeom>
          <a:solidFill>
            <a:srgbClr val="286F9E"/>
          </a:solidFill>
          <a:ln w="0">
            <a:noFill/>
            <a:prstDash val="solid"/>
          </a:ln>
        </p:spPr>
      </p:sp>
      <p:sp>
        <p:nvSpPr>
          <p:cNvPr id="17" name="矩形 16"/>
          <p:cNvSpPr>
            <a:spLocks noGrp="1"/>
          </p:cNvSpPr>
          <p:nvPr/>
        </p:nvSpPr>
        <p:spPr>
          <a:xfrm>
            <a:off x="952500" y="312420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5% → 1%</a:t>
            </a:r>
            <a:endParaRPr sz="1650" b="1">
              <a:solidFill>
                <a:srgbClr val="286F9E"/>
              </a:solidFill>
            </a:endParaRPr>
          </a:p>
        </p:txBody>
      </p:sp>
      <p:sp>
        <p:nvSpPr>
          <p:cNvPr id="18" name="矩形 17"/>
          <p:cNvSpPr>
            <a:spLocks noGrp="1"/>
          </p:cNvSpPr>
          <p:nvPr/>
        </p:nvSpPr>
        <p:spPr>
          <a:xfrm>
            <a:off x="952500" y="3505200"/>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超限结论应消失</a:t>
            </a:r>
            <a:endParaRPr sz="1275" b="0">
              <a:solidFill>
                <a:srgbClr val="18212B"/>
              </a:solidFill>
            </a:endParaRPr>
          </a:p>
        </p:txBody>
      </p:sp>
      <p:sp>
        <p:nvSpPr>
          <p:cNvPr id="19" name="圆角矩形 18"/>
          <p:cNvSpPr>
            <a:spLocks noGrp="1"/>
          </p:cNvSpPr>
          <p:nvPr/>
        </p:nvSpPr>
        <p:spPr>
          <a:xfrm>
            <a:off x="6248400" y="2952750"/>
            <a:ext cx="5219700" cy="914400"/>
          </a:xfrm>
          <a:prstGeom prst="roundRect">
            <a:avLst>
              <a:gd name="adj" fmla="val 8333"/>
            </a:avLst>
          </a:prstGeom>
          <a:solidFill>
            <a:srgbClr val="F3F6F8"/>
          </a:solidFill>
          <a:ln w="9525">
            <a:solidFill>
              <a:srgbClr val="D7E0E7"/>
            </a:solidFill>
            <a:prstDash val="solid"/>
          </a:ln>
        </p:spPr>
      </p:sp>
      <p:sp>
        <p:nvSpPr>
          <p:cNvPr id="20" name="圆角矩形 19"/>
          <p:cNvSpPr>
            <a:spLocks noGrp="1"/>
          </p:cNvSpPr>
          <p:nvPr/>
        </p:nvSpPr>
        <p:spPr>
          <a:xfrm>
            <a:off x="6248400" y="2952750"/>
            <a:ext cx="66675" cy="914400"/>
          </a:xfrm>
          <a:prstGeom prst="roundRect">
            <a:avLst>
              <a:gd name="adj" fmla="val 50000"/>
            </a:avLst>
          </a:prstGeom>
          <a:solidFill>
            <a:srgbClr val="2C7A7B"/>
          </a:solidFill>
          <a:ln w="0">
            <a:noFill/>
            <a:prstDash val="solid"/>
          </a:ln>
        </p:spPr>
      </p:sp>
      <p:sp>
        <p:nvSpPr>
          <p:cNvPr id="21" name="矩形 20"/>
          <p:cNvSpPr>
            <a:spLocks noGrp="1"/>
          </p:cNvSpPr>
          <p:nvPr/>
        </p:nvSpPr>
        <p:spPr>
          <a:xfrm>
            <a:off x="6477000" y="312420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删除唯一证据</a:t>
            </a:r>
            <a:endParaRPr sz="1650" b="1">
              <a:solidFill>
                <a:srgbClr val="2C7A7B"/>
              </a:solidFill>
            </a:endParaRPr>
          </a:p>
        </p:txBody>
      </p:sp>
      <p:sp>
        <p:nvSpPr>
          <p:cNvPr id="22" name="矩形 21"/>
          <p:cNvSpPr>
            <a:spLocks noGrp="1"/>
          </p:cNvSpPr>
          <p:nvPr/>
        </p:nvSpPr>
        <p:spPr>
          <a:xfrm>
            <a:off x="6477000" y="3505200"/>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应转为证据不足</a:t>
            </a:r>
            <a:endParaRPr sz="1275" b="0">
              <a:solidFill>
                <a:srgbClr val="18212B"/>
              </a:solidFill>
            </a:endParaRPr>
          </a:p>
        </p:txBody>
      </p:sp>
      <p:sp>
        <p:nvSpPr>
          <p:cNvPr id="23" name="圆角矩形 22"/>
          <p:cNvSpPr>
            <a:spLocks noGrp="1"/>
          </p:cNvSpPr>
          <p:nvPr/>
        </p:nvSpPr>
        <p:spPr>
          <a:xfrm>
            <a:off x="723900" y="4143375"/>
            <a:ext cx="5219700" cy="914400"/>
          </a:xfrm>
          <a:prstGeom prst="roundRect">
            <a:avLst>
              <a:gd name="adj" fmla="val 8333"/>
            </a:avLst>
          </a:prstGeom>
          <a:solidFill>
            <a:srgbClr val="F3F6F8"/>
          </a:solidFill>
          <a:ln w="9525">
            <a:solidFill>
              <a:srgbClr val="D7E0E7"/>
            </a:solidFill>
            <a:prstDash val="solid"/>
          </a:ln>
        </p:spPr>
      </p:sp>
      <p:sp>
        <p:nvSpPr>
          <p:cNvPr id="24" name="圆角矩形 23"/>
          <p:cNvSpPr>
            <a:spLocks noGrp="1"/>
          </p:cNvSpPr>
          <p:nvPr/>
        </p:nvSpPr>
        <p:spPr>
          <a:xfrm>
            <a:off x="723900" y="4143375"/>
            <a:ext cx="66675" cy="914400"/>
          </a:xfrm>
          <a:prstGeom prst="roundRect">
            <a:avLst>
              <a:gd name="adj" fmla="val 50000"/>
            </a:avLst>
          </a:prstGeom>
          <a:solidFill>
            <a:srgbClr val="286F9E"/>
          </a:solidFill>
          <a:ln w="0">
            <a:noFill/>
            <a:prstDash val="solid"/>
          </a:ln>
        </p:spPr>
      </p:sp>
      <p:sp>
        <p:nvSpPr>
          <p:cNvPr id="25" name="矩形 24"/>
          <p:cNvSpPr>
            <a:spLocks noGrp="1"/>
          </p:cNvSpPr>
          <p:nvPr/>
        </p:nvSpPr>
        <p:spPr>
          <a:xfrm>
            <a:off x="952500" y="4314825"/>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加入恶意指令</a:t>
            </a:r>
            <a:endParaRPr sz="1650" b="1">
              <a:solidFill>
                <a:srgbClr val="286F9E"/>
              </a:solidFill>
            </a:endParaRPr>
          </a:p>
        </p:txBody>
      </p:sp>
      <p:sp>
        <p:nvSpPr>
          <p:cNvPr id="26" name="矩形 25"/>
          <p:cNvSpPr>
            <a:spLocks noGrp="1"/>
          </p:cNvSpPr>
          <p:nvPr/>
        </p:nvSpPr>
        <p:spPr>
          <a:xfrm>
            <a:off x="952500" y="469582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权限不得扩大</a:t>
            </a:r>
            <a:endParaRPr sz="1275" b="0">
              <a:solidFill>
                <a:srgbClr val="18212B"/>
              </a:solidFill>
            </a:endParaRPr>
          </a:p>
        </p:txBody>
      </p:sp>
      <p:sp>
        <p:nvSpPr>
          <p:cNvPr id="27" name="圆角矩形 26"/>
          <p:cNvSpPr>
            <a:spLocks noGrp="1"/>
          </p:cNvSpPr>
          <p:nvPr/>
        </p:nvSpPr>
        <p:spPr>
          <a:xfrm>
            <a:off x="6248400" y="4143375"/>
            <a:ext cx="5219700" cy="914400"/>
          </a:xfrm>
          <a:prstGeom prst="roundRect">
            <a:avLst>
              <a:gd name="adj" fmla="val 8333"/>
            </a:avLst>
          </a:prstGeom>
          <a:solidFill>
            <a:srgbClr val="F3F6F8"/>
          </a:solidFill>
          <a:ln w="9525">
            <a:solidFill>
              <a:srgbClr val="D7E0E7"/>
            </a:solidFill>
            <a:prstDash val="solid"/>
          </a:ln>
        </p:spPr>
      </p:sp>
      <p:sp>
        <p:nvSpPr>
          <p:cNvPr id="28" name="圆角矩形 27"/>
          <p:cNvSpPr>
            <a:spLocks noGrp="1"/>
          </p:cNvSpPr>
          <p:nvPr/>
        </p:nvSpPr>
        <p:spPr>
          <a:xfrm>
            <a:off x="6248400" y="4143375"/>
            <a:ext cx="66675" cy="914400"/>
          </a:xfrm>
          <a:prstGeom prst="roundRect">
            <a:avLst>
              <a:gd name="adj" fmla="val 50000"/>
            </a:avLst>
          </a:prstGeom>
          <a:solidFill>
            <a:srgbClr val="2C7A7B"/>
          </a:solidFill>
          <a:ln w="0">
            <a:noFill/>
            <a:prstDash val="solid"/>
          </a:ln>
        </p:spPr>
      </p:sp>
      <p:sp>
        <p:nvSpPr>
          <p:cNvPr id="29" name="矩形 28"/>
          <p:cNvSpPr>
            <a:spLocks noGrp="1"/>
          </p:cNvSpPr>
          <p:nvPr/>
        </p:nvSpPr>
        <p:spPr>
          <a:xfrm>
            <a:off x="6477000" y="4314825"/>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注入冲突证据</a:t>
            </a:r>
            <a:endParaRPr sz="1650" b="1">
              <a:solidFill>
                <a:srgbClr val="2C7A7B"/>
              </a:solidFill>
            </a:endParaRPr>
          </a:p>
        </p:txBody>
      </p:sp>
      <p:sp>
        <p:nvSpPr>
          <p:cNvPr id="30" name="矩形 29"/>
          <p:cNvSpPr>
            <a:spLocks noGrp="1"/>
          </p:cNvSpPr>
          <p:nvPr/>
        </p:nvSpPr>
        <p:spPr>
          <a:xfrm>
            <a:off x="6477000" y="469582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不得声称证据一致</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Metamorphic relation 把“应该稳健”变成可执行断言，是 Agent 行为测试的重要补充。</a:t>
            </a:r>
            <a:endParaRPr sz="1350" b="1">
              <a:solidFill>
                <a:srgbClr val="163A5F"/>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评测本身也是需要治理的数据产品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错误的 Ground Truth 会把系统优化到错误方向</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48</a:t>
            </a:r>
            <a:endParaRPr sz="825" b="0">
              <a:solidFill>
                <a:srgbClr val="7D8994"/>
              </a:solidFill>
            </a:endParaRPr>
          </a:p>
        </p:txBody>
      </p:sp>
      <p:sp>
        <p:nvSpPr>
          <p:cNvPr id="7" name="圆角矩形 6"/>
          <p:cNvSpPr>
            <a:spLocks noGrp="1"/>
          </p:cNvSpPr>
          <p:nvPr/>
        </p:nvSpPr>
        <p:spPr>
          <a:xfrm>
            <a:off x="609600" y="1771650"/>
            <a:ext cx="5257800" cy="3524250"/>
          </a:xfrm>
          <a:prstGeom prst="roundRect">
            <a:avLst>
              <a:gd name="adj" fmla="val 2162"/>
            </a:avLst>
          </a:prstGeom>
          <a:solidFill>
            <a:srgbClr val="F3F6F8"/>
          </a:solidFill>
          <a:ln w="9525">
            <a:solidFill>
              <a:srgbClr val="D7E0E7"/>
            </a:solidFill>
            <a:prstDash val="solid"/>
          </a:ln>
        </p:spPr>
      </p:sp>
      <p:sp>
        <p:nvSpPr>
          <p:cNvPr id="8" name="圆角矩形 7"/>
          <p:cNvSpPr>
            <a:spLocks noGrp="1"/>
          </p:cNvSpPr>
          <p:nvPr/>
        </p:nvSpPr>
        <p:spPr>
          <a:xfrm>
            <a:off x="609600" y="1771650"/>
            <a:ext cx="66675" cy="35242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431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数据纪律</a:t>
            </a:r>
            <a:endParaRPr sz="1650" b="1">
              <a:solidFill>
                <a:srgbClr val="286F9E"/>
              </a:solidFill>
            </a:endParaRPr>
          </a:p>
        </p:txBody>
      </p:sp>
      <p:sp>
        <p:nvSpPr>
          <p:cNvPr id="10" name="矩形 9"/>
          <p:cNvSpPr>
            <a:spLocks noGrp="1"/>
          </p:cNvSpPr>
          <p:nvPr/>
        </p:nvSpPr>
        <p:spPr>
          <a:xfrm>
            <a:off x="838200" y="2324100"/>
            <a:ext cx="4857750" cy="2857500"/>
          </a:xfrm>
          <a:prstGeom prst="rect">
            <a:avLst/>
          </a:prstGeom>
          <a:noFill/>
          <a:ln w="0">
            <a:noFill/>
            <a:prstDash val="solid"/>
          </a:ln>
        </p:spPr>
        <p:txBody>
          <a:bodyPr/>
          <a:lstStyle/>
          <a:p>
            <a:pPr algn="l">
              <a:defRPr sz="1275" b="0">
                <a:solidFill>
                  <a:srgbClr val="18212B"/>
                </a:solidFill>
              </a:defRPr>
            </a:pPr>
            <a:r>
              <a:rPr sz="1275" b="0">
                <a:solidFill>
                  <a:srgbClr val="18212B"/>
                </a:solidFill>
              </a:rPr>
              <a:t>train/public：开发可见</a:t>
            </a:r>
            <a:endParaRPr sz="1275" b="0">
              <a:solidFill>
                <a:srgbClr val="18212B"/>
              </a:solidFill>
            </a:endParaRPr>
          </a:p>
          <a:p>
            <a:pPr algn="l">
              <a:defRPr sz="1275" b="0">
                <a:solidFill>
                  <a:srgbClr val="18212B"/>
                </a:solidFill>
              </a:defRPr>
            </a:pPr>
            <a:r>
              <a:rPr sz="1275" b="0">
                <a:solidFill>
                  <a:srgbClr val="18212B"/>
                </a:solidFill>
              </a:rPr>
              <a:t>dev：调参与比较</a:t>
            </a:r>
            <a:endParaRPr sz="1275" b="0">
              <a:solidFill>
                <a:srgbClr val="18212B"/>
              </a:solidFill>
            </a:endParaRPr>
          </a:p>
          <a:p>
            <a:pPr algn="l">
              <a:defRPr sz="1275" b="0">
                <a:solidFill>
                  <a:srgbClr val="18212B"/>
                </a:solidFill>
              </a:defRPr>
            </a:pPr>
            <a:r>
              <a:rPr sz="1275" b="0">
                <a:solidFill>
                  <a:srgbClr val="18212B"/>
                </a:solidFill>
              </a:rPr>
              <a:t>hidden/test：最终泛化</a:t>
            </a:r>
            <a:endParaRPr sz="1275" b="0">
              <a:solidFill>
                <a:srgbClr val="18212B"/>
              </a:solidFill>
            </a:endParaRPr>
          </a:p>
          <a:p>
            <a:pPr algn="l">
              <a:defRPr sz="1275" b="0">
                <a:solidFill>
                  <a:srgbClr val="18212B"/>
                </a:solidFill>
              </a:defRPr>
            </a:pPr>
            <a:r>
              <a:rPr sz="1275" b="0">
                <a:solidFill>
                  <a:srgbClr val="18212B"/>
                </a:solidFill>
              </a:rPr>
              <a:t>red-team：攻击与分布变化</a:t>
            </a:r>
            <a:endParaRPr sz="1275" b="0">
              <a:solidFill>
                <a:srgbClr val="18212B"/>
              </a:solidFill>
            </a:endParaRPr>
          </a:p>
          <a:p>
            <a:endParaRPr sz="1275"/>
          </a:p>
          <a:p>
            <a:pPr algn="l">
              <a:defRPr sz="1275" b="0">
                <a:solidFill>
                  <a:srgbClr val="18212B"/>
                </a:solidFill>
              </a:defRPr>
            </a:pPr>
            <a:r>
              <a:rPr sz="1275" b="0">
                <a:solidFill>
                  <a:srgbClr val="18212B"/>
                </a:solidFill>
              </a:rPr>
              <a:t>保留标签定义、证据、歧义、标注者与版本。</a:t>
            </a:r>
            <a:endParaRPr sz="1275" b="0">
              <a:solidFill>
                <a:srgbClr val="18212B"/>
              </a:solidFill>
            </a:endParaRPr>
          </a:p>
        </p:txBody>
      </p:sp>
      <p:sp>
        <p:nvSpPr>
          <p:cNvPr id="11" name="圆角矩形 10"/>
          <p:cNvSpPr>
            <a:spLocks noGrp="1"/>
          </p:cNvSpPr>
          <p:nvPr/>
        </p:nvSpPr>
        <p:spPr>
          <a:xfrm>
            <a:off x="6324600" y="1771650"/>
            <a:ext cx="5257800" cy="3524250"/>
          </a:xfrm>
          <a:prstGeom prst="roundRect">
            <a:avLst>
              <a:gd name="adj" fmla="val 2162"/>
            </a:avLst>
          </a:prstGeom>
          <a:solidFill>
            <a:srgbClr val="F3F6F8"/>
          </a:solidFill>
          <a:ln w="9525">
            <a:solidFill>
              <a:srgbClr val="D7E0E7"/>
            </a:solidFill>
            <a:prstDash val="solid"/>
          </a:ln>
        </p:spPr>
      </p:sp>
      <p:sp>
        <p:nvSpPr>
          <p:cNvPr id="12" name="圆角矩形 11"/>
          <p:cNvSpPr>
            <a:spLocks noGrp="1"/>
          </p:cNvSpPr>
          <p:nvPr/>
        </p:nvSpPr>
        <p:spPr>
          <a:xfrm>
            <a:off x="6324600" y="1771650"/>
            <a:ext cx="66675" cy="35242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431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错误分析</a:t>
            </a:r>
            <a:endParaRPr sz="1650" b="1">
              <a:solidFill>
                <a:srgbClr val="2C7A7B"/>
              </a:solidFill>
            </a:endParaRPr>
          </a:p>
        </p:txBody>
      </p:sp>
      <p:sp>
        <p:nvSpPr>
          <p:cNvPr id="14" name="矩形 13"/>
          <p:cNvSpPr>
            <a:spLocks noGrp="1"/>
          </p:cNvSpPr>
          <p:nvPr/>
        </p:nvSpPr>
        <p:spPr>
          <a:xfrm>
            <a:off x="6553200" y="2324100"/>
            <a:ext cx="4857750" cy="2857500"/>
          </a:xfrm>
          <a:prstGeom prst="rect">
            <a:avLst/>
          </a:prstGeom>
          <a:noFill/>
          <a:ln w="0">
            <a:noFill/>
            <a:prstDash val="solid"/>
          </a:ln>
        </p:spPr>
        <p:txBody>
          <a:bodyPr/>
          <a:lstStyle/>
          <a:p>
            <a:pPr algn="l">
              <a:defRPr sz="1275" b="0">
                <a:solidFill>
                  <a:srgbClr val="18212B"/>
                </a:solidFill>
              </a:defRPr>
            </a:pPr>
            <a:r>
              <a:rPr sz="1275" b="0">
                <a:solidFill>
                  <a:srgbClr val="18212B"/>
                </a:solidFill>
              </a:rPr>
              <a:t>沿 Trace 定位：</a:t>
            </a:r>
            <a:endParaRPr sz="1275" b="0">
              <a:solidFill>
                <a:srgbClr val="18212B"/>
              </a:solidFill>
            </a:endParaRPr>
          </a:p>
          <a:p>
            <a:pPr algn="l">
              <a:defRPr sz="1275" b="0">
                <a:solidFill>
                  <a:srgbClr val="18212B"/>
                </a:solidFill>
              </a:defRPr>
            </a:pPr>
            <a:r>
              <a:rPr sz="1275" b="0">
                <a:solidFill>
                  <a:srgbClr val="18212B"/>
                </a:solidFill>
              </a:rPr>
              <a:t>retrieval_miss</a:t>
            </a:r>
            <a:endParaRPr sz="1275" b="0">
              <a:solidFill>
                <a:srgbClr val="18212B"/>
              </a:solidFill>
            </a:endParaRPr>
          </a:p>
          <a:p>
            <a:pPr algn="l">
              <a:defRPr sz="1275" b="0">
                <a:solidFill>
                  <a:srgbClr val="18212B"/>
                </a:solidFill>
              </a:defRPr>
            </a:pPr>
            <a:r>
              <a:rPr sz="1275" b="0">
                <a:solidFill>
                  <a:srgbClr val="18212B"/>
                </a:solidFill>
              </a:rPr>
              <a:t>unsupported_claim</a:t>
            </a:r>
            <a:endParaRPr sz="1275" b="0">
              <a:solidFill>
                <a:srgbClr val="18212B"/>
              </a:solidFill>
            </a:endParaRPr>
          </a:p>
          <a:p>
            <a:pPr algn="l">
              <a:defRPr sz="1275" b="0">
                <a:solidFill>
                  <a:srgbClr val="18212B"/>
                </a:solidFill>
              </a:defRPr>
            </a:pPr>
            <a:r>
              <a:rPr sz="1275" b="0">
                <a:solidFill>
                  <a:srgbClr val="18212B"/>
                </a:solidFill>
              </a:rPr>
              <a:t>wrong_tool</a:t>
            </a:r>
            <a:endParaRPr sz="1275" b="0">
              <a:solidFill>
                <a:srgbClr val="18212B"/>
              </a:solidFill>
            </a:endParaRPr>
          </a:p>
          <a:p>
            <a:pPr algn="l">
              <a:defRPr sz="1275" b="0">
                <a:solidFill>
                  <a:srgbClr val="18212B"/>
                </a:solidFill>
              </a:defRPr>
            </a:pPr>
            <a:r>
              <a:rPr sz="1275" b="0">
                <a:solidFill>
                  <a:srgbClr val="18212B"/>
                </a:solidFill>
              </a:rPr>
              <a:t>budget_exhausted</a:t>
            </a:r>
            <a:endParaRPr sz="1275" b="0">
              <a:solidFill>
                <a:srgbClr val="18212B"/>
              </a:solidFill>
            </a:endParaRPr>
          </a:p>
          <a:p>
            <a:pPr algn="l">
              <a:defRPr sz="1275" b="0">
                <a:solidFill>
                  <a:srgbClr val="18212B"/>
                </a:solidFill>
              </a:defRPr>
            </a:pPr>
            <a:r>
              <a:rPr sz="1275" b="0">
                <a:solidFill>
                  <a:srgbClr val="18212B"/>
                </a:solidFill>
              </a:rPr>
              <a:t>premature_stop</a:t>
            </a:r>
            <a:endParaRPr sz="1275" b="0">
              <a:solidFill>
                <a:srgbClr val="18212B"/>
              </a:solidFill>
            </a:endParaRPr>
          </a:p>
          <a:p>
            <a:pPr algn="l">
              <a:defRPr sz="1275" b="0">
                <a:solidFill>
                  <a:srgbClr val="18212B"/>
                </a:solidFill>
              </a:defRPr>
            </a:pPr>
            <a:r>
              <a:rPr sz="1275" b="0">
                <a:solidFill>
                  <a:srgbClr val="18212B"/>
                </a:solidFill>
              </a:rPr>
              <a:t>unsafe_action_blocked</a:t>
            </a:r>
            <a:endParaRPr sz="1275" b="0">
              <a:solidFill>
                <a:srgbClr val="18212B"/>
              </a:solidFill>
            </a:endParaRPr>
          </a:p>
          <a:p>
            <a:endParaRPr sz="1275"/>
          </a:p>
          <a:p>
            <a:pPr algn="l">
              <a:defRPr sz="1275" b="0">
                <a:solidFill>
                  <a:srgbClr val="18212B"/>
                </a:solidFill>
              </a:defRPr>
            </a:pPr>
            <a:r>
              <a:rPr sz="1275" b="0">
                <a:solidFill>
                  <a:srgbClr val="18212B"/>
                </a:solidFill>
              </a:rPr>
              <a:t>每个根因都转成回归测试。</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“模型不够聪明”不是根因。好的错误分类必须能指向可修改组件与可新增测试。</a:t>
            </a:r>
            <a:endParaRPr sz="1350" b="1">
              <a:solidFill>
                <a:srgbClr val="163A5F"/>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 name="矩形 3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消融实验回答“这个组件值不值得存在”</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一次只改变一个主要变量，才能建立因果解释</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49</a:t>
            </a:r>
            <a:endParaRPr sz="825" b="0">
              <a:solidFill>
                <a:srgbClr val="7D8994"/>
              </a:solidFill>
            </a:endParaRPr>
          </a:p>
        </p:txBody>
      </p:sp>
      <p:sp>
        <p:nvSpPr>
          <p:cNvPr id="7" name="矩形 6"/>
          <p:cNvSpPr>
            <a:spLocks noGrp="1"/>
          </p:cNvSpPr>
          <p:nvPr/>
        </p:nvSpPr>
        <p:spPr>
          <a:xfrm>
            <a:off x="2718435" y="2295525"/>
            <a:ext cx="171450" cy="152400"/>
          </a:xfrm>
          <a:prstGeom prst="rect">
            <a:avLst/>
          </a:prstGeom>
          <a:solidFill>
            <a:srgbClr val="286F9E"/>
          </a:solidFill>
          <a:ln w="0">
            <a:noFill/>
            <a:prstDash val="solid"/>
          </a:ln>
        </p:spPr>
      </p:sp>
      <p:sp>
        <p:nvSpPr>
          <p:cNvPr id="8" name="矩形 7"/>
          <p:cNvSpPr>
            <a:spLocks noGrp="1"/>
          </p:cNvSpPr>
          <p:nvPr/>
        </p:nvSpPr>
        <p:spPr>
          <a:xfrm>
            <a:off x="2851785" y="2247900"/>
            <a:ext cx="95250" cy="247650"/>
          </a:xfrm>
          <a:prstGeom prst="rect">
            <a:avLst/>
          </a:prstGeom>
          <a:solidFill>
            <a:srgbClr val="286F9E"/>
          </a:solidFill>
          <a:ln w="0">
            <a:noFill/>
            <a:prstDash val="solid"/>
          </a:ln>
        </p:spPr>
      </p:sp>
      <p:sp>
        <p:nvSpPr>
          <p:cNvPr id="9" name="圆角矩形 8"/>
          <p:cNvSpPr>
            <a:spLocks noGrp="1"/>
          </p:cNvSpPr>
          <p:nvPr/>
        </p:nvSpPr>
        <p:spPr>
          <a:xfrm>
            <a:off x="742950" y="2000250"/>
            <a:ext cx="1927860" cy="742950"/>
          </a:xfrm>
          <a:prstGeom prst="roundRect">
            <a:avLst>
              <a:gd name="adj" fmla="val 10256"/>
            </a:avLst>
          </a:prstGeom>
          <a:solidFill>
            <a:srgbClr val="EAF2F8"/>
          </a:solidFill>
          <a:ln w="9525">
            <a:solidFill>
              <a:srgbClr val="D7E0E7"/>
            </a:solidFill>
            <a:prstDash val="solid"/>
          </a:ln>
        </p:spPr>
      </p:sp>
      <p:sp>
        <p:nvSpPr>
          <p:cNvPr id="10" name="矩形 9"/>
          <p:cNvSpPr>
            <a:spLocks noGrp="1"/>
          </p:cNvSpPr>
          <p:nvPr/>
        </p:nvSpPr>
        <p:spPr>
          <a:xfrm>
            <a:off x="81915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Baseline</a:t>
            </a:r>
            <a:endParaRPr sz="1350" b="1">
              <a:solidFill>
                <a:srgbClr val="163A5F"/>
              </a:solidFill>
            </a:endParaRPr>
          </a:p>
        </p:txBody>
      </p:sp>
      <p:sp>
        <p:nvSpPr>
          <p:cNvPr id="11" name="矩形 10"/>
          <p:cNvSpPr>
            <a:spLocks noGrp="1"/>
          </p:cNvSpPr>
          <p:nvPr/>
        </p:nvSpPr>
        <p:spPr>
          <a:xfrm>
            <a:off x="4912995" y="2295525"/>
            <a:ext cx="171450" cy="152400"/>
          </a:xfrm>
          <a:prstGeom prst="rect">
            <a:avLst/>
          </a:prstGeom>
          <a:solidFill>
            <a:srgbClr val="286F9E"/>
          </a:solidFill>
          <a:ln w="0">
            <a:noFill/>
            <a:prstDash val="solid"/>
          </a:ln>
        </p:spPr>
      </p:sp>
      <p:sp>
        <p:nvSpPr>
          <p:cNvPr id="12" name="矩形 11"/>
          <p:cNvSpPr>
            <a:spLocks noGrp="1"/>
          </p:cNvSpPr>
          <p:nvPr/>
        </p:nvSpPr>
        <p:spPr>
          <a:xfrm>
            <a:off x="5046345" y="2247900"/>
            <a:ext cx="95250" cy="247650"/>
          </a:xfrm>
          <a:prstGeom prst="rect">
            <a:avLst/>
          </a:prstGeom>
          <a:solidFill>
            <a:srgbClr val="286F9E"/>
          </a:solidFill>
          <a:ln w="0">
            <a:noFill/>
            <a:prstDash val="solid"/>
          </a:ln>
        </p:spPr>
      </p:sp>
      <p:sp>
        <p:nvSpPr>
          <p:cNvPr id="13" name="圆角矩形 12"/>
          <p:cNvSpPr>
            <a:spLocks noGrp="1"/>
          </p:cNvSpPr>
          <p:nvPr/>
        </p:nvSpPr>
        <p:spPr>
          <a:xfrm>
            <a:off x="2937510" y="2000250"/>
            <a:ext cx="1927860" cy="742950"/>
          </a:xfrm>
          <a:prstGeom prst="roundRect">
            <a:avLst>
              <a:gd name="adj" fmla="val 10256"/>
            </a:avLst>
          </a:prstGeom>
          <a:solidFill>
            <a:srgbClr val="EAF5F4"/>
          </a:solidFill>
          <a:ln w="9525">
            <a:solidFill>
              <a:srgbClr val="D7E0E7"/>
            </a:solidFill>
            <a:prstDash val="solid"/>
          </a:ln>
        </p:spPr>
      </p:sp>
      <p:sp>
        <p:nvSpPr>
          <p:cNvPr id="14" name="矩形 13"/>
          <p:cNvSpPr>
            <a:spLocks noGrp="1"/>
          </p:cNvSpPr>
          <p:nvPr/>
        </p:nvSpPr>
        <p:spPr>
          <a:xfrm>
            <a:off x="301371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加入一个组件</a:t>
            </a:r>
            <a:endParaRPr sz="1350" b="1">
              <a:solidFill>
                <a:srgbClr val="163A5F"/>
              </a:solidFill>
            </a:endParaRPr>
          </a:p>
        </p:txBody>
      </p:sp>
      <p:sp>
        <p:nvSpPr>
          <p:cNvPr id="15" name="矩形 14"/>
          <p:cNvSpPr>
            <a:spLocks noGrp="1"/>
          </p:cNvSpPr>
          <p:nvPr/>
        </p:nvSpPr>
        <p:spPr>
          <a:xfrm>
            <a:off x="7107555" y="2295525"/>
            <a:ext cx="171450" cy="152400"/>
          </a:xfrm>
          <a:prstGeom prst="rect">
            <a:avLst/>
          </a:prstGeom>
          <a:solidFill>
            <a:srgbClr val="286F9E"/>
          </a:solidFill>
          <a:ln w="0">
            <a:noFill/>
            <a:prstDash val="solid"/>
          </a:ln>
        </p:spPr>
      </p:sp>
      <p:sp>
        <p:nvSpPr>
          <p:cNvPr id="16" name="矩形 15"/>
          <p:cNvSpPr>
            <a:spLocks noGrp="1"/>
          </p:cNvSpPr>
          <p:nvPr/>
        </p:nvSpPr>
        <p:spPr>
          <a:xfrm>
            <a:off x="7240905" y="2247900"/>
            <a:ext cx="95250" cy="247650"/>
          </a:xfrm>
          <a:prstGeom prst="rect">
            <a:avLst/>
          </a:prstGeom>
          <a:solidFill>
            <a:srgbClr val="286F9E"/>
          </a:solidFill>
          <a:ln w="0">
            <a:noFill/>
            <a:prstDash val="solid"/>
          </a:ln>
        </p:spPr>
      </p:sp>
      <p:sp>
        <p:nvSpPr>
          <p:cNvPr id="17" name="圆角矩形 16"/>
          <p:cNvSpPr>
            <a:spLocks noGrp="1"/>
          </p:cNvSpPr>
          <p:nvPr/>
        </p:nvSpPr>
        <p:spPr>
          <a:xfrm>
            <a:off x="5132070" y="2000250"/>
            <a:ext cx="1927860" cy="742950"/>
          </a:xfrm>
          <a:prstGeom prst="roundRect">
            <a:avLst>
              <a:gd name="adj" fmla="val 10256"/>
            </a:avLst>
          </a:prstGeom>
          <a:solidFill>
            <a:srgbClr val="EAF2F8"/>
          </a:solidFill>
          <a:ln w="9525">
            <a:solidFill>
              <a:srgbClr val="D7E0E7"/>
            </a:solidFill>
            <a:prstDash val="solid"/>
          </a:ln>
        </p:spPr>
      </p:sp>
      <p:sp>
        <p:nvSpPr>
          <p:cNvPr id="18" name="矩形 17"/>
          <p:cNvSpPr>
            <a:spLocks noGrp="1"/>
          </p:cNvSpPr>
          <p:nvPr/>
        </p:nvSpPr>
        <p:spPr>
          <a:xfrm>
            <a:off x="520827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同集重复运行</a:t>
            </a:r>
            <a:endParaRPr sz="1350" b="1">
              <a:solidFill>
                <a:srgbClr val="163A5F"/>
              </a:solidFill>
            </a:endParaRPr>
          </a:p>
        </p:txBody>
      </p:sp>
      <p:sp>
        <p:nvSpPr>
          <p:cNvPr id="19" name="矩形 18"/>
          <p:cNvSpPr>
            <a:spLocks noGrp="1"/>
          </p:cNvSpPr>
          <p:nvPr/>
        </p:nvSpPr>
        <p:spPr>
          <a:xfrm>
            <a:off x="9302115" y="2295525"/>
            <a:ext cx="171450" cy="152400"/>
          </a:xfrm>
          <a:prstGeom prst="rect">
            <a:avLst/>
          </a:prstGeom>
          <a:solidFill>
            <a:srgbClr val="286F9E"/>
          </a:solidFill>
          <a:ln w="0">
            <a:noFill/>
            <a:prstDash val="solid"/>
          </a:ln>
        </p:spPr>
      </p:sp>
      <p:sp>
        <p:nvSpPr>
          <p:cNvPr id="20" name="矩形 19"/>
          <p:cNvSpPr>
            <a:spLocks noGrp="1"/>
          </p:cNvSpPr>
          <p:nvPr/>
        </p:nvSpPr>
        <p:spPr>
          <a:xfrm>
            <a:off x="9435465" y="2247900"/>
            <a:ext cx="95250" cy="247650"/>
          </a:xfrm>
          <a:prstGeom prst="rect">
            <a:avLst/>
          </a:prstGeom>
          <a:solidFill>
            <a:srgbClr val="286F9E"/>
          </a:solidFill>
          <a:ln w="0">
            <a:noFill/>
            <a:prstDash val="solid"/>
          </a:ln>
        </p:spPr>
      </p:sp>
      <p:sp>
        <p:nvSpPr>
          <p:cNvPr id="21" name="圆角矩形 20"/>
          <p:cNvSpPr>
            <a:spLocks noGrp="1"/>
          </p:cNvSpPr>
          <p:nvPr/>
        </p:nvSpPr>
        <p:spPr>
          <a:xfrm>
            <a:off x="7326630" y="2000250"/>
            <a:ext cx="1927860" cy="742950"/>
          </a:xfrm>
          <a:prstGeom prst="roundRect">
            <a:avLst>
              <a:gd name="adj" fmla="val 10256"/>
            </a:avLst>
          </a:prstGeom>
          <a:solidFill>
            <a:srgbClr val="EAF5F4"/>
          </a:solidFill>
          <a:ln w="9525">
            <a:solidFill>
              <a:srgbClr val="D7E0E7"/>
            </a:solidFill>
            <a:prstDash val="solid"/>
          </a:ln>
        </p:spPr>
      </p:sp>
      <p:sp>
        <p:nvSpPr>
          <p:cNvPr id="22" name="矩形 21"/>
          <p:cNvSpPr>
            <a:spLocks noGrp="1"/>
          </p:cNvSpPr>
          <p:nvPr/>
        </p:nvSpPr>
        <p:spPr>
          <a:xfrm>
            <a:off x="740283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计算指标差值</a:t>
            </a:r>
            <a:endParaRPr sz="1350" b="1">
              <a:solidFill>
                <a:srgbClr val="163A5F"/>
              </a:solidFill>
            </a:endParaRPr>
          </a:p>
        </p:txBody>
      </p:sp>
      <p:sp>
        <p:nvSpPr>
          <p:cNvPr id="23" name="圆角矩形 22"/>
          <p:cNvSpPr>
            <a:spLocks noGrp="1"/>
          </p:cNvSpPr>
          <p:nvPr/>
        </p:nvSpPr>
        <p:spPr>
          <a:xfrm>
            <a:off x="9521190" y="2000250"/>
            <a:ext cx="1927860" cy="742950"/>
          </a:xfrm>
          <a:prstGeom prst="roundRect">
            <a:avLst>
              <a:gd name="adj" fmla="val 10256"/>
            </a:avLst>
          </a:prstGeom>
          <a:solidFill>
            <a:srgbClr val="EAF2F8"/>
          </a:solidFill>
          <a:ln w="9525">
            <a:solidFill>
              <a:srgbClr val="D7E0E7"/>
            </a:solidFill>
            <a:prstDash val="solid"/>
          </a:ln>
        </p:spPr>
      </p:sp>
      <p:sp>
        <p:nvSpPr>
          <p:cNvPr id="24" name="矩形 23"/>
          <p:cNvSpPr>
            <a:spLocks noGrp="1"/>
          </p:cNvSpPr>
          <p:nvPr/>
        </p:nvSpPr>
        <p:spPr>
          <a:xfrm>
            <a:off x="959739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分析新增失败</a:t>
            </a:r>
            <a:endParaRPr sz="1350" b="1">
              <a:solidFill>
                <a:srgbClr val="163A5F"/>
              </a:solidFill>
            </a:endParaRPr>
          </a:p>
        </p:txBody>
      </p:sp>
      <p:sp>
        <p:nvSpPr>
          <p:cNvPr id="25" name="圆角矩形 24"/>
          <p:cNvSpPr>
            <a:spLocks noGrp="1"/>
          </p:cNvSpPr>
          <p:nvPr/>
        </p:nvSpPr>
        <p:spPr>
          <a:xfrm>
            <a:off x="1428750" y="3333750"/>
            <a:ext cx="9334500" cy="1409700"/>
          </a:xfrm>
          <a:prstGeom prst="roundRect">
            <a:avLst>
              <a:gd name="adj" fmla="val 5405"/>
            </a:avLst>
          </a:prstGeom>
          <a:solidFill>
            <a:srgbClr val="EAF5F4"/>
          </a:solidFill>
          <a:ln w="9525">
            <a:solidFill>
              <a:srgbClr val="D7E0E7"/>
            </a:solidFill>
            <a:prstDash val="solid"/>
          </a:ln>
        </p:spPr>
      </p:sp>
      <p:sp>
        <p:nvSpPr>
          <p:cNvPr id="26" name="圆角矩形 25"/>
          <p:cNvSpPr>
            <a:spLocks noGrp="1"/>
          </p:cNvSpPr>
          <p:nvPr/>
        </p:nvSpPr>
        <p:spPr>
          <a:xfrm>
            <a:off x="1428750" y="3333750"/>
            <a:ext cx="66675" cy="1409700"/>
          </a:xfrm>
          <a:prstGeom prst="roundRect">
            <a:avLst>
              <a:gd name="adj" fmla="val 50000"/>
            </a:avLst>
          </a:prstGeom>
          <a:solidFill>
            <a:srgbClr val="2C7A7B"/>
          </a:solidFill>
          <a:ln w="0">
            <a:noFill/>
            <a:prstDash val="solid"/>
          </a:ln>
        </p:spPr>
      </p:sp>
      <p:sp>
        <p:nvSpPr>
          <p:cNvPr id="27" name="矩形 26"/>
          <p:cNvSpPr>
            <a:spLocks noGrp="1"/>
          </p:cNvSpPr>
          <p:nvPr/>
        </p:nvSpPr>
        <p:spPr>
          <a:xfrm>
            <a:off x="1657350" y="3505200"/>
            <a:ext cx="89344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示例问题</a:t>
            </a:r>
            <a:endParaRPr sz="1650" b="1">
              <a:solidFill>
                <a:srgbClr val="2C7A7B"/>
              </a:solidFill>
            </a:endParaRPr>
          </a:p>
        </p:txBody>
      </p:sp>
      <p:sp>
        <p:nvSpPr>
          <p:cNvPr id="28" name="矩形 27"/>
          <p:cNvSpPr>
            <a:spLocks noGrp="1"/>
          </p:cNvSpPr>
          <p:nvPr/>
        </p:nvSpPr>
        <p:spPr>
          <a:xfrm>
            <a:off x="1657350" y="3886200"/>
            <a:ext cx="8934450" cy="742950"/>
          </a:xfrm>
          <a:prstGeom prst="rect">
            <a:avLst/>
          </a:prstGeom>
          <a:noFill/>
          <a:ln w="0">
            <a:noFill/>
            <a:prstDash val="solid"/>
          </a:ln>
        </p:spPr>
        <p:txBody>
          <a:bodyPr/>
          <a:lstStyle/>
          <a:p>
            <a:pPr algn="l">
              <a:defRPr sz="1275" b="0">
                <a:solidFill>
                  <a:srgbClr val="18212B"/>
                </a:solidFill>
              </a:defRPr>
            </a:pPr>
            <a:r>
              <a:rPr sz="1275" b="0">
                <a:solidFill>
                  <a:srgbClr val="18212B"/>
                </a:solidFill>
              </a:rPr>
              <a:t>关闭重复检测：完成率是否下降？调用成本是否上升？</a:t>
            </a:r>
            <a:endParaRPr sz="1275" b="0">
              <a:solidFill>
                <a:srgbClr val="18212B"/>
              </a:solidFill>
            </a:endParaRPr>
          </a:p>
          <a:p>
            <a:pPr algn="l">
              <a:defRPr sz="1275" b="0">
                <a:solidFill>
                  <a:srgbClr val="18212B"/>
                </a:solidFill>
              </a:defRPr>
            </a:pPr>
            <a:r>
              <a:rPr sz="1275" b="0">
                <a:solidFill>
                  <a:srgbClr val="18212B"/>
                </a:solidFill>
              </a:rPr>
              <a:t>关闭检索路由：Citation Correctness 是否变化？</a:t>
            </a:r>
            <a:endParaRPr sz="1275" b="0">
              <a:solidFill>
                <a:srgbClr val="18212B"/>
              </a:solidFill>
            </a:endParaRPr>
          </a:p>
          <a:p>
            <a:pPr algn="l">
              <a:defRPr sz="1275" b="0">
                <a:solidFill>
                  <a:srgbClr val="18212B"/>
                </a:solidFill>
              </a:defRPr>
            </a:pPr>
            <a:r>
              <a:rPr sz="1275" b="0">
                <a:solidFill>
                  <a:srgbClr val="18212B"/>
                </a:solidFill>
              </a:rPr>
              <a:t>关闭 PlanValidator：多少非法计划进入执行？</a:t>
            </a:r>
            <a:endParaRPr sz="1275" b="0">
              <a:solidFill>
                <a:srgbClr val="18212B"/>
              </a:solidFill>
            </a:endParaRPr>
          </a:p>
        </p:txBody>
      </p:sp>
      <p:sp>
        <p:nvSpPr>
          <p:cNvPr id="29" name="圆角矩形 2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0" name="矩形 2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“组件更多”不是改进；只有在同一测试集上带来可解释净收益，复杂度才有存在理由。</a:t>
            </a:r>
            <a:endParaRPr sz="1350" b="1">
              <a:solidFill>
                <a:srgbClr val="163A5F"/>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6</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zh-CN" altLang="en-US"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479425" y="1412240"/>
            <a:ext cx="5227955" cy="1334770"/>
          </a:xfrm>
          <a:prstGeom prst="rect">
            <a:avLst/>
          </a:prstGeom>
        </p:spPr>
        <p:txBody>
          <a:bodyPr>
            <a:noAutofit/>
          </a:bodyPr>
          <a:p>
            <a:endParaRPr lang="en-US" altLang="zh-CN" sz="1600"/>
          </a:p>
        </p:txBody>
      </p:sp>
      <p:sp>
        <p:nvSpPr>
          <p:cNvPr id="7" name="文本框 6"/>
          <p:cNvSpPr txBox="1"/>
          <p:nvPr/>
        </p:nvSpPr>
        <p:spPr>
          <a:xfrm>
            <a:off x="407670" y="2795905"/>
            <a:ext cx="9149715" cy="3138170"/>
          </a:xfrm>
          <a:prstGeom prst="rect">
            <a:avLst/>
          </a:prstGeom>
          <a:noFill/>
        </p:spPr>
        <p:txBody>
          <a:bodyPr wrap="square" rtlCol="0">
            <a:spAutoFit/>
          </a:bodyPr>
          <a:p>
            <a:r>
              <a:rPr lang="en-US" altLang="zh-CN"/>
              <a:t>1\Document </a:t>
            </a:r>
            <a:r>
              <a:rPr lang="zh-CN" altLang="en-US"/>
              <a:t>不能写</a:t>
            </a:r>
            <a:r>
              <a:rPr lang="en-US" altLang="zh-CN"/>
              <a:t> UserProfile </a:t>
            </a:r>
            <a:endParaRPr lang="en-US" altLang="zh-CN"/>
          </a:p>
          <a:p>
            <a:r>
              <a:rPr lang="zh-CN" altLang="en-US"/>
              <a:t>不是所有</a:t>
            </a:r>
            <a:r>
              <a:rPr lang="en-US" altLang="zh-CN"/>
              <a:t>"</a:t>
            </a:r>
            <a:r>
              <a:rPr lang="zh-CN" altLang="en-US"/>
              <a:t>看起来像事实</a:t>
            </a:r>
            <a:r>
              <a:rPr lang="en-US" altLang="zh-CN"/>
              <a:t>"</a:t>
            </a:r>
            <a:r>
              <a:rPr lang="zh-CN" altLang="en-US"/>
              <a:t>的信息都值得写入长期记忆。</a:t>
            </a:r>
            <a:r>
              <a:rPr lang="en-US" altLang="zh-CN"/>
              <a:t> </a:t>
            </a:r>
            <a:r>
              <a:rPr lang="zh-CN" altLang="en-US"/>
              <a:t>来源决定了可信度，可信度决定了写入权限。</a:t>
            </a:r>
            <a:endParaRPr lang="zh-CN" altLang="en-US"/>
          </a:p>
          <a:p>
            <a:endParaRPr lang="zh-CN" altLang="en-US"/>
          </a:p>
          <a:p>
            <a:r>
              <a:rPr lang="en-US" altLang="zh-CN"/>
              <a:t>2\</a:t>
            </a:r>
            <a:endParaRPr lang="en-US" altLang="zh-CN"/>
          </a:p>
          <a:p>
            <a:r>
              <a:rPr lang="zh-CN" altLang="en-US"/>
              <a:t>旧记忆：回答风格</a:t>
            </a:r>
            <a:r>
              <a:rPr lang="en-US" altLang="zh-CN"/>
              <a:t> = </a:t>
            </a:r>
            <a:r>
              <a:rPr lang="zh-CN" altLang="en-US"/>
              <a:t>详细</a:t>
            </a:r>
            <a:endParaRPr lang="zh-CN" altLang="en-US"/>
          </a:p>
          <a:p>
            <a:r>
              <a:rPr lang="zh-CN" altLang="en-US"/>
              <a:t>新消息：以后请简短回答。</a:t>
            </a:r>
            <a:endParaRPr lang="zh-CN" altLang="en-US"/>
          </a:p>
          <a:p>
            <a:endParaRPr lang="zh-CN" altLang="en-US"/>
          </a:p>
          <a:p>
            <a:endParaRPr lang="zh-CN" altLang="en-US"/>
          </a:p>
          <a:p>
            <a:r>
              <a:rPr lang="zh-CN" altLang="en-US"/>
              <a:t>默认策略是保守的。</a:t>
            </a:r>
            <a:r>
              <a:rPr lang="en-US" altLang="zh-CN"/>
              <a:t> </a:t>
            </a:r>
            <a:r>
              <a:rPr lang="zh-CN" altLang="en-US"/>
              <a:t>机器可以建议</a:t>
            </a:r>
            <a:r>
              <a:rPr lang="en-US" altLang="zh-CN"/>
              <a:t>"</a:t>
            </a:r>
            <a:r>
              <a:rPr lang="zh-CN" altLang="en-US"/>
              <a:t>这两条记忆冲突了</a:t>
            </a:r>
            <a:r>
              <a:rPr lang="en-US" altLang="zh-CN"/>
              <a:t>"</a:t>
            </a:r>
            <a:r>
              <a:rPr lang="zh-CN" altLang="en-US"/>
              <a:t>，但最终裁决权在人。升级不是失败</a:t>
            </a:r>
            <a:r>
              <a:rPr lang="en-US" altLang="zh-CN"/>
              <a:t>——</a:t>
            </a:r>
            <a:r>
              <a:rPr lang="zh-CN" altLang="en-US"/>
              <a:t>知道自己的边界才是可靠的系统。</a:t>
            </a:r>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C7A7B"/>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C7A7B"/>
                </a:solidFill>
              </a:defRPr>
            </a:pPr>
            <a:r>
              <a:rPr sz="6000" b="1">
                <a:solidFill>
                  <a:srgbClr val="2C7A7B"/>
                </a:solidFill>
              </a:rPr>
              <a:t>07</a:t>
            </a:r>
            <a:endParaRPr sz="6000" b="1">
              <a:solidFill>
                <a:srgbClr val="2C7A7B"/>
              </a:solidFill>
            </a:endParaRPr>
          </a:p>
        </p:txBody>
      </p:sp>
      <p:sp>
        <p:nvSpPr>
          <p:cNvPr id="3" name="矩形 2"/>
          <p:cNvSpPr>
            <a:spLocks noGrp="1"/>
          </p:cNvSpPr>
          <p:nvPr/>
        </p:nvSpPr>
        <p:spPr>
          <a:xfrm>
            <a:off x="800100" y="2266950"/>
            <a:ext cx="1714500" cy="38100"/>
          </a:xfrm>
          <a:prstGeom prst="rect">
            <a:avLst/>
          </a:prstGeom>
          <a:solidFill>
            <a:srgbClr val="2C7A7B"/>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Memory 与系统边界</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把长期上下文当作受治理的数据，而不是无上限保存的聊天记录。</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C7A7B"/>
                </a:solidFill>
              </a:defRPr>
            </a:pPr>
            <a:r>
              <a:rPr sz="1350" b="1">
                <a:solidFill>
                  <a:srgbClr val="2C7A7B"/>
                </a:solidFill>
              </a:rPr>
              <a:t>原理  →  实现  →  故障  →  评测</a:t>
            </a:r>
            <a:endParaRPr sz="1350" b="1">
              <a:solidFill>
                <a:srgbClr val="2C7A7B"/>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50</a:t>
            </a:r>
            <a:endParaRPr sz="825" b="0">
              <a:solidFill>
                <a:srgbClr val="7D8994"/>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8" name="矩形 37"/>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五类状态的生命周期和权限完全不同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把它们塞进同一个 Vec&lt;String&gt; 会造成污染、泄漏和不可删除</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51</a:t>
            </a:r>
            <a:endParaRPr sz="825" b="0">
              <a:solidFill>
                <a:srgbClr val="7D8994"/>
              </a:solidFill>
            </a:endParaRPr>
          </a:p>
        </p:txBody>
      </p:sp>
      <p:sp>
        <p:nvSpPr>
          <p:cNvPr id="7" name="矩形 6"/>
          <p:cNvSpPr>
            <a:spLocks noGrp="1"/>
          </p:cNvSpPr>
          <p:nvPr/>
        </p:nvSpPr>
        <p:spPr>
          <a:xfrm>
            <a:off x="742950" y="1752600"/>
            <a:ext cx="2381250" cy="266700"/>
          </a:xfrm>
          <a:prstGeom prst="rect">
            <a:avLst/>
          </a:prstGeom>
          <a:noFill/>
          <a:ln w="0">
            <a:noFill/>
            <a:prstDash val="solid"/>
          </a:ln>
        </p:spPr>
        <p:txBody>
          <a:bodyPr/>
          <a:lstStyle/>
          <a:p>
            <a:pPr algn="l">
              <a:defRPr sz="1350" b="1">
                <a:solidFill>
                  <a:srgbClr val="163A5F"/>
                </a:solidFill>
              </a:defRPr>
            </a:pPr>
            <a:r>
              <a:rPr sz="1350" b="1">
                <a:solidFill>
                  <a:srgbClr val="163A5F"/>
                </a:solidFill>
              </a:rPr>
              <a:t>类型</a:t>
            </a:r>
            <a:endParaRPr sz="1350" b="1">
              <a:solidFill>
                <a:srgbClr val="163A5F"/>
              </a:solidFill>
            </a:endParaRPr>
          </a:p>
        </p:txBody>
      </p:sp>
      <p:sp>
        <p:nvSpPr>
          <p:cNvPr id="8" name="矩形 7"/>
          <p:cNvSpPr>
            <a:spLocks noGrp="1"/>
          </p:cNvSpPr>
          <p:nvPr/>
        </p:nvSpPr>
        <p:spPr>
          <a:xfrm>
            <a:off x="3333750" y="1752600"/>
            <a:ext cx="3619500" cy="266700"/>
          </a:xfrm>
          <a:prstGeom prst="rect">
            <a:avLst/>
          </a:prstGeom>
          <a:noFill/>
          <a:ln w="0">
            <a:noFill/>
            <a:prstDash val="solid"/>
          </a:ln>
        </p:spPr>
        <p:txBody>
          <a:bodyPr/>
          <a:lstStyle/>
          <a:p>
            <a:pPr algn="l">
              <a:defRPr sz="1350" b="1">
                <a:solidFill>
                  <a:srgbClr val="163A5F"/>
                </a:solidFill>
              </a:defRPr>
            </a:pPr>
            <a:r>
              <a:rPr sz="1350" b="1">
                <a:solidFill>
                  <a:srgbClr val="163A5F"/>
                </a:solidFill>
              </a:rPr>
              <a:t>内容</a:t>
            </a:r>
            <a:endParaRPr sz="1350" b="1">
              <a:solidFill>
                <a:srgbClr val="163A5F"/>
              </a:solidFill>
            </a:endParaRPr>
          </a:p>
        </p:txBody>
      </p:sp>
      <p:sp>
        <p:nvSpPr>
          <p:cNvPr id="9" name="矩形 8"/>
          <p:cNvSpPr>
            <a:spLocks noGrp="1"/>
          </p:cNvSpPr>
          <p:nvPr/>
        </p:nvSpPr>
        <p:spPr>
          <a:xfrm>
            <a:off x="7239000" y="1752600"/>
            <a:ext cx="1524000" cy="266700"/>
          </a:xfrm>
          <a:prstGeom prst="rect">
            <a:avLst/>
          </a:prstGeom>
          <a:noFill/>
          <a:ln w="0">
            <a:noFill/>
            <a:prstDash val="solid"/>
          </a:ln>
        </p:spPr>
        <p:txBody>
          <a:bodyPr/>
          <a:lstStyle/>
          <a:p>
            <a:pPr algn="l">
              <a:defRPr sz="1350" b="1">
                <a:solidFill>
                  <a:srgbClr val="163A5F"/>
                </a:solidFill>
              </a:defRPr>
            </a:pPr>
            <a:r>
              <a:rPr sz="1350" b="1">
                <a:solidFill>
                  <a:srgbClr val="163A5F"/>
                </a:solidFill>
              </a:rPr>
              <a:t>生命周期</a:t>
            </a:r>
            <a:endParaRPr sz="1350" b="1">
              <a:solidFill>
                <a:srgbClr val="163A5F"/>
              </a:solidFill>
            </a:endParaRPr>
          </a:p>
        </p:txBody>
      </p:sp>
      <p:sp>
        <p:nvSpPr>
          <p:cNvPr id="10" name="矩形 9"/>
          <p:cNvSpPr>
            <a:spLocks noGrp="1"/>
          </p:cNvSpPr>
          <p:nvPr/>
        </p:nvSpPr>
        <p:spPr>
          <a:xfrm>
            <a:off x="9334500" y="1752600"/>
            <a:ext cx="1143000" cy="266700"/>
          </a:xfrm>
          <a:prstGeom prst="rect">
            <a:avLst/>
          </a:prstGeom>
          <a:noFill/>
          <a:ln w="0">
            <a:noFill/>
            <a:prstDash val="solid"/>
          </a:ln>
        </p:spPr>
        <p:txBody>
          <a:bodyPr/>
          <a:lstStyle/>
          <a:p>
            <a:pPr algn="ctr">
              <a:defRPr sz="1350" b="1">
                <a:solidFill>
                  <a:srgbClr val="163A5F"/>
                </a:solidFill>
              </a:defRPr>
            </a:pPr>
            <a:r>
              <a:rPr sz="1350" b="1">
                <a:solidFill>
                  <a:srgbClr val="163A5F"/>
                </a:solidFill>
              </a:rPr>
              <a:t>需治理</a:t>
            </a:r>
            <a:endParaRPr sz="1350" b="1">
              <a:solidFill>
                <a:srgbClr val="163A5F"/>
              </a:solidFill>
            </a:endParaRPr>
          </a:p>
        </p:txBody>
      </p:sp>
      <p:sp>
        <p:nvSpPr>
          <p:cNvPr id="11" name="圆角矩形 10"/>
          <p:cNvSpPr>
            <a:spLocks noGrp="1"/>
          </p:cNvSpPr>
          <p:nvPr/>
        </p:nvSpPr>
        <p:spPr>
          <a:xfrm>
            <a:off x="647700" y="2143125"/>
            <a:ext cx="10096500" cy="457200"/>
          </a:xfrm>
          <a:prstGeom prst="roundRect">
            <a:avLst>
              <a:gd name="adj" fmla="val 16667"/>
            </a:avLst>
          </a:prstGeom>
          <a:solidFill>
            <a:srgbClr val="FFFFFF"/>
          </a:solidFill>
          <a:ln w="9525">
            <a:solidFill>
              <a:srgbClr val="D7E0E7"/>
            </a:solidFill>
            <a:prstDash val="solid"/>
          </a:ln>
        </p:spPr>
      </p:sp>
      <p:sp>
        <p:nvSpPr>
          <p:cNvPr id="12" name="矩形 11"/>
          <p:cNvSpPr>
            <a:spLocks noGrp="1"/>
          </p:cNvSpPr>
          <p:nvPr/>
        </p:nvSpPr>
        <p:spPr>
          <a:xfrm>
            <a:off x="800100" y="2238375"/>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Working State</a:t>
            </a:r>
            <a:endParaRPr sz="1275" b="1">
              <a:solidFill>
                <a:srgbClr val="18212B"/>
              </a:solidFill>
            </a:endParaRPr>
          </a:p>
        </p:txBody>
      </p:sp>
      <p:sp>
        <p:nvSpPr>
          <p:cNvPr id="13" name="矩形 12"/>
          <p:cNvSpPr>
            <a:spLocks noGrp="1"/>
          </p:cNvSpPr>
          <p:nvPr/>
        </p:nvSpPr>
        <p:spPr>
          <a:xfrm>
            <a:off x="3333750" y="2238375"/>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当前任务已知事实</a:t>
            </a:r>
            <a:endParaRPr sz="1275" b="0">
              <a:solidFill>
                <a:srgbClr val="566573"/>
              </a:solidFill>
            </a:endParaRPr>
          </a:p>
        </p:txBody>
      </p:sp>
      <p:sp>
        <p:nvSpPr>
          <p:cNvPr id="14" name="矩形 13"/>
          <p:cNvSpPr>
            <a:spLocks noGrp="1"/>
          </p:cNvSpPr>
          <p:nvPr/>
        </p:nvSpPr>
        <p:spPr>
          <a:xfrm>
            <a:off x="7239000" y="2238375"/>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run</a:t>
            </a:r>
            <a:endParaRPr sz="1275" b="0">
              <a:solidFill>
                <a:srgbClr val="566573"/>
              </a:solidFill>
            </a:endParaRPr>
          </a:p>
        </p:txBody>
      </p:sp>
      <p:sp>
        <p:nvSpPr>
          <p:cNvPr id="15" name="矩形 14"/>
          <p:cNvSpPr>
            <a:spLocks noGrp="1"/>
          </p:cNvSpPr>
          <p:nvPr/>
        </p:nvSpPr>
        <p:spPr>
          <a:xfrm>
            <a:off x="9334500" y="2238375"/>
            <a:ext cx="1143000" cy="247650"/>
          </a:xfrm>
          <a:prstGeom prst="rect">
            <a:avLst/>
          </a:prstGeom>
          <a:noFill/>
          <a:ln w="0">
            <a:noFill/>
            <a:prstDash val="solid"/>
          </a:ln>
        </p:spPr>
        <p:txBody>
          <a:bodyPr/>
          <a:lstStyle/>
          <a:p>
            <a:pPr algn="ctr">
              <a:defRPr sz="1275" b="1">
                <a:solidFill>
                  <a:srgbClr val="2F7D4A"/>
                </a:solidFill>
              </a:defRPr>
            </a:pPr>
            <a:r>
              <a:rPr sz="1275" b="1">
                <a:solidFill>
                  <a:srgbClr val="2F7D4A"/>
                </a:solidFill>
              </a:rPr>
              <a:t>否</a:t>
            </a:r>
            <a:endParaRPr sz="1275" b="1">
              <a:solidFill>
                <a:srgbClr val="2F7D4A"/>
              </a:solidFill>
            </a:endParaRPr>
          </a:p>
        </p:txBody>
      </p:sp>
      <p:sp>
        <p:nvSpPr>
          <p:cNvPr id="16" name="圆角矩形 15"/>
          <p:cNvSpPr>
            <a:spLocks noGrp="1"/>
          </p:cNvSpPr>
          <p:nvPr/>
        </p:nvSpPr>
        <p:spPr>
          <a:xfrm>
            <a:off x="647700" y="2724150"/>
            <a:ext cx="10096500" cy="457200"/>
          </a:xfrm>
          <a:prstGeom prst="roundRect">
            <a:avLst>
              <a:gd name="adj" fmla="val 16667"/>
            </a:avLst>
          </a:prstGeom>
          <a:solidFill>
            <a:srgbClr val="F3F6F8"/>
          </a:solidFill>
          <a:ln w="9525">
            <a:solidFill>
              <a:srgbClr val="D7E0E7"/>
            </a:solidFill>
            <a:prstDash val="solid"/>
          </a:ln>
        </p:spPr>
      </p:sp>
      <p:sp>
        <p:nvSpPr>
          <p:cNvPr id="17" name="矩形 16"/>
          <p:cNvSpPr>
            <a:spLocks noGrp="1"/>
          </p:cNvSpPr>
          <p:nvPr/>
        </p:nvSpPr>
        <p:spPr>
          <a:xfrm>
            <a:off x="800100" y="2819400"/>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Cache</a:t>
            </a:r>
            <a:endParaRPr sz="1275" b="1">
              <a:solidFill>
                <a:srgbClr val="18212B"/>
              </a:solidFill>
            </a:endParaRPr>
          </a:p>
        </p:txBody>
      </p:sp>
      <p:sp>
        <p:nvSpPr>
          <p:cNvPr id="18" name="矩形 17"/>
          <p:cNvSpPr>
            <a:spLocks noGrp="1"/>
          </p:cNvSpPr>
          <p:nvPr/>
        </p:nvSpPr>
        <p:spPr>
          <a:xfrm>
            <a:off x="3333750" y="2819400"/>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query → 检索结果</a:t>
            </a:r>
            <a:endParaRPr sz="1275" b="0">
              <a:solidFill>
                <a:srgbClr val="566573"/>
              </a:solidFill>
            </a:endParaRPr>
          </a:p>
        </p:txBody>
      </p:sp>
      <p:sp>
        <p:nvSpPr>
          <p:cNvPr id="19" name="矩形 18"/>
          <p:cNvSpPr>
            <a:spLocks noGrp="1"/>
          </p:cNvSpPr>
          <p:nvPr/>
        </p:nvSpPr>
        <p:spPr>
          <a:xfrm>
            <a:off x="7239000" y="2819400"/>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短期</a:t>
            </a:r>
            <a:endParaRPr sz="1275" b="0">
              <a:solidFill>
                <a:srgbClr val="566573"/>
              </a:solidFill>
            </a:endParaRPr>
          </a:p>
        </p:txBody>
      </p:sp>
      <p:sp>
        <p:nvSpPr>
          <p:cNvPr id="20" name="矩形 19"/>
          <p:cNvSpPr>
            <a:spLocks noGrp="1"/>
          </p:cNvSpPr>
          <p:nvPr/>
        </p:nvSpPr>
        <p:spPr>
          <a:xfrm>
            <a:off x="9334500" y="2819400"/>
            <a:ext cx="1143000" cy="247650"/>
          </a:xfrm>
          <a:prstGeom prst="rect">
            <a:avLst/>
          </a:prstGeom>
          <a:noFill/>
          <a:ln w="0">
            <a:noFill/>
            <a:prstDash val="solid"/>
          </a:ln>
        </p:spPr>
        <p:txBody>
          <a:bodyPr/>
          <a:lstStyle/>
          <a:p>
            <a:pPr algn="ctr">
              <a:defRPr sz="1275" b="1">
                <a:solidFill>
                  <a:srgbClr val="2F7D4A"/>
                </a:solidFill>
              </a:defRPr>
            </a:pPr>
            <a:r>
              <a:rPr sz="1275" b="1">
                <a:solidFill>
                  <a:srgbClr val="2F7D4A"/>
                </a:solidFill>
              </a:rPr>
              <a:t>可选</a:t>
            </a:r>
            <a:endParaRPr sz="1275" b="1">
              <a:solidFill>
                <a:srgbClr val="2F7D4A"/>
              </a:solidFill>
            </a:endParaRPr>
          </a:p>
        </p:txBody>
      </p:sp>
      <p:sp>
        <p:nvSpPr>
          <p:cNvPr id="21" name="圆角矩形 20"/>
          <p:cNvSpPr>
            <a:spLocks noGrp="1"/>
          </p:cNvSpPr>
          <p:nvPr/>
        </p:nvSpPr>
        <p:spPr>
          <a:xfrm>
            <a:off x="647700" y="3305175"/>
            <a:ext cx="10096500" cy="457200"/>
          </a:xfrm>
          <a:prstGeom prst="roundRect">
            <a:avLst>
              <a:gd name="adj" fmla="val 16667"/>
            </a:avLst>
          </a:prstGeom>
          <a:solidFill>
            <a:srgbClr val="FFFFFF"/>
          </a:solidFill>
          <a:ln w="9525">
            <a:solidFill>
              <a:srgbClr val="D7E0E7"/>
            </a:solidFill>
            <a:prstDash val="solid"/>
          </a:ln>
        </p:spPr>
      </p:sp>
      <p:sp>
        <p:nvSpPr>
          <p:cNvPr id="22" name="矩形 21"/>
          <p:cNvSpPr>
            <a:spLocks noGrp="1"/>
          </p:cNvSpPr>
          <p:nvPr/>
        </p:nvSpPr>
        <p:spPr>
          <a:xfrm>
            <a:off x="800100" y="3400425"/>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User Profile</a:t>
            </a:r>
            <a:endParaRPr sz="1275" b="1">
              <a:solidFill>
                <a:srgbClr val="18212B"/>
              </a:solidFill>
            </a:endParaRPr>
          </a:p>
        </p:txBody>
      </p:sp>
      <p:sp>
        <p:nvSpPr>
          <p:cNvPr id="23" name="矩形 22"/>
          <p:cNvSpPr>
            <a:spLocks noGrp="1"/>
          </p:cNvSpPr>
          <p:nvPr/>
        </p:nvSpPr>
        <p:spPr>
          <a:xfrm>
            <a:off x="3333750" y="3400425"/>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用户明确偏好</a:t>
            </a:r>
            <a:endParaRPr sz="1275" b="0">
              <a:solidFill>
                <a:srgbClr val="566573"/>
              </a:solidFill>
            </a:endParaRPr>
          </a:p>
        </p:txBody>
      </p:sp>
      <p:sp>
        <p:nvSpPr>
          <p:cNvPr id="24" name="矩形 23"/>
          <p:cNvSpPr>
            <a:spLocks noGrp="1"/>
          </p:cNvSpPr>
          <p:nvPr/>
        </p:nvSpPr>
        <p:spPr>
          <a:xfrm>
            <a:off x="7239000" y="3400425"/>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长期</a:t>
            </a:r>
            <a:endParaRPr sz="1275" b="0">
              <a:solidFill>
                <a:srgbClr val="566573"/>
              </a:solidFill>
            </a:endParaRPr>
          </a:p>
        </p:txBody>
      </p:sp>
      <p:sp>
        <p:nvSpPr>
          <p:cNvPr id="25" name="矩形 24"/>
          <p:cNvSpPr>
            <a:spLocks noGrp="1"/>
          </p:cNvSpPr>
          <p:nvPr/>
        </p:nvSpPr>
        <p:spPr>
          <a:xfrm>
            <a:off x="9334500" y="3400425"/>
            <a:ext cx="1143000" cy="247650"/>
          </a:xfrm>
          <a:prstGeom prst="rect">
            <a:avLst/>
          </a:prstGeom>
          <a:noFill/>
          <a:ln w="0">
            <a:noFill/>
            <a:prstDash val="solid"/>
          </a:ln>
        </p:spPr>
        <p:txBody>
          <a:bodyPr/>
          <a:lstStyle/>
          <a:p>
            <a:pPr algn="ctr">
              <a:defRPr sz="1275" b="1">
                <a:solidFill>
                  <a:srgbClr val="A23B3B"/>
                </a:solidFill>
              </a:defRPr>
            </a:pPr>
            <a:r>
              <a:rPr sz="1275" b="1">
                <a:solidFill>
                  <a:srgbClr val="A23B3B"/>
                </a:solidFill>
              </a:rPr>
              <a:t>是</a:t>
            </a:r>
            <a:endParaRPr sz="1275" b="1">
              <a:solidFill>
                <a:srgbClr val="A23B3B"/>
              </a:solidFill>
            </a:endParaRPr>
          </a:p>
        </p:txBody>
      </p:sp>
      <p:sp>
        <p:nvSpPr>
          <p:cNvPr id="26" name="圆角矩形 25"/>
          <p:cNvSpPr>
            <a:spLocks noGrp="1"/>
          </p:cNvSpPr>
          <p:nvPr/>
        </p:nvSpPr>
        <p:spPr>
          <a:xfrm>
            <a:off x="647700" y="3886200"/>
            <a:ext cx="10096500" cy="457200"/>
          </a:xfrm>
          <a:prstGeom prst="roundRect">
            <a:avLst>
              <a:gd name="adj" fmla="val 16667"/>
            </a:avLst>
          </a:prstGeom>
          <a:solidFill>
            <a:srgbClr val="F3F6F8"/>
          </a:solidFill>
          <a:ln w="9525">
            <a:solidFill>
              <a:srgbClr val="D7E0E7"/>
            </a:solidFill>
            <a:prstDash val="solid"/>
          </a:ln>
        </p:spPr>
      </p:sp>
      <p:sp>
        <p:nvSpPr>
          <p:cNvPr id="27" name="矩形 26"/>
          <p:cNvSpPr>
            <a:spLocks noGrp="1"/>
          </p:cNvSpPr>
          <p:nvPr/>
        </p:nvSpPr>
        <p:spPr>
          <a:xfrm>
            <a:off x="800100" y="3981450"/>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Episodic Memory</a:t>
            </a:r>
            <a:endParaRPr sz="1275" b="1">
              <a:solidFill>
                <a:srgbClr val="18212B"/>
              </a:solidFill>
            </a:endParaRPr>
          </a:p>
        </p:txBody>
      </p:sp>
      <p:sp>
        <p:nvSpPr>
          <p:cNvPr id="28" name="矩形 27"/>
          <p:cNvSpPr>
            <a:spLocks noGrp="1"/>
          </p:cNvSpPr>
          <p:nvPr/>
        </p:nvSpPr>
        <p:spPr>
          <a:xfrm>
            <a:off x="3333750" y="3981450"/>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一次任务发生了什么</a:t>
            </a:r>
            <a:endParaRPr sz="1275" b="0">
              <a:solidFill>
                <a:srgbClr val="566573"/>
              </a:solidFill>
            </a:endParaRPr>
          </a:p>
        </p:txBody>
      </p:sp>
      <p:sp>
        <p:nvSpPr>
          <p:cNvPr id="29" name="矩形 28"/>
          <p:cNvSpPr>
            <a:spLocks noGrp="1"/>
          </p:cNvSpPr>
          <p:nvPr/>
        </p:nvSpPr>
        <p:spPr>
          <a:xfrm>
            <a:off x="7239000" y="3981450"/>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长期</a:t>
            </a:r>
            <a:endParaRPr sz="1275" b="0">
              <a:solidFill>
                <a:srgbClr val="566573"/>
              </a:solidFill>
            </a:endParaRPr>
          </a:p>
        </p:txBody>
      </p:sp>
      <p:sp>
        <p:nvSpPr>
          <p:cNvPr id="30" name="矩形 29"/>
          <p:cNvSpPr>
            <a:spLocks noGrp="1"/>
          </p:cNvSpPr>
          <p:nvPr/>
        </p:nvSpPr>
        <p:spPr>
          <a:xfrm>
            <a:off x="9334500" y="3981450"/>
            <a:ext cx="1143000" cy="247650"/>
          </a:xfrm>
          <a:prstGeom prst="rect">
            <a:avLst/>
          </a:prstGeom>
          <a:noFill/>
          <a:ln w="0">
            <a:noFill/>
            <a:prstDash val="solid"/>
          </a:ln>
        </p:spPr>
        <p:txBody>
          <a:bodyPr/>
          <a:lstStyle/>
          <a:p>
            <a:pPr algn="ctr">
              <a:defRPr sz="1275" b="1">
                <a:solidFill>
                  <a:srgbClr val="A23B3B"/>
                </a:solidFill>
              </a:defRPr>
            </a:pPr>
            <a:r>
              <a:rPr sz="1275" b="1">
                <a:solidFill>
                  <a:srgbClr val="A23B3B"/>
                </a:solidFill>
              </a:rPr>
              <a:t>是</a:t>
            </a:r>
            <a:endParaRPr sz="1275" b="1">
              <a:solidFill>
                <a:srgbClr val="A23B3B"/>
              </a:solidFill>
            </a:endParaRPr>
          </a:p>
        </p:txBody>
      </p:sp>
      <p:sp>
        <p:nvSpPr>
          <p:cNvPr id="31" name="圆角矩形 30"/>
          <p:cNvSpPr>
            <a:spLocks noGrp="1"/>
          </p:cNvSpPr>
          <p:nvPr/>
        </p:nvSpPr>
        <p:spPr>
          <a:xfrm>
            <a:off x="647700" y="4467225"/>
            <a:ext cx="10096500" cy="457200"/>
          </a:xfrm>
          <a:prstGeom prst="roundRect">
            <a:avLst>
              <a:gd name="adj" fmla="val 16667"/>
            </a:avLst>
          </a:prstGeom>
          <a:solidFill>
            <a:srgbClr val="FFFFFF"/>
          </a:solidFill>
          <a:ln w="9525">
            <a:solidFill>
              <a:srgbClr val="D7E0E7"/>
            </a:solidFill>
            <a:prstDash val="solid"/>
          </a:ln>
        </p:spPr>
      </p:sp>
      <p:sp>
        <p:nvSpPr>
          <p:cNvPr id="32" name="矩形 31"/>
          <p:cNvSpPr>
            <a:spLocks noGrp="1"/>
          </p:cNvSpPr>
          <p:nvPr/>
        </p:nvSpPr>
        <p:spPr>
          <a:xfrm>
            <a:off x="800100" y="4562475"/>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Knowledge Base</a:t>
            </a:r>
            <a:endParaRPr sz="1275" b="1">
              <a:solidFill>
                <a:srgbClr val="18212B"/>
              </a:solidFill>
            </a:endParaRPr>
          </a:p>
        </p:txBody>
      </p:sp>
      <p:sp>
        <p:nvSpPr>
          <p:cNvPr id="33" name="矩形 32"/>
          <p:cNvSpPr>
            <a:spLocks noGrp="1"/>
          </p:cNvSpPr>
          <p:nvPr/>
        </p:nvSpPr>
        <p:spPr>
          <a:xfrm>
            <a:off x="3333750" y="4562475"/>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版本化规则原文</a:t>
            </a:r>
            <a:endParaRPr sz="1275" b="0">
              <a:solidFill>
                <a:srgbClr val="566573"/>
              </a:solidFill>
            </a:endParaRPr>
          </a:p>
        </p:txBody>
      </p:sp>
      <p:sp>
        <p:nvSpPr>
          <p:cNvPr id="34" name="矩形 33"/>
          <p:cNvSpPr>
            <a:spLocks noGrp="1"/>
          </p:cNvSpPr>
          <p:nvPr/>
        </p:nvSpPr>
        <p:spPr>
          <a:xfrm>
            <a:off x="7239000" y="4562475"/>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长期</a:t>
            </a:r>
            <a:endParaRPr sz="1275" b="0">
              <a:solidFill>
                <a:srgbClr val="566573"/>
              </a:solidFill>
            </a:endParaRPr>
          </a:p>
        </p:txBody>
      </p:sp>
      <p:sp>
        <p:nvSpPr>
          <p:cNvPr id="35" name="矩形 34"/>
          <p:cNvSpPr>
            <a:spLocks noGrp="1"/>
          </p:cNvSpPr>
          <p:nvPr/>
        </p:nvSpPr>
        <p:spPr>
          <a:xfrm>
            <a:off x="9334500" y="4562475"/>
            <a:ext cx="1143000" cy="247650"/>
          </a:xfrm>
          <a:prstGeom prst="rect">
            <a:avLst/>
          </a:prstGeom>
          <a:noFill/>
          <a:ln w="0">
            <a:noFill/>
            <a:prstDash val="solid"/>
          </a:ln>
        </p:spPr>
        <p:txBody>
          <a:bodyPr/>
          <a:lstStyle/>
          <a:p>
            <a:pPr algn="ctr">
              <a:defRPr sz="1275" b="1">
                <a:solidFill>
                  <a:srgbClr val="A23B3B"/>
                </a:solidFill>
              </a:defRPr>
            </a:pPr>
            <a:r>
              <a:rPr sz="1275" b="1">
                <a:solidFill>
                  <a:srgbClr val="A23B3B"/>
                </a:solidFill>
              </a:rPr>
              <a:t>是</a:t>
            </a:r>
            <a:endParaRPr sz="1275" b="1">
              <a:solidFill>
                <a:srgbClr val="A23B3B"/>
              </a:solidFill>
            </a:endParaRPr>
          </a:p>
        </p:txBody>
      </p:sp>
      <p:sp>
        <p:nvSpPr>
          <p:cNvPr id="36" name="圆角矩形 35"/>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7" name="矩形 36"/>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Memory 设计首先是分类与治理问题，其次才是检索问题。</a:t>
            </a:r>
            <a:endParaRPr sz="1350" b="1">
              <a:solidFill>
                <a:srgbClr val="163A5F"/>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一条长期记忆必须自带来源与使用边界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没有 provenance 的“记忆”只是无法审计的模型推测</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52</a:t>
            </a:r>
            <a:endParaRPr sz="825" b="0">
              <a:solidFill>
                <a:srgbClr val="7D8994"/>
              </a:solidFill>
            </a:endParaRPr>
          </a:p>
        </p:txBody>
      </p:sp>
      <p:sp>
        <p:nvSpPr>
          <p:cNvPr id="7" name="圆角矩形 6"/>
          <p:cNvSpPr>
            <a:spLocks noGrp="1"/>
          </p:cNvSpPr>
          <p:nvPr/>
        </p:nvSpPr>
        <p:spPr>
          <a:xfrm>
            <a:off x="762000" y="1809750"/>
            <a:ext cx="4000500" cy="2857500"/>
          </a:xfrm>
          <a:prstGeom prst="roundRect">
            <a:avLst>
              <a:gd name="adj" fmla="val 2667"/>
            </a:avLst>
          </a:prstGeom>
          <a:solidFill>
            <a:srgbClr val="F6F8FA"/>
          </a:solidFill>
          <a:ln w="9525">
            <a:solidFill>
              <a:srgbClr val="D7E0E7"/>
            </a:solidFill>
            <a:prstDash val="solid"/>
          </a:ln>
        </p:spPr>
      </p:sp>
      <p:sp>
        <p:nvSpPr>
          <p:cNvPr id="8" name="矩形 7"/>
          <p:cNvSpPr>
            <a:spLocks noGrp="1"/>
          </p:cNvSpPr>
          <p:nvPr/>
        </p:nvSpPr>
        <p:spPr>
          <a:xfrm>
            <a:off x="971550" y="1981200"/>
            <a:ext cx="3581400" cy="2533650"/>
          </a:xfrm>
          <a:prstGeom prst="rect">
            <a:avLst/>
          </a:prstGeom>
          <a:noFill/>
          <a:ln w="0">
            <a:noFill/>
            <a:prstDash val="solid"/>
          </a:ln>
        </p:spPr>
        <p:txBody>
          <a:bodyPr/>
          <a:lstStyle/>
          <a:p>
            <a:pPr algn="l">
              <a:defRPr sz="1500" b="0">
                <a:solidFill>
                  <a:srgbClr val="263238"/>
                </a:solidFill>
              </a:defRPr>
            </a:pPr>
            <a:r>
              <a:rPr sz="1500" b="0">
                <a:solidFill>
                  <a:srgbClr val="263238"/>
                </a:solidFill>
              </a:rPr>
              <a:t>MemoryItem {</a:t>
            </a:r>
            <a:endParaRPr sz="1500" b="0">
              <a:solidFill>
                <a:srgbClr val="263238"/>
              </a:solidFill>
            </a:endParaRPr>
          </a:p>
          <a:p>
            <a:pPr algn="l">
              <a:defRPr sz="1500" b="0">
                <a:solidFill>
                  <a:srgbClr val="263238"/>
                </a:solidFill>
              </a:defRPr>
            </a:pPr>
            <a:r>
              <a:rPr sz="1500" b="0">
                <a:solidFill>
                  <a:srgbClr val="263238"/>
                </a:solidFill>
              </a:rPr>
              <a:t>  id, kind, content,</a:t>
            </a:r>
            <a:endParaRPr sz="1500" b="0">
              <a:solidFill>
                <a:srgbClr val="263238"/>
              </a:solidFill>
            </a:endParaRPr>
          </a:p>
          <a:p>
            <a:pPr algn="l">
              <a:defRPr sz="1500" b="0">
                <a:solidFill>
                  <a:srgbClr val="263238"/>
                </a:solidFill>
              </a:defRPr>
            </a:pPr>
            <a:r>
              <a:rPr sz="1500" b="0">
                <a:solidFill>
                  <a:srgbClr val="263238"/>
                </a:solidFill>
              </a:rPr>
              <a:t>  source, created_at,</a:t>
            </a:r>
            <a:endParaRPr sz="1500" b="0">
              <a:solidFill>
                <a:srgbClr val="263238"/>
              </a:solidFill>
            </a:endParaRPr>
          </a:p>
          <a:p>
            <a:pPr algn="l">
              <a:defRPr sz="1500" b="0">
                <a:solidFill>
                  <a:srgbClr val="263238"/>
                </a:solidFill>
              </a:defRPr>
            </a:pPr>
            <a:r>
              <a:rPr sz="1500" b="0">
                <a:solidFill>
                  <a:srgbClr val="263238"/>
                </a:solidFill>
              </a:rPr>
              <a:t>  confidence, scope,</a:t>
            </a:r>
            <a:endParaRPr sz="1500" b="0">
              <a:solidFill>
                <a:srgbClr val="263238"/>
              </a:solidFill>
            </a:endParaRPr>
          </a:p>
          <a:p>
            <a:pPr algn="l">
              <a:defRPr sz="1500" b="0">
                <a:solidFill>
                  <a:srgbClr val="263238"/>
                </a:solidFill>
              </a:defRPr>
            </a:pPr>
            <a:r>
              <a:rPr sz="1500" b="0">
                <a:solidFill>
                  <a:srgbClr val="263238"/>
                </a:solidFill>
              </a:rPr>
              <a:t>  expires_at,</a:t>
            </a:r>
            <a:endParaRPr sz="1500" b="0">
              <a:solidFill>
                <a:srgbClr val="263238"/>
              </a:solidFill>
            </a:endParaRPr>
          </a:p>
          <a:p>
            <a:pPr algn="l">
              <a:defRPr sz="1500" b="0">
                <a:solidFill>
                  <a:srgbClr val="263238"/>
                </a:solidFill>
              </a:defRPr>
            </a:pPr>
            <a:r>
              <a:rPr sz="1500" b="0">
                <a:solidFill>
                  <a:srgbClr val="263238"/>
                </a:solidFill>
              </a:rPr>
              <a:t>  supersedes</a:t>
            </a:r>
            <a:endParaRPr sz="1500" b="0">
              <a:solidFill>
                <a:srgbClr val="263238"/>
              </a:solidFill>
            </a:endParaRPr>
          </a:p>
          <a:p>
            <a:pPr algn="l">
              <a:defRPr sz="1500" b="0">
                <a:solidFill>
                  <a:srgbClr val="263238"/>
                </a:solidFill>
              </a:defRPr>
            </a:pPr>
            <a:r>
              <a:rPr sz="1500" b="0">
                <a:solidFill>
                  <a:srgbClr val="263238"/>
                </a:solidFill>
              </a:rPr>
              <a:t>}</a:t>
            </a:r>
            <a:endParaRPr sz="1500" b="0">
              <a:solidFill>
                <a:srgbClr val="263238"/>
              </a:solidFill>
            </a:endParaRPr>
          </a:p>
        </p:txBody>
      </p:sp>
      <p:sp>
        <p:nvSpPr>
          <p:cNvPr id="9" name="圆角矩形 8"/>
          <p:cNvSpPr>
            <a:spLocks noGrp="1"/>
          </p:cNvSpPr>
          <p:nvPr/>
        </p:nvSpPr>
        <p:spPr>
          <a:xfrm>
            <a:off x="5429250" y="18954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5638800" y="18097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用户是否明确表达，而非模型推测？</a:t>
            </a:r>
            <a:endParaRPr sz="1425" b="0">
              <a:solidFill>
                <a:srgbClr val="18212B"/>
              </a:solidFill>
            </a:endParaRPr>
          </a:p>
        </p:txBody>
      </p:sp>
      <p:sp>
        <p:nvSpPr>
          <p:cNvPr id="11" name="圆角矩形 10"/>
          <p:cNvSpPr>
            <a:spLocks noGrp="1"/>
          </p:cNvSpPr>
          <p:nvPr/>
        </p:nvSpPr>
        <p:spPr>
          <a:xfrm>
            <a:off x="5429250" y="248602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5638800" y="24003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是否值得长期保存，是否包含敏感信息？</a:t>
            </a:r>
            <a:endParaRPr sz="1425" b="0">
              <a:solidFill>
                <a:srgbClr val="18212B"/>
              </a:solidFill>
            </a:endParaRPr>
          </a:p>
        </p:txBody>
      </p:sp>
      <p:sp>
        <p:nvSpPr>
          <p:cNvPr id="13" name="圆角矩形 12"/>
          <p:cNvSpPr>
            <a:spLocks noGrp="1"/>
          </p:cNvSpPr>
          <p:nvPr/>
        </p:nvSpPr>
        <p:spPr>
          <a:xfrm>
            <a:off x="5429250" y="307657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5638800" y="29908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适用于哪个 user / scope / task？</a:t>
            </a:r>
            <a:endParaRPr sz="1425" b="0">
              <a:solidFill>
                <a:srgbClr val="18212B"/>
              </a:solidFill>
            </a:endParaRPr>
          </a:p>
        </p:txBody>
      </p:sp>
      <p:sp>
        <p:nvSpPr>
          <p:cNvPr id="15" name="圆角矩形 14"/>
          <p:cNvSpPr>
            <a:spLocks noGrp="1"/>
          </p:cNvSpPr>
          <p:nvPr/>
        </p:nvSpPr>
        <p:spPr>
          <a:xfrm>
            <a:off x="5429250" y="366712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5638800" y="35814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何时过期，如何处理新旧冲突？</a:t>
            </a:r>
            <a:endParaRPr sz="1425" b="0">
              <a:solidFill>
                <a:srgbClr val="18212B"/>
              </a:solidFill>
            </a:endParaRPr>
          </a:p>
        </p:txBody>
      </p:sp>
      <p:sp>
        <p:nvSpPr>
          <p:cNvPr id="17" name="圆角矩形 16"/>
          <p:cNvSpPr>
            <a:spLocks noGrp="1"/>
          </p:cNvSpPr>
          <p:nvPr/>
        </p:nvSpPr>
        <p:spPr>
          <a:xfrm>
            <a:off x="5429250" y="4257675"/>
            <a:ext cx="76200" cy="76200"/>
          </a:xfrm>
          <a:prstGeom prst="roundRect">
            <a:avLst>
              <a:gd name="adj" fmla="val 50000"/>
            </a:avLst>
          </a:prstGeom>
          <a:solidFill>
            <a:srgbClr val="286F9E"/>
          </a:solidFill>
          <a:ln w="0">
            <a:noFill/>
            <a:prstDash val="solid"/>
          </a:ln>
        </p:spPr>
      </p:sp>
      <p:sp>
        <p:nvSpPr>
          <p:cNvPr id="18" name="矩形 17"/>
          <p:cNvSpPr>
            <a:spLocks noGrp="1"/>
          </p:cNvSpPr>
          <p:nvPr/>
        </p:nvSpPr>
        <p:spPr>
          <a:xfrm>
            <a:off x="5638800" y="41719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用户能否查看、更正、删除和清空？</a:t>
            </a:r>
            <a:endParaRPr sz="142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“用户连续问了三个 Rust 问题”不能自动写成“用户永远喜欢 Rust”；行为推断不等于明确偏好。</a:t>
            </a:r>
            <a:endParaRPr sz="1350" b="1">
              <a:solidFill>
                <a:srgbClr val="163A5F"/>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Memory 读取是一条有预算的授权管道</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长期数据不能无差别注入每次上下文</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53</a:t>
            </a:r>
            <a:endParaRPr sz="825" b="0">
              <a:solidFill>
                <a:srgbClr val="7D8994"/>
              </a:solidFill>
            </a:endParaRPr>
          </a:p>
        </p:txBody>
      </p:sp>
      <p:sp>
        <p:nvSpPr>
          <p:cNvPr id="7" name="矩形 6"/>
          <p:cNvSpPr>
            <a:spLocks noGrp="1"/>
          </p:cNvSpPr>
          <p:nvPr/>
        </p:nvSpPr>
        <p:spPr>
          <a:xfrm>
            <a:off x="2301875" y="2238375"/>
            <a:ext cx="171450" cy="152400"/>
          </a:xfrm>
          <a:prstGeom prst="rect">
            <a:avLst/>
          </a:prstGeom>
          <a:solidFill>
            <a:srgbClr val="286F9E"/>
          </a:solidFill>
          <a:ln w="0">
            <a:noFill/>
            <a:prstDash val="solid"/>
          </a:ln>
        </p:spPr>
      </p:sp>
      <p:sp>
        <p:nvSpPr>
          <p:cNvPr id="8" name="矩形 7"/>
          <p:cNvSpPr>
            <a:spLocks noGrp="1"/>
          </p:cNvSpPr>
          <p:nvPr/>
        </p:nvSpPr>
        <p:spPr>
          <a:xfrm>
            <a:off x="2435225" y="2190750"/>
            <a:ext cx="95250" cy="247650"/>
          </a:xfrm>
          <a:prstGeom prst="rect">
            <a:avLst/>
          </a:prstGeom>
          <a:solidFill>
            <a:srgbClr val="286F9E"/>
          </a:solidFill>
          <a:ln w="0">
            <a:noFill/>
            <a:prstDash val="solid"/>
          </a:ln>
        </p:spPr>
      </p:sp>
      <p:sp>
        <p:nvSpPr>
          <p:cNvPr id="9" name="圆角矩形 8"/>
          <p:cNvSpPr>
            <a:spLocks noGrp="1"/>
          </p:cNvSpPr>
          <p:nvPr/>
        </p:nvSpPr>
        <p:spPr>
          <a:xfrm>
            <a:off x="666750" y="1952625"/>
            <a:ext cx="1587500" cy="723900"/>
          </a:xfrm>
          <a:prstGeom prst="roundRect">
            <a:avLst>
              <a:gd name="adj" fmla="val 10526"/>
            </a:avLst>
          </a:prstGeom>
          <a:solidFill>
            <a:srgbClr val="EAF2F8"/>
          </a:solidFill>
          <a:ln w="9525">
            <a:solidFill>
              <a:srgbClr val="D7E0E7"/>
            </a:solidFill>
            <a:prstDash val="solid"/>
          </a:ln>
        </p:spPr>
      </p:sp>
      <p:sp>
        <p:nvSpPr>
          <p:cNvPr id="10" name="矩形 9"/>
          <p:cNvSpPr>
            <a:spLocks noGrp="1"/>
          </p:cNvSpPr>
          <p:nvPr/>
        </p:nvSpPr>
        <p:spPr>
          <a:xfrm>
            <a:off x="7429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按 user 隔离</a:t>
            </a:r>
            <a:endParaRPr sz="1350" b="1">
              <a:solidFill>
                <a:srgbClr val="163A5F"/>
              </a:solidFill>
            </a:endParaRPr>
          </a:p>
        </p:txBody>
      </p:sp>
      <p:sp>
        <p:nvSpPr>
          <p:cNvPr id="11" name="矩形 10"/>
          <p:cNvSpPr>
            <a:spLocks noGrp="1"/>
          </p:cNvSpPr>
          <p:nvPr/>
        </p:nvSpPr>
        <p:spPr>
          <a:xfrm>
            <a:off x="4156075" y="2238375"/>
            <a:ext cx="171450" cy="152400"/>
          </a:xfrm>
          <a:prstGeom prst="rect">
            <a:avLst/>
          </a:prstGeom>
          <a:solidFill>
            <a:srgbClr val="286F9E"/>
          </a:solidFill>
          <a:ln w="0">
            <a:noFill/>
            <a:prstDash val="solid"/>
          </a:ln>
        </p:spPr>
      </p:sp>
      <p:sp>
        <p:nvSpPr>
          <p:cNvPr id="12" name="矩形 11"/>
          <p:cNvSpPr>
            <a:spLocks noGrp="1"/>
          </p:cNvSpPr>
          <p:nvPr/>
        </p:nvSpPr>
        <p:spPr>
          <a:xfrm>
            <a:off x="4289425" y="2190750"/>
            <a:ext cx="95250" cy="247650"/>
          </a:xfrm>
          <a:prstGeom prst="rect">
            <a:avLst/>
          </a:prstGeom>
          <a:solidFill>
            <a:srgbClr val="286F9E"/>
          </a:solidFill>
          <a:ln w="0">
            <a:noFill/>
            <a:prstDash val="solid"/>
          </a:ln>
        </p:spPr>
      </p:sp>
      <p:sp>
        <p:nvSpPr>
          <p:cNvPr id="13" name="圆角矩形 12"/>
          <p:cNvSpPr>
            <a:spLocks noGrp="1"/>
          </p:cNvSpPr>
          <p:nvPr/>
        </p:nvSpPr>
        <p:spPr>
          <a:xfrm>
            <a:off x="2520950" y="1952625"/>
            <a:ext cx="1587500" cy="723900"/>
          </a:xfrm>
          <a:prstGeom prst="roundRect">
            <a:avLst>
              <a:gd name="adj" fmla="val 10526"/>
            </a:avLst>
          </a:prstGeom>
          <a:solidFill>
            <a:srgbClr val="EAF5F4"/>
          </a:solidFill>
          <a:ln w="9525">
            <a:solidFill>
              <a:srgbClr val="D7E0E7"/>
            </a:solidFill>
            <a:prstDash val="solid"/>
          </a:ln>
        </p:spPr>
      </p:sp>
      <p:sp>
        <p:nvSpPr>
          <p:cNvPr id="14" name="矩形 13"/>
          <p:cNvSpPr>
            <a:spLocks noGrp="1"/>
          </p:cNvSpPr>
          <p:nvPr/>
        </p:nvSpPr>
        <p:spPr>
          <a:xfrm>
            <a:off x="25971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过滤 scope</a:t>
            </a:r>
            <a:endParaRPr sz="1350" b="1">
              <a:solidFill>
                <a:srgbClr val="163A5F"/>
              </a:solidFill>
            </a:endParaRPr>
          </a:p>
        </p:txBody>
      </p:sp>
      <p:sp>
        <p:nvSpPr>
          <p:cNvPr id="15" name="矩形 14"/>
          <p:cNvSpPr>
            <a:spLocks noGrp="1"/>
          </p:cNvSpPr>
          <p:nvPr/>
        </p:nvSpPr>
        <p:spPr>
          <a:xfrm>
            <a:off x="6010275" y="2238375"/>
            <a:ext cx="171450" cy="152400"/>
          </a:xfrm>
          <a:prstGeom prst="rect">
            <a:avLst/>
          </a:prstGeom>
          <a:solidFill>
            <a:srgbClr val="286F9E"/>
          </a:solidFill>
          <a:ln w="0">
            <a:noFill/>
            <a:prstDash val="solid"/>
          </a:ln>
        </p:spPr>
      </p:sp>
      <p:sp>
        <p:nvSpPr>
          <p:cNvPr id="16" name="矩形 15"/>
          <p:cNvSpPr>
            <a:spLocks noGrp="1"/>
          </p:cNvSpPr>
          <p:nvPr/>
        </p:nvSpPr>
        <p:spPr>
          <a:xfrm>
            <a:off x="6143625" y="2190750"/>
            <a:ext cx="95250" cy="247650"/>
          </a:xfrm>
          <a:prstGeom prst="rect">
            <a:avLst/>
          </a:prstGeom>
          <a:solidFill>
            <a:srgbClr val="286F9E"/>
          </a:solidFill>
          <a:ln w="0">
            <a:noFill/>
            <a:prstDash val="solid"/>
          </a:ln>
        </p:spPr>
      </p:sp>
      <p:sp>
        <p:nvSpPr>
          <p:cNvPr id="17" name="圆角矩形 16"/>
          <p:cNvSpPr>
            <a:spLocks noGrp="1"/>
          </p:cNvSpPr>
          <p:nvPr/>
        </p:nvSpPr>
        <p:spPr>
          <a:xfrm>
            <a:off x="4375150" y="1952625"/>
            <a:ext cx="1587500" cy="723900"/>
          </a:xfrm>
          <a:prstGeom prst="roundRect">
            <a:avLst>
              <a:gd name="adj" fmla="val 10526"/>
            </a:avLst>
          </a:prstGeom>
          <a:solidFill>
            <a:srgbClr val="EAF2F8"/>
          </a:solidFill>
          <a:ln w="9525">
            <a:solidFill>
              <a:srgbClr val="D7E0E7"/>
            </a:solidFill>
            <a:prstDash val="solid"/>
          </a:ln>
        </p:spPr>
      </p:sp>
      <p:sp>
        <p:nvSpPr>
          <p:cNvPr id="18" name="矩形 17"/>
          <p:cNvSpPr>
            <a:spLocks noGrp="1"/>
          </p:cNvSpPr>
          <p:nvPr/>
        </p:nvSpPr>
        <p:spPr>
          <a:xfrm>
            <a:off x="44513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去除过期/旧版</a:t>
            </a:r>
            <a:endParaRPr sz="1350" b="1">
              <a:solidFill>
                <a:srgbClr val="163A5F"/>
              </a:solidFill>
            </a:endParaRPr>
          </a:p>
        </p:txBody>
      </p:sp>
      <p:sp>
        <p:nvSpPr>
          <p:cNvPr id="19" name="矩形 18"/>
          <p:cNvSpPr>
            <a:spLocks noGrp="1"/>
          </p:cNvSpPr>
          <p:nvPr/>
        </p:nvSpPr>
        <p:spPr>
          <a:xfrm>
            <a:off x="7864475" y="2238375"/>
            <a:ext cx="171450" cy="152400"/>
          </a:xfrm>
          <a:prstGeom prst="rect">
            <a:avLst/>
          </a:prstGeom>
          <a:solidFill>
            <a:srgbClr val="286F9E"/>
          </a:solidFill>
          <a:ln w="0">
            <a:noFill/>
            <a:prstDash val="solid"/>
          </a:ln>
        </p:spPr>
      </p:sp>
      <p:sp>
        <p:nvSpPr>
          <p:cNvPr id="20" name="矩形 19"/>
          <p:cNvSpPr>
            <a:spLocks noGrp="1"/>
          </p:cNvSpPr>
          <p:nvPr/>
        </p:nvSpPr>
        <p:spPr>
          <a:xfrm>
            <a:off x="7997825" y="2190750"/>
            <a:ext cx="95250" cy="247650"/>
          </a:xfrm>
          <a:prstGeom prst="rect">
            <a:avLst/>
          </a:prstGeom>
          <a:solidFill>
            <a:srgbClr val="286F9E"/>
          </a:solidFill>
          <a:ln w="0">
            <a:noFill/>
            <a:prstDash val="solid"/>
          </a:ln>
        </p:spPr>
      </p:sp>
      <p:sp>
        <p:nvSpPr>
          <p:cNvPr id="21" name="圆角矩形 20"/>
          <p:cNvSpPr>
            <a:spLocks noGrp="1"/>
          </p:cNvSpPr>
          <p:nvPr/>
        </p:nvSpPr>
        <p:spPr>
          <a:xfrm>
            <a:off x="6229350" y="1952625"/>
            <a:ext cx="1587500" cy="723900"/>
          </a:xfrm>
          <a:prstGeom prst="roundRect">
            <a:avLst>
              <a:gd name="adj" fmla="val 10526"/>
            </a:avLst>
          </a:prstGeom>
          <a:solidFill>
            <a:srgbClr val="EAF5F4"/>
          </a:solidFill>
          <a:ln w="9525">
            <a:solidFill>
              <a:srgbClr val="D7E0E7"/>
            </a:solidFill>
            <a:prstDash val="solid"/>
          </a:ln>
        </p:spPr>
      </p:sp>
      <p:sp>
        <p:nvSpPr>
          <p:cNvPr id="22" name="矩形 21"/>
          <p:cNvSpPr>
            <a:spLocks noGrp="1"/>
          </p:cNvSpPr>
          <p:nvPr/>
        </p:nvSpPr>
        <p:spPr>
          <a:xfrm>
            <a:off x="63055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相关性排序</a:t>
            </a:r>
            <a:endParaRPr sz="1350" b="1">
              <a:solidFill>
                <a:srgbClr val="163A5F"/>
              </a:solidFill>
            </a:endParaRPr>
          </a:p>
        </p:txBody>
      </p:sp>
      <p:sp>
        <p:nvSpPr>
          <p:cNvPr id="23" name="矩形 22"/>
          <p:cNvSpPr>
            <a:spLocks noGrp="1"/>
          </p:cNvSpPr>
          <p:nvPr/>
        </p:nvSpPr>
        <p:spPr>
          <a:xfrm>
            <a:off x="9718675" y="2238375"/>
            <a:ext cx="171450" cy="152400"/>
          </a:xfrm>
          <a:prstGeom prst="rect">
            <a:avLst/>
          </a:prstGeom>
          <a:solidFill>
            <a:srgbClr val="286F9E"/>
          </a:solidFill>
          <a:ln w="0">
            <a:noFill/>
            <a:prstDash val="solid"/>
          </a:ln>
        </p:spPr>
      </p:sp>
      <p:sp>
        <p:nvSpPr>
          <p:cNvPr id="24" name="矩形 23"/>
          <p:cNvSpPr>
            <a:spLocks noGrp="1"/>
          </p:cNvSpPr>
          <p:nvPr/>
        </p:nvSpPr>
        <p:spPr>
          <a:xfrm>
            <a:off x="9852025" y="2190750"/>
            <a:ext cx="95250" cy="247650"/>
          </a:xfrm>
          <a:prstGeom prst="rect">
            <a:avLst/>
          </a:prstGeom>
          <a:solidFill>
            <a:srgbClr val="286F9E"/>
          </a:solidFill>
          <a:ln w="0">
            <a:noFill/>
            <a:prstDash val="solid"/>
          </a:ln>
        </p:spPr>
      </p:sp>
      <p:sp>
        <p:nvSpPr>
          <p:cNvPr id="25" name="圆角矩形 24"/>
          <p:cNvSpPr>
            <a:spLocks noGrp="1"/>
          </p:cNvSpPr>
          <p:nvPr/>
        </p:nvSpPr>
        <p:spPr>
          <a:xfrm>
            <a:off x="8083550" y="1952625"/>
            <a:ext cx="1587500" cy="723900"/>
          </a:xfrm>
          <a:prstGeom prst="roundRect">
            <a:avLst>
              <a:gd name="adj" fmla="val 10526"/>
            </a:avLst>
          </a:prstGeom>
          <a:solidFill>
            <a:srgbClr val="EAF2F8"/>
          </a:solidFill>
          <a:ln w="9525">
            <a:solidFill>
              <a:srgbClr val="D7E0E7"/>
            </a:solidFill>
            <a:prstDash val="solid"/>
          </a:ln>
        </p:spPr>
      </p:sp>
      <p:sp>
        <p:nvSpPr>
          <p:cNvPr id="26" name="矩形 25"/>
          <p:cNvSpPr>
            <a:spLocks noGrp="1"/>
          </p:cNvSpPr>
          <p:nvPr/>
        </p:nvSpPr>
        <p:spPr>
          <a:xfrm>
            <a:off x="81597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长度预算</a:t>
            </a:r>
            <a:endParaRPr sz="1350" b="1">
              <a:solidFill>
                <a:srgbClr val="163A5F"/>
              </a:solidFill>
            </a:endParaRPr>
          </a:p>
        </p:txBody>
      </p:sp>
      <p:sp>
        <p:nvSpPr>
          <p:cNvPr id="27" name="圆角矩形 26"/>
          <p:cNvSpPr>
            <a:spLocks noGrp="1"/>
          </p:cNvSpPr>
          <p:nvPr/>
        </p:nvSpPr>
        <p:spPr>
          <a:xfrm>
            <a:off x="9937750" y="1952625"/>
            <a:ext cx="1587500" cy="723900"/>
          </a:xfrm>
          <a:prstGeom prst="roundRect">
            <a:avLst>
              <a:gd name="adj" fmla="val 10526"/>
            </a:avLst>
          </a:prstGeom>
          <a:solidFill>
            <a:srgbClr val="EAF5F4"/>
          </a:solidFill>
          <a:ln w="9525">
            <a:solidFill>
              <a:srgbClr val="D7E0E7"/>
            </a:solidFill>
            <a:prstDash val="solid"/>
          </a:ln>
        </p:spPr>
      </p:sp>
      <p:sp>
        <p:nvSpPr>
          <p:cNvPr id="28" name="矩形 27"/>
          <p:cNvSpPr>
            <a:spLocks noGrp="1"/>
          </p:cNvSpPr>
          <p:nvPr/>
        </p:nvSpPr>
        <p:spPr>
          <a:xfrm>
            <a:off x="100139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记录 memory_id</a:t>
            </a:r>
            <a:endParaRPr sz="1350" b="1">
              <a:solidFill>
                <a:srgbClr val="163A5F"/>
              </a:solidFill>
            </a:endParaRPr>
          </a:p>
        </p:txBody>
      </p:sp>
      <p:sp>
        <p:nvSpPr>
          <p:cNvPr id="29" name="圆角矩形 28"/>
          <p:cNvSpPr>
            <a:spLocks noGrp="1"/>
          </p:cNvSpPr>
          <p:nvPr/>
        </p:nvSpPr>
        <p:spPr>
          <a:xfrm>
            <a:off x="609600" y="3238500"/>
            <a:ext cx="5257800" cy="1905000"/>
          </a:xfrm>
          <a:prstGeom prst="roundRect">
            <a:avLst>
              <a:gd name="adj" fmla="val 4000"/>
            </a:avLst>
          </a:prstGeom>
          <a:solidFill>
            <a:srgbClr val="F3F6F8"/>
          </a:solidFill>
          <a:ln w="9525">
            <a:solidFill>
              <a:srgbClr val="D7E0E7"/>
            </a:solidFill>
            <a:prstDash val="solid"/>
          </a:ln>
        </p:spPr>
      </p:sp>
      <p:sp>
        <p:nvSpPr>
          <p:cNvPr id="30" name="圆角矩形 29"/>
          <p:cNvSpPr>
            <a:spLocks noGrp="1"/>
          </p:cNvSpPr>
          <p:nvPr/>
        </p:nvSpPr>
        <p:spPr>
          <a:xfrm>
            <a:off x="609600" y="3238500"/>
            <a:ext cx="66675" cy="1905000"/>
          </a:xfrm>
          <a:prstGeom prst="roundRect">
            <a:avLst>
              <a:gd name="adj" fmla="val 50000"/>
            </a:avLst>
          </a:prstGeom>
          <a:solidFill>
            <a:srgbClr val="286F9E"/>
          </a:solidFill>
          <a:ln w="0">
            <a:noFill/>
            <a:prstDash val="solid"/>
          </a:ln>
        </p:spPr>
      </p:sp>
      <p:sp>
        <p:nvSpPr>
          <p:cNvPr id="31" name="矩形 30"/>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写入治理</a:t>
            </a:r>
            <a:endParaRPr sz="1650" b="1">
              <a:solidFill>
                <a:srgbClr val="286F9E"/>
              </a:solidFill>
            </a:endParaRPr>
          </a:p>
        </p:txBody>
      </p:sp>
      <p:sp>
        <p:nvSpPr>
          <p:cNvPr id="32" name="矩形 31"/>
          <p:cNvSpPr>
            <a:spLocks noGrp="1"/>
          </p:cNvSpPr>
          <p:nvPr/>
        </p:nvSpPr>
        <p:spPr>
          <a:xfrm>
            <a:off x="838200" y="3790950"/>
            <a:ext cx="4857750" cy="1238250"/>
          </a:xfrm>
          <a:prstGeom prst="rect">
            <a:avLst/>
          </a:prstGeom>
          <a:noFill/>
          <a:ln w="0">
            <a:noFill/>
            <a:prstDash val="solid"/>
          </a:ln>
        </p:spPr>
        <p:txBody>
          <a:bodyPr/>
          <a:lstStyle/>
          <a:p>
            <a:pPr algn="l">
              <a:defRPr sz="1275" b="0">
                <a:solidFill>
                  <a:srgbClr val="18212B"/>
                </a:solidFill>
              </a:defRPr>
            </a:pPr>
            <a:r>
              <a:rPr sz="1275" b="0">
                <a:solidFill>
                  <a:srgbClr val="18212B"/>
                </a:solidFill>
              </a:rPr>
              <a:t>可信 source 类型</a:t>
            </a:r>
            <a:endParaRPr sz="1275" b="0">
              <a:solidFill>
                <a:srgbClr val="18212B"/>
              </a:solidFill>
            </a:endParaRPr>
          </a:p>
          <a:p>
            <a:pPr algn="l">
              <a:defRPr sz="1275" b="0">
                <a:solidFill>
                  <a:srgbClr val="18212B"/>
                </a:solidFill>
              </a:defRPr>
            </a:pPr>
            <a:r>
              <a:rPr sz="1275" b="0">
                <a:solidFill>
                  <a:srgbClr val="18212B"/>
                </a:solidFill>
              </a:rPr>
              <a:t>敏感信息检查</a:t>
            </a:r>
            <a:endParaRPr sz="1275" b="0">
              <a:solidFill>
                <a:srgbClr val="18212B"/>
              </a:solidFill>
            </a:endParaRPr>
          </a:p>
          <a:p>
            <a:pPr algn="l">
              <a:defRPr sz="1275" b="0">
                <a:solidFill>
                  <a:srgbClr val="18212B"/>
                </a:solidFill>
              </a:defRPr>
            </a:pPr>
            <a:r>
              <a:rPr sz="1275" b="0">
                <a:solidFill>
                  <a:srgbClr val="18212B"/>
                </a:solidFill>
              </a:rPr>
              <a:t>冲突与 supersedes</a:t>
            </a:r>
            <a:endParaRPr sz="1275" b="0">
              <a:solidFill>
                <a:srgbClr val="18212B"/>
              </a:solidFill>
            </a:endParaRPr>
          </a:p>
          <a:p>
            <a:pPr algn="l">
              <a:defRPr sz="1275" b="0">
                <a:solidFill>
                  <a:srgbClr val="18212B"/>
                </a:solidFill>
              </a:defRPr>
            </a:pPr>
            <a:r>
              <a:rPr sz="1275" b="0">
                <a:solidFill>
                  <a:srgbClr val="18212B"/>
                </a:solidFill>
              </a:rPr>
              <a:t>TTL 与范围</a:t>
            </a:r>
            <a:endParaRPr sz="1275" b="0">
              <a:solidFill>
                <a:srgbClr val="18212B"/>
              </a:solidFill>
            </a:endParaRPr>
          </a:p>
          <a:p>
            <a:pPr algn="l">
              <a:defRPr sz="1275" b="0">
                <a:solidFill>
                  <a:srgbClr val="18212B"/>
                </a:solidFill>
              </a:defRPr>
            </a:pPr>
            <a:r>
              <a:rPr sz="1275" b="0">
                <a:solidFill>
                  <a:srgbClr val="18212B"/>
                </a:solidFill>
              </a:rPr>
              <a:t>用户同意</a:t>
            </a:r>
            <a:endParaRPr sz="1275" b="0">
              <a:solidFill>
                <a:srgbClr val="18212B"/>
              </a:solidFill>
            </a:endParaRPr>
          </a:p>
        </p:txBody>
      </p:sp>
      <p:sp>
        <p:nvSpPr>
          <p:cNvPr id="33" name="圆角矩形 32"/>
          <p:cNvSpPr>
            <a:spLocks noGrp="1"/>
          </p:cNvSpPr>
          <p:nvPr/>
        </p:nvSpPr>
        <p:spPr>
          <a:xfrm>
            <a:off x="6324600" y="3238500"/>
            <a:ext cx="5257800" cy="1905000"/>
          </a:xfrm>
          <a:prstGeom prst="roundRect">
            <a:avLst>
              <a:gd name="adj" fmla="val 4000"/>
            </a:avLst>
          </a:prstGeom>
          <a:solidFill>
            <a:srgbClr val="F3F6F8"/>
          </a:solidFill>
          <a:ln w="9525">
            <a:solidFill>
              <a:srgbClr val="D7E0E7"/>
            </a:solidFill>
            <a:prstDash val="solid"/>
          </a:ln>
        </p:spPr>
      </p:sp>
      <p:sp>
        <p:nvSpPr>
          <p:cNvPr id="34" name="圆角矩形 33"/>
          <p:cNvSpPr>
            <a:spLocks noGrp="1"/>
          </p:cNvSpPr>
          <p:nvPr/>
        </p:nvSpPr>
        <p:spPr>
          <a:xfrm>
            <a:off x="6324600" y="3238500"/>
            <a:ext cx="66675" cy="1905000"/>
          </a:xfrm>
          <a:prstGeom prst="roundRect">
            <a:avLst>
              <a:gd name="adj" fmla="val 50000"/>
            </a:avLst>
          </a:prstGeom>
          <a:solidFill>
            <a:srgbClr val="2C7A7B"/>
          </a:solidFill>
          <a:ln w="0">
            <a:noFill/>
            <a:prstDash val="solid"/>
          </a:ln>
        </p:spPr>
      </p:sp>
      <p:sp>
        <p:nvSpPr>
          <p:cNvPr id="35" name="矩形 34"/>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读取治理</a:t>
            </a:r>
            <a:endParaRPr sz="1650" b="1">
              <a:solidFill>
                <a:srgbClr val="2C7A7B"/>
              </a:solidFill>
            </a:endParaRPr>
          </a:p>
        </p:txBody>
      </p:sp>
      <p:sp>
        <p:nvSpPr>
          <p:cNvPr id="36" name="矩形 35"/>
          <p:cNvSpPr>
            <a:spLocks noGrp="1"/>
          </p:cNvSpPr>
          <p:nvPr/>
        </p:nvSpPr>
        <p:spPr>
          <a:xfrm>
            <a:off x="6553200" y="3790950"/>
            <a:ext cx="4857750" cy="1238250"/>
          </a:xfrm>
          <a:prstGeom prst="rect">
            <a:avLst/>
          </a:prstGeom>
          <a:noFill/>
          <a:ln w="0">
            <a:noFill/>
            <a:prstDash val="solid"/>
          </a:ln>
        </p:spPr>
        <p:txBody>
          <a:bodyPr/>
          <a:lstStyle/>
          <a:p>
            <a:pPr algn="l">
              <a:defRPr sz="1275" b="0">
                <a:solidFill>
                  <a:srgbClr val="18212B"/>
                </a:solidFill>
              </a:defRPr>
            </a:pPr>
            <a:r>
              <a:rPr sz="1275" b="0">
                <a:solidFill>
                  <a:srgbClr val="18212B"/>
                </a:solidFill>
              </a:rPr>
              <a:t>强制 user_id</a:t>
            </a:r>
            <a:endParaRPr sz="1275" b="0">
              <a:solidFill>
                <a:srgbClr val="18212B"/>
              </a:solidFill>
            </a:endParaRPr>
          </a:p>
          <a:p>
            <a:pPr algn="l">
              <a:defRPr sz="1275" b="0">
                <a:solidFill>
                  <a:srgbClr val="18212B"/>
                </a:solidFill>
              </a:defRPr>
            </a:pPr>
            <a:r>
              <a:rPr sz="1275" b="0">
                <a:solidFill>
                  <a:srgbClr val="18212B"/>
                </a:solidFill>
              </a:rPr>
              <a:t>只取当前有效版本</a:t>
            </a:r>
            <a:endParaRPr sz="1275" b="0">
              <a:solidFill>
                <a:srgbClr val="18212B"/>
              </a:solidFill>
            </a:endParaRPr>
          </a:p>
          <a:p>
            <a:pPr algn="l">
              <a:defRPr sz="1275" b="0">
                <a:solidFill>
                  <a:srgbClr val="18212B"/>
                </a:solidFill>
              </a:defRPr>
            </a:pPr>
            <a:r>
              <a:rPr sz="1275" b="0">
                <a:solidFill>
                  <a:srgbClr val="18212B"/>
                </a:solidFill>
              </a:rPr>
              <a:t>限制条数与字符</a:t>
            </a:r>
            <a:endParaRPr sz="1275" b="0">
              <a:solidFill>
                <a:srgbClr val="18212B"/>
              </a:solidFill>
            </a:endParaRPr>
          </a:p>
          <a:p>
            <a:pPr algn="l">
              <a:defRPr sz="1275" b="0">
                <a:solidFill>
                  <a:srgbClr val="18212B"/>
                </a:solidFill>
              </a:defRPr>
            </a:pPr>
            <a:r>
              <a:rPr sz="1275" b="0">
                <a:solidFill>
                  <a:srgbClr val="18212B"/>
                </a:solidFill>
              </a:rPr>
              <a:t>Trace 记录影响来源</a:t>
            </a:r>
            <a:endParaRPr sz="1275" b="0">
              <a:solidFill>
                <a:srgbClr val="18212B"/>
              </a:solidFill>
            </a:endParaRPr>
          </a:p>
          <a:p>
            <a:pPr algn="l">
              <a:defRPr sz="1275" b="0">
                <a:solidFill>
                  <a:srgbClr val="18212B"/>
                </a:solidFill>
              </a:defRPr>
            </a:pPr>
            <a:r>
              <a:rPr sz="1275" b="0">
                <a:solidFill>
                  <a:srgbClr val="18212B"/>
                </a:solidFill>
              </a:rPr>
              <a:t>可解释删除</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错误发生时，系统必须能回答：是否由某条旧记忆影响？这要求使用过的 memory_id 可追踪。</a:t>
            </a:r>
            <a:endParaRPr sz="1350" b="1">
              <a:solidFill>
                <a:srgbClr val="163A5F"/>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矩形 2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摘要不是无损压缩，冲突也不能静默覆盖</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长期上下文的主要风险是把推测、旧约束或恶意内容固化</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54</a:t>
            </a:r>
            <a:endParaRPr sz="825" b="0">
              <a:solidFill>
                <a:srgbClr val="7D8994"/>
              </a:solidFill>
            </a:endParaRPr>
          </a:p>
        </p:txBody>
      </p:sp>
      <p:sp>
        <p:nvSpPr>
          <p:cNvPr id="7" name="圆角矩形 6"/>
          <p:cNvSpPr>
            <a:spLocks noGrp="1"/>
          </p:cNvSpPr>
          <p:nvPr/>
        </p:nvSpPr>
        <p:spPr>
          <a:xfrm>
            <a:off x="704850" y="1809750"/>
            <a:ext cx="4953000" cy="1428750"/>
          </a:xfrm>
          <a:prstGeom prst="roundRect">
            <a:avLst>
              <a:gd name="adj" fmla="val 5333"/>
            </a:avLst>
          </a:prstGeom>
          <a:solidFill>
            <a:srgbClr val="FFF7E6"/>
          </a:solidFill>
          <a:ln w="9525">
            <a:solidFill>
              <a:srgbClr val="D7E0E7"/>
            </a:solidFill>
            <a:prstDash val="solid"/>
          </a:ln>
        </p:spPr>
      </p:sp>
      <p:sp>
        <p:nvSpPr>
          <p:cNvPr id="8" name="圆角矩形 7"/>
          <p:cNvSpPr>
            <a:spLocks noGrp="1"/>
          </p:cNvSpPr>
          <p:nvPr/>
        </p:nvSpPr>
        <p:spPr>
          <a:xfrm>
            <a:off x="704850" y="1809750"/>
            <a:ext cx="66675" cy="1428750"/>
          </a:xfrm>
          <a:prstGeom prst="roundRect">
            <a:avLst>
              <a:gd name="adj" fmla="val 50000"/>
            </a:avLst>
          </a:prstGeom>
          <a:solidFill>
            <a:srgbClr val="B7791F"/>
          </a:solidFill>
          <a:ln w="0">
            <a:noFill/>
            <a:prstDash val="solid"/>
          </a:ln>
        </p:spPr>
      </p:sp>
      <p:sp>
        <p:nvSpPr>
          <p:cNvPr id="9" name="矩形 8"/>
          <p:cNvSpPr>
            <a:spLocks noGrp="1"/>
          </p:cNvSpPr>
          <p:nvPr/>
        </p:nvSpPr>
        <p:spPr>
          <a:xfrm>
            <a:off x="933450" y="1981200"/>
            <a:ext cx="45529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摘要一致性</a:t>
            </a:r>
            <a:endParaRPr sz="1650" b="1">
              <a:solidFill>
                <a:srgbClr val="B7791F"/>
              </a:solidFill>
            </a:endParaRPr>
          </a:p>
        </p:txBody>
      </p:sp>
      <p:sp>
        <p:nvSpPr>
          <p:cNvPr id="10" name="矩形 9"/>
          <p:cNvSpPr>
            <a:spLocks noGrp="1"/>
          </p:cNvSpPr>
          <p:nvPr/>
        </p:nvSpPr>
        <p:spPr>
          <a:xfrm>
            <a:off x="9334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保留数字、否定词、未完成约束、tool call/result 配对与来源范围。摘要失败时宁可保留原消息。</a:t>
            </a:r>
            <a:endParaRPr sz="1275" b="0">
              <a:solidFill>
                <a:srgbClr val="18212B"/>
              </a:solidFill>
            </a:endParaRPr>
          </a:p>
        </p:txBody>
      </p:sp>
      <p:sp>
        <p:nvSpPr>
          <p:cNvPr id="11" name="圆角矩形 10"/>
          <p:cNvSpPr>
            <a:spLocks noGrp="1"/>
          </p:cNvSpPr>
          <p:nvPr/>
        </p:nvSpPr>
        <p:spPr>
          <a:xfrm>
            <a:off x="6153150" y="1809750"/>
            <a:ext cx="4953000" cy="1428750"/>
          </a:xfrm>
          <a:prstGeom prst="roundRect">
            <a:avLst>
              <a:gd name="adj" fmla="val 5333"/>
            </a:avLst>
          </a:prstGeom>
          <a:solidFill>
            <a:srgbClr val="EAF5F4"/>
          </a:solidFill>
          <a:ln w="9525">
            <a:solidFill>
              <a:srgbClr val="D7E0E7"/>
            </a:solidFill>
            <a:prstDash val="solid"/>
          </a:ln>
        </p:spPr>
      </p:sp>
      <p:sp>
        <p:nvSpPr>
          <p:cNvPr id="12" name="圆角矩形 11"/>
          <p:cNvSpPr>
            <a:spLocks noGrp="1"/>
          </p:cNvSpPr>
          <p:nvPr/>
        </p:nvSpPr>
        <p:spPr>
          <a:xfrm>
            <a:off x="6153150" y="1809750"/>
            <a:ext cx="66675" cy="1428750"/>
          </a:xfrm>
          <a:prstGeom prst="roundRect">
            <a:avLst>
              <a:gd name="adj" fmla="val 50000"/>
            </a:avLst>
          </a:prstGeom>
          <a:solidFill>
            <a:srgbClr val="2C7A7B"/>
          </a:solidFill>
          <a:ln w="0">
            <a:noFill/>
            <a:prstDash val="solid"/>
          </a:ln>
        </p:spPr>
      </p:sp>
      <p:sp>
        <p:nvSpPr>
          <p:cNvPr id="13" name="矩形 12"/>
          <p:cNvSpPr>
            <a:spLocks noGrp="1"/>
          </p:cNvSpPr>
          <p:nvPr/>
        </p:nvSpPr>
        <p:spPr>
          <a:xfrm>
            <a:off x="6381750" y="1981200"/>
            <a:ext cx="4552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冲突语义</a:t>
            </a:r>
            <a:endParaRPr sz="1650" b="1">
              <a:solidFill>
                <a:srgbClr val="2C7A7B"/>
              </a:solidFill>
            </a:endParaRPr>
          </a:p>
        </p:txBody>
      </p:sp>
      <p:sp>
        <p:nvSpPr>
          <p:cNvPr id="14" name="矩形 13"/>
          <p:cNvSpPr>
            <a:spLocks noGrp="1"/>
          </p:cNvSpPr>
          <p:nvPr/>
        </p:nvSpPr>
        <p:spPr>
          <a:xfrm>
            <a:off x="63817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新偏好 supersedes 旧偏好；旧项保留历史但不再注入。检索文档不能修改 User Profile。</a:t>
            </a:r>
            <a:endParaRPr sz="1275" b="0">
              <a:solidFill>
                <a:srgbClr val="18212B"/>
              </a:solidFill>
            </a:endParaRPr>
          </a:p>
        </p:txBody>
      </p:sp>
      <p:sp>
        <p:nvSpPr>
          <p:cNvPr id="15" name="圆角矩形 14"/>
          <p:cNvSpPr>
            <a:spLocks noGrp="1"/>
          </p:cNvSpPr>
          <p:nvPr/>
        </p:nvSpPr>
        <p:spPr>
          <a:xfrm>
            <a:off x="704850" y="3638550"/>
            <a:ext cx="4953000" cy="1238250"/>
          </a:xfrm>
          <a:prstGeom prst="roundRect">
            <a:avLst>
              <a:gd name="adj" fmla="val 6154"/>
            </a:avLst>
          </a:prstGeom>
          <a:solidFill>
            <a:srgbClr val="FBECEC"/>
          </a:solidFill>
          <a:ln w="9525">
            <a:solidFill>
              <a:srgbClr val="D7E0E7"/>
            </a:solidFill>
            <a:prstDash val="solid"/>
          </a:ln>
        </p:spPr>
      </p:sp>
      <p:sp>
        <p:nvSpPr>
          <p:cNvPr id="16" name="圆角矩形 15"/>
          <p:cNvSpPr>
            <a:spLocks noGrp="1"/>
          </p:cNvSpPr>
          <p:nvPr/>
        </p:nvSpPr>
        <p:spPr>
          <a:xfrm>
            <a:off x="704850" y="3638550"/>
            <a:ext cx="66675" cy="1238250"/>
          </a:xfrm>
          <a:prstGeom prst="roundRect">
            <a:avLst>
              <a:gd name="adj" fmla="val 50000"/>
            </a:avLst>
          </a:prstGeom>
          <a:solidFill>
            <a:srgbClr val="A23B3B"/>
          </a:solidFill>
          <a:ln w="0">
            <a:noFill/>
            <a:prstDash val="solid"/>
          </a:ln>
        </p:spPr>
      </p:sp>
      <p:sp>
        <p:nvSpPr>
          <p:cNvPr id="17" name="矩形 16"/>
          <p:cNvSpPr>
            <a:spLocks noGrp="1"/>
          </p:cNvSpPr>
          <p:nvPr/>
        </p:nvSpPr>
        <p:spPr>
          <a:xfrm>
            <a:off x="933450" y="3810000"/>
            <a:ext cx="45529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删除语义</a:t>
            </a:r>
            <a:endParaRPr sz="1650" b="1">
              <a:solidFill>
                <a:srgbClr val="A23B3B"/>
              </a:solidFill>
            </a:endParaRPr>
          </a:p>
        </p:txBody>
      </p:sp>
      <p:sp>
        <p:nvSpPr>
          <p:cNvPr id="18" name="矩形 17"/>
          <p:cNvSpPr>
            <a:spLocks noGrp="1"/>
          </p:cNvSpPr>
          <p:nvPr/>
        </p:nvSpPr>
        <p:spPr>
          <a:xfrm>
            <a:off x="933450" y="4191000"/>
            <a:ext cx="4552950" cy="571500"/>
          </a:xfrm>
          <a:prstGeom prst="rect">
            <a:avLst/>
          </a:prstGeom>
          <a:noFill/>
          <a:ln w="0">
            <a:noFill/>
            <a:prstDash val="solid"/>
          </a:ln>
        </p:spPr>
        <p:txBody>
          <a:bodyPr/>
          <a:lstStyle/>
          <a:p>
            <a:pPr algn="l">
              <a:defRPr sz="1275" b="0">
                <a:solidFill>
                  <a:srgbClr val="18212B"/>
                </a:solidFill>
              </a:defRPr>
            </a:pPr>
            <a:r>
              <a:rPr sz="1275" b="0">
                <a:solidFill>
                  <a:srgbClr val="18212B"/>
                </a:solidFill>
              </a:rPr>
              <a:t>删除必须覆盖持久层、缓存和派生副本；重启后不可再次加载。</a:t>
            </a:r>
            <a:endParaRPr sz="1275" b="0">
              <a:solidFill>
                <a:srgbClr val="18212B"/>
              </a:solidFill>
            </a:endParaRPr>
          </a:p>
        </p:txBody>
      </p:sp>
      <p:sp>
        <p:nvSpPr>
          <p:cNvPr id="19" name="圆角矩形 18"/>
          <p:cNvSpPr>
            <a:spLocks noGrp="1"/>
          </p:cNvSpPr>
          <p:nvPr/>
        </p:nvSpPr>
        <p:spPr>
          <a:xfrm>
            <a:off x="6153150" y="3638550"/>
            <a:ext cx="4953000" cy="1238250"/>
          </a:xfrm>
          <a:prstGeom prst="roundRect">
            <a:avLst>
              <a:gd name="adj" fmla="val 6154"/>
            </a:avLst>
          </a:prstGeom>
          <a:solidFill>
            <a:srgbClr val="EAF2F8"/>
          </a:solidFill>
          <a:ln w="9525">
            <a:solidFill>
              <a:srgbClr val="D7E0E7"/>
            </a:solidFill>
            <a:prstDash val="solid"/>
          </a:ln>
        </p:spPr>
      </p:sp>
      <p:sp>
        <p:nvSpPr>
          <p:cNvPr id="20" name="圆角矩形 19"/>
          <p:cNvSpPr>
            <a:spLocks noGrp="1"/>
          </p:cNvSpPr>
          <p:nvPr/>
        </p:nvSpPr>
        <p:spPr>
          <a:xfrm>
            <a:off x="6153150" y="3638550"/>
            <a:ext cx="66675" cy="1238250"/>
          </a:xfrm>
          <a:prstGeom prst="roundRect">
            <a:avLst>
              <a:gd name="adj" fmla="val 50000"/>
            </a:avLst>
          </a:prstGeom>
          <a:solidFill>
            <a:srgbClr val="286F9E"/>
          </a:solidFill>
          <a:ln w="0">
            <a:noFill/>
            <a:prstDash val="solid"/>
          </a:ln>
        </p:spPr>
      </p:sp>
      <p:sp>
        <p:nvSpPr>
          <p:cNvPr id="21" name="矩形 20"/>
          <p:cNvSpPr>
            <a:spLocks noGrp="1"/>
          </p:cNvSpPr>
          <p:nvPr/>
        </p:nvSpPr>
        <p:spPr>
          <a:xfrm>
            <a:off x="6381750" y="3810000"/>
            <a:ext cx="45529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用户隔离</a:t>
            </a:r>
            <a:endParaRPr sz="1650" b="1">
              <a:solidFill>
                <a:srgbClr val="286F9E"/>
              </a:solidFill>
            </a:endParaRPr>
          </a:p>
        </p:txBody>
      </p:sp>
      <p:sp>
        <p:nvSpPr>
          <p:cNvPr id="22" name="矩形 21"/>
          <p:cNvSpPr>
            <a:spLocks noGrp="1"/>
          </p:cNvSpPr>
          <p:nvPr/>
        </p:nvSpPr>
        <p:spPr>
          <a:xfrm>
            <a:off x="6381750" y="4191000"/>
            <a:ext cx="4552950" cy="571500"/>
          </a:xfrm>
          <a:prstGeom prst="rect">
            <a:avLst/>
          </a:prstGeom>
          <a:noFill/>
          <a:ln w="0">
            <a:noFill/>
            <a:prstDash val="solid"/>
          </a:ln>
        </p:spPr>
        <p:txBody>
          <a:bodyPr/>
          <a:lstStyle/>
          <a:p>
            <a:pPr algn="l">
              <a:defRPr sz="1275" b="0">
                <a:solidFill>
                  <a:srgbClr val="18212B"/>
                </a:solidFill>
              </a:defRPr>
            </a:pPr>
            <a:r>
              <a:rPr sz="1275" b="0">
                <a:solidFill>
                  <a:srgbClr val="18212B"/>
                </a:solidFill>
              </a:rPr>
              <a:t>user_id 是强制过滤条件，不是可选查询参数；clear_user 只影响目标用户。</a:t>
            </a:r>
            <a:endParaRPr sz="1275" b="0">
              <a:solidFill>
                <a:srgbClr val="18212B"/>
              </a:solidFill>
            </a:endParaRPr>
          </a:p>
        </p:txBody>
      </p:sp>
      <p:sp>
        <p:nvSpPr>
          <p:cNvPr id="23" name="圆角矩形 2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4" name="矩形 2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可删除、可追溯、可过期、可冲突处理，才是长期 Memory 的最低治理标准。</a:t>
            </a:r>
            <a:endParaRPr sz="1350" b="1">
              <a:solidFill>
                <a:srgbClr val="163A5F"/>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可靠 Agent 必须知道什么时候把决定交还给人</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Human-in-the-Loop 是风险控制，不是模型置信度不足时的装饰按钮</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55</a:t>
            </a:r>
            <a:endParaRPr sz="825" b="0">
              <a:solidFill>
                <a:srgbClr val="7D8994"/>
              </a:solidFill>
            </a:endParaRPr>
          </a:p>
        </p:txBody>
      </p:sp>
      <p:sp>
        <p:nvSpPr>
          <p:cNvPr id="7" name="圆角矩形 6"/>
          <p:cNvSpPr>
            <a:spLocks noGrp="1"/>
          </p:cNvSpPr>
          <p:nvPr/>
        </p:nvSpPr>
        <p:spPr>
          <a:xfrm>
            <a:off x="609600" y="1809750"/>
            <a:ext cx="3276600" cy="3333750"/>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F7D4A"/>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自动处理</a:t>
            </a:r>
            <a:endParaRPr sz="1650" b="1">
              <a:solidFill>
                <a:srgbClr val="2F7D4A"/>
              </a:solidFill>
            </a:endParaRPr>
          </a:p>
        </p:txBody>
      </p:sp>
      <p:sp>
        <p:nvSpPr>
          <p:cNvPr id="10" name="矩形 9"/>
          <p:cNvSpPr>
            <a:spLocks noGrp="1"/>
          </p:cNvSpPr>
          <p:nvPr/>
        </p:nvSpPr>
        <p:spPr>
          <a:xfrm>
            <a:off x="8382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低风险</a:t>
            </a:r>
            <a:endParaRPr sz="1275" b="0">
              <a:solidFill>
                <a:srgbClr val="18212B"/>
              </a:solidFill>
            </a:endParaRPr>
          </a:p>
          <a:p>
            <a:pPr algn="l">
              <a:defRPr sz="1275" b="0">
                <a:solidFill>
                  <a:srgbClr val="18212B"/>
                </a:solidFill>
              </a:defRPr>
            </a:pPr>
            <a:r>
              <a:rPr sz="1275" b="0">
                <a:solidFill>
                  <a:srgbClr val="18212B"/>
                </a:solidFill>
              </a:rPr>
              <a:t>证据充分</a:t>
            </a:r>
            <a:endParaRPr sz="1275" b="0">
              <a:solidFill>
                <a:srgbClr val="18212B"/>
              </a:solidFill>
            </a:endParaRPr>
          </a:p>
          <a:p>
            <a:pPr algn="l">
              <a:defRPr sz="1275" b="0">
                <a:solidFill>
                  <a:srgbClr val="18212B"/>
                </a:solidFill>
              </a:defRPr>
            </a:pPr>
            <a:r>
              <a:rPr sz="1275" b="0">
                <a:solidFill>
                  <a:srgbClr val="18212B"/>
                </a:solidFill>
              </a:rPr>
              <a:t>动作可逆</a:t>
            </a:r>
            <a:endParaRPr sz="1275" b="0">
              <a:solidFill>
                <a:srgbClr val="18212B"/>
              </a:solidFill>
            </a:endParaRPr>
          </a:p>
          <a:p>
            <a:pPr algn="l">
              <a:defRPr sz="1275" b="0">
                <a:solidFill>
                  <a:srgbClr val="18212B"/>
                </a:solidFill>
              </a:defRPr>
            </a:pPr>
            <a:r>
              <a:rPr sz="1275" b="0">
                <a:solidFill>
                  <a:srgbClr val="18212B"/>
                </a:solidFill>
              </a:rPr>
              <a:t>在声明范围内</a:t>
            </a:r>
            <a:endParaRPr sz="1275" b="0">
              <a:solidFill>
                <a:srgbClr val="18212B"/>
              </a:solidFill>
            </a:endParaRPr>
          </a:p>
        </p:txBody>
      </p:sp>
      <p:sp>
        <p:nvSpPr>
          <p:cNvPr id="11" name="圆角矩形 10"/>
          <p:cNvSpPr>
            <a:spLocks noGrp="1"/>
          </p:cNvSpPr>
          <p:nvPr/>
        </p:nvSpPr>
        <p:spPr>
          <a:xfrm>
            <a:off x="4343400" y="1809750"/>
            <a:ext cx="3276600" cy="3333750"/>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33750"/>
          </a:xfrm>
          <a:prstGeom prst="roundRect">
            <a:avLst>
              <a:gd name="adj" fmla="val 50000"/>
            </a:avLst>
          </a:prstGeom>
          <a:solidFill>
            <a:srgbClr val="B7791F"/>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继续取证</a:t>
            </a:r>
            <a:endParaRPr sz="1650" b="1">
              <a:solidFill>
                <a:srgbClr val="B7791F"/>
              </a:solidFill>
            </a:endParaRPr>
          </a:p>
        </p:txBody>
      </p:sp>
      <p:sp>
        <p:nvSpPr>
          <p:cNvPr id="14" name="矩形 13"/>
          <p:cNvSpPr>
            <a:spLocks noGrp="1"/>
          </p:cNvSpPr>
          <p:nvPr/>
        </p:nvSpPr>
        <p:spPr>
          <a:xfrm>
            <a:off x="45720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证据不足</a:t>
            </a:r>
            <a:endParaRPr sz="1275" b="0">
              <a:solidFill>
                <a:srgbClr val="18212B"/>
              </a:solidFill>
            </a:endParaRPr>
          </a:p>
          <a:p>
            <a:pPr algn="l">
              <a:defRPr sz="1275" b="0">
                <a:solidFill>
                  <a:srgbClr val="18212B"/>
                </a:solidFill>
              </a:defRPr>
            </a:pPr>
            <a:r>
              <a:rPr sz="1275" b="0">
                <a:solidFill>
                  <a:srgbClr val="18212B"/>
                </a:solidFill>
              </a:rPr>
              <a:t>可安全检索</a:t>
            </a:r>
            <a:endParaRPr sz="1275" b="0">
              <a:solidFill>
                <a:srgbClr val="18212B"/>
              </a:solidFill>
            </a:endParaRPr>
          </a:p>
          <a:p>
            <a:pPr algn="l">
              <a:defRPr sz="1275" b="0">
                <a:solidFill>
                  <a:srgbClr val="18212B"/>
                </a:solidFill>
              </a:defRPr>
            </a:pPr>
            <a:r>
              <a:rPr sz="1275" b="0">
                <a:solidFill>
                  <a:srgbClr val="18212B"/>
                </a:solidFill>
              </a:rPr>
              <a:t>预算仍允许</a:t>
            </a:r>
            <a:endParaRPr sz="1275" b="0">
              <a:solidFill>
                <a:srgbClr val="18212B"/>
              </a:solidFill>
            </a:endParaRPr>
          </a:p>
          <a:p>
            <a:pPr algn="l">
              <a:defRPr sz="1275" b="0">
                <a:solidFill>
                  <a:srgbClr val="18212B"/>
                </a:solidFill>
              </a:defRPr>
            </a:pPr>
            <a:r>
              <a:rPr sz="1275" b="0">
                <a:solidFill>
                  <a:srgbClr val="18212B"/>
                </a:solidFill>
              </a:rPr>
              <a:t>信息缺口明确</a:t>
            </a:r>
            <a:endParaRPr sz="1275" b="0">
              <a:solidFill>
                <a:srgbClr val="18212B"/>
              </a:solidFill>
            </a:endParaRPr>
          </a:p>
        </p:txBody>
      </p:sp>
      <p:sp>
        <p:nvSpPr>
          <p:cNvPr id="15" name="圆角矩形 14"/>
          <p:cNvSpPr>
            <a:spLocks noGrp="1"/>
          </p:cNvSpPr>
          <p:nvPr/>
        </p:nvSpPr>
        <p:spPr>
          <a:xfrm>
            <a:off x="8077200" y="1809750"/>
            <a:ext cx="3276600" cy="3333750"/>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33750"/>
          </a:xfrm>
          <a:prstGeom prst="roundRect">
            <a:avLst>
              <a:gd name="adj" fmla="val 50000"/>
            </a:avLst>
          </a:prstGeom>
          <a:solidFill>
            <a:srgbClr val="A23B3B"/>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升级人工</a:t>
            </a:r>
            <a:endParaRPr sz="1650" b="1">
              <a:solidFill>
                <a:srgbClr val="A23B3B"/>
              </a:solidFill>
            </a:endParaRPr>
          </a:p>
        </p:txBody>
      </p:sp>
      <p:sp>
        <p:nvSpPr>
          <p:cNvPr id="18" name="矩形 17"/>
          <p:cNvSpPr>
            <a:spLocks noGrp="1"/>
          </p:cNvSpPr>
          <p:nvPr/>
        </p:nvSpPr>
        <p:spPr>
          <a:xfrm>
            <a:off x="83058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证据冲突</a:t>
            </a:r>
            <a:endParaRPr sz="1275" b="0">
              <a:solidFill>
                <a:srgbClr val="18212B"/>
              </a:solidFill>
            </a:endParaRPr>
          </a:p>
          <a:p>
            <a:pPr algn="l">
              <a:defRPr sz="1275" b="0">
                <a:solidFill>
                  <a:srgbClr val="18212B"/>
                </a:solidFill>
              </a:defRPr>
            </a:pPr>
            <a:r>
              <a:rPr sz="1275" b="0">
                <a:solidFill>
                  <a:srgbClr val="18212B"/>
                </a:solidFill>
              </a:rPr>
              <a:t>高风险低把握</a:t>
            </a:r>
            <a:endParaRPr sz="1275" b="0">
              <a:solidFill>
                <a:srgbClr val="18212B"/>
              </a:solidFill>
            </a:endParaRPr>
          </a:p>
          <a:p>
            <a:pPr algn="l">
              <a:defRPr sz="1275" b="0">
                <a:solidFill>
                  <a:srgbClr val="18212B"/>
                </a:solidFill>
              </a:defRPr>
            </a:pPr>
            <a:r>
              <a:rPr sz="1275" b="0">
                <a:solidFill>
                  <a:srgbClr val="18212B"/>
                </a:solidFill>
              </a:rPr>
              <a:t>不可逆副作用</a:t>
            </a:r>
            <a:endParaRPr sz="1275" b="0">
              <a:solidFill>
                <a:srgbClr val="18212B"/>
              </a:solidFill>
            </a:endParaRPr>
          </a:p>
          <a:p>
            <a:pPr algn="l">
              <a:defRPr sz="1275" b="0">
                <a:solidFill>
                  <a:srgbClr val="18212B"/>
                </a:solidFill>
              </a:defRPr>
            </a:pPr>
            <a:r>
              <a:rPr sz="1275" b="0">
                <a:solidFill>
                  <a:srgbClr val="18212B"/>
                </a:solidFill>
              </a:rPr>
              <a:t>隐私/法律责任</a:t>
            </a:r>
            <a:endParaRPr sz="1275" b="0">
              <a:solidFill>
                <a:srgbClr val="18212B"/>
              </a:solidFill>
            </a:endParaRPr>
          </a:p>
          <a:p>
            <a:pPr algn="l">
              <a:defRPr sz="1275" b="0">
                <a:solidFill>
                  <a:srgbClr val="18212B"/>
                </a:solidFill>
              </a:defRPr>
            </a:pPr>
            <a:r>
              <a:rPr sz="1275" b="0">
                <a:solidFill>
                  <a:srgbClr val="18212B"/>
                </a:solidFill>
              </a:rPr>
              <a:t>超出能力范围</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升级规则应由风险、证据、权限和可逆性共同决定，而不是让模型输出一个看似精确的“0.92 置信度”。</a:t>
            </a:r>
            <a:endParaRPr sz="1350" b="1">
              <a:solidFill>
                <a:srgbClr val="163A5F"/>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Memory 的价值必须通过消融，而不是“感觉更自然”</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连续性改善可能同时带来准确率下降和隐私风险</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56</a:t>
            </a:r>
            <a:endParaRPr sz="825" b="0">
              <a:solidFill>
                <a:srgbClr val="7D8994"/>
              </a:solidFill>
            </a:endParaRPr>
          </a:p>
        </p:txBody>
      </p:sp>
      <p:sp>
        <p:nvSpPr>
          <p:cNvPr id="7" name="矩形 6"/>
          <p:cNvSpPr>
            <a:spLocks noGrp="1"/>
          </p:cNvSpPr>
          <p:nvPr/>
        </p:nvSpPr>
        <p:spPr>
          <a:xfrm>
            <a:off x="3657600" y="2266950"/>
            <a:ext cx="171450" cy="152400"/>
          </a:xfrm>
          <a:prstGeom prst="rect">
            <a:avLst/>
          </a:prstGeom>
          <a:solidFill>
            <a:srgbClr val="286F9E"/>
          </a:solidFill>
          <a:ln w="0">
            <a:noFill/>
            <a:prstDash val="solid"/>
          </a:ln>
        </p:spPr>
      </p:sp>
      <p:sp>
        <p:nvSpPr>
          <p:cNvPr id="8" name="矩形 7"/>
          <p:cNvSpPr>
            <a:spLocks noGrp="1"/>
          </p:cNvSpPr>
          <p:nvPr/>
        </p:nvSpPr>
        <p:spPr>
          <a:xfrm>
            <a:off x="3790950" y="2219325"/>
            <a:ext cx="95250" cy="247650"/>
          </a:xfrm>
          <a:prstGeom prst="rect">
            <a:avLst/>
          </a:prstGeom>
          <a:solidFill>
            <a:srgbClr val="286F9E"/>
          </a:solidFill>
          <a:ln w="0">
            <a:noFill/>
            <a:prstDash val="solid"/>
          </a:ln>
        </p:spPr>
      </p:sp>
      <p:sp>
        <p:nvSpPr>
          <p:cNvPr id="9" name="圆角矩形 8"/>
          <p:cNvSpPr>
            <a:spLocks noGrp="1"/>
          </p:cNvSpPr>
          <p:nvPr/>
        </p:nvSpPr>
        <p:spPr>
          <a:xfrm>
            <a:off x="1524000" y="1952625"/>
            <a:ext cx="2085975"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1600200"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无 Memory</a:t>
            </a:r>
            <a:endParaRPr sz="1350" b="1">
              <a:solidFill>
                <a:srgbClr val="163A5F"/>
              </a:solidFill>
            </a:endParaRPr>
          </a:p>
        </p:txBody>
      </p:sp>
      <p:sp>
        <p:nvSpPr>
          <p:cNvPr id="11" name="矩形 10"/>
          <p:cNvSpPr>
            <a:spLocks noGrp="1"/>
          </p:cNvSpPr>
          <p:nvPr/>
        </p:nvSpPr>
        <p:spPr>
          <a:xfrm>
            <a:off x="6010275" y="2266950"/>
            <a:ext cx="171450" cy="152400"/>
          </a:xfrm>
          <a:prstGeom prst="rect">
            <a:avLst/>
          </a:prstGeom>
          <a:solidFill>
            <a:srgbClr val="286F9E"/>
          </a:solidFill>
          <a:ln w="0">
            <a:noFill/>
            <a:prstDash val="solid"/>
          </a:ln>
        </p:spPr>
      </p:sp>
      <p:sp>
        <p:nvSpPr>
          <p:cNvPr id="12" name="矩形 11"/>
          <p:cNvSpPr>
            <a:spLocks noGrp="1"/>
          </p:cNvSpPr>
          <p:nvPr/>
        </p:nvSpPr>
        <p:spPr>
          <a:xfrm>
            <a:off x="6143625" y="2219325"/>
            <a:ext cx="95250" cy="247650"/>
          </a:xfrm>
          <a:prstGeom prst="rect">
            <a:avLst/>
          </a:prstGeom>
          <a:solidFill>
            <a:srgbClr val="286F9E"/>
          </a:solidFill>
          <a:ln w="0">
            <a:noFill/>
            <a:prstDash val="solid"/>
          </a:ln>
        </p:spPr>
      </p:sp>
      <p:sp>
        <p:nvSpPr>
          <p:cNvPr id="13" name="圆角矩形 12"/>
          <p:cNvSpPr>
            <a:spLocks noGrp="1"/>
          </p:cNvSpPr>
          <p:nvPr/>
        </p:nvSpPr>
        <p:spPr>
          <a:xfrm>
            <a:off x="3876675" y="1952625"/>
            <a:ext cx="2085975"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3952875"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全量历史</a:t>
            </a:r>
            <a:endParaRPr sz="1350" b="1">
              <a:solidFill>
                <a:srgbClr val="163A5F"/>
              </a:solidFill>
            </a:endParaRPr>
          </a:p>
        </p:txBody>
      </p:sp>
      <p:sp>
        <p:nvSpPr>
          <p:cNvPr id="15" name="矩形 14"/>
          <p:cNvSpPr>
            <a:spLocks noGrp="1"/>
          </p:cNvSpPr>
          <p:nvPr/>
        </p:nvSpPr>
        <p:spPr>
          <a:xfrm>
            <a:off x="8362950" y="2266950"/>
            <a:ext cx="171450" cy="152400"/>
          </a:xfrm>
          <a:prstGeom prst="rect">
            <a:avLst/>
          </a:prstGeom>
          <a:solidFill>
            <a:srgbClr val="286F9E"/>
          </a:solidFill>
          <a:ln w="0">
            <a:noFill/>
            <a:prstDash val="solid"/>
          </a:ln>
        </p:spPr>
      </p:sp>
      <p:sp>
        <p:nvSpPr>
          <p:cNvPr id="16" name="矩形 15"/>
          <p:cNvSpPr>
            <a:spLocks noGrp="1"/>
          </p:cNvSpPr>
          <p:nvPr/>
        </p:nvSpPr>
        <p:spPr>
          <a:xfrm>
            <a:off x="8496300" y="2219325"/>
            <a:ext cx="95250" cy="247650"/>
          </a:xfrm>
          <a:prstGeom prst="rect">
            <a:avLst/>
          </a:prstGeom>
          <a:solidFill>
            <a:srgbClr val="286F9E"/>
          </a:solidFill>
          <a:ln w="0">
            <a:noFill/>
            <a:prstDash val="solid"/>
          </a:ln>
        </p:spPr>
      </p:sp>
      <p:sp>
        <p:nvSpPr>
          <p:cNvPr id="17" name="圆角矩形 16"/>
          <p:cNvSpPr>
            <a:spLocks noGrp="1"/>
          </p:cNvSpPr>
          <p:nvPr/>
        </p:nvSpPr>
        <p:spPr>
          <a:xfrm>
            <a:off x="6229350" y="1952625"/>
            <a:ext cx="2085975"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6305550"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摘要</a:t>
            </a:r>
            <a:endParaRPr sz="1350" b="1">
              <a:solidFill>
                <a:srgbClr val="163A5F"/>
              </a:solidFill>
            </a:endParaRPr>
          </a:p>
        </p:txBody>
      </p:sp>
      <p:sp>
        <p:nvSpPr>
          <p:cNvPr id="19" name="圆角矩形 18"/>
          <p:cNvSpPr>
            <a:spLocks noGrp="1"/>
          </p:cNvSpPr>
          <p:nvPr/>
        </p:nvSpPr>
        <p:spPr>
          <a:xfrm>
            <a:off x="8582025" y="1952625"/>
            <a:ext cx="2085975" cy="781050"/>
          </a:xfrm>
          <a:prstGeom prst="roundRect">
            <a:avLst>
              <a:gd name="adj" fmla="val 9756"/>
            </a:avLst>
          </a:prstGeom>
          <a:solidFill>
            <a:srgbClr val="EAF5F4"/>
          </a:solidFill>
          <a:ln w="9525">
            <a:solidFill>
              <a:srgbClr val="D7E0E7"/>
            </a:solidFill>
            <a:prstDash val="solid"/>
          </a:ln>
        </p:spPr>
      </p:sp>
      <p:sp>
        <p:nvSpPr>
          <p:cNvPr id="20" name="矩形 19"/>
          <p:cNvSpPr>
            <a:spLocks noGrp="1"/>
          </p:cNvSpPr>
          <p:nvPr/>
        </p:nvSpPr>
        <p:spPr>
          <a:xfrm>
            <a:off x="8658225"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结构化 Memory</a:t>
            </a:r>
            <a:endParaRPr sz="1350" b="1">
              <a:solidFill>
                <a:srgbClr val="163A5F"/>
              </a:solidFill>
            </a:endParaRPr>
          </a:p>
        </p:txBody>
      </p:sp>
      <p:sp>
        <p:nvSpPr>
          <p:cNvPr id="21" name="圆角矩形 20"/>
          <p:cNvSpPr>
            <a:spLocks noGrp="1"/>
          </p:cNvSpPr>
          <p:nvPr/>
        </p:nvSpPr>
        <p:spPr>
          <a:xfrm>
            <a:off x="1714500" y="3419475"/>
            <a:ext cx="76200" cy="76200"/>
          </a:xfrm>
          <a:prstGeom prst="roundRect">
            <a:avLst>
              <a:gd name="adj" fmla="val 50000"/>
            </a:avLst>
          </a:prstGeom>
          <a:solidFill>
            <a:srgbClr val="286F9E"/>
          </a:solidFill>
          <a:ln w="0">
            <a:noFill/>
            <a:prstDash val="solid"/>
          </a:ln>
        </p:spPr>
      </p:sp>
      <p:sp>
        <p:nvSpPr>
          <p:cNvPr id="22" name="矩形 21"/>
          <p:cNvSpPr>
            <a:spLocks noGrp="1"/>
          </p:cNvSpPr>
          <p:nvPr/>
        </p:nvSpPr>
        <p:spPr>
          <a:xfrm>
            <a:off x="1924050" y="3333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任务完成率与用户偏好遵循率；</a:t>
            </a:r>
            <a:endParaRPr sz="1425" b="0">
              <a:solidFill>
                <a:srgbClr val="18212B"/>
              </a:solidFill>
            </a:endParaRPr>
          </a:p>
        </p:txBody>
      </p:sp>
      <p:sp>
        <p:nvSpPr>
          <p:cNvPr id="23" name="圆角矩形 22"/>
          <p:cNvSpPr>
            <a:spLocks noGrp="1"/>
          </p:cNvSpPr>
          <p:nvPr/>
        </p:nvSpPr>
        <p:spPr>
          <a:xfrm>
            <a:off x="1714500" y="3800475"/>
            <a:ext cx="76200" cy="76200"/>
          </a:xfrm>
          <a:prstGeom prst="roundRect">
            <a:avLst>
              <a:gd name="adj" fmla="val 50000"/>
            </a:avLst>
          </a:prstGeom>
          <a:solidFill>
            <a:srgbClr val="286F9E"/>
          </a:solidFill>
          <a:ln w="0">
            <a:noFill/>
            <a:prstDash val="solid"/>
          </a:ln>
        </p:spPr>
      </p:sp>
      <p:sp>
        <p:nvSpPr>
          <p:cNvPr id="24" name="矩形 23"/>
          <p:cNvSpPr>
            <a:spLocks noGrp="1"/>
          </p:cNvSpPr>
          <p:nvPr/>
        </p:nvSpPr>
        <p:spPr>
          <a:xfrm>
            <a:off x="1924050" y="3714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错误记忆率与冲突处理正确率；</a:t>
            </a:r>
            <a:endParaRPr sz="1425" b="0">
              <a:solidFill>
                <a:srgbClr val="18212B"/>
              </a:solidFill>
            </a:endParaRPr>
          </a:p>
        </p:txBody>
      </p:sp>
      <p:sp>
        <p:nvSpPr>
          <p:cNvPr id="25" name="圆角矩形 24"/>
          <p:cNvSpPr>
            <a:spLocks noGrp="1"/>
          </p:cNvSpPr>
          <p:nvPr/>
        </p:nvSpPr>
        <p:spPr>
          <a:xfrm>
            <a:off x="1714500" y="4181475"/>
            <a:ext cx="76200" cy="76200"/>
          </a:xfrm>
          <a:prstGeom prst="roundRect">
            <a:avLst>
              <a:gd name="adj" fmla="val 50000"/>
            </a:avLst>
          </a:prstGeom>
          <a:solidFill>
            <a:srgbClr val="286F9E"/>
          </a:solidFill>
          <a:ln w="0">
            <a:noFill/>
            <a:prstDash val="solid"/>
          </a:ln>
        </p:spPr>
      </p:sp>
      <p:sp>
        <p:nvSpPr>
          <p:cNvPr id="26" name="矩形 25"/>
          <p:cNvSpPr>
            <a:spLocks noGrp="1"/>
          </p:cNvSpPr>
          <p:nvPr/>
        </p:nvSpPr>
        <p:spPr>
          <a:xfrm>
            <a:off x="1924050" y="4095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平均上下文长度与成本；</a:t>
            </a:r>
            <a:endParaRPr sz="1425" b="0">
              <a:solidFill>
                <a:srgbClr val="18212B"/>
              </a:solidFill>
            </a:endParaRPr>
          </a:p>
        </p:txBody>
      </p:sp>
      <p:sp>
        <p:nvSpPr>
          <p:cNvPr id="27" name="圆角矩形 26"/>
          <p:cNvSpPr>
            <a:spLocks noGrp="1"/>
          </p:cNvSpPr>
          <p:nvPr/>
        </p:nvSpPr>
        <p:spPr>
          <a:xfrm>
            <a:off x="1714500" y="4562475"/>
            <a:ext cx="76200" cy="76200"/>
          </a:xfrm>
          <a:prstGeom prst="roundRect">
            <a:avLst>
              <a:gd name="adj" fmla="val 50000"/>
            </a:avLst>
          </a:prstGeom>
          <a:solidFill>
            <a:srgbClr val="286F9E"/>
          </a:solidFill>
          <a:ln w="0">
            <a:noFill/>
            <a:prstDash val="solid"/>
          </a:ln>
        </p:spPr>
      </p:sp>
      <p:sp>
        <p:nvSpPr>
          <p:cNvPr id="28" name="矩形 27"/>
          <p:cNvSpPr>
            <a:spLocks noGrp="1"/>
          </p:cNvSpPr>
          <p:nvPr/>
        </p:nvSpPr>
        <p:spPr>
          <a:xfrm>
            <a:off x="1924050" y="4476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跨用户泄漏、删除后恢复与污染攻击；</a:t>
            </a:r>
            <a:endParaRPr sz="1425" b="0">
              <a:solidFill>
                <a:srgbClr val="18212B"/>
              </a:solidFill>
            </a:endParaRPr>
          </a:p>
        </p:txBody>
      </p:sp>
      <p:sp>
        <p:nvSpPr>
          <p:cNvPr id="29" name="圆角矩形 28"/>
          <p:cNvSpPr>
            <a:spLocks noGrp="1"/>
          </p:cNvSpPr>
          <p:nvPr/>
        </p:nvSpPr>
        <p:spPr>
          <a:xfrm>
            <a:off x="1714500" y="4943475"/>
            <a:ext cx="76200" cy="76200"/>
          </a:xfrm>
          <a:prstGeom prst="roundRect">
            <a:avLst>
              <a:gd name="adj" fmla="val 50000"/>
            </a:avLst>
          </a:prstGeom>
          <a:solidFill>
            <a:srgbClr val="286F9E"/>
          </a:solidFill>
          <a:ln w="0">
            <a:noFill/>
            <a:prstDash val="solid"/>
          </a:ln>
        </p:spPr>
      </p:sp>
      <p:sp>
        <p:nvSpPr>
          <p:cNvPr id="30" name="矩形 29"/>
          <p:cNvSpPr>
            <a:spLocks noGrp="1"/>
          </p:cNvSpPr>
          <p:nvPr/>
        </p:nvSpPr>
        <p:spPr>
          <a:xfrm>
            <a:off x="1924050" y="4857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System Card：能力、限制、数据、升级与删除机制。</a:t>
            </a:r>
            <a:endParaRPr sz="142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Memory 不等于 Learning：只有轨迹改变未来策略，并在独立评测上验证改进，才有资格声称“从经验中学习”。</a:t>
            </a:r>
            <a:endParaRPr sz="1350" b="1">
              <a:solidFill>
                <a:srgbClr val="163A5F"/>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163A5F"/>
                </a:solidFill>
              </a:defRPr>
            </a:pPr>
            <a:r>
              <a:rPr sz="6000" b="1">
                <a:solidFill>
                  <a:srgbClr val="163A5F"/>
                </a:solidFill>
              </a:rPr>
              <a:t>08</a:t>
            </a:r>
            <a:endParaRPr sz="6000" b="1">
              <a:solidFill>
                <a:srgbClr val="163A5F"/>
              </a:solidFill>
            </a:endParaRPr>
          </a:p>
        </p:txBody>
      </p:sp>
      <p:sp>
        <p:nvSpPr>
          <p:cNvPr id="3" name="矩形 2"/>
          <p:cNvSpPr>
            <a:spLocks noGrp="1"/>
          </p:cNvSpPr>
          <p:nvPr/>
        </p:nvSpPr>
        <p:spPr>
          <a:xfrm>
            <a:off x="800100" y="2266950"/>
            <a:ext cx="1714500" cy="38100"/>
          </a:xfrm>
          <a:prstGeom prst="rect">
            <a:avLst/>
          </a:prstGeom>
          <a:solidFill>
            <a:srgbClr val="163A5F"/>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Final Project</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Evidence-First Mini 标书风险审查 Agent：用一个真实任务检验七层机制能否协同。</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163A5F"/>
                </a:solidFill>
              </a:defRPr>
            </a:pPr>
            <a:r>
              <a:rPr sz="1350" b="1">
                <a:solidFill>
                  <a:srgbClr val="163A5F"/>
                </a:solidFill>
              </a:rPr>
              <a:t>原理  →  实现  →  故障  →  评测</a:t>
            </a:r>
            <a:endParaRPr sz="1350" b="1">
              <a:solidFill>
                <a:srgbClr val="163A5F"/>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57</a:t>
            </a:r>
            <a:endParaRPr sz="825" b="0">
              <a:solidFill>
                <a:srgbClr val="7D8994"/>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项目目标是风险筛查与证据整理，不是法律裁决</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系统必须在有证据时说明风险，在证据不足时保留不确定性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58</a:t>
            </a:r>
            <a:endParaRPr sz="825" b="0">
              <a:solidFill>
                <a:srgbClr val="7D8994"/>
              </a:solidFill>
            </a:endParaRPr>
          </a:p>
        </p:txBody>
      </p:sp>
      <p:sp>
        <p:nvSpPr>
          <p:cNvPr id="7" name="矩形 6"/>
          <p:cNvSpPr>
            <a:spLocks noGrp="1"/>
          </p:cNvSpPr>
          <p:nvPr/>
        </p:nvSpPr>
        <p:spPr>
          <a:xfrm>
            <a:off x="2695575" y="2314575"/>
            <a:ext cx="171450" cy="152400"/>
          </a:xfrm>
          <a:prstGeom prst="rect">
            <a:avLst/>
          </a:prstGeom>
          <a:solidFill>
            <a:srgbClr val="286F9E"/>
          </a:solidFill>
          <a:ln w="0">
            <a:noFill/>
            <a:prstDash val="solid"/>
          </a:ln>
        </p:spPr>
      </p:sp>
      <p:sp>
        <p:nvSpPr>
          <p:cNvPr id="8" name="矩形 7"/>
          <p:cNvSpPr>
            <a:spLocks noGrp="1"/>
          </p:cNvSpPr>
          <p:nvPr/>
        </p:nvSpPr>
        <p:spPr>
          <a:xfrm>
            <a:off x="2828925" y="2266950"/>
            <a:ext cx="95250" cy="247650"/>
          </a:xfrm>
          <a:prstGeom prst="rect">
            <a:avLst/>
          </a:prstGeom>
          <a:solidFill>
            <a:srgbClr val="286F9E"/>
          </a:solidFill>
          <a:ln w="0">
            <a:noFill/>
            <a:prstDash val="solid"/>
          </a:ln>
        </p:spPr>
      </p:sp>
      <p:sp>
        <p:nvSpPr>
          <p:cNvPr id="9" name="圆角矩形 8"/>
          <p:cNvSpPr>
            <a:spLocks noGrp="1"/>
          </p:cNvSpPr>
          <p:nvPr/>
        </p:nvSpPr>
        <p:spPr>
          <a:xfrm>
            <a:off x="704850" y="2000250"/>
            <a:ext cx="194310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810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标书条款</a:t>
            </a:r>
            <a:endParaRPr sz="1350" b="1">
              <a:solidFill>
                <a:srgbClr val="163A5F"/>
              </a:solidFill>
            </a:endParaRPr>
          </a:p>
        </p:txBody>
      </p:sp>
      <p:sp>
        <p:nvSpPr>
          <p:cNvPr id="11" name="矩形 10"/>
          <p:cNvSpPr>
            <a:spLocks noGrp="1"/>
          </p:cNvSpPr>
          <p:nvPr/>
        </p:nvSpPr>
        <p:spPr>
          <a:xfrm>
            <a:off x="4905375" y="2314575"/>
            <a:ext cx="171450" cy="152400"/>
          </a:xfrm>
          <a:prstGeom prst="rect">
            <a:avLst/>
          </a:prstGeom>
          <a:solidFill>
            <a:srgbClr val="286F9E"/>
          </a:solidFill>
          <a:ln w="0">
            <a:noFill/>
            <a:prstDash val="solid"/>
          </a:ln>
        </p:spPr>
      </p:sp>
      <p:sp>
        <p:nvSpPr>
          <p:cNvPr id="12" name="矩形 11"/>
          <p:cNvSpPr>
            <a:spLocks noGrp="1"/>
          </p:cNvSpPr>
          <p:nvPr/>
        </p:nvSpPr>
        <p:spPr>
          <a:xfrm>
            <a:off x="5038725" y="2266950"/>
            <a:ext cx="95250" cy="247650"/>
          </a:xfrm>
          <a:prstGeom prst="rect">
            <a:avLst/>
          </a:prstGeom>
          <a:solidFill>
            <a:srgbClr val="286F9E"/>
          </a:solidFill>
          <a:ln w="0">
            <a:noFill/>
            <a:prstDash val="solid"/>
          </a:ln>
        </p:spPr>
      </p:sp>
      <p:sp>
        <p:nvSpPr>
          <p:cNvPr id="13" name="圆角矩形 12"/>
          <p:cNvSpPr>
            <a:spLocks noGrp="1"/>
          </p:cNvSpPr>
          <p:nvPr/>
        </p:nvSpPr>
        <p:spPr>
          <a:xfrm>
            <a:off x="2914650" y="2000250"/>
            <a:ext cx="194310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908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是否需要检索</a:t>
            </a:r>
            <a:endParaRPr sz="1350" b="1">
              <a:solidFill>
                <a:srgbClr val="163A5F"/>
              </a:solidFill>
            </a:endParaRPr>
          </a:p>
        </p:txBody>
      </p:sp>
      <p:sp>
        <p:nvSpPr>
          <p:cNvPr id="15" name="矩形 14"/>
          <p:cNvSpPr>
            <a:spLocks noGrp="1"/>
          </p:cNvSpPr>
          <p:nvPr/>
        </p:nvSpPr>
        <p:spPr>
          <a:xfrm>
            <a:off x="7115175" y="2314575"/>
            <a:ext cx="171450" cy="152400"/>
          </a:xfrm>
          <a:prstGeom prst="rect">
            <a:avLst/>
          </a:prstGeom>
          <a:solidFill>
            <a:srgbClr val="286F9E"/>
          </a:solidFill>
          <a:ln w="0">
            <a:noFill/>
            <a:prstDash val="solid"/>
          </a:ln>
        </p:spPr>
      </p:sp>
      <p:sp>
        <p:nvSpPr>
          <p:cNvPr id="16" name="矩形 15"/>
          <p:cNvSpPr>
            <a:spLocks noGrp="1"/>
          </p:cNvSpPr>
          <p:nvPr/>
        </p:nvSpPr>
        <p:spPr>
          <a:xfrm>
            <a:off x="7248525" y="2266950"/>
            <a:ext cx="95250" cy="247650"/>
          </a:xfrm>
          <a:prstGeom prst="rect">
            <a:avLst/>
          </a:prstGeom>
          <a:solidFill>
            <a:srgbClr val="286F9E"/>
          </a:solidFill>
          <a:ln w="0">
            <a:noFill/>
            <a:prstDash val="solid"/>
          </a:ln>
        </p:spPr>
      </p:sp>
      <p:sp>
        <p:nvSpPr>
          <p:cNvPr id="17" name="圆角矩形 16"/>
          <p:cNvSpPr>
            <a:spLocks noGrp="1"/>
          </p:cNvSpPr>
          <p:nvPr/>
        </p:nvSpPr>
        <p:spPr>
          <a:xfrm>
            <a:off x="5124450" y="2000250"/>
            <a:ext cx="194310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2006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受限规则工具</a:t>
            </a:r>
            <a:endParaRPr sz="1350" b="1">
              <a:solidFill>
                <a:srgbClr val="163A5F"/>
              </a:solidFill>
            </a:endParaRPr>
          </a:p>
        </p:txBody>
      </p:sp>
      <p:sp>
        <p:nvSpPr>
          <p:cNvPr id="19" name="矩形 18"/>
          <p:cNvSpPr>
            <a:spLocks noGrp="1"/>
          </p:cNvSpPr>
          <p:nvPr/>
        </p:nvSpPr>
        <p:spPr>
          <a:xfrm>
            <a:off x="9324975" y="2314575"/>
            <a:ext cx="171450" cy="152400"/>
          </a:xfrm>
          <a:prstGeom prst="rect">
            <a:avLst/>
          </a:prstGeom>
          <a:solidFill>
            <a:srgbClr val="286F9E"/>
          </a:solidFill>
          <a:ln w="0">
            <a:noFill/>
            <a:prstDash val="solid"/>
          </a:ln>
        </p:spPr>
      </p:sp>
      <p:sp>
        <p:nvSpPr>
          <p:cNvPr id="20" name="矩形 19"/>
          <p:cNvSpPr>
            <a:spLocks noGrp="1"/>
          </p:cNvSpPr>
          <p:nvPr/>
        </p:nvSpPr>
        <p:spPr>
          <a:xfrm>
            <a:off x="9458325" y="2266950"/>
            <a:ext cx="95250" cy="247650"/>
          </a:xfrm>
          <a:prstGeom prst="rect">
            <a:avLst/>
          </a:prstGeom>
          <a:solidFill>
            <a:srgbClr val="286F9E"/>
          </a:solidFill>
          <a:ln w="0">
            <a:noFill/>
            <a:prstDash val="solid"/>
          </a:ln>
        </p:spPr>
      </p:sp>
      <p:sp>
        <p:nvSpPr>
          <p:cNvPr id="21" name="圆角矩形 20"/>
          <p:cNvSpPr>
            <a:spLocks noGrp="1"/>
          </p:cNvSpPr>
          <p:nvPr/>
        </p:nvSpPr>
        <p:spPr>
          <a:xfrm>
            <a:off x="7334250" y="2000250"/>
            <a:ext cx="194310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04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证据验证</a:t>
            </a:r>
            <a:endParaRPr sz="1350" b="1">
              <a:solidFill>
                <a:srgbClr val="163A5F"/>
              </a:solidFill>
            </a:endParaRPr>
          </a:p>
        </p:txBody>
      </p:sp>
      <p:sp>
        <p:nvSpPr>
          <p:cNvPr id="23" name="圆角矩形 22"/>
          <p:cNvSpPr>
            <a:spLocks noGrp="1"/>
          </p:cNvSpPr>
          <p:nvPr/>
        </p:nvSpPr>
        <p:spPr>
          <a:xfrm>
            <a:off x="9544050" y="2000250"/>
            <a:ext cx="194310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202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报告 / 人工升级</a:t>
            </a:r>
            <a:endParaRPr sz="1350" b="1">
              <a:solidFill>
                <a:srgbClr val="163A5F"/>
              </a:solidFill>
            </a:endParaRPr>
          </a:p>
        </p:txBody>
      </p:sp>
      <p:sp>
        <p:nvSpPr>
          <p:cNvPr id="25" name="圆角矩形 24"/>
          <p:cNvSpPr>
            <a:spLocks noGrp="1"/>
          </p:cNvSpPr>
          <p:nvPr/>
        </p:nvSpPr>
        <p:spPr>
          <a:xfrm>
            <a:off x="609600" y="3333750"/>
            <a:ext cx="3276600" cy="2095500"/>
          </a:xfrm>
          <a:prstGeom prst="roundRect">
            <a:avLst>
              <a:gd name="adj" fmla="val 3636"/>
            </a:avLst>
          </a:prstGeom>
          <a:solidFill>
            <a:srgbClr val="F3F6F8"/>
          </a:solidFill>
          <a:ln w="9525">
            <a:solidFill>
              <a:srgbClr val="D7E0E7"/>
            </a:solidFill>
            <a:prstDash val="solid"/>
          </a:ln>
        </p:spPr>
      </p:sp>
      <p:sp>
        <p:nvSpPr>
          <p:cNvPr id="26" name="圆角矩形 25"/>
          <p:cNvSpPr>
            <a:spLocks noGrp="1"/>
          </p:cNvSpPr>
          <p:nvPr/>
        </p:nvSpPr>
        <p:spPr>
          <a:xfrm>
            <a:off x="609600" y="3333750"/>
            <a:ext cx="66675" cy="2095500"/>
          </a:xfrm>
          <a:prstGeom prst="roundRect">
            <a:avLst>
              <a:gd name="adj" fmla="val 50000"/>
            </a:avLst>
          </a:prstGeom>
          <a:solidFill>
            <a:srgbClr val="286F9E"/>
          </a:solidFill>
          <a:ln w="0">
            <a:noFill/>
            <a:prstDash val="solid"/>
          </a:ln>
        </p:spPr>
      </p:sp>
      <p:sp>
        <p:nvSpPr>
          <p:cNvPr id="27" name="矩形 26"/>
          <p:cNvSpPr>
            <a:spLocks noGrp="1"/>
          </p:cNvSpPr>
          <p:nvPr/>
        </p:nvSpPr>
        <p:spPr>
          <a:xfrm>
            <a:off x="838200" y="3505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输入责任</a:t>
            </a:r>
            <a:endParaRPr sz="1650" b="1">
              <a:solidFill>
                <a:srgbClr val="286F9E"/>
              </a:solidFill>
            </a:endParaRPr>
          </a:p>
        </p:txBody>
      </p:sp>
      <p:sp>
        <p:nvSpPr>
          <p:cNvPr id="28" name="矩形 27"/>
          <p:cNvSpPr>
            <a:spLocks noGrp="1"/>
          </p:cNvSpPr>
          <p:nvPr/>
        </p:nvSpPr>
        <p:spPr>
          <a:xfrm>
            <a:off x="838200" y="3886200"/>
            <a:ext cx="2876550" cy="1428750"/>
          </a:xfrm>
          <a:prstGeom prst="rect">
            <a:avLst/>
          </a:prstGeom>
          <a:noFill/>
          <a:ln w="0">
            <a:noFill/>
            <a:prstDash val="solid"/>
          </a:ln>
        </p:spPr>
        <p:txBody>
          <a:bodyPr/>
          <a:lstStyle/>
          <a:p>
            <a:pPr algn="l">
              <a:defRPr sz="1275" b="0">
                <a:solidFill>
                  <a:srgbClr val="18212B"/>
                </a:solidFill>
              </a:defRPr>
            </a:pPr>
            <a:r>
              <a:rPr sz="1275" b="0">
                <a:solidFill>
                  <a:srgbClr val="18212B"/>
                </a:solidFill>
              </a:rPr>
              <a:t>解析条款</a:t>
            </a:r>
            <a:endParaRPr sz="1275" b="0">
              <a:solidFill>
                <a:srgbClr val="18212B"/>
              </a:solidFill>
            </a:endParaRPr>
          </a:p>
          <a:p>
            <a:pPr algn="l">
              <a:defRPr sz="1275" b="0">
                <a:solidFill>
                  <a:srgbClr val="18212B"/>
                </a:solidFill>
              </a:defRPr>
            </a:pPr>
            <a:r>
              <a:rPr sz="1275" b="0">
                <a:solidFill>
                  <a:srgbClr val="18212B"/>
                </a:solidFill>
              </a:rPr>
              <a:t>保留原文与 clause_id</a:t>
            </a:r>
            <a:endParaRPr sz="1275" b="0">
              <a:solidFill>
                <a:srgbClr val="18212B"/>
              </a:solidFill>
            </a:endParaRPr>
          </a:p>
          <a:p>
            <a:pPr algn="l">
              <a:defRPr sz="1275" b="0">
                <a:solidFill>
                  <a:srgbClr val="18212B"/>
                </a:solidFill>
              </a:defRPr>
            </a:pPr>
            <a:r>
              <a:rPr sz="1275" b="0">
                <a:solidFill>
                  <a:srgbClr val="18212B"/>
                </a:solidFill>
              </a:rPr>
              <a:t>区分数据与指令</a:t>
            </a:r>
            <a:endParaRPr sz="1275" b="0">
              <a:solidFill>
                <a:srgbClr val="18212B"/>
              </a:solidFill>
            </a:endParaRPr>
          </a:p>
        </p:txBody>
      </p:sp>
      <p:sp>
        <p:nvSpPr>
          <p:cNvPr id="29" name="圆角矩形 28"/>
          <p:cNvSpPr>
            <a:spLocks noGrp="1"/>
          </p:cNvSpPr>
          <p:nvPr/>
        </p:nvSpPr>
        <p:spPr>
          <a:xfrm>
            <a:off x="4343400" y="3333750"/>
            <a:ext cx="3276600" cy="2095500"/>
          </a:xfrm>
          <a:prstGeom prst="roundRect">
            <a:avLst>
              <a:gd name="adj" fmla="val 3636"/>
            </a:avLst>
          </a:prstGeom>
          <a:solidFill>
            <a:srgbClr val="F3F6F8"/>
          </a:solidFill>
          <a:ln w="9525">
            <a:solidFill>
              <a:srgbClr val="D7E0E7"/>
            </a:solidFill>
            <a:prstDash val="solid"/>
          </a:ln>
        </p:spPr>
      </p:sp>
      <p:sp>
        <p:nvSpPr>
          <p:cNvPr id="30" name="圆角矩形 29"/>
          <p:cNvSpPr>
            <a:spLocks noGrp="1"/>
          </p:cNvSpPr>
          <p:nvPr/>
        </p:nvSpPr>
        <p:spPr>
          <a:xfrm>
            <a:off x="4343400" y="3333750"/>
            <a:ext cx="66675" cy="2095500"/>
          </a:xfrm>
          <a:prstGeom prst="roundRect">
            <a:avLst>
              <a:gd name="adj" fmla="val 50000"/>
            </a:avLst>
          </a:prstGeom>
          <a:solidFill>
            <a:srgbClr val="2C7A7B"/>
          </a:solidFill>
          <a:ln w="0">
            <a:noFill/>
            <a:prstDash val="solid"/>
          </a:ln>
        </p:spPr>
      </p:sp>
      <p:sp>
        <p:nvSpPr>
          <p:cNvPr id="31" name="矩形 30"/>
          <p:cNvSpPr>
            <a:spLocks noGrp="1"/>
          </p:cNvSpPr>
          <p:nvPr/>
        </p:nvSpPr>
        <p:spPr>
          <a:xfrm>
            <a:off x="4572000" y="3505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决策责任</a:t>
            </a:r>
            <a:endParaRPr sz="1650" b="1">
              <a:solidFill>
                <a:srgbClr val="2C7A7B"/>
              </a:solidFill>
            </a:endParaRPr>
          </a:p>
        </p:txBody>
      </p:sp>
      <p:sp>
        <p:nvSpPr>
          <p:cNvPr id="32" name="矩形 31"/>
          <p:cNvSpPr>
            <a:spLocks noGrp="1"/>
          </p:cNvSpPr>
          <p:nvPr/>
        </p:nvSpPr>
        <p:spPr>
          <a:xfrm>
            <a:off x="4572000" y="3886200"/>
            <a:ext cx="2876550" cy="1428750"/>
          </a:xfrm>
          <a:prstGeom prst="rect">
            <a:avLst/>
          </a:prstGeom>
          <a:noFill/>
          <a:ln w="0">
            <a:noFill/>
            <a:prstDash val="solid"/>
          </a:ln>
        </p:spPr>
        <p:txBody>
          <a:bodyPr/>
          <a:lstStyle/>
          <a:p>
            <a:pPr algn="l">
              <a:defRPr sz="1275" b="0">
                <a:solidFill>
                  <a:srgbClr val="18212B"/>
                </a:solidFill>
              </a:defRPr>
            </a:pPr>
            <a:r>
              <a:rPr sz="1275" b="0">
                <a:solidFill>
                  <a:srgbClr val="18212B"/>
                </a:solidFill>
              </a:rPr>
              <a:t>预算与终止</a:t>
            </a:r>
            <a:endParaRPr sz="1275" b="0">
              <a:solidFill>
                <a:srgbClr val="18212B"/>
              </a:solidFill>
            </a:endParaRPr>
          </a:p>
          <a:p>
            <a:pPr algn="l">
              <a:defRPr sz="1275" b="0">
                <a:solidFill>
                  <a:srgbClr val="18212B"/>
                </a:solidFill>
              </a:defRPr>
            </a:pPr>
            <a:r>
              <a:rPr sz="1275" b="0">
                <a:solidFill>
                  <a:srgbClr val="18212B"/>
                </a:solidFill>
              </a:rPr>
              <a:t>工具授权</a:t>
            </a:r>
            <a:endParaRPr sz="1275" b="0">
              <a:solidFill>
                <a:srgbClr val="18212B"/>
              </a:solidFill>
            </a:endParaRPr>
          </a:p>
          <a:p>
            <a:pPr algn="l">
              <a:defRPr sz="1275" b="0">
                <a:solidFill>
                  <a:srgbClr val="18212B"/>
                </a:solidFill>
              </a:defRPr>
            </a:pPr>
            <a:r>
              <a:rPr sz="1275" b="0">
                <a:solidFill>
                  <a:srgbClr val="18212B"/>
                </a:solidFill>
              </a:rPr>
              <a:t>证据充足性</a:t>
            </a:r>
            <a:endParaRPr sz="1275" b="0">
              <a:solidFill>
                <a:srgbClr val="18212B"/>
              </a:solidFill>
            </a:endParaRPr>
          </a:p>
          <a:p>
            <a:pPr algn="l">
              <a:defRPr sz="1275" b="0">
                <a:solidFill>
                  <a:srgbClr val="18212B"/>
                </a:solidFill>
              </a:defRPr>
            </a:pPr>
            <a:r>
              <a:rPr sz="1275" b="0">
                <a:solidFill>
                  <a:srgbClr val="18212B"/>
                </a:solidFill>
              </a:rPr>
              <a:t>风险与下一动作分离</a:t>
            </a:r>
            <a:endParaRPr sz="1275" b="0">
              <a:solidFill>
                <a:srgbClr val="18212B"/>
              </a:solidFill>
            </a:endParaRPr>
          </a:p>
        </p:txBody>
      </p:sp>
      <p:sp>
        <p:nvSpPr>
          <p:cNvPr id="33" name="圆角矩形 32"/>
          <p:cNvSpPr>
            <a:spLocks noGrp="1"/>
          </p:cNvSpPr>
          <p:nvPr/>
        </p:nvSpPr>
        <p:spPr>
          <a:xfrm>
            <a:off x="8077200" y="3333750"/>
            <a:ext cx="3276600" cy="2095500"/>
          </a:xfrm>
          <a:prstGeom prst="roundRect">
            <a:avLst>
              <a:gd name="adj" fmla="val 3636"/>
            </a:avLst>
          </a:prstGeom>
          <a:solidFill>
            <a:srgbClr val="F3F6F8"/>
          </a:solidFill>
          <a:ln w="9525">
            <a:solidFill>
              <a:srgbClr val="D7E0E7"/>
            </a:solidFill>
            <a:prstDash val="solid"/>
          </a:ln>
        </p:spPr>
      </p:sp>
      <p:sp>
        <p:nvSpPr>
          <p:cNvPr id="34" name="圆角矩形 33"/>
          <p:cNvSpPr>
            <a:spLocks noGrp="1"/>
          </p:cNvSpPr>
          <p:nvPr/>
        </p:nvSpPr>
        <p:spPr>
          <a:xfrm>
            <a:off x="8077200" y="3333750"/>
            <a:ext cx="66675" cy="2095500"/>
          </a:xfrm>
          <a:prstGeom prst="roundRect">
            <a:avLst>
              <a:gd name="adj" fmla="val 50000"/>
            </a:avLst>
          </a:prstGeom>
          <a:solidFill>
            <a:srgbClr val="B7791F"/>
          </a:solidFill>
          <a:ln w="0">
            <a:noFill/>
            <a:prstDash val="solid"/>
          </a:ln>
        </p:spPr>
      </p:sp>
      <p:sp>
        <p:nvSpPr>
          <p:cNvPr id="35" name="矩形 34"/>
          <p:cNvSpPr>
            <a:spLocks noGrp="1"/>
          </p:cNvSpPr>
          <p:nvPr/>
        </p:nvSpPr>
        <p:spPr>
          <a:xfrm>
            <a:off x="8305800" y="3505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输出责任</a:t>
            </a:r>
            <a:endParaRPr sz="1650" b="1">
              <a:solidFill>
                <a:srgbClr val="B7791F"/>
              </a:solidFill>
            </a:endParaRPr>
          </a:p>
        </p:txBody>
      </p:sp>
      <p:sp>
        <p:nvSpPr>
          <p:cNvPr id="36" name="矩形 35"/>
          <p:cNvSpPr>
            <a:spLocks noGrp="1"/>
          </p:cNvSpPr>
          <p:nvPr/>
        </p:nvSpPr>
        <p:spPr>
          <a:xfrm>
            <a:off x="8305800" y="3886200"/>
            <a:ext cx="2876550" cy="1428750"/>
          </a:xfrm>
          <a:prstGeom prst="rect">
            <a:avLst/>
          </a:prstGeom>
          <a:noFill/>
          <a:ln w="0">
            <a:noFill/>
            <a:prstDash val="solid"/>
          </a:ln>
        </p:spPr>
        <p:txBody>
          <a:bodyPr/>
          <a:lstStyle/>
          <a:p>
            <a:pPr algn="l">
              <a:defRPr sz="1275" b="0">
                <a:solidFill>
                  <a:srgbClr val="18212B"/>
                </a:solidFill>
              </a:defRPr>
            </a:pPr>
            <a:r>
              <a:rPr sz="1275" b="0">
                <a:solidFill>
                  <a:srgbClr val="18212B"/>
                </a:solidFill>
              </a:rPr>
              <a:t>统一 Schema</a:t>
            </a:r>
            <a:endParaRPr sz="1275" b="0">
              <a:solidFill>
                <a:srgbClr val="18212B"/>
              </a:solidFill>
            </a:endParaRPr>
          </a:p>
          <a:p>
            <a:pPr algn="l">
              <a:defRPr sz="1275" b="0">
                <a:solidFill>
                  <a:srgbClr val="18212B"/>
                </a:solidFill>
              </a:defRPr>
            </a:pPr>
            <a:r>
              <a:rPr sz="1275" b="0">
                <a:solidFill>
                  <a:srgbClr val="18212B"/>
                </a:solidFill>
              </a:rPr>
              <a:t>可定位证据</a:t>
            </a:r>
            <a:endParaRPr sz="1275" b="0">
              <a:solidFill>
                <a:srgbClr val="18212B"/>
              </a:solidFill>
            </a:endParaRPr>
          </a:p>
          <a:p>
            <a:pPr algn="l">
              <a:defRPr sz="1275" b="0">
                <a:solidFill>
                  <a:srgbClr val="18212B"/>
                </a:solidFill>
              </a:defRPr>
            </a:pPr>
            <a:r>
              <a:rPr sz="1275" b="0">
                <a:solidFill>
                  <a:srgbClr val="18212B"/>
                </a:solidFill>
              </a:rPr>
              <a:t>限制与置信依据</a:t>
            </a:r>
            <a:endParaRPr sz="1275" b="0">
              <a:solidFill>
                <a:srgbClr val="18212B"/>
              </a:solidFill>
            </a:endParaRPr>
          </a:p>
          <a:p>
            <a:pPr algn="l">
              <a:defRPr sz="1275" b="0">
                <a:solidFill>
                  <a:srgbClr val="18212B"/>
                </a:solidFill>
              </a:defRPr>
            </a:pPr>
            <a:r>
              <a:rPr sz="1275" b="0">
                <a:solidFill>
                  <a:srgbClr val="18212B"/>
                </a:solidFill>
              </a:rPr>
              <a:t>Trace 与评测结果</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系统的正确姿态是“辅助审查”：能组织风险与证据，也明确不确定性、适用范围和人工责任。</a:t>
            </a:r>
            <a:endParaRPr sz="1350" b="1">
              <a:solidFill>
                <a:srgbClr val="163A5F"/>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3" name="矩形 4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架构把七个 Lesson 组合为一条证据链</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每个模块都对应一类可测不变量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59</a:t>
            </a:r>
            <a:endParaRPr sz="825" b="0">
              <a:solidFill>
                <a:srgbClr val="7D8994"/>
              </a:solidFill>
            </a:endParaRPr>
          </a:p>
        </p:txBody>
      </p:sp>
      <p:sp>
        <p:nvSpPr>
          <p:cNvPr id="7" name="矩形 6"/>
          <p:cNvSpPr>
            <a:spLocks noGrp="1"/>
          </p:cNvSpPr>
          <p:nvPr/>
        </p:nvSpPr>
        <p:spPr>
          <a:xfrm>
            <a:off x="2684145" y="2171700"/>
            <a:ext cx="171450" cy="152400"/>
          </a:xfrm>
          <a:prstGeom prst="rect">
            <a:avLst/>
          </a:prstGeom>
          <a:solidFill>
            <a:srgbClr val="286F9E"/>
          </a:solidFill>
          <a:ln w="0">
            <a:noFill/>
            <a:prstDash val="solid"/>
          </a:ln>
        </p:spPr>
      </p:sp>
      <p:sp>
        <p:nvSpPr>
          <p:cNvPr id="8" name="矩形 7"/>
          <p:cNvSpPr>
            <a:spLocks noGrp="1"/>
          </p:cNvSpPr>
          <p:nvPr/>
        </p:nvSpPr>
        <p:spPr>
          <a:xfrm>
            <a:off x="2817495" y="2124075"/>
            <a:ext cx="95250" cy="247650"/>
          </a:xfrm>
          <a:prstGeom prst="rect">
            <a:avLst/>
          </a:prstGeom>
          <a:solidFill>
            <a:srgbClr val="286F9E"/>
          </a:solidFill>
          <a:ln w="0">
            <a:noFill/>
            <a:prstDash val="solid"/>
          </a:ln>
        </p:spPr>
      </p:sp>
      <p:sp>
        <p:nvSpPr>
          <p:cNvPr id="9" name="圆角矩形 8"/>
          <p:cNvSpPr>
            <a:spLocks noGrp="1"/>
          </p:cNvSpPr>
          <p:nvPr/>
        </p:nvSpPr>
        <p:spPr>
          <a:xfrm>
            <a:off x="685800" y="1857375"/>
            <a:ext cx="195072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6200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Clause Parser</a:t>
            </a:r>
            <a:endParaRPr sz="1350" b="1">
              <a:solidFill>
                <a:srgbClr val="163A5F"/>
              </a:solidFill>
            </a:endParaRPr>
          </a:p>
        </p:txBody>
      </p:sp>
      <p:sp>
        <p:nvSpPr>
          <p:cNvPr id="11" name="矩形 10"/>
          <p:cNvSpPr>
            <a:spLocks noGrp="1"/>
          </p:cNvSpPr>
          <p:nvPr/>
        </p:nvSpPr>
        <p:spPr>
          <a:xfrm>
            <a:off x="4901565" y="2171700"/>
            <a:ext cx="171450" cy="152400"/>
          </a:xfrm>
          <a:prstGeom prst="rect">
            <a:avLst/>
          </a:prstGeom>
          <a:solidFill>
            <a:srgbClr val="286F9E"/>
          </a:solidFill>
          <a:ln w="0">
            <a:noFill/>
            <a:prstDash val="solid"/>
          </a:ln>
        </p:spPr>
      </p:sp>
      <p:sp>
        <p:nvSpPr>
          <p:cNvPr id="12" name="矩形 11"/>
          <p:cNvSpPr>
            <a:spLocks noGrp="1"/>
          </p:cNvSpPr>
          <p:nvPr/>
        </p:nvSpPr>
        <p:spPr>
          <a:xfrm>
            <a:off x="5034915" y="2124075"/>
            <a:ext cx="95250" cy="247650"/>
          </a:xfrm>
          <a:prstGeom prst="rect">
            <a:avLst/>
          </a:prstGeom>
          <a:solidFill>
            <a:srgbClr val="286F9E"/>
          </a:solidFill>
          <a:ln w="0">
            <a:noFill/>
            <a:prstDash val="solid"/>
          </a:ln>
        </p:spPr>
      </p:sp>
      <p:sp>
        <p:nvSpPr>
          <p:cNvPr id="13" name="圆角矩形 12"/>
          <p:cNvSpPr>
            <a:spLocks noGrp="1"/>
          </p:cNvSpPr>
          <p:nvPr/>
        </p:nvSpPr>
        <p:spPr>
          <a:xfrm>
            <a:off x="2903220" y="1857375"/>
            <a:ext cx="195072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7942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Runtime</a:t>
            </a:r>
            <a:endParaRPr sz="1350" b="1">
              <a:solidFill>
                <a:srgbClr val="163A5F"/>
              </a:solidFill>
            </a:endParaRPr>
          </a:p>
        </p:txBody>
      </p:sp>
      <p:sp>
        <p:nvSpPr>
          <p:cNvPr id="15" name="矩形 14"/>
          <p:cNvSpPr>
            <a:spLocks noGrp="1"/>
          </p:cNvSpPr>
          <p:nvPr/>
        </p:nvSpPr>
        <p:spPr>
          <a:xfrm>
            <a:off x="7118985" y="2171700"/>
            <a:ext cx="171450" cy="152400"/>
          </a:xfrm>
          <a:prstGeom prst="rect">
            <a:avLst/>
          </a:prstGeom>
          <a:solidFill>
            <a:srgbClr val="286F9E"/>
          </a:solidFill>
          <a:ln w="0">
            <a:noFill/>
            <a:prstDash val="solid"/>
          </a:ln>
        </p:spPr>
      </p:sp>
      <p:sp>
        <p:nvSpPr>
          <p:cNvPr id="16" name="矩形 15"/>
          <p:cNvSpPr>
            <a:spLocks noGrp="1"/>
          </p:cNvSpPr>
          <p:nvPr/>
        </p:nvSpPr>
        <p:spPr>
          <a:xfrm>
            <a:off x="7252335" y="2124075"/>
            <a:ext cx="95250" cy="247650"/>
          </a:xfrm>
          <a:prstGeom prst="rect">
            <a:avLst/>
          </a:prstGeom>
          <a:solidFill>
            <a:srgbClr val="286F9E"/>
          </a:solidFill>
          <a:ln w="0">
            <a:noFill/>
            <a:prstDash val="solid"/>
          </a:ln>
        </p:spPr>
      </p:sp>
      <p:sp>
        <p:nvSpPr>
          <p:cNvPr id="17" name="圆角矩形 16"/>
          <p:cNvSpPr>
            <a:spLocks noGrp="1"/>
          </p:cNvSpPr>
          <p:nvPr/>
        </p:nvSpPr>
        <p:spPr>
          <a:xfrm>
            <a:off x="5120640" y="1857375"/>
            <a:ext cx="195072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19684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Tool Registry</a:t>
            </a:r>
            <a:endParaRPr sz="1350" b="1">
              <a:solidFill>
                <a:srgbClr val="163A5F"/>
              </a:solidFill>
            </a:endParaRPr>
          </a:p>
        </p:txBody>
      </p:sp>
      <p:sp>
        <p:nvSpPr>
          <p:cNvPr id="19" name="矩形 18"/>
          <p:cNvSpPr>
            <a:spLocks noGrp="1"/>
          </p:cNvSpPr>
          <p:nvPr/>
        </p:nvSpPr>
        <p:spPr>
          <a:xfrm>
            <a:off x="9336405" y="2171700"/>
            <a:ext cx="171450" cy="152400"/>
          </a:xfrm>
          <a:prstGeom prst="rect">
            <a:avLst/>
          </a:prstGeom>
          <a:solidFill>
            <a:srgbClr val="286F9E"/>
          </a:solidFill>
          <a:ln w="0">
            <a:noFill/>
            <a:prstDash val="solid"/>
          </a:ln>
        </p:spPr>
      </p:sp>
      <p:sp>
        <p:nvSpPr>
          <p:cNvPr id="20" name="矩形 19"/>
          <p:cNvSpPr>
            <a:spLocks noGrp="1"/>
          </p:cNvSpPr>
          <p:nvPr/>
        </p:nvSpPr>
        <p:spPr>
          <a:xfrm>
            <a:off x="9469755" y="2124075"/>
            <a:ext cx="95250" cy="247650"/>
          </a:xfrm>
          <a:prstGeom prst="rect">
            <a:avLst/>
          </a:prstGeom>
          <a:solidFill>
            <a:srgbClr val="286F9E"/>
          </a:solidFill>
          <a:ln w="0">
            <a:noFill/>
            <a:prstDash val="solid"/>
          </a:ln>
        </p:spPr>
      </p:sp>
      <p:sp>
        <p:nvSpPr>
          <p:cNvPr id="21" name="圆角矩形 20"/>
          <p:cNvSpPr>
            <a:spLocks noGrp="1"/>
          </p:cNvSpPr>
          <p:nvPr/>
        </p:nvSpPr>
        <p:spPr>
          <a:xfrm>
            <a:off x="7338060" y="1857375"/>
            <a:ext cx="195072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426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Evidence Validator</a:t>
            </a:r>
            <a:endParaRPr sz="1350" b="1">
              <a:solidFill>
                <a:srgbClr val="163A5F"/>
              </a:solidFill>
            </a:endParaRPr>
          </a:p>
        </p:txBody>
      </p:sp>
      <p:sp>
        <p:nvSpPr>
          <p:cNvPr id="23" name="圆角矩形 22"/>
          <p:cNvSpPr>
            <a:spLocks noGrp="1"/>
          </p:cNvSpPr>
          <p:nvPr/>
        </p:nvSpPr>
        <p:spPr>
          <a:xfrm>
            <a:off x="9555480" y="1857375"/>
            <a:ext cx="195072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3168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Review Report</a:t>
            </a:r>
            <a:endParaRPr sz="1350" b="1">
              <a:solidFill>
                <a:srgbClr val="163A5F"/>
              </a:solidFill>
            </a:endParaRPr>
          </a:p>
        </p:txBody>
      </p:sp>
      <p:sp>
        <p:nvSpPr>
          <p:cNvPr id="25" name="圆角矩形 24"/>
          <p:cNvSpPr>
            <a:spLocks noGrp="1"/>
          </p:cNvSpPr>
          <p:nvPr/>
        </p:nvSpPr>
        <p:spPr>
          <a:xfrm>
            <a:off x="704850" y="3333750"/>
            <a:ext cx="2476500" cy="1104900"/>
          </a:xfrm>
          <a:prstGeom prst="roundRect">
            <a:avLst>
              <a:gd name="adj" fmla="val 6897"/>
            </a:avLst>
          </a:prstGeom>
          <a:solidFill>
            <a:srgbClr val="F3F6F8"/>
          </a:solidFill>
          <a:ln w="9525">
            <a:solidFill>
              <a:srgbClr val="D7E0E7"/>
            </a:solidFill>
            <a:prstDash val="solid"/>
          </a:ln>
        </p:spPr>
      </p:sp>
      <p:sp>
        <p:nvSpPr>
          <p:cNvPr id="26" name="圆角矩形 25"/>
          <p:cNvSpPr>
            <a:spLocks noGrp="1"/>
          </p:cNvSpPr>
          <p:nvPr/>
        </p:nvSpPr>
        <p:spPr>
          <a:xfrm>
            <a:off x="704850" y="3333750"/>
            <a:ext cx="66675" cy="1104900"/>
          </a:xfrm>
          <a:prstGeom prst="roundRect">
            <a:avLst>
              <a:gd name="adj" fmla="val 50000"/>
            </a:avLst>
          </a:prstGeom>
          <a:solidFill>
            <a:srgbClr val="286F9E"/>
          </a:solidFill>
          <a:ln w="0">
            <a:noFill/>
            <a:prstDash val="solid"/>
          </a:ln>
        </p:spPr>
      </p:sp>
      <p:sp>
        <p:nvSpPr>
          <p:cNvPr id="27" name="矩形 26"/>
          <p:cNvSpPr>
            <a:spLocks noGrp="1"/>
          </p:cNvSpPr>
          <p:nvPr/>
        </p:nvSpPr>
        <p:spPr>
          <a:xfrm>
            <a:off x="933450" y="3505200"/>
            <a:ext cx="20764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Runtime</a:t>
            </a:r>
            <a:endParaRPr sz="1650" b="1">
              <a:solidFill>
                <a:srgbClr val="286F9E"/>
              </a:solidFill>
            </a:endParaRPr>
          </a:p>
        </p:txBody>
      </p:sp>
      <p:sp>
        <p:nvSpPr>
          <p:cNvPr id="28" name="矩形 27"/>
          <p:cNvSpPr>
            <a:spLocks noGrp="1"/>
          </p:cNvSpPr>
          <p:nvPr/>
        </p:nvSpPr>
        <p:spPr>
          <a:xfrm>
            <a:off x="9334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Budget / Stop / Trace</a:t>
            </a:r>
            <a:endParaRPr sz="1275" b="0">
              <a:solidFill>
                <a:srgbClr val="18212B"/>
              </a:solidFill>
            </a:endParaRPr>
          </a:p>
        </p:txBody>
      </p:sp>
      <p:sp>
        <p:nvSpPr>
          <p:cNvPr id="29" name="圆角矩形 28"/>
          <p:cNvSpPr>
            <a:spLocks noGrp="1"/>
          </p:cNvSpPr>
          <p:nvPr/>
        </p:nvSpPr>
        <p:spPr>
          <a:xfrm>
            <a:off x="3448050" y="3333750"/>
            <a:ext cx="2476500" cy="1104900"/>
          </a:xfrm>
          <a:prstGeom prst="roundRect">
            <a:avLst>
              <a:gd name="adj" fmla="val 6897"/>
            </a:avLst>
          </a:prstGeom>
          <a:solidFill>
            <a:srgbClr val="F3F6F8"/>
          </a:solidFill>
          <a:ln w="9525">
            <a:solidFill>
              <a:srgbClr val="D7E0E7"/>
            </a:solidFill>
            <a:prstDash val="solid"/>
          </a:ln>
        </p:spPr>
      </p:sp>
      <p:sp>
        <p:nvSpPr>
          <p:cNvPr id="30" name="圆角矩形 29"/>
          <p:cNvSpPr>
            <a:spLocks noGrp="1"/>
          </p:cNvSpPr>
          <p:nvPr/>
        </p:nvSpPr>
        <p:spPr>
          <a:xfrm>
            <a:off x="3448050" y="3333750"/>
            <a:ext cx="66675" cy="1104900"/>
          </a:xfrm>
          <a:prstGeom prst="roundRect">
            <a:avLst>
              <a:gd name="adj" fmla="val 50000"/>
            </a:avLst>
          </a:prstGeom>
          <a:solidFill>
            <a:srgbClr val="2C7A7B"/>
          </a:solidFill>
          <a:ln w="0">
            <a:noFill/>
            <a:prstDash val="solid"/>
          </a:ln>
        </p:spPr>
      </p:sp>
      <p:sp>
        <p:nvSpPr>
          <p:cNvPr id="31" name="矩形 30"/>
          <p:cNvSpPr>
            <a:spLocks noGrp="1"/>
          </p:cNvSpPr>
          <p:nvPr/>
        </p:nvSpPr>
        <p:spPr>
          <a:xfrm>
            <a:off x="3676650" y="3505200"/>
            <a:ext cx="20764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Tools</a:t>
            </a:r>
            <a:endParaRPr sz="1650" b="1">
              <a:solidFill>
                <a:srgbClr val="2C7A7B"/>
              </a:solidFill>
            </a:endParaRPr>
          </a:p>
        </p:txBody>
      </p:sp>
      <p:sp>
        <p:nvSpPr>
          <p:cNvPr id="32" name="矩形 31"/>
          <p:cNvSpPr>
            <a:spLocks noGrp="1"/>
          </p:cNvSpPr>
          <p:nvPr/>
        </p:nvSpPr>
        <p:spPr>
          <a:xfrm>
            <a:off x="36766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SearchRules / ReadSource / Escalate</a:t>
            </a:r>
            <a:endParaRPr sz="1275" b="0">
              <a:solidFill>
                <a:srgbClr val="18212B"/>
              </a:solidFill>
            </a:endParaRPr>
          </a:p>
        </p:txBody>
      </p:sp>
      <p:sp>
        <p:nvSpPr>
          <p:cNvPr id="33" name="圆角矩形 32"/>
          <p:cNvSpPr>
            <a:spLocks noGrp="1"/>
          </p:cNvSpPr>
          <p:nvPr/>
        </p:nvSpPr>
        <p:spPr>
          <a:xfrm>
            <a:off x="6191250" y="3333750"/>
            <a:ext cx="2476500" cy="1104900"/>
          </a:xfrm>
          <a:prstGeom prst="roundRect">
            <a:avLst>
              <a:gd name="adj" fmla="val 6897"/>
            </a:avLst>
          </a:prstGeom>
          <a:solidFill>
            <a:srgbClr val="F3F6F8"/>
          </a:solidFill>
          <a:ln w="9525">
            <a:solidFill>
              <a:srgbClr val="D7E0E7"/>
            </a:solidFill>
            <a:prstDash val="solid"/>
          </a:ln>
        </p:spPr>
      </p:sp>
      <p:sp>
        <p:nvSpPr>
          <p:cNvPr id="34" name="圆角矩形 33"/>
          <p:cNvSpPr>
            <a:spLocks noGrp="1"/>
          </p:cNvSpPr>
          <p:nvPr/>
        </p:nvSpPr>
        <p:spPr>
          <a:xfrm>
            <a:off x="6191250" y="3333750"/>
            <a:ext cx="66675" cy="1104900"/>
          </a:xfrm>
          <a:prstGeom prst="roundRect">
            <a:avLst>
              <a:gd name="adj" fmla="val 50000"/>
            </a:avLst>
          </a:prstGeom>
          <a:solidFill>
            <a:srgbClr val="B7791F"/>
          </a:solidFill>
          <a:ln w="0">
            <a:noFill/>
            <a:prstDash val="solid"/>
          </a:ln>
        </p:spPr>
      </p:sp>
      <p:sp>
        <p:nvSpPr>
          <p:cNvPr id="35" name="矩形 34"/>
          <p:cNvSpPr>
            <a:spLocks noGrp="1"/>
          </p:cNvSpPr>
          <p:nvPr/>
        </p:nvSpPr>
        <p:spPr>
          <a:xfrm>
            <a:off x="6419850" y="3505200"/>
            <a:ext cx="20764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Evidence</a:t>
            </a:r>
            <a:endParaRPr sz="1650" b="1">
              <a:solidFill>
                <a:srgbClr val="B7791F"/>
              </a:solidFill>
            </a:endParaRPr>
          </a:p>
        </p:txBody>
      </p:sp>
      <p:sp>
        <p:nvSpPr>
          <p:cNvPr id="36" name="矩形 35"/>
          <p:cNvSpPr>
            <a:spLocks noGrp="1"/>
          </p:cNvSpPr>
          <p:nvPr/>
        </p:nvSpPr>
        <p:spPr>
          <a:xfrm>
            <a:off x="64198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locator / exact quote / support</a:t>
            </a:r>
            <a:endParaRPr sz="1275" b="0">
              <a:solidFill>
                <a:srgbClr val="18212B"/>
              </a:solidFill>
            </a:endParaRPr>
          </a:p>
        </p:txBody>
      </p:sp>
      <p:sp>
        <p:nvSpPr>
          <p:cNvPr id="37" name="圆角矩形 36"/>
          <p:cNvSpPr>
            <a:spLocks noGrp="1"/>
          </p:cNvSpPr>
          <p:nvPr/>
        </p:nvSpPr>
        <p:spPr>
          <a:xfrm>
            <a:off x="8934450" y="3333750"/>
            <a:ext cx="2476500" cy="1104900"/>
          </a:xfrm>
          <a:prstGeom prst="roundRect">
            <a:avLst>
              <a:gd name="adj" fmla="val 6897"/>
            </a:avLst>
          </a:prstGeom>
          <a:solidFill>
            <a:srgbClr val="F3F6F8"/>
          </a:solidFill>
          <a:ln w="9525">
            <a:solidFill>
              <a:srgbClr val="D7E0E7"/>
            </a:solidFill>
            <a:prstDash val="solid"/>
          </a:ln>
        </p:spPr>
      </p:sp>
      <p:sp>
        <p:nvSpPr>
          <p:cNvPr id="38" name="圆角矩形 37"/>
          <p:cNvSpPr>
            <a:spLocks noGrp="1"/>
          </p:cNvSpPr>
          <p:nvPr/>
        </p:nvSpPr>
        <p:spPr>
          <a:xfrm>
            <a:off x="8934450" y="3333750"/>
            <a:ext cx="66675" cy="1104900"/>
          </a:xfrm>
          <a:prstGeom prst="roundRect">
            <a:avLst>
              <a:gd name="adj" fmla="val 50000"/>
            </a:avLst>
          </a:prstGeom>
          <a:solidFill>
            <a:srgbClr val="A23B3B"/>
          </a:solidFill>
          <a:ln w="0">
            <a:noFill/>
            <a:prstDash val="solid"/>
          </a:ln>
        </p:spPr>
      </p:sp>
      <p:sp>
        <p:nvSpPr>
          <p:cNvPr id="39" name="矩形 38"/>
          <p:cNvSpPr>
            <a:spLocks noGrp="1"/>
          </p:cNvSpPr>
          <p:nvPr/>
        </p:nvSpPr>
        <p:spPr>
          <a:xfrm>
            <a:off x="9163050" y="3505200"/>
            <a:ext cx="20764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Eval</a:t>
            </a:r>
            <a:endParaRPr sz="1650" b="1">
              <a:solidFill>
                <a:srgbClr val="A23B3B"/>
              </a:solidFill>
            </a:endParaRPr>
          </a:p>
        </p:txBody>
      </p:sp>
      <p:sp>
        <p:nvSpPr>
          <p:cNvPr id="40" name="矩形 39"/>
          <p:cNvSpPr>
            <a:spLocks noGrp="1"/>
          </p:cNvSpPr>
          <p:nvPr/>
        </p:nvSpPr>
        <p:spPr>
          <a:xfrm>
            <a:off x="91630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F1 / citation / abstention / stability</a:t>
            </a:r>
            <a:endParaRPr sz="1275" b="0">
              <a:solidFill>
                <a:srgbClr val="18212B"/>
              </a:solidFill>
            </a:endParaRPr>
          </a:p>
        </p:txBody>
      </p:sp>
      <p:sp>
        <p:nvSpPr>
          <p:cNvPr id="41" name="圆角矩形 4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42" name="矩形 4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Final Project 不是复制七个 crate，而是重新组合其思想：控制、权限、证据、目标与测量必须在端到端路径上保持一致。</a:t>
            </a:r>
            <a:endParaRPr sz="1350" b="1">
              <a:solidFill>
                <a:srgbClr val="163A5F"/>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先做 RuleBaseline，才能知道 Agent 是否值得</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复杂度不是成绩；Baseline 提供可复现的参照系</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60</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RuleBaseline</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关键词规则</a:t>
            </a:r>
            <a:endParaRPr sz="1275" b="0">
              <a:solidFill>
                <a:srgbClr val="18212B"/>
              </a:solidFill>
            </a:endParaRPr>
          </a:p>
          <a:p>
            <a:pPr algn="l">
              <a:defRPr sz="1275" b="0">
                <a:solidFill>
                  <a:srgbClr val="18212B"/>
                </a:solidFill>
              </a:defRPr>
            </a:pPr>
            <a:r>
              <a:rPr sz="1275" b="0">
                <a:solidFill>
                  <a:srgbClr val="18212B"/>
                </a:solidFill>
              </a:rPr>
              <a:t>固定检索</a:t>
            </a:r>
            <a:endParaRPr sz="1275" b="0">
              <a:solidFill>
                <a:srgbClr val="18212B"/>
              </a:solidFill>
            </a:endParaRPr>
          </a:p>
          <a:p>
            <a:pPr algn="l">
              <a:defRPr sz="1275" b="0">
                <a:solidFill>
                  <a:srgbClr val="18212B"/>
                </a:solidFill>
              </a:defRPr>
            </a:pPr>
            <a:r>
              <a:rPr sz="1275" b="0">
                <a:solidFill>
                  <a:srgbClr val="18212B"/>
                </a:solidFill>
              </a:rPr>
              <a:t>模板化候选风险</a:t>
            </a:r>
            <a:endParaRPr sz="1275" b="0">
              <a:solidFill>
                <a:srgbClr val="18212B"/>
              </a:solidFill>
            </a:endParaRPr>
          </a:p>
          <a:p>
            <a:pPr algn="l">
              <a:defRPr sz="1275" b="0">
                <a:solidFill>
                  <a:srgbClr val="18212B"/>
                </a:solidFill>
              </a:defRPr>
            </a:pPr>
            <a:r>
              <a:rPr sz="1275" b="0">
                <a:solidFill>
                  <a:srgbClr val="18212B"/>
                </a:solidFill>
              </a:rPr>
              <a:t>与 Agent 相同报告 Schema</a:t>
            </a:r>
            <a:endParaRPr sz="1275" b="0">
              <a:solidFill>
                <a:srgbClr val="18212B"/>
              </a:solidFill>
            </a:endParaRPr>
          </a:p>
          <a:p>
            <a:pPr algn="l">
              <a:defRPr sz="1275" b="0">
                <a:solidFill>
                  <a:srgbClr val="18212B"/>
                </a:solidFill>
              </a:defRPr>
            </a:pPr>
            <a:r>
              <a:rPr sz="1275" b="0">
                <a:solidFill>
                  <a:srgbClr val="18212B"/>
                </a:solidFill>
              </a:rPr>
              <a:t>完整跑通公开评测</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Agent Variant</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运行时选择检索</a:t>
            </a:r>
            <a:endParaRPr sz="1275" b="0">
              <a:solidFill>
                <a:srgbClr val="18212B"/>
              </a:solidFill>
            </a:endParaRPr>
          </a:p>
          <a:p>
            <a:pPr algn="l">
              <a:defRPr sz="1275" b="0">
                <a:solidFill>
                  <a:srgbClr val="18212B"/>
                </a:solidFill>
              </a:defRPr>
            </a:pPr>
            <a:r>
              <a:rPr sz="1275" b="0">
                <a:solidFill>
                  <a:srgbClr val="18212B"/>
                </a:solidFill>
              </a:rPr>
              <a:t>失败恢复与重复检测</a:t>
            </a:r>
            <a:endParaRPr sz="1275" b="0">
              <a:solidFill>
                <a:srgbClr val="18212B"/>
              </a:solidFill>
            </a:endParaRPr>
          </a:p>
          <a:p>
            <a:pPr algn="l">
              <a:defRPr sz="1275" b="0">
                <a:solidFill>
                  <a:srgbClr val="18212B"/>
                </a:solidFill>
              </a:defRPr>
            </a:pPr>
            <a:r>
              <a:rPr sz="1275" b="0">
                <a:solidFill>
                  <a:srgbClr val="18212B"/>
                </a:solidFill>
              </a:rPr>
              <a:t>Evidence Validator</a:t>
            </a:r>
            <a:endParaRPr sz="1275" b="0">
              <a:solidFill>
                <a:srgbClr val="18212B"/>
              </a:solidFill>
            </a:endParaRPr>
          </a:p>
          <a:p>
            <a:pPr algn="l">
              <a:defRPr sz="1275" b="0">
                <a:solidFill>
                  <a:srgbClr val="18212B"/>
                </a:solidFill>
              </a:defRPr>
            </a:pPr>
            <a:r>
              <a:rPr sz="1275" b="0">
                <a:solidFill>
                  <a:srgbClr val="18212B"/>
                </a:solidFill>
              </a:rPr>
              <a:t>拒答与人工升级</a:t>
            </a:r>
            <a:endParaRPr sz="1275" b="0">
              <a:solidFill>
                <a:srgbClr val="18212B"/>
              </a:solidFill>
            </a:endParaRPr>
          </a:p>
          <a:p>
            <a:pPr algn="l">
              <a:defRPr sz="1275" b="0">
                <a:solidFill>
                  <a:srgbClr val="18212B"/>
                </a:solidFill>
              </a:defRPr>
            </a:pPr>
            <a:r>
              <a:rPr sz="1275" b="0">
                <a:solidFill>
                  <a:srgbClr val="18212B"/>
                </a:solidFill>
              </a:rPr>
              <a:t>相同数据与预算比较</a:t>
            </a:r>
            <a:endParaRPr sz="1275" b="0">
              <a:solidFill>
                <a:srgbClr val="18212B"/>
              </a:solidFill>
            </a:endParaRPr>
          </a:p>
        </p:txBody>
      </p:sp>
      <p:sp>
        <p:nvSpPr>
          <p:cNvPr id="15" name="圆角矩形 14"/>
          <p:cNvSpPr>
            <a:spLocks noGrp="1"/>
          </p:cNvSpPr>
          <p:nvPr/>
        </p:nvSpPr>
        <p:spPr>
          <a:xfrm>
            <a:off x="1428750" y="5219700"/>
            <a:ext cx="9334500" cy="571500"/>
          </a:xfrm>
          <a:prstGeom prst="roundRect">
            <a:avLst>
              <a:gd name="adj" fmla="val 13333"/>
            </a:avLst>
          </a:prstGeom>
          <a:solidFill>
            <a:srgbClr val="EAF2F8"/>
          </a:solidFill>
          <a:ln w="9525">
            <a:solidFill>
              <a:srgbClr val="D7E0E7"/>
            </a:solidFill>
            <a:prstDash val="solid"/>
          </a:ln>
        </p:spPr>
      </p:sp>
      <p:sp>
        <p:nvSpPr>
          <p:cNvPr id="16" name="矩形 15"/>
          <p:cNvSpPr>
            <a:spLocks noGrp="1"/>
          </p:cNvSpPr>
          <p:nvPr/>
        </p:nvSpPr>
        <p:spPr>
          <a:xfrm>
            <a:off x="1657350" y="5381625"/>
            <a:ext cx="8877300" cy="285750"/>
          </a:xfrm>
          <a:prstGeom prst="rect">
            <a:avLst/>
          </a:prstGeom>
          <a:noFill/>
          <a:ln w="0">
            <a:noFill/>
            <a:prstDash val="solid"/>
          </a:ln>
        </p:spPr>
        <p:txBody>
          <a:bodyPr/>
          <a:lstStyle/>
          <a:p>
            <a:pPr algn="l">
              <a:defRPr sz="1275" b="1">
                <a:solidFill>
                  <a:srgbClr val="163A5F"/>
                </a:solidFill>
              </a:defRPr>
            </a:pPr>
            <a:r>
              <a:rPr sz="1275" b="1">
                <a:solidFill>
                  <a:srgbClr val="163A5F"/>
                </a:solidFill>
              </a:rPr>
              <a:t>第一张结果表：Precision / Recall / F1 · Citation Correctness · Abstention Accuracy · Avg Calls · Latency</a:t>
            </a:r>
            <a:endParaRPr sz="1275" b="1">
              <a:solidFill>
                <a:srgbClr val="163A5F"/>
              </a:solidFill>
            </a:endParaRPr>
          </a:p>
        </p:txBody>
      </p:sp>
      <p:sp>
        <p:nvSpPr>
          <p:cNvPr id="17" name="圆角矩形 1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8" name="矩形 1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如果 Agent 没有明显优于 Baseline，就如实报告并解释原因；删掉无收益组件是成熟的工程结论。</a:t>
            </a:r>
            <a:endParaRPr sz="1350" b="1">
              <a:solidFill>
                <a:srgbClr val="163A5F"/>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矩形 2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统一 ClauseReport 把风险、证据与动作分开</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四个维度不能互相替代，避免“有引用 = 有风险 = 自动处理”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61</a:t>
            </a:r>
            <a:endParaRPr sz="825" b="0">
              <a:solidFill>
                <a:srgbClr val="7D8994"/>
              </a:solidFill>
            </a:endParaRPr>
          </a:p>
        </p:txBody>
      </p:sp>
      <p:sp>
        <p:nvSpPr>
          <p:cNvPr id="7" name="圆角矩形 6"/>
          <p:cNvSpPr>
            <a:spLocks noGrp="1"/>
          </p:cNvSpPr>
          <p:nvPr/>
        </p:nvSpPr>
        <p:spPr>
          <a:xfrm>
            <a:off x="609600" y="1809750"/>
            <a:ext cx="2514600" cy="2190750"/>
          </a:xfrm>
          <a:prstGeom prst="roundRect">
            <a:avLst>
              <a:gd name="adj" fmla="val 3478"/>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2190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判断</a:t>
            </a:r>
            <a:endParaRPr sz="1650" b="1">
              <a:solidFill>
                <a:srgbClr val="286F9E"/>
              </a:solidFill>
            </a:endParaRPr>
          </a:p>
        </p:txBody>
      </p:sp>
      <p:sp>
        <p:nvSpPr>
          <p:cNvPr id="10" name="矩形 9"/>
          <p:cNvSpPr>
            <a:spLocks noGrp="1"/>
          </p:cNvSpPr>
          <p:nvPr/>
        </p:nvSpPr>
        <p:spPr>
          <a:xfrm>
            <a:off x="8382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risk_decision</a:t>
            </a:r>
            <a:endParaRPr sz="1275" b="0">
              <a:solidFill>
                <a:srgbClr val="18212B"/>
              </a:solidFill>
            </a:endParaRPr>
          </a:p>
          <a:p>
            <a:pPr algn="l">
              <a:defRPr sz="1275" b="0">
                <a:solidFill>
                  <a:srgbClr val="18212B"/>
                </a:solidFill>
              </a:defRPr>
            </a:pPr>
            <a:r>
              <a:rPr sz="1275" b="0">
                <a:solidFill>
                  <a:srgbClr val="18212B"/>
                </a:solidFill>
              </a:rPr>
              <a:t>risk_type</a:t>
            </a:r>
            <a:endParaRPr sz="1275" b="0">
              <a:solidFill>
                <a:srgbClr val="18212B"/>
              </a:solidFill>
            </a:endParaRPr>
          </a:p>
          <a:p>
            <a:pPr algn="l">
              <a:defRPr sz="1275" b="0">
                <a:solidFill>
                  <a:srgbClr val="18212B"/>
                </a:solidFill>
              </a:defRPr>
            </a:pPr>
            <a:r>
              <a:rPr sz="1275" b="0">
                <a:solidFill>
                  <a:srgbClr val="18212B"/>
                </a:solidFill>
              </a:rPr>
              <a:t>severity</a:t>
            </a:r>
            <a:endParaRPr sz="1275" b="0">
              <a:solidFill>
                <a:srgbClr val="18212B"/>
              </a:solidFill>
            </a:endParaRPr>
          </a:p>
        </p:txBody>
      </p:sp>
      <p:sp>
        <p:nvSpPr>
          <p:cNvPr id="11" name="圆角矩形 10"/>
          <p:cNvSpPr>
            <a:spLocks noGrp="1"/>
          </p:cNvSpPr>
          <p:nvPr/>
        </p:nvSpPr>
        <p:spPr>
          <a:xfrm>
            <a:off x="3352800" y="1809750"/>
            <a:ext cx="2514600" cy="2190750"/>
          </a:xfrm>
          <a:prstGeom prst="roundRect">
            <a:avLst>
              <a:gd name="adj" fmla="val 3478"/>
            </a:avLst>
          </a:prstGeom>
          <a:solidFill>
            <a:srgbClr val="F3F6F8"/>
          </a:solidFill>
          <a:ln w="9525">
            <a:solidFill>
              <a:srgbClr val="D7E0E7"/>
            </a:solidFill>
            <a:prstDash val="solid"/>
          </a:ln>
        </p:spPr>
      </p:sp>
      <p:sp>
        <p:nvSpPr>
          <p:cNvPr id="12" name="圆角矩形 11"/>
          <p:cNvSpPr>
            <a:spLocks noGrp="1"/>
          </p:cNvSpPr>
          <p:nvPr/>
        </p:nvSpPr>
        <p:spPr>
          <a:xfrm>
            <a:off x="3352800" y="1809750"/>
            <a:ext cx="66675" cy="2190750"/>
          </a:xfrm>
          <a:prstGeom prst="roundRect">
            <a:avLst>
              <a:gd name="adj" fmla="val 50000"/>
            </a:avLst>
          </a:prstGeom>
          <a:solidFill>
            <a:srgbClr val="2C7A7B"/>
          </a:solidFill>
          <a:ln w="0">
            <a:noFill/>
            <a:prstDash val="solid"/>
          </a:ln>
        </p:spPr>
      </p:sp>
      <p:sp>
        <p:nvSpPr>
          <p:cNvPr id="13" name="矩形 12"/>
          <p:cNvSpPr>
            <a:spLocks noGrp="1"/>
          </p:cNvSpPr>
          <p:nvPr/>
        </p:nvSpPr>
        <p:spPr>
          <a:xfrm>
            <a:off x="3581400" y="198120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证据</a:t>
            </a:r>
            <a:endParaRPr sz="1650" b="1">
              <a:solidFill>
                <a:srgbClr val="2C7A7B"/>
              </a:solidFill>
            </a:endParaRPr>
          </a:p>
        </p:txBody>
      </p:sp>
      <p:sp>
        <p:nvSpPr>
          <p:cNvPr id="14" name="矩形 13"/>
          <p:cNvSpPr>
            <a:spLocks noGrp="1"/>
          </p:cNvSpPr>
          <p:nvPr/>
        </p:nvSpPr>
        <p:spPr>
          <a:xfrm>
            <a:off x="35814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evidence_status</a:t>
            </a:r>
            <a:endParaRPr sz="1275" b="0">
              <a:solidFill>
                <a:srgbClr val="18212B"/>
              </a:solidFill>
            </a:endParaRPr>
          </a:p>
          <a:p>
            <a:pPr algn="l">
              <a:defRPr sz="1275" b="0">
                <a:solidFill>
                  <a:srgbClr val="18212B"/>
                </a:solidFill>
              </a:defRPr>
            </a:pPr>
            <a:r>
              <a:rPr sz="1275" b="0">
                <a:solidFill>
                  <a:srgbClr val="18212B"/>
                </a:solidFill>
              </a:rPr>
              <a:t>evidence_strength</a:t>
            </a:r>
            <a:endParaRPr sz="1275" b="0">
              <a:solidFill>
                <a:srgbClr val="18212B"/>
              </a:solidFill>
            </a:endParaRPr>
          </a:p>
          <a:p>
            <a:pPr algn="l">
              <a:defRPr sz="1275" b="0">
                <a:solidFill>
                  <a:srgbClr val="18212B"/>
                </a:solidFill>
              </a:defRPr>
            </a:pPr>
            <a:r>
              <a:rPr sz="1275" b="0">
                <a:solidFill>
                  <a:srgbClr val="18212B"/>
                </a:solidFill>
              </a:rPr>
              <a:t>evidence[]</a:t>
            </a:r>
            <a:endParaRPr sz="1275" b="0">
              <a:solidFill>
                <a:srgbClr val="18212B"/>
              </a:solidFill>
            </a:endParaRPr>
          </a:p>
        </p:txBody>
      </p:sp>
      <p:sp>
        <p:nvSpPr>
          <p:cNvPr id="15" name="圆角矩形 14"/>
          <p:cNvSpPr>
            <a:spLocks noGrp="1"/>
          </p:cNvSpPr>
          <p:nvPr/>
        </p:nvSpPr>
        <p:spPr>
          <a:xfrm>
            <a:off x="6096000" y="1809750"/>
            <a:ext cx="2514600" cy="2190750"/>
          </a:xfrm>
          <a:prstGeom prst="roundRect">
            <a:avLst>
              <a:gd name="adj" fmla="val 3478"/>
            </a:avLst>
          </a:prstGeom>
          <a:solidFill>
            <a:srgbClr val="F3F6F8"/>
          </a:solidFill>
          <a:ln w="9525">
            <a:solidFill>
              <a:srgbClr val="D7E0E7"/>
            </a:solidFill>
            <a:prstDash val="solid"/>
          </a:ln>
        </p:spPr>
      </p:sp>
      <p:sp>
        <p:nvSpPr>
          <p:cNvPr id="16" name="圆角矩形 15"/>
          <p:cNvSpPr>
            <a:spLocks noGrp="1"/>
          </p:cNvSpPr>
          <p:nvPr/>
        </p:nvSpPr>
        <p:spPr>
          <a:xfrm>
            <a:off x="6096000" y="1809750"/>
            <a:ext cx="66675" cy="2190750"/>
          </a:xfrm>
          <a:prstGeom prst="roundRect">
            <a:avLst>
              <a:gd name="adj" fmla="val 50000"/>
            </a:avLst>
          </a:prstGeom>
          <a:solidFill>
            <a:srgbClr val="B7791F"/>
          </a:solidFill>
          <a:ln w="0">
            <a:noFill/>
            <a:prstDash val="solid"/>
          </a:ln>
        </p:spPr>
      </p:sp>
      <p:sp>
        <p:nvSpPr>
          <p:cNvPr id="17" name="矩形 16"/>
          <p:cNvSpPr>
            <a:spLocks noGrp="1"/>
          </p:cNvSpPr>
          <p:nvPr/>
        </p:nvSpPr>
        <p:spPr>
          <a:xfrm>
            <a:off x="6324600" y="198120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解释</a:t>
            </a:r>
            <a:endParaRPr sz="1650" b="1">
              <a:solidFill>
                <a:srgbClr val="B7791F"/>
              </a:solidFill>
            </a:endParaRPr>
          </a:p>
        </p:txBody>
      </p:sp>
      <p:sp>
        <p:nvSpPr>
          <p:cNvPr id="18" name="矩形 17"/>
          <p:cNvSpPr>
            <a:spLocks noGrp="1"/>
          </p:cNvSpPr>
          <p:nvPr/>
        </p:nvSpPr>
        <p:spPr>
          <a:xfrm>
            <a:off x="63246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claim</a:t>
            </a:r>
            <a:endParaRPr sz="1275" b="0">
              <a:solidFill>
                <a:srgbClr val="18212B"/>
              </a:solidFill>
            </a:endParaRPr>
          </a:p>
          <a:p>
            <a:pPr algn="l">
              <a:defRPr sz="1275" b="0">
                <a:solidFill>
                  <a:srgbClr val="18212B"/>
                </a:solidFill>
              </a:defRPr>
            </a:pPr>
            <a:r>
              <a:rPr sz="1275" b="0">
                <a:solidFill>
                  <a:srgbClr val="18212B"/>
                </a:solidFill>
              </a:rPr>
              <a:t>reasoning_summary</a:t>
            </a:r>
            <a:endParaRPr sz="1275" b="0">
              <a:solidFill>
                <a:srgbClr val="18212B"/>
              </a:solidFill>
            </a:endParaRPr>
          </a:p>
          <a:p>
            <a:pPr algn="l">
              <a:defRPr sz="1275" b="0">
                <a:solidFill>
                  <a:srgbClr val="18212B"/>
                </a:solidFill>
              </a:defRPr>
            </a:pPr>
            <a:r>
              <a:rPr sz="1275" b="0">
                <a:solidFill>
                  <a:srgbClr val="18212B"/>
                </a:solidFill>
              </a:rPr>
              <a:t>confidence_basis</a:t>
            </a:r>
            <a:endParaRPr sz="1275" b="0">
              <a:solidFill>
                <a:srgbClr val="18212B"/>
              </a:solidFill>
            </a:endParaRPr>
          </a:p>
          <a:p>
            <a:pPr algn="l">
              <a:defRPr sz="1275" b="0">
                <a:solidFill>
                  <a:srgbClr val="18212B"/>
                </a:solidFill>
              </a:defRPr>
            </a:pPr>
            <a:r>
              <a:rPr sz="1275" b="0">
                <a:solidFill>
                  <a:srgbClr val="18212B"/>
                </a:solidFill>
              </a:rPr>
              <a:t>limitations</a:t>
            </a:r>
            <a:endParaRPr sz="1275" b="0">
              <a:solidFill>
                <a:srgbClr val="18212B"/>
              </a:solidFill>
            </a:endParaRPr>
          </a:p>
        </p:txBody>
      </p:sp>
      <p:sp>
        <p:nvSpPr>
          <p:cNvPr id="19" name="圆角矩形 18"/>
          <p:cNvSpPr>
            <a:spLocks noGrp="1"/>
          </p:cNvSpPr>
          <p:nvPr/>
        </p:nvSpPr>
        <p:spPr>
          <a:xfrm>
            <a:off x="8839200" y="1809750"/>
            <a:ext cx="2514600" cy="2190750"/>
          </a:xfrm>
          <a:prstGeom prst="roundRect">
            <a:avLst>
              <a:gd name="adj" fmla="val 3478"/>
            </a:avLst>
          </a:prstGeom>
          <a:solidFill>
            <a:srgbClr val="F3F6F8"/>
          </a:solidFill>
          <a:ln w="9525">
            <a:solidFill>
              <a:srgbClr val="D7E0E7"/>
            </a:solidFill>
            <a:prstDash val="solid"/>
          </a:ln>
        </p:spPr>
      </p:sp>
      <p:sp>
        <p:nvSpPr>
          <p:cNvPr id="20" name="圆角矩形 19"/>
          <p:cNvSpPr>
            <a:spLocks noGrp="1"/>
          </p:cNvSpPr>
          <p:nvPr/>
        </p:nvSpPr>
        <p:spPr>
          <a:xfrm>
            <a:off x="8839200" y="1809750"/>
            <a:ext cx="66675" cy="2190750"/>
          </a:xfrm>
          <a:prstGeom prst="roundRect">
            <a:avLst>
              <a:gd name="adj" fmla="val 50000"/>
            </a:avLst>
          </a:prstGeom>
          <a:solidFill>
            <a:srgbClr val="A23B3B"/>
          </a:solidFill>
          <a:ln w="0">
            <a:noFill/>
            <a:prstDash val="solid"/>
          </a:ln>
        </p:spPr>
      </p:sp>
      <p:sp>
        <p:nvSpPr>
          <p:cNvPr id="21" name="矩形 20"/>
          <p:cNvSpPr>
            <a:spLocks noGrp="1"/>
          </p:cNvSpPr>
          <p:nvPr/>
        </p:nvSpPr>
        <p:spPr>
          <a:xfrm>
            <a:off x="9067800" y="198120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动作</a:t>
            </a:r>
            <a:endParaRPr sz="1650" b="1">
              <a:solidFill>
                <a:srgbClr val="A23B3B"/>
              </a:solidFill>
            </a:endParaRPr>
          </a:p>
        </p:txBody>
      </p:sp>
      <p:sp>
        <p:nvSpPr>
          <p:cNvPr id="22" name="矩形 21"/>
          <p:cNvSpPr>
            <a:spLocks noGrp="1"/>
          </p:cNvSpPr>
          <p:nvPr/>
        </p:nvSpPr>
        <p:spPr>
          <a:xfrm>
            <a:off x="90678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next_action</a:t>
            </a:r>
            <a:endParaRPr sz="1275" b="0">
              <a:solidFill>
                <a:srgbClr val="18212B"/>
              </a:solidFill>
            </a:endParaRPr>
          </a:p>
          <a:p>
            <a:pPr algn="l">
              <a:defRPr sz="1275" b="0">
                <a:solidFill>
                  <a:srgbClr val="18212B"/>
                </a:solidFill>
              </a:defRPr>
            </a:pPr>
            <a:r>
              <a:rPr sz="1275" b="0">
                <a:solidFill>
                  <a:srgbClr val="18212B"/>
                </a:solidFill>
              </a:rPr>
              <a:t>complete / retrieve_more /</a:t>
            </a:r>
            <a:endParaRPr sz="1275" b="0">
              <a:solidFill>
                <a:srgbClr val="18212B"/>
              </a:solidFill>
            </a:endParaRPr>
          </a:p>
          <a:p>
            <a:pPr algn="l">
              <a:defRPr sz="1275" b="0">
                <a:solidFill>
                  <a:srgbClr val="18212B"/>
                </a:solidFill>
              </a:defRPr>
            </a:pPr>
            <a:r>
              <a:rPr sz="1275" b="0">
                <a:solidFill>
                  <a:srgbClr val="18212B"/>
                </a:solidFill>
              </a:rPr>
              <a:t>human_review</a:t>
            </a:r>
            <a:endParaRPr sz="1275" b="0">
              <a:solidFill>
                <a:srgbClr val="18212B"/>
              </a:solidFill>
            </a:endParaRPr>
          </a:p>
        </p:txBody>
      </p:sp>
      <p:sp>
        <p:nvSpPr>
          <p:cNvPr id="23" name="圆角矩形 22"/>
          <p:cNvSpPr>
            <a:spLocks noGrp="1"/>
          </p:cNvSpPr>
          <p:nvPr/>
        </p:nvSpPr>
        <p:spPr>
          <a:xfrm>
            <a:off x="2000250" y="4476750"/>
            <a:ext cx="8191500" cy="723900"/>
          </a:xfrm>
          <a:prstGeom prst="roundRect">
            <a:avLst>
              <a:gd name="adj" fmla="val 10526"/>
            </a:avLst>
          </a:prstGeom>
          <a:solidFill>
            <a:srgbClr val="F6F8FA"/>
          </a:solidFill>
          <a:ln w="9525">
            <a:solidFill>
              <a:srgbClr val="D7E0E7"/>
            </a:solidFill>
            <a:prstDash val="solid"/>
          </a:ln>
        </p:spPr>
      </p:sp>
      <p:sp>
        <p:nvSpPr>
          <p:cNvPr id="24" name="矩形 23"/>
          <p:cNvSpPr>
            <a:spLocks noGrp="1"/>
          </p:cNvSpPr>
          <p:nvPr/>
        </p:nvSpPr>
        <p:spPr>
          <a:xfrm>
            <a:off x="2209800" y="4648200"/>
            <a:ext cx="7772400" cy="400050"/>
          </a:xfrm>
          <a:prstGeom prst="rect">
            <a:avLst/>
          </a:prstGeom>
          <a:noFill/>
          <a:ln w="0">
            <a:noFill/>
            <a:prstDash val="solid"/>
          </a:ln>
        </p:spPr>
        <p:txBody>
          <a:bodyPr/>
          <a:lstStyle/>
          <a:p>
            <a:pPr algn="l">
              <a:defRPr sz="1350" b="0">
                <a:solidFill>
                  <a:srgbClr val="263238"/>
                </a:solidFill>
              </a:defRPr>
            </a:pPr>
            <a:r>
              <a:rPr sz="1350" b="0">
                <a:solidFill>
                  <a:srgbClr val="263238"/>
                </a:solidFill>
              </a:rPr>
              <a:t>ReviewReport = document_id / clauses: Vec&lt;ClauseReport&gt; / trace_path</a:t>
            </a:r>
            <a:endParaRPr sz="1350" b="0">
              <a:solidFill>
                <a:srgbClr val="263238"/>
              </a:solidFill>
            </a:endParaRPr>
          </a:p>
        </p:txBody>
      </p:sp>
      <p:sp>
        <p:nvSpPr>
          <p:cNvPr id="25" name="圆角矩形 2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6" name="矩形 2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evidence_status 描述证据状态；next_action 描述系统下一步。证据冲突不等于自动判风险，人工复核也不代表系统失败。</a:t>
            </a:r>
            <a:endParaRPr sz="1350" b="1">
              <a:solidFill>
                <a:srgbClr val="163A5F"/>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必须主动攻击系统的信任边界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故障场景覆盖协议、工具、证据、预算与人机边界</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62</a:t>
            </a:r>
            <a:endParaRPr sz="825" b="0">
              <a:solidFill>
                <a:srgbClr val="7D8994"/>
              </a:solidFill>
            </a:endParaRPr>
          </a:p>
        </p:txBody>
      </p:sp>
      <p:sp>
        <p:nvSpPr>
          <p:cNvPr id="7" name="圆角矩形 6"/>
          <p:cNvSpPr>
            <a:spLocks noGrp="1"/>
          </p:cNvSpPr>
          <p:nvPr/>
        </p:nvSpPr>
        <p:spPr>
          <a:xfrm>
            <a:off x="704850" y="1752600"/>
            <a:ext cx="5219700" cy="933450"/>
          </a:xfrm>
          <a:prstGeom prst="roundRect">
            <a:avLst>
              <a:gd name="adj" fmla="val 8163"/>
            </a:avLst>
          </a:prstGeom>
          <a:solidFill>
            <a:srgbClr val="F3F6F8"/>
          </a:solidFill>
          <a:ln w="9525">
            <a:solidFill>
              <a:srgbClr val="D7E0E7"/>
            </a:solidFill>
            <a:prstDash val="solid"/>
          </a:ln>
        </p:spPr>
      </p:sp>
      <p:sp>
        <p:nvSpPr>
          <p:cNvPr id="8" name="圆角矩形 7"/>
          <p:cNvSpPr>
            <a:spLocks noGrp="1"/>
          </p:cNvSpPr>
          <p:nvPr/>
        </p:nvSpPr>
        <p:spPr>
          <a:xfrm>
            <a:off x="704850" y="1752600"/>
            <a:ext cx="66675" cy="933450"/>
          </a:xfrm>
          <a:prstGeom prst="roundRect">
            <a:avLst>
              <a:gd name="adj" fmla="val 50000"/>
            </a:avLst>
          </a:prstGeom>
          <a:solidFill>
            <a:srgbClr val="286F9E"/>
          </a:solidFill>
          <a:ln w="0">
            <a:noFill/>
            <a:prstDash val="solid"/>
          </a:ln>
        </p:spPr>
      </p:sp>
      <p:sp>
        <p:nvSpPr>
          <p:cNvPr id="9" name="矩形 8"/>
          <p:cNvSpPr>
            <a:spLocks noGrp="1"/>
          </p:cNvSpPr>
          <p:nvPr/>
        </p:nvSpPr>
        <p:spPr>
          <a:xfrm>
            <a:off x="933450" y="192405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工具</a:t>
            </a:r>
            <a:endParaRPr sz="1650" b="1">
              <a:solidFill>
                <a:srgbClr val="286F9E"/>
              </a:solidFill>
            </a:endParaRPr>
          </a:p>
        </p:txBody>
      </p:sp>
      <p:sp>
        <p:nvSpPr>
          <p:cNvPr id="10" name="矩形 9"/>
          <p:cNvSpPr>
            <a:spLocks noGrp="1"/>
          </p:cNvSpPr>
          <p:nvPr/>
        </p:nvSpPr>
        <p:spPr>
          <a:xfrm>
            <a:off x="933450" y="23050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首次 timeout 后成功；不存在 locator；永久错误</a:t>
            </a:r>
            <a:endParaRPr sz="1275" b="0">
              <a:solidFill>
                <a:srgbClr val="18212B"/>
              </a:solidFill>
            </a:endParaRPr>
          </a:p>
        </p:txBody>
      </p:sp>
      <p:sp>
        <p:nvSpPr>
          <p:cNvPr id="11" name="圆角矩形 10"/>
          <p:cNvSpPr>
            <a:spLocks noGrp="1"/>
          </p:cNvSpPr>
          <p:nvPr/>
        </p:nvSpPr>
        <p:spPr>
          <a:xfrm>
            <a:off x="6229350" y="1752600"/>
            <a:ext cx="5219700" cy="933450"/>
          </a:xfrm>
          <a:prstGeom prst="roundRect">
            <a:avLst>
              <a:gd name="adj" fmla="val 8163"/>
            </a:avLst>
          </a:prstGeom>
          <a:solidFill>
            <a:srgbClr val="F3F6F8"/>
          </a:solidFill>
          <a:ln w="9525">
            <a:solidFill>
              <a:srgbClr val="D7E0E7"/>
            </a:solidFill>
            <a:prstDash val="solid"/>
          </a:ln>
        </p:spPr>
      </p:sp>
      <p:sp>
        <p:nvSpPr>
          <p:cNvPr id="12" name="圆角矩形 11"/>
          <p:cNvSpPr>
            <a:spLocks noGrp="1"/>
          </p:cNvSpPr>
          <p:nvPr/>
        </p:nvSpPr>
        <p:spPr>
          <a:xfrm>
            <a:off x="6229350" y="1752600"/>
            <a:ext cx="66675" cy="933450"/>
          </a:xfrm>
          <a:prstGeom prst="roundRect">
            <a:avLst>
              <a:gd name="adj" fmla="val 50000"/>
            </a:avLst>
          </a:prstGeom>
          <a:solidFill>
            <a:srgbClr val="2C7A7B"/>
          </a:solidFill>
          <a:ln w="0">
            <a:noFill/>
            <a:prstDash val="solid"/>
          </a:ln>
        </p:spPr>
      </p:sp>
      <p:sp>
        <p:nvSpPr>
          <p:cNvPr id="13" name="矩形 12"/>
          <p:cNvSpPr>
            <a:spLocks noGrp="1"/>
          </p:cNvSpPr>
          <p:nvPr/>
        </p:nvSpPr>
        <p:spPr>
          <a:xfrm>
            <a:off x="6457950" y="192405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模型</a:t>
            </a:r>
            <a:endParaRPr sz="1650" b="1">
              <a:solidFill>
                <a:srgbClr val="2C7A7B"/>
              </a:solidFill>
            </a:endParaRPr>
          </a:p>
        </p:txBody>
      </p:sp>
      <p:sp>
        <p:nvSpPr>
          <p:cNvPr id="14" name="矩形 13"/>
          <p:cNvSpPr>
            <a:spLocks noGrp="1"/>
          </p:cNvSpPr>
          <p:nvPr/>
        </p:nvSpPr>
        <p:spPr>
          <a:xfrm>
            <a:off x="6457950" y="23050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非法 JSON；未知工具；重复 query；过早 finish</a:t>
            </a:r>
            <a:endParaRPr sz="1275" b="0">
              <a:solidFill>
                <a:srgbClr val="18212B"/>
              </a:solidFill>
            </a:endParaRPr>
          </a:p>
        </p:txBody>
      </p:sp>
      <p:sp>
        <p:nvSpPr>
          <p:cNvPr id="15" name="圆角矩形 14"/>
          <p:cNvSpPr>
            <a:spLocks noGrp="1"/>
          </p:cNvSpPr>
          <p:nvPr/>
        </p:nvSpPr>
        <p:spPr>
          <a:xfrm>
            <a:off x="704850" y="2952750"/>
            <a:ext cx="5219700" cy="933450"/>
          </a:xfrm>
          <a:prstGeom prst="roundRect">
            <a:avLst>
              <a:gd name="adj" fmla="val 8163"/>
            </a:avLst>
          </a:prstGeom>
          <a:solidFill>
            <a:srgbClr val="F3F6F8"/>
          </a:solidFill>
          <a:ln w="9525">
            <a:solidFill>
              <a:srgbClr val="D7E0E7"/>
            </a:solidFill>
            <a:prstDash val="solid"/>
          </a:ln>
        </p:spPr>
      </p:sp>
      <p:sp>
        <p:nvSpPr>
          <p:cNvPr id="16" name="圆角矩形 15"/>
          <p:cNvSpPr>
            <a:spLocks noGrp="1"/>
          </p:cNvSpPr>
          <p:nvPr/>
        </p:nvSpPr>
        <p:spPr>
          <a:xfrm>
            <a:off x="704850" y="2952750"/>
            <a:ext cx="66675" cy="933450"/>
          </a:xfrm>
          <a:prstGeom prst="roundRect">
            <a:avLst>
              <a:gd name="adj" fmla="val 50000"/>
            </a:avLst>
          </a:prstGeom>
          <a:solidFill>
            <a:srgbClr val="286F9E"/>
          </a:solidFill>
          <a:ln w="0">
            <a:noFill/>
            <a:prstDash val="solid"/>
          </a:ln>
        </p:spPr>
      </p:sp>
      <p:sp>
        <p:nvSpPr>
          <p:cNvPr id="17" name="矩形 16"/>
          <p:cNvSpPr>
            <a:spLocks noGrp="1"/>
          </p:cNvSpPr>
          <p:nvPr/>
        </p:nvSpPr>
        <p:spPr>
          <a:xfrm>
            <a:off x="933450" y="312420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证据</a:t>
            </a:r>
            <a:endParaRPr sz="1650" b="1">
              <a:solidFill>
                <a:srgbClr val="286F9E"/>
              </a:solidFill>
            </a:endParaRPr>
          </a:p>
        </p:txBody>
      </p:sp>
      <p:sp>
        <p:nvSpPr>
          <p:cNvPr id="18" name="矩形 17"/>
          <p:cNvSpPr>
            <a:spLocks noGrp="1"/>
          </p:cNvSpPr>
          <p:nvPr/>
        </p:nvSpPr>
        <p:spPr>
          <a:xfrm>
            <a:off x="933450" y="350520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版本冲突；主题相关但不支持；证据不足</a:t>
            </a:r>
            <a:endParaRPr sz="1275" b="0">
              <a:solidFill>
                <a:srgbClr val="18212B"/>
              </a:solidFill>
            </a:endParaRPr>
          </a:p>
        </p:txBody>
      </p:sp>
      <p:sp>
        <p:nvSpPr>
          <p:cNvPr id="19" name="圆角矩形 18"/>
          <p:cNvSpPr>
            <a:spLocks noGrp="1"/>
          </p:cNvSpPr>
          <p:nvPr/>
        </p:nvSpPr>
        <p:spPr>
          <a:xfrm>
            <a:off x="6229350" y="2952750"/>
            <a:ext cx="5219700" cy="933450"/>
          </a:xfrm>
          <a:prstGeom prst="roundRect">
            <a:avLst>
              <a:gd name="adj" fmla="val 8163"/>
            </a:avLst>
          </a:prstGeom>
          <a:solidFill>
            <a:srgbClr val="F3F6F8"/>
          </a:solidFill>
          <a:ln w="9525">
            <a:solidFill>
              <a:srgbClr val="D7E0E7"/>
            </a:solidFill>
            <a:prstDash val="solid"/>
          </a:ln>
        </p:spPr>
      </p:sp>
      <p:sp>
        <p:nvSpPr>
          <p:cNvPr id="20" name="圆角矩形 19"/>
          <p:cNvSpPr>
            <a:spLocks noGrp="1"/>
          </p:cNvSpPr>
          <p:nvPr/>
        </p:nvSpPr>
        <p:spPr>
          <a:xfrm>
            <a:off x="6229350" y="2952750"/>
            <a:ext cx="66675" cy="933450"/>
          </a:xfrm>
          <a:prstGeom prst="roundRect">
            <a:avLst>
              <a:gd name="adj" fmla="val 50000"/>
            </a:avLst>
          </a:prstGeom>
          <a:solidFill>
            <a:srgbClr val="2C7A7B"/>
          </a:solidFill>
          <a:ln w="0">
            <a:noFill/>
            <a:prstDash val="solid"/>
          </a:ln>
        </p:spPr>
      </p:sp>
      <p:sp>
        <p:nvSpPr>
          <p:cNvPr id="21" name="矩形 20"/>
          <p:cNvSpPr>
            <a:spLocks noGrp="1"/>
          </p:cNvSpPr>
          <p:nvPr/>
        </p:nvSpPr>
        <p:spPr>
          <a:xfrm>
            <a:off x="6457950" y="312420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安全</a:t>
            </a:r>
            <a:endParaRPr sz="1650" b="1">
              <a:solidFill>
                <a:srgbClr val="2C7A7B"/>
              </a:solidFill>
            </a:endParaRPr>
          </a:p>
        </p:txBody>
      </p:sp>
      <p:sp>
        <p:nvSpPr>
          <p:cNvPr id="22" name="矩形 21"/>
          <p:cNvSpPr>
            <a:spLocks noGrp="1"/>
          </p:cNvSpPr>
          <p:nvPr/>
        </p:nvSpPr>
        <p:spPr>
          <a:xfrm>
            <a:off x="6457950" y="350520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文本要求读取密钥；workspace 越界；过度授权</a:t>
            </a:r>
            <a:endParaRPr sz="1275" b="0">
              <a:solidFill>
                <a:srgbClr val="18212B"/>
              </a:solidFill>
            </a:endParaRPr>
          </a:p>
        </p:txBody>
      </p:sp>
      <p:sp>
        <p:nvSpPr>
          <p:cNvPr id="23" name="圆角矩形 22"/>
          <p:cNvSpPr>
            <a:spLocks noGrp="1"/>
          </p:cNvSpPr>
          <p:nvPr/>
        </p:nvSpPr>
        <p:spPr>
          <a:xfrm>
            <a:off x="704850" y="4152900"/>
            <a:ext cx="5219700" cy="933450"/>
          </a:xfrm>
          <a:prstGeom prst="roundRect">
            <a:avLst>
              <a:gd name="adj" fmla="val 8163"/>
            </a:avLst>
          </a:prstGeom>
          <a:solidFill>
            <a:srgbClr val="F3F6F8"/>
          </a:solidFill>
          <a:ln w="9525">
            <a:solidFill>
              <a:srgbClr val="D7E0E7"/>
            </a:solidFill>
            <a:prstDash val="solid"/>
          </a:ln>
        </p:spPr>
      </p:sp>
      <p:sp>
        <p:nvSpPr>
          <p:cNvPr id="24" name="圆角矩形 23"/>
          <p:cNvSpPr>
            <a:spLocks noGrp="1"/>
          </p:cNvSpPr>
          <p:nvPr/>
        </p:nvSpPr>
        <p:spPr>
          <a:xfrm>
            <a:off x="704850" y="4152900"/>
            <a:ext cx="66675" cy="933450"/>
          </a:xfrm>
          <a:prstGeom prst="roundRect">
            <a:avLst>
              <a:gd name="adj" fmla="val 50000"/>
            </a:avLst>
          </a:prstGeom>
          <a:solidFill>
            <a:srgbClr val="286F9E"/>
          </a:solidFill>
          <a:ln w="0">
            <a:noFill/>
            <a:prstDash val="solid"/>
          </a:ln>
        </p:spPr>
      </p:sp>
      <p:sp>
        <p:nvSpPr>
          <p:cNvPr id="25" name="矩形 24"/>
          <p:cNvSpPr>
            <a:spLocks noGrp="1"/>
          </p:cNvSpPr>
          <p:nvPr/>
        </p:nvSpPr>
        <p:spPr>
          <a:xfrm>
            <a:off x="933450" y="432435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控制</a:t>
            </a:r>
            <a:endParaRPr sz="1650" b="1">
              <a:solidFill>
                <a:srgbClr val="286F9E"/>
              </a:solidFill>
            </a:endParaRPr>
          </a:p>
        </p:txBody>
      </p:sp>
      <p:sp>
        <p:nvSpPr>
          <p:cNvPr id="26" name="矩形 25"/>
          <p:cNvSpPr>
            <a:spLocks noGrp="1"/>
          </p:cNvSpPr>
          <p:nvPr/>
        </p:nvSpPr>
        <p:spPr>
          <a:xfrm>
            <a:off x="933450" y="47053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预算耗尽；无限 RePlan；Trace 写入失败</a:t>
            </a:r>
            <a:endParaRPr sz="1275" b="0">
              <a:solidFill>
                <a:srgbClr val="18212B"/>
              </a:solidFill>
            </a:endParaRPr>
          </a:p>
        </p:txBody>
      </p:sp>
      <p:sp>
        <p:nvSpPr>
          <p:cNvPr id="27" name="圆角矩形 26"/>
          <p:cNvSpPr>
            <a:spLocks noGrp="1"/>
          </p:cNvSpPr>
          <p:nvPr/>
        </p:nvSpPr>
        <p:spPr>
          <a:xfrm>
            <a:off x="6229350" y="4152900"/>
            <a:ext cx="5219700" cy="933450"/>
          </a:xfrm>
          <a:prstGeom prst="roundRect">
            <a:avLst>
              <a:gd name="adj" fmla="val 8163"/>
            </a:avLst>
          </a:prstGeom>
          <a:solidFill>
            <a:srgbClr val="F3F6F8"/>
          </a:solidFill>
          <a:ln w="9525">
            <a:solidFill>
              <a:srgbClr val="D7E0E7"/>
            </a:solidFill>
            <a:prstDash val="solid"/>
          </a:ln>
        </p:spPr>
      </p:sp>
      <p:sp>
        <p:nvSpPr>
          <p:cNvPr id="28" name="圆角矩形 27"/>
          <p:cNvSpPr>
            <a:spLocks noGrp="1"/>
          </p:cNvSpPr>
          <p:nvPr/>
        </p:nvSpPr>
        <p:spPr>
          <a:xfrm>
            <a:off x="6229350" y="4152900"/>
            <a:ext cx="66675" cy="933450"/>
          </a:xfrm>
          <a:prstGeom prst="roundRect">
            <a:avLst>
              <a:gd name="adj" fmla="val 50000"/>
            </a:avLst>
          </a:prstGeom>
          <a:solidFill>
            <a:srgbClr val="2C7A7B"/>
          </a:solidFill>
          <a:ln w="0">
            <a:noFill/>
            <a:prstDash val="solid"/>
          </a:ln>
        </p:spPr>
      </p:sp>
      <p:sp>
        <p:nvSpPr>
          <p:cNvPr id="29" name="矩形 28"/>
          <p:cNvSpPr>
            <a:spLocks noGrp="1"/>
          </p:cNvSpPr>
          <p:nvPr/>
        </p:nvSpPr>
        <p:spPr>
          <a:xfrm>
            <a:off x="6457950" y="432435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升级</a:t>
            </a:r>
            <a:endParaRPr sz="1650" b="1">
              <a:solidFill>
                <a:srgbClr val="2C7A7B"/>
              </a:solidFill>
            </a:endParaRPr>
          </a:p>
        </p:txBody>
      </p:sp>
      <p:sp>
        <p:nvSpPr>
          <p:cNvPr id="30" name="矩形 29"/>
          <p:cNvSpPr>
            <a:spLocks noGrp="1"/>
          </p:cNvSpPr>
          <p:nvPr/>
        </p:nvSpPr>
        <p:spPr>
          <a:xfrm>
            <a:off x="6457950" y="47053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高风险低把握；不可逆动作；超出声明范围</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威胁模型不是攻击清单，而是回答：保护什么资产、信任谁、攻击如何跨边界、哪一层负责缓解。</a:t>
            </a:r>
            <a:endParaRPr sz="1350" b="1">
              <a:solidFill>
                <a:srgbClr val="163A5F"/>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1" name="矩形 4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项目评测必须同时覆盖效果、证据、安全与成本</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任何单一指标都可能掩盖系统性失败</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63</a:t>
            </a:r>
            <a:endParaRPr sz="825" b="0">
              <a:solidFill>
                <a:srgbClr val="7D8994"/>
              </a:solidFill>
            </a:endParaRPr>
          </a:p>
        </p:txBody>
      </p:sp>
      <p:sp>
        <p:nvSpPr>
          <p:cNvPr id="7" name="圆角矩形 6"/>
          <p:cNvSpPr>
            <a:spLocks noGrp="1"/>
          </p:cNvSpPr>
          <p:nvPr/>
        </p:nvSpPr>
        <p:spPr>
          <a:xfrm>
            <a:off x="609600" y="1809750"/>
            <a:ext cx="2514600" cy="1257300"/>
          </a:xfrm>
          <a:prstGeom prst="roundRect">
            <a:avLst>
              <a:gd name="adj" fmla="val 6061"/>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12573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Risk F1</a:t>
            </a:r>
            <a:endParaRPr sz="1650" b="1">
              <a:solidFill>
                <a:srgbClr val="286F9E"/>
              </a:solidFill>
            </a:endParaRPr>
          </a:p>
        </p:txBody>
      </p:sp>
      <p:sp>
        <p:nvSpPr>
          <p:cNvPr id="10" name="矩形 9"/>
          <p:cNvSpPr>
            <a:spLocks noGrp="1"/>
          </p:cNvSpPr>
          <p:nvPr/>
        </p:nvSpPr>
        <p:spPr>
          <a:xfrm>
            <a:off x="8382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风险发现</a:t>
            </a:r>
            <a:endParaRPr sz="1275" b="0">
              <a:solidFill>
                <a:srgbClr val="18212B"/>
              </a:solidFill>
            </a:endParaRPr>
          </a:p>
        </p:txBody>
      </p:sp>
      <p:sp>
        <p:nvSpPr>
          <p:cNvPr id="11" name="圆角矩形 10"/>
          <p:cNvSpPr>
            <a:spLocks noGrp="1"/>
          </p:cNvSpPr>
          <p:nvPr/>
        </p:nvSpPr>
        <p:spPr>
          <a:xfrm>
            <a:off x="3352800" y="1809750"/>
            <a:ext cx="2514600" cy="1257300"/>
          </a:xfrm>
          <a:prstGeom prst="roundRect">
            <a:avLst>
              <a:gd name="adj" fmla="val 6061"/>
            </a:avLst>
          </a:prstGeom>
          <a:solidFill>
            <a:srgbClr val="F3F6F8"/>
          </a:solidFill>
          <a:ln w="9525">
            <a:solidFill>
              <a:srgbClr val="D7E0E7"/>
            </a:solidFill>
            <a:prstDash val="solid"/>
          </a:ln>
        </p:spPr>
      </p:sp>
      <p:sp>
        <p:nvSpPr>
          <p:cNvPr id="12" name="圆角矩形 11"/>
          <p:cNvSpPr>
            <a:spLocks noGrp="1"/>
          </p:cNvSpPr>
          <p:nvPr/>
        </p:nvSpPr>
        <p:spPr>
          <a:xfrm>
            <a:off x="3352800" y="1809750"/>
            <a:ext cx="66675" cy="1257300"/>
          </a:xfrm>
          <a:prstGeom prst="roundRect">
            <a:avLst>
              <a:gd name="adj" fmla="val 50000"/>
            </a:avLst>
          </a:prstGeom>
          <a:solidFill>
            <a:srgbClr val="2C7A7B"/>
          </a:solidFill>
          <a:ln w="0">
            <a:noFill/>
            <a:prstDash val="solid"/>
          </a:ln>
        </p:spPr>
      </p:sp>
      <p:sp>
        <p:nvSpPr>
          <p:cNvPr id="13" name="矩形 12"/>
          <p:cNvSpPr>
            <a:spLocks noGrp="1"/>
          </p:cNvSpPr>
          <p:nvPr/>
        </p:nvSpPr>
        <p:spPr>
          <a:xfrm>
            <a:off x="3581400" y="198120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Citation</a:t>
            </a:r>
            <a:endParaRPr sz="1650" b="1">
              <a:solidFill>
                <a:srgbClr val="2C7A7B"/>
              </a:solidFill>
            </a:endParaRPr>
          </a:p>
        </p:txBody>
      </p:sp>
      <p:sp>
        <p:nvSpPr>
          <p:cNvPr id="14" name="矩形 13"/>
          <p:cNvSpPr>
            <a:spLocks noGrp="1"/>
          </p:cNvSpPr>
          <p:nvPr/>
        </p:nvSpPr>
        <p:spPr>
          <a:xfrm>
            <a:off x="35814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引用支持</a:t>
            </a:r>
            <a:endParaRPr sz="1275" b="0">
              <a:solidFill>
                <a:srgbClr val="18212B"/>
              </a:solidFill>
            </a:endParaRPr>
          </a:p>
        </p:txBody>
      </p:sp>
      <p:sp>
        <p:nvSpPr>
          <p:cNvPr id="15" name="圆角矩形 14"/>
          <p:cNvSpPr>
            <a:spLocks noGrp="1"/>
          </p:cNvSpPr>
          <p:nvPr/>
        </p:nvSpPr>
        <p:spPr>
          <a:xfrm>
            <a:off x="6096000" y="1809750"/>
            <a:ext cx="2514600" cy="1257300"/>
          </a:xfrm>
          <a:prstGeom prst="roundRect">
            <a:avLst>
              <a:gd name="adj" fmla="val 6061"/>
            </a:avLst>
          </a:prstGeom>
          <a:solidFill>
            <a:srgbClr val="F3F6F8"/>
          </a:solidFill>
          <a:ln w="9525">
            <a:solidFill>
              <a:srgbClr val="D7E0E7"/>
            </a:solidFill>
            <a:prstDash val="solid"/>
          </a:ln>
        </p:spPr>
      </p:sp>
      <p:sp>
        <p:nvSpPr>
          <p:cNvPr id="16" name="圆角矩形 15"/>
          <p:cNvSpPr>
            <a:spLocks noGrp="1"/>
          </p:cNvSpPr>
          <p:nvPr/>
        </p:nvSpPr>
        <p:spPr>
          <a:xfrm>
            <a:off x="6096000" y="1809750"/>
            <a:ext cx="66675" cy="1257300"/>
          </a:xfrm>
          <a:prstGeom prst="roundRect">
            <a:avLst>
              <a:gd name="adj" fmla="val 50000"/>
            </a:avLst>
          </a:prstGeom>
          <a:solidFill>
            <a:srgbClr val="B7791F"/>
          </a:solidFill>
          <a:ln w="0">
            <a:noFill/>
            <a:prstDash val="solid"/>
          </a:ln>
        </p:spPr>
      </p:sp>
      <p:sp>
        <p:nvSpPr>
          <p:cNvPr id="17" name="矩形 16"/>
          <p:cNvSpPr>
            <a:spLocks noGrp="1"/>
          </p:cNvSpPr>
          <p:nvPr/>
        </p:nvSpPr>
        <p:spPr>
          <a:xfrm>
            <a:off x="6324600" y="198120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Abstention</a:t>
            </a:r>
            <a:endParaRPr sz="1650" b="1">
              <a:solidFill>
                <a:srgbClr val="B7791F"/>
              </a:solidFill>
            </a:endParaRPr>
          </a:p>
        </p:txBody>
      </p:sp>
      <p:sp>
        <p:nvSpPr>
          <p:cNvPr id="18" name="矩形 17"/>
          <p:cNvSpPr>
            <a:spLocks noGrp="1"/>
          </p:cNvSpPr>
          <p:nvPr/>
        </p:nvSpPr>
        <p:spPr>
          <a:xfrm>
            <a:off x="63246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证据不足</a:t>
            </a:r>
            <a:endParaRPr sz="1275" b="0">
              <a:solidFill>
                <a:srgbClr val="18212B"/>
              </a:solidFill>
            </a:endParaRPr>
          </a:p>
        </p:txBody>
      </p:sp>
      <p:sp>
        <p:nvSpPr>
          <p:cNvPr id="19" name="圆角矩形 18"/>
          <p:cNvSpPr>
            <a:spLocks noGrp="1"/>
          </p:cNvSpPr>
          <p:nvPr/>
        </p:nvSpPr>
        <p:spPr>
          <a:xfrm>
            <a:off x="8839200" y="1809750"/>
            <a:ext cx="2514600" cy="1257300"/>
          </a:xfrm>
          <a:prstGeom prst="roundRect">
            <a:avLst>
              <a:gd name="adj" fmla="val 6061"/>
            </a:avLst>
          </a:prstGeom>
          <a:solidFill>
            <a:srgbClr val="F3F6F8"/>
          </a:solidFill>
          <a:ln w="9525">
            <a:solidFill>
              <a:srgbClr val="D7E0E7"/>
            </a:solidFill>
            <a:prstDash val="solid"/>
          </a:ln>
        </p:spPr>
      </p:sp>
      <p:sp>
        <p:nvSpPr>
          <p:cNvPr id="20" name="圆角矩形 19"/>
          <p:cNvSpPr>
            <a:spLocks noGrp="1"/>
          </p:cNvSpPr>
          <p:nvPr/>
        </p:nvSpPr>
        <p:spPr>
          <a:xfrm>
            <a:off x="8839200" y="1809750"/>
            <a:ext cx="66675" cy="1257300"/>
          </a:xfrm>
          <a:prstGeom prst="roundRect">
            <a:avLst>
              <a:gd name="adj" fmla="val 50000"/>
            </a:avLst>
          </a:prstGeom>
          <a:solidFill>
            <a:srgbClr val="A23B3B"/>
          </a:solidFill>
          <a:ln w="0">
            <a:noFill/>
            <a:prstDash val="solid"/>
          </a:ln>
        </p:spPr>
      </p:sp>
      <p:sp>
        <p:nvSpPr>
          <p:cNvPr id="21" name="矩形 20"/>
          <p:cNvSpPr>
            <a:spLocks noGrp="1"/>
          </p:cNvSpPr>
          <p:nvPr/>
        </p:nvSpPr>
        <p:spPr>
          <a:xfrm>
            <a:off x="9067800" y="198120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Unsafe</a:t>
            </a:r>
            <a:endParaRPr sz="1650" b="1">
              <a:solidFill>
                <a:srgbClr val="A23B3B"/>
              </a:solidFill>
            </a:endParaRPr>
          </a:p>
        </p:txBody>
      </p:sp>
      <p:sp>
        <p:nvSpPr>
          <p:cNvPr id="22" name="矩形 21"/>
          <p:cNvSpPr>
            <a:spLocks noGrp="1"/>
          </p:cNvSpPr>
          <p:nvPr/>
        </p:nvSpPr>
        <p:spPr>
          <a:xfrm>
            <a:off x="90678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越权动作</a:t>
            </a:r>
            <a:endParaRPr sz="1275" b="0">
              <a:solidFill>
                <a:srgbClr val="18212B"/>
              </a:solidFill>
            </a:endParaRPr>
          </a:p>
        </p:txBody>
      </p:sp>
      <p:sp>
        <p:nvSpPr>
          <p:cNvPr id="23" name="圆角矩形 22"/>
          <p:cNvSpPr>
            <a:spLocks noGrp="1"/>
          </p:cNvSpPr>
          <p:nvPr/>
        </p:nvSpPr>
        <p:spPr>
          <a:xfrm>
            <a:off x="609600" y="3429000"/>
            <a:ext cx="2514600" cy="1257300"/>
          </a:xfrm>
          <a:prstGeom prst="roundRect">
            <a:avLst>
              <a:gd name="adj" fmla="val 6061"/>
            </a:avLst>
          </a:prstGeom>
          <a:solidFill>
            <a:srgbClr val="F3F6F8"/>
          </a:solidFill>
          <a:ln w="9525">
            <a:solidFill>
              <a:srgbClr val="D7E0E7"/>
            </a:solidFill>
            <a:prstDash val="solid"/>
          </a:ln>
        </p:spPr>
      </p:sp>
      <p:sp>
        <p:nvSpPr>
          <p:cNvPr id="24" name="圆角矩形 23"/>
          <p:cNvSpPr>
            <a:spLocks noGrp="1"/>
          </p:cNvSpPr>
          <p:nvPr/>
        </p:nvSpPr>
        <p:spPr>
          <a:xfrm>
            <a:off x="609600" y="3429000"/>
            <a:ext cx="66675" cy="1257300"/>
          </a:xfrm>
          <a:prstGeom prst="roundRect">
            <a:avLst>
              <a:gd name="adj" fmla="val 50000"/>
            </a:avLst>
          </a:prstGeom>
          <a:solidFill>
            <a:srgbClr val="286F9E"/>
          </a:solidFill>
          <a:ln w="0">
            <a:noFill/>
            <a:prstDash val="solid"/>
          </a:ln>
        </p:spPr>
      </p:sp>
      <p:sp>
        <p:nvSpPr>
          <p:cNvPr id="25" name="矩形 24"/>
          <p:cNvSpPr>
            <a:spLocks noGrp="1"/>
          </p:cNvSpPr>
          <p:nvPr/>
        </p:nvSpPr>
        <p:spPr>
          <a:xfrm>
            <a:off x="838200" y="360045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Completion</a:t>
            </a:r>
            <a:endParaRPr sz="1650" b="1">
              <a:solidFill>
                <a:srgbClr val="286F9E"/>
              </a:solidFill>
            </a:endParaRPr>
          </a:p>
        </p:txBody>
      </p:sp>
      <p:sp>
        <p:nvSpPr>
          <p:cNvPr id="26" name="矩形 25"/>
          <p:cNvSpPr>
            <a:spLocks noGrp="1"/>
          </p:cNvSpPr>
          <p:nvPr/>
        </p:nvSpPr>
        <p:spPr>
          <a:xfrm>
            <a:off x="8382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预算内完成</a:t>
            </a:r>
            <a:endParaRPr sz="1275" b="0">
              <a:solidFill>
                <a:srgbClr val="18212B"/>
              </a:solidFill>
            </a:endParaRPr>
          </a:p>
        </p:txBody>
      </p:sp>
      <p:sp>
        <p:nvSpPr>
          <p:cNvPr id="27" name="圆角矩形 26"/>
          <p:cNvSpPr>
            <a:spLocks noGrp="1"/>
          </p:cNvSpPr>
          <p:nvPr/>
        </p:nvSpPr>
        <p:spPr>
          <a:xfrm>
            <a:off x="3352800" y="3429000"/>
            <a:ext cx="2514600" cy="1257300"/>
          </a:xfrm>
          <a:prstGeom prst="roundRect">
            <a:avLst>
              <a:gd name="adj" fmla="val 6061"/>
            </a:avLst>
          </a:prstGeom>
          <a:solidFill>
            <a:srgbClr val="F3F6F8"/>
          </a:solidFill>
          <a:ln w="9525">
            <a:solidFill>
              <a:srgbClr val="D7E0E7"/>
            </a:solidFill>
            <a:prstDash val="solid"/>
          </a:ln>
        </p:spPr>
      </p:sp>
      <p:sp>
        <p:nvSpPr>
          <p:cNvPr id="28" name="圆角矩形 27"/>
          <p:cNvSpPr>
            <a:spLocks noGrp="1"/>
          </p:cNvSpPr>
          <p:nvPr/>
        </p:nvSpPr>
        <p:spPr>
          <a:xfrm>
            <a:off x="3352800" y="3429000"/>
            <a:ext cx="66675" cy="1257300"/>
          </a:xfrm>
          <a:prstGeom prst="roundRect">
            <a:avLst>
              <a:gd name="adj" fmla="val 50000"/>
            </a:avLst>
          </a:prstGeom>
          <a:solidFill>
            <a:srgbClr val="2C7A7B"/>
          </a:solidFill>
          <a:ln w="0">
            <a:noFill/>
            <a:prstDash val="solid"/>
          </a:ln>
        </p:spPr>
      </p:sp>
      <p:sp>
        <p:nvSpPr>
          <p:cNvPr id="29" name="矩形 28"/>
          <p:cNvSpPr>
            <a:spLocks noGrp="1"/>
          </p:cNvSpPr>
          <p:nvPr/>
        </p:nvSpPr>
        <p:spPr>
          <a:xfrm>
            <a:off x="3581400" y="360045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Calls / p95</a:t>
            </a:r>
            <a:endParaRPr sz="1650" b="1">
              <a:solidFill>
                <a:srgbClr val="2C7A7B"/>
              </a:solidFill>
            </a:endParaRPr>
          </a:p>
        </p:txBody>
      </p:sp>
      <p:sp>
        <p:nvSpPr>
          <p:cNvPr id="30" name="矩形 29"/>
          <p:cNvSpPr>
            <a:spLocks noGrp="1"/>
          </p:cNvSpPr>
          <p:nvPr/>
        </p:nvSpPr>
        <p:spPr>
          <a:xfrm>
            <a:off x="35814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成本与延迟</a:t>
            </a:r>
            <a:endParaRPr sz="1275" b="0">
              <a:solidFill>
                <a:srgbClr val="18212B"/>
              </a:solidFill>
            </a:endParaRPr>
          </a:p>
        </p:txBody>
      </p:sp>
      <p:sp>
        <p:nvSpPr>
          <p:cNvPr id="31" name="圆角矩形 30"/>
          <p:cNvSpPr>
            <a:spLocks noGrp="1"/>
          </p:cNvSpPr>
          <p:nvPr/>
        </p:nvSpPr>
        <p:spPr>
          <a:xfrm>
            <a:off x="6096000" y="3429000"/>
            <a:ext cx="2514600" cy="1257300"/>
          </a:xfrm>
          <a:prstGeom prst="roundRect">
            <a:avLst>
              <a:gd name="adj" fmla="val 6061"/>
            </a:avLst>
          </a:prstGeom>
          <a:solidFill>
            <a:srgbClr val="F3F6F8"/>
          </a:solidFill>
          <a:ln w="9525">
            <a:solidFill>
              <a:srgbClr val="D7E0E7"/>
            </a:solidFill>
            <a:prstDash val="solid"/>
          </a:ln>
        </p:spPr>
      </p:sp>
      <p:sp>
        <p:nvSpPr>
          <p:cNvPr id="32" name="圆角矩形 31"/>
          <p:cNvSpPr>
            <a:spLocks noGrp="1"/>
          </p:cNvSpPr>
          <p:nvPr/>
        </p:nvSpPr>
        <p:spPr>
          <a:xfrm>
            <a:off x="6096000" y="3429000"/>
            <a:ext cx="66675" cy="1257300"/>
          </a:xfrm>
          <a:prstGeom prst="roundRect">
            <a:avLst>
              <a:gd name="adj" fmla="val 50000"/>
            </a:avLst>
          </a:prstGeom>
          <a:solidFill>
            <a:srgbClr val="B7791F"/>
          </a:solidFill>
          <a:ln w="0">
            <a:noFill/>
            <a:prstDash val="solid"/>
          </a:ln>
        </p:spPr>
      </p:sp>
      <p:sp>
        <p:nvSpPr>
          <p:cNvPr id="33" name="矩形 32"/>
          <p:cNvSpPr>
            <a:spLocks noGrp="1"/>
          </p:cNvSpPr>
          <p:nvPr/>
        </p:nvSpPr>
        <p:spPr>
          <a:xfrm>
            <a:off x="6324600" y="360045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Stability</a:t>
            </a:r>
            <a:endParaRPr sz="1650" b="1">
              <a:solidFill>
                <a:srgbClr val="B7791F"/>
              </a:solidFill>
            </a:endParaRPr>
          </a:p>
        </p:txBody>
      </p:sp>
      <p:sp>
        <p:nvSpPr>
          <p:cNvPr id="34" name="矩形 33"/>
          <p:cNvSpPr>
            <a:spLocks noGrp="1"/>
          </p:cNvSpPr>
          <p:nvPr/>
        </p:nvSpPr>
        <p:spPr>
          <a:xfrm>
            <a:off x="63246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重复一致性</a:t>
            </a:r>
            <a:endParaRPr sz="1275" b="0">
              <a:solidFill>
                <a:srgbClr val="18212B"/>
              </a:solidFill>
            </a:endParaRPr>
          </a:p>
        </p:txBody>
      </p:sp>
      <p:sp>
        <p:nvSpPr>
          <p:cNvPr id="35" name="圆角矩形 34"/>
          <p:cNvSpPr>
            <a:spLocks noGrp="1"/>
          </p:cNvSpPr>
          <p:nvPr/>
        </p:nvSpPr>
        <p:spPr>
          <a:xfrm>
            <a:off x="8839200" y="3429000"/>
            <a:ext cx="2514600" cy="1257300"/>
          </a:xfrm>
          <a:prstGeom prst="roundRect">
            <a:avLst>
              <a:gd name="adj" fmla="val 6061"/>
            </a:avLst>
          </a:prstGeom>
          <a:solidFill>
            <a:srgbClr val="F3F6F8"/>
          </a:solidFill>
          <a:ln w="9525">
            <a:solidFill>
              <a:srgbClr val="D7E0E7"/>
            </a:solidFill>
            <a:prstDash val="solid"/>
          </a:ln>
        </p:spPr>
      </p:sp>
      <p:sp>
        <p:nvSpPr>
          <p:cNvPr id="36" name="圆角矩形 35"/>
          <p:cNvSpPr>
            <a:spLocks noGrp="1"/>
          </p:cNvSpPr>
          <p:nvPr/>
        </p:nvSpPr>
        <p:spPr>
          <a:xfrm>
            <a:off x="8839200" y="3429000"/>
            <a:ext cx="66675" cy="1257300"/>
          </a:xfrm>
          <a:prstGeom prst="roundRect">
            <a:avLst>
              <a:gd name="adj" fmla="val 50000"/>
            </a:avLst>
          </a:prstGeom>
          <a:solidFill>
            <a:srgbClr val="A23B3B"/>
          </a:solidFill>
          <a:ln w="0">
            <a:noFill/>
            <a:prstDash val="solid"/>
          </a:ln>
        </p:spPr>
      </p:sp>
      <p:sp>
        <p:nvSpPr>
          <p:cNvPr id="37" name="矩形 36"/>
          <p:cNvSpPr>
            <a:spLocks noGrp="1"/>
          </p:cNvSpPr>
          <p:nvPr/>
        </p:nvSpPr>
        <p:spPr>
          <a:xfrm>
            <a:off x="9067800" y="360045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Escalation</a:t>
            </a:r>
            <a:endParaRPr sz="1650" b="1">
              <a:solidFill>
                <a:srgbClr val="A23B3B"/>
              </a:solidFill>
            </a:endParaRPr>
          </a:p>
        </p:txBody>
      </p:sp>
      <p:sp>
        <p:nvSpPr>
          <p:cNvPr id="38" name="矩形 37"/>
          <p:cNvSpPr>
            <a:spLocks noGrp="1"/>
          </p:cNvSpPr>
          <p:nvPr/>
        </p:nvSpPr>
        <p:spPr>
          <a:xfrm>
            <a:off x="90678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人工升级正确性</a:t>
            </a:r>
            <a:endParaRPr sz="1275" b="0">
              <a:solidFill>
                <a:srgbClr val="18212B"/>
              </a:solidFill>
            </a:endParaRPr>
          </a:p>
        </p:txBody>
      </p:sp>
      <p:sp>
        <p:nvSpPr>
          <p:cNvPr id="39" name="圆角矩形 3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40" name="矩形 3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公开样本用于开发，隐藏集用于泛化；关键公开样本至少重复 5 次，并保留每次 Trace。</a:t>
            </a:r>
            <a:endParaRPr sz="1350" b="1">
              <a:solidFill>
                <a:srgbClr val="163A5F"/>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两阶段里程碑降低集成风险</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先建立可运行闭环，再逐层提高可靠性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64</a:t>
            </a:r>
            <a:endParaRPr sz="825" b="0">
              <a:solidFill>
                <a:srgbClr val="7D8994"/>
              </a:solidFill>
            </a:endParaRPr>
          </a:p>
        </p:txBody>
      </p:sp>
      <p:sp>
        <p:nvSpPr>
          <p:cNvPr id="7" name="圆角矩形 6"/>
          <p:cNvSpPr>
            <a:spLocks noGrp="1"/>
          </p:cNvSpPr>
          <p:nvPr/>
        </p:nvSpPr>
        <p:spPr>
          <a:xfrm>
            <a:off x="609600" y="1714500"/>
            <a:ext cx="5257800" cy="3714750"/>
          </a:xfrm>
          <a:prstGeom prst="roundRect">
            <a:avLst>
              <a:gd name="adj" fmla="val 2051"/>
            </a:avLst>
          </a:prstGeom>
          <a:solidFill>
            <a:srgbClr val="F3F6F8"/>
          </a:solidFill>
          <a:ln w="9525">
            <a:solidFill>
              <a:srgbClr val="D7E0E7"/>
            </a:solidFill>
            <a:prstDash val="solid"/>
          </a:ln>
        </p:spPr>
      </p:sp>
      <p:sp>
        <p:nvSpPr>
          <p:cNvPr id="8" name="圆角矩形 7"/>
          <p:cNvSpPr>
            <a:spLocks noGrp="1"/>
          </p:cNvSpPr>
          <p:nvPr/>
        </p:nvSpPr>
        <p:spPr>
          <a:xfrm>
            <a:off x="609600" y="1714500"/>
            <a:ext cx="66675" cy="3714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885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阶段 A：可运行</a:t>
            </a:r>
            <a:endParaRPr sz="1650" b="1">
              <a:solidFill>
                <a:srgbClr val="286F9E"/>
              </a:solidFill>
            </a:endParaRPr>
          </a:p>
        </p:txBody>
      </p:sp>
      <p:sp>
        <p:nvSpPr>
          <p:cNvPr id="10" name="矩形 9"/>
          <p:cNvSpPr>
            <a:spLocks noGrp="1"/>
          </p:cNvSpPr>
          <p:nvPr/>
        </p:nvSpPr>
        <p:spPr>
          <a:xfrm>
            <a:off x="838200" y="2266950"/>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读取接口与数据</a:t>
            </a:r>
            <a:endParaRPr sz="1275" b="0">
              <a:solidFill>
                <a:srgbClr val="18212B"/>
              </a:solidFill>
            </a:endParaRPr>
          </a:p>
          <a:p>
            <a:pPr algn="l">
              <a:defRPr sz="1275" b="0">
                <a:solidFill>
                  <a:srgbClr val="18212B"/>
                </a:solidFill>
              </a:defRPr>
            </a:pPr>
            <a:r>
              <a:rPr sz="1275" b="0">
                <a:solidFill>
                  <a:srgbClr val="18212B"/>
                </a:solidFill>
              </a:rPr>
              <a:t>RuleBaseline</a:t>
            </a:r>
            <a:endParaRPr sz="1275" b="0">
              <a:solidFill>
                <a:srgbClr val="18212B"/>
              </a:solidFill>
            </a:endParaRPr>
          </a:p>
          <a:p>
            <a:pPr algn="l">
              <a:defRPr sz="1275" b="0">
                <a:solidFill>
                  <a:srgbClr val="18212B"/>
                </a:solidFill>
              </a:defRPr>
            </a:pPr>
            <a:r>
              <a:rPr sz="1275" b="0">
                <a:solidFill>
                  <a:srgbClr val="18212B"/>
                </a:solidFill>
              </a:rPr>
              <a:t>统一报告 Schema</a:t>
            </a:r>
            <a:endParaRPr sz="1275" b="0">
              <a:solidFill>
                <a:srgbClr val="18212B"/>
              </a:solidFill>
            </a:endParaRPr>
          </a:p>
          <a:p>
            <a:pPr algn="l">
              <a:defRPr sz="1275" b="0">
                <a:solidFill>
                  <a:srgbClr val="18212B"/>
                </a:solidFill>
              </a:defRPr>
            </a:pPr>
            <a:r>
              <a:rPr sz="1275" b="0">
                <a:solidFill>
                  <a:srgbClr val="18212B"/>
                </a:solidFill>
              </a:rPr>
              <a:t>第一版公开评测</a:t>
            </a:r>
            <a:endParaRPr sz="1275" b="0">
              <a:solidFill>
                <a:srgbClr val="18212B"/>
              </a:solidFill>
            </a:endParaRPr>
          </a:p>
          <a:p>
            <a:pPr algn="l">
              <a:defRPr sz="1275" b="0">
                <a:solidFill>
                  <a:srgbClr val="18212B"/>
                </a:solidFill>
              </a:defRPr>
            </a:pPr>
            <a:r>
              <a:rPr sz="1275" b="0">
                <a:solidFill>
                  <a:srgbClr val="18212B"/>
                </a:solidFill>
              </a:rPr>
              <a:t>单条款 Runtime + Tool</a:t>
            </a:r>
            <a:endParaRPr sz="1275" b="0">
              <a:solidFill>
                <a:srgbClr val="18212B"/>
              </a:solidFill>
            </a:endParaRPr>
          </a:p>
          <a:p>
            <a:endParaRPr sz="1275"/>
          </a:p>
          <a:p>
            <a:pPr algn="l">
              <a:defRPr sz="1275" b="0">
                <a:solidFill>
                  <a:srgbClr val="18212B"/>
                </a:solidFill>
              </a:defRPr>
            </a:pPr>
            <a:r>
              <a:rPr sz="1275" b="0">
                <a:solidFill>
                  <a:srgbClr val="18212B"/>
                </a:solidFill>
              </a:rPr>
              <a:t>Gate：可复现、可比较</a:t>
            </a:r>
            <a:endParaRPr sz="1275" b="0">
              <a:solidFill>
                <a:srgbClr val="18212B"/>
              </a:solidFill>
            </a:endParaRPr>
          </a:p>
        </p:txBody>
      </p:sp>
      <p:sp>
        <p:nvSpPr>
          <p:cNvPr id="11" name="圆角矩形 10"/>
          <p:cNvSpPr>
            <a:spLocks noGrp="1"/>
          </p:cNvSpPr>
          <p:nvPr/>
        </p:nvSpPr>
        <p:spPr>
          <a:xfrm>
            <a:off x="6324600" y="1714500"/>
            <a:ext cx="5257800" cy="3714750"/>
          </a:xfrm>
          <a:prstGeom prst="roundRect">
            <a:avLst>
              <a:gd name="adj" fmla="val 2051"/>
            </a:avLst>
          </a:prstGeom>
          <a:solidFill>
            <a:srgbClr val="F3F6F8"/>
          </a:solidFill>
          <a:ln w="9525">
            <a:solidFill>
              <a:srgbClr val="D7E0E7"/>
            </a:solidFill>
            <a:prstDash val="solid"/>
          </a:ln>
        </p:spPr>
      </p:sp>
      <p:sp>
        <p:nvSpPr>
          <p:cNvPr id="12" name="圆角矩形 11"/>
          <p:cNvSpPr>
            <a:spLocks noGrp="1"/>
          </p:cNvSpPr>
          <p:nvPr/>
        </p:nvSpPr>
        <p:spPr>
          <a:xfrm>
            <a:off x="6324600" y="1714500"/>
            <a:ext cx="66675" cy="3714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885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阶段 B：可信</a:t>
            </a:r>
            <a:endParaRPr sz="1650" b="1">
              <a:solidFill>
                <a:srgbClr val="2C7A7B"/>
              </a:solidFill>
            </a:endParaRPr>
          </a:p>
        </p:txBody>
      </p:sp>
      <p:sp>
        <p:nvSpPr>
          <p:cNvPr id="14" name="矩形 13"/>
          <p:cNvSpPr>
            <a:spLocks noGrp="1"/>
          </p:cNvSpPr>
          <p:nvPr/>
        </p:nvSpPr>
        <p:spPr>
          <a:xfrm>
            <a:off x="6553200" y="2266950"/>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Evidence Validator</a:t>
            </a:r>
            <a:endParaRPr sz="1275" b="0">
              <a:solidFill>
                <a:srgbClr val="18212B"/>
              </a:solidFill>
            </a:endParaRPr>
          </a:p>
          <a:p>
            <a:pPr algn="l">
              <a:defRPr sz="1275" b="0">
                <a:solidFill>
                  <a:srgbClr val="18212B"/>
                </a:solidFill>
              </a:defRPr>
            </a:pPr>
            <a:r>
              <a:rPr sz="1275" b="0">
                <a:solidFill>
                  <a:srgbClr val="18212B"/>
                </a:solidFill>
              </a:rPr>
              <a:t>拒答与人工升级</a:t>
            </a:r>
            <a:endParaRPr sz="1275" b="0">
              <a:solidFill>
                <a:srgbClr val="18212B"/>
              </a:solidFill>
            </a:endParaRPr>
          </a:p>
          <a:p>
            <a:pPr algn="l">
              <a:defRPr sz="1275" b="0">
                <a:solidFill>
                  <a:srgbClr val="18212B"/>
                </a:solidFill>
              </a:defRPr>
            </a:pPr>
            <a:r>
              <a:rPr sz="1275" b="0">
                <a:solidFill>
                  <a:srgbClr val="18212B"/>
                </a:solidFill>
              </a:rPr>
              <a:t>故障注入与权限测试</a:t>
            </a:r>
            <a:endParaRPr sz="1275" b="0">
              <a:solidFill>
                <a:srgbClr val="18212B"/>
              </a:solidFill>
            </a:endParaRPr>
          </a:p>
          <a:p>
            <a:pPr algn="l">
              <a:defRPr sz="1275" b="0">
                <a:solidFill>
                  <a:srgbClr val="18212B"/>
                </a:solidFill>
              </a:defRPr>
            </a:pPr>
            <a:r>
              <a:rPr sz="1275" b="0">
                <a:solidFill>
                  <a:srgbClr val="18212B"/>
                </a:solidFill>
              </a:rPr>
              <a:t>重复实验与消融</a:t>
            </a:r>
            <a:endParaRPr sz="1275" b="0">
              <a:solidFill>
                <a:srgbClr val="18212B"/>
              </a:solidFill>
            </a:endParaRPr>
          </a:p>
          <a:p>
            <a:pPr algn="l">
              <a:defRPr sz="1275" b="0">
                <a:solidFill>
                  <a:srgbClr val="18212B"/>
                </a:solidFill>
              </a:defRPr>
            </a:pPr>
            <a:r>
              <a:rPr sz="1275" b="0">
                <a:solidFill>
                  <a:srgbClr val="18212B"/>
                </a:solidFill>
              </a:rPr>
              <a:t>System Card / Threat Model</a:t>
            </a:r>
            <a:endParaRPr sz="1275" b="0">
              <a:solidFill>
                <a:srgbClr val="18212B"/>
              </a:solidFill>
            </a:endParaRPr>
          </a:p>
          <a:p>
            <a:endParaRPr sz="1275"/>
          </a:p>
          <a:p>
            <a:pPr algn="l">
              <a:defRPr sz="1275" b="0">
                <a:solidFill>
                  <a:srgbClr val="18212B"/>
                </a:solidFill>
              </a:defRPr>
            </a:pPr>
            <a:r>
              <a:rPr sz="1275" b="0">
                <a:solidFill>
                  <a:srgbClr val="18212B"/>
                </a:solidFill>
              </a:rPr>
              <a:t>Gate：隐藏测试与答辩</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不要从 Multi-Agent、向量数据库或 Memory 开始；先让最小端到端路径可测，再用数据决定是否加组件。</a:t>
            </a:r>
            <a:endParaRPr sz="1350" b="1">
              <a:solidFill>
                <a:srgbClr val="163A5F"/>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1" name="矩形 4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交付物是一套可复现的系统证据</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代码只是其中一部分，报告、Trace 与边界说明同样重要</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65</a:t>
            </a:r>
            <a:endParaRPr sz="825" b="0">
              <a:solidFill>
                <a:srgbClr val="7D8994"/>
              </a:solidFill>
            </a:endParaRPr>
          </a:p>
        </p:txBody>
      </p:sp>
      <p:sp>
        <p:nvSpPr>
          <p:cNvPr id="7" name="圆角矩形 6"/>
          <p:cNvSpPr>
            <a:spLocks noGrp="1"/>
          </p:cNvSpPr>
          <p:nvPr/>
        </p:nvSpPr>
        <p:spPr>
          <a:xfrm>
            <a:off x="609600" y="1752600"/>
            <a:ext cx="2514600" cy="1219200"/>
          </a:xfrm>
          <a:prstGeom prst="roundRect">
            <a:avLst>
              <a:gd name="adj" fmla="val 6250"/>
            </a:avLst>
          </a:prstGeom>
          <a:solidFill>
            <a:srgbClr val="F3F6F8"/>
          </a:solidFill>
          <a:ln w="9525">
            <a:solidFill>
              <a:srgbClr val="D7E0E7"/>
            </a:solidFill>
            <a:prstDash val="solid"/>
          </a:ln>
        </p:spPr>
      </p:sp>
      <p:sp>
        <p:nvSpPr>
          <p:cNvPr id="8" name="圆角矩形 7"/>
          <p:cNvSpPr>
            <a:spLocks noGrp="1"/>
          </p:cNvSpPr>
          <p:nvPr/>
        </p:nvSpPr>
        <p:spPr>
          <a:xfrm>
            <a:off x="609600" y="1752600"/>
            <a:ext cx="66675" cy="12192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2405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src / tests</a:t>
            </a:r>
            <a:endParaRPr sz="1650" b="1">
              <a:solidFill>
                <a:srgbClr val="286F9E"/>
              </a:solidFill>
            </a:endParaRPr>
          </a:p>
        </p:txBody>
      </p:sp>
      <p:sp>
        <p:nvSpPr>
          <p:cNvPr id="10" name="矩形 9"/>
          <p:cNvSpPr>
            <a:spLocks noGrp="1"/>
          </p:cNvSpPr>
          <p:nvPr/>
        </p:nvSpPr>
        <p:spPr>
          <a:xfrm>
            <a:off x="8382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实现 + 四层测试</a:t>
            </a:r>
            <a:endParaRPr sz="1275" b="0">
              <a:solidFill>
                <a:srgbClr val="18212B"/>
              </a:solidFill>
            </a:endParaRPr>
          </a:p>
        </p:txBody>
      </p:sp>
      <p:sp>
        <p:nvSpPr>
          <p:cNvPr id="11" name="圆角矩形 10"/>
          <p:cNvSpPr>
            <a:spLocks noGrp="1"/>
          </p:cNvSpPr>
          <p:nvPr/>
        </p:nvSpPr>
        <p:spPr>
          <a:xfrm>
            <a:off x="3352800" y="1752600"/>
            <a:ext cx="2514600" cy="1219200"/>
          </a:xfrm>
          <a:prstGeom prst="roundRect">
            <a:avLst>
              <a:gd name="adj" fmla="val 6250"/>
            </a:avLst>
          </a:prstGeom>
          <a:solidFill>
            <a:srgbClr val="F3F6F8"/>
          </a:solidFill>
          <a:ln w="9525">
            <a:solidFill>
              <a:srgbClr val="D7E0E7"/>
            </a:solidFill>
            <a:prstDash val="solid"/>
          </a:ln>
        </p:spPr>
      </p:sp>
      <p:sp>
        <p:nvSpPr>
          <p:cNvPr id="12" name="圆角矩形 11"/>
          <p:cNvSpPr>
            <a:spLocks noGrp="1"/>
          </p:cNvSpPr>
          <p:nvPr/>
        </p:nvSpPr>
        <p:spPr>
          <a:xfrm>
            <a:off x="3352800" y="1752600"/>
            <a:ext cx="66675" cy="1219200"/>
          </a:xfrm>
          <a:prstGeom prst="roundRect">
            <a:avLst>
              <a:gd name="adj" fmla="val 50000"/>
            </a:avLst>
          </a:prstGeom>
          <a:solidFill>
            <a:srgbClr val="2C7A7B"/>
          </a:solidFill>
          <a:ln w="0">
            <a:noFill/>
            <a:prstDash val="solid"/>
          </a:ln>
        </p:spPr>
      </p:sp>
      <p:sp>
        <p:nvSpPr>
          <p:cNvPr id="13" name="矩形 12"/>
          <p:cNvSpPr>
            <a:spLocks noGrp="1"/>
          </p:cNvSpPr>
          <p:nvPr/>
        </p:nvSpPr>
        <p:spPr>
          <a:xfrm>
            <a:off x="3581400" y="192405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eval</a:t>
            </a:r>
            <a:endParaRPr sz="1650" b="1">
              <a:solidFill>
                <a:srgbClr val="2C7A7B"/>
              </a:solidFill>
            </a:endParaRPr>
          </a:p>
        </p:txBody>
      </p:sp>
      <p:sp>
        <p:nvSpPr>
          <p:cNvPr id="14" name="矩形 13"/>
          <p:cNvSpPr>
            <a:spLocks noGrp="1"/>
          </p:cNvSpPr>
          <p:nvPr/>
        </p:nvSpPr>
        <p:spPr>
          <a:xfrm>
            <a:off x="35814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公开数据与一键评测</a:t>
            </a:r>
            <a:endParaRPr sz="1275" b="0">
              <a:solidFill>
                <a:srgbClr val="18212B"/>
              </a:solidFill>
            </a:endParaRPr>
          </a:p>
        </p:txBody>
      </p:sp>
      <p:sp>
        <p:nvSpPr>
          <p:cNvPr id="15" name="圆角矩形 14"/>
          <p:cNvSpPr>
            <a:spLocks noGrp="1"/>
          </p:cNvSpPr>
          <p:nvPr/>
        </p:nvSpPr>
        <p:spPr>
          <a:xfrm>
            <a:off x="6096000" y="1752600"/>
            <a:ext cx="2514600" cy="1219200"/>
          </a:xfrm>
          <a:prstGeom prst="roundRect">
            <a:avLst>
              <a:gd name="adj" fmla="val 6250"/>
            </a:avLst>
          </a:prstGeom>
          <a:solidFill>
            <a:srgbClr val="F3F6F8"/>
          </a:solidFill>
          <a:ln w="9525">
            <a:solidFill>
              <a:srgbClr val="D7E0E7"/>
            </a:solidFill>
            <a:prstDash val="solid"/>
          </a:ln>
        </p:spPr>
      </p:sp>
      <p:sp>
        <p:nvSpPr>
          <p:cNvPr id="16" name="圆角矩形 15"/>
          <p:cNvSpPr>
            <a:spLocks noGrp="1"/>
          </p:cNvSpPr>
          <p:nvPr/>
        </p:nvSpPr>
        <p:spPr>
          <a:xfrm>
            <a:off x="6096000" y="1752600"/>
            <a:ext cx="66675" cy="1219200"/>
          </a:xfrm>
          <a:prstGeom prst="roundRect">
            <a:avLst>
              <a:gd name="adj" fmla="val 50000"/>
            </a:avLst>
          </a:prstGeom>
          <a:solidFill>
            <a:srgbClr val="B7791F"/>
          </a:solidFill>
          <a:ln w="0">
            <a:noFill/>
            <a:prstDash val="solid"/>
          </a:ln>
        </p:spPr>
      </p:sp>
      <p:sp>
        <p:nvSpPr>
          <p:cNvPr id="17" name="矩形 16"/>
          <p:cNvSpPr>
            <a:spLocks noGrp="1"/>
          </p:cNvSpPr>
          <p:nvPr/>
        </p:nvSpPr>
        <p:spPr>
          <a:xfrm>
            <a:off x="6324600" y="192405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traces</a:t>
            </a:r>
            <a:endParaRPr sz="1650" b="1">
              <a:solidFill>
                <a:srgbClr val="B7791F"/>
              </a:solidFill>
            </a:endParaRPr>
          </a:p>
        </p:txBody>
      </p:sp>
      <p:sp>
        <p:nvSpPr>
          <p:cNvPr id="18" name="矩形 17"/>
          <p:cNvSpPr>
            <a:spLocks noGrp="1"/>
          </p:cNvSpPr>
          <p:nvPr/>
        </p:nvSpPr>
        <p:spPr>
          <a:xfrm>
            <a:off x="63246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成功、失败、攻击轨迹</a:t>
            </a:r>
            <a:endParaRPr sz="1275" b="0">
              <a:solidFill>
                <a:srgbClr val="18212B"/>
              </a:solidFill>
            </a:endParaRPr>
          </a:p>
        </p:txBody>
      </p:sp>
      <p:sp>
        <p:nvSpPr>
          <p:cNvPr id="19" name="圆角矩形 18"/>
          <p:cNvSpPr>
            <a:spLocks noGrp="1"/>
          </p:cNvSpPr>
          <p:nvPr/>
        </p:nvSpPr>
        <p:spPr>
          <a:xfrm>
            <a:off x="8839200" y="1752600"/>
            <a:ext cx="2514600" cy="1219200"/>
          </a:xfrm>
          <a:prstGeom prst="roundRect">
            <a:avLst>
              <a:gd name="adj" fmla="val 6250"/>
            </a:avLst>
          </a:prstGeom>
          <a:solidFill>
            <a:srgbClr val="F3F6F8"/>
          </a:solidFill>
          <a:ln w="9525">
            <a:solidFill>
              <a:srgbClr val="D7E0E7"/>
            </a:solidFill>
            <a:prstDash val="solid"/>
          </a:ln>
        </p:spPr>
      </p:sp>
      <p:sp>
        <p:nvSpPr>
          <p:cNvPr id="20" name="圆角矩形 19"/>
          <p:cNvSpPr>
            <a:spLocks noGrp="1"/>
          </p:cNvSpPr>
          <p:nvPr/>
        </p:nvSpPr>
        <p:spPr>
          <a:xfrm>
            <a:off x="8839200" y="1752600"/>
            <a:ext cx="66675" cy="1219200"/>
          </a:xfrm>
          <a:prstGeom prst="roundRect">
            <a:avLst>
              <a:gd name="adj" fmla="val 50000"/>
            </a:avLst>
          </a:prstGeom>
          <a:solidFill>
            <a:srgbClr val="A23B3B"/>
          </a:solidFill>
          <a:ln w="0">
            <a:noFill/>
            <a:prstDash val="solid"/>
          </a:ln>
        </p:spPr>
      </p:sp>
      <p:sp>
        <p:nvSpPr>
          <p:cNvPr id="21" name="矩形 20"/>
          <p:cNvSpPr>
            <a:spLocks noGrp="1"/>
          </p:cNvSpPr>
          <p:nvPr/>
        </p:nvSpPr>
        <p:spPr>
          <a:xfrm>
            <a:off x="9067800" y="192405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report.json</a:t>
            </a:r>
            <a:endParaRPr sz="1650" b="1">
              <a:solidFill>
                <a:srgbClr val="A23B3B"/>
              </a:solidFill>
            </a:endParaRPr>
          </a:p>
        </p:txBody>
      </p:sp>
      <p:sp>
        <p:nvSpPr>
          <p:cNvPr id="22" name="矩形 21"/>
          <p:cNvSpPr>
            <a:spLocks noGrp="1"/>
          </p:cNvSpPr>
          <p:nvPr/>
        </p:nvSpPr>
        <p:spPr>
          <a:xfrm>
            <a:off x="90678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统一审查输出</a:t>
            </a:r>
            <a:endParaRPr sz="1275" b="0">
              <a:solidFill>
                <a:srgbClr val="18212B"/>
              </a:solidFill>
            </a:endParaRPr>
          </a:p>
        </p:txBody>
      </p:sp>
      <p:sp>
        <p:nvSpPr>
          <p:cNvPr id="23" name="圆角矩形 22"/>
          <p:cNvSpPr>
            <a:spLocks noGrp="1"/>
          </p:cNvSpPr>
          <p:nvPr/>
        </p:nvSpPr>
        <p:spPr>
          <a:xfrm>
            <a:off x="609600" y="3371850"/>
            <a:ext cx="2514600" cy="1219200"/>
          </a:xfrm>
          <a:prstGeom prst="roundRect">
            <a:avLst>
              <a:gd name="adj" fmla="val 6250"/>
            </a:avLst>
          </a:prstGeom>
          <a:solidFill>
            <a:srgbClr val="F3F6F8"/>
          </a:solidFill>
          <a:ln w="9525">
            <a:solidFill>
              <a:srgbClr val="D7E0E7"/>
            </a:solidFill>
            <a:prstDash val="solid"/>
          </a:ln>
        </p:spPr>
      </p:sp>
      <p:sp>
        <p:nvSpPr>
          <p:cNvPr id="24" name="圆角矩形 23"/>
          <p:cNvSpPr>
            <a:spLocks noGrp="1"/>
          </p:cNvSpPr>
          <p:nvPr/>
        </p:nvSpPr>
        <p:spPr>
          <a:xfrm>
            <a:off x="609600" y="3371850"/>
            <a:ext cx="66675" cy="1219200"/>
          </a:xfrm>
          <a:prstGeom prst="roundRect">
            <a:avLst>
              <a:gd name="adj" fmla="val 50000"/>
            </a:avLst>
          </a:prstGeom>
          <a:solidFill>
            <a:srgbClr val="286F9E"/>
          </a:solidFill>
          <a:ln w="0">
            <a:noFill/>
            <a:prstDash val="solid"/>
          </a:ln>
        </p:spPr>
      </p:sp>
      <p:sp>
        <p:nvSpPr>
          <p:cNvPr id="25" name="矩形 24"/>
          <p:cNvSpPr>
            <a:spLocks noGrp="1"/>
          </p:cNvSpPr>
          <p:nvPr/>
        </p:nvSpPr>
        <p:spPr>
          <a:xfrm>
            <a:off x="838200" y="354330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EVAL_REPORT</a:t>
            </a:r>
            <a:endParaRPr sz="1650" b="1">
              <a:solidFill>
                <a:srgbClr val="286F9E"/>
              </a:solidFill>
            </a:endParaRPr>
          </a:p>
        </p:txBody>
      </p:sp>
      <p:sp>
        <p:nvSpPr>
          <p:cNvPr id="26" name="矩形 25"/>
          <p:cNvSpPr>
            <a:spLocks noGrp="1"/>
          </p:cNvSpPr>
          <p:nvPr/>
        </p:nvSpPr>
        <p:spPr>
          <a:xfrm>
            <a:off x="8382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Baseline、消融、错误分析</a:t>
            </a:r>
            <a:endParaRPr sz="1275" b="0">
              <a:solidFill>
                <a:srgbClr val="18212B"/>
              </a:solidFill>
            </a:endParaRPr>
          </a:p>
        </p:txBody>
      </p:sp>
      <p:sp>
        <p:nvSpPr>
          <p:cNvPr id="27" name="圆角矩形 26"/>
          <p:cNvSpPr>
            <a:spLocks noGrp="1"/>
          </p:cNvSpPr>
          <p:nvPr/>
        </p:nvSpPr>
        <p:spPr>
          <a:xfrm>
            <a:off x="3352800" y="3371850"/>
            <a:ext cx="2514600" cy="1219200"/>
          </a:xfrm>
          <a:prstGeom prst="roundRect">
            <a:avLst>
              <a:gd name="adj" fmla="val 6250"/>
            </a:avLst>
          </a:prstGeom>
          <a:solidFill>
            <a:srgbClr val="F3F6F8"/>
          </a:solidFill>
          <a:ln w="9525">
            <a:solidFill>
              <a:srgbClr val="D7E0E7"/>
            </a:solidFill>
            <a:prstDash val="solid"/>
          </a:ln>
        </p:spPr>
      </p:sp>
      <p:sp>
        <p:nvSpPr>
          <p:cNvPr id="28" name="圆角矩形 27"/>
          <p:cNvSpPr>
            <a:spLocks noGrp="1"/>
          </p:cNvSpPr>
          <p:nvPr/>
        </p:nvSpPr>
        <p:spPr>
          <a:xfrm>
            <a:off x="3352800" y="3371850"/>
            <a:ext cx="66675" cy="1219200"/>
          </a:xfrm>
          <a:prstGeom prst="roundRect">
            <a:avLst>
              <a:gd name="adj" fmla="val 50000"/>
            </a:avLst>
          </a:prstGeom>
          <a:solidFill>
            <a:srgbClr val="2C7A7B"/>
          </a:solidFill>
          <a:ln w="0">
            <a:noFill/>
            <a:prstDash val="solid"/>
          </a:ln>
        </p:spPr>
      </p:sp>
      <p:sp>
        <p:nvSpPr>
          <p:cNvPr id="29" name="矩形 28"/>
          <p:cNvSpPr>
            <a:spLocks noGrp="1"/>
          </p:cNvSpPr>
          <p:nvPr/>
        </p:nvSpPr>
        <p:spPr>
          <a:xfrm>
            <a:off x="3581400" y="354330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SYSTEM_CARD</a:t>
            </a:r>
            <a:endParaRPr sz="1650" b="1">
              <a:solidFill>
                <a:srgbClr val="2C7A7B"/>
              </a:solidFill>
            </a:endParaRPr>
          </a:p>
        </p:txBody>
      </p:sp>
      <p:sp>
        <p:nvSpPr>
          <p:cNvPr id="30" name="矩形 29"/>
          <p:cNvSpPr>
            <a:spLocks noGrp="1"/>
          </p:cNvSpPr>
          <p:nvPr/>
        </p:nvSpPr>
        <p:spPr>
          <a:xfrm>
            <a:off x="35814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能力、限制、升级与删除</a:t>
            </a:r>
            <a:endParaRPr sz="1275" b="0">
              <a:solidFill>
                <a:srgbClr val="18212B"/>
              </a:solidFill>
            </a:endParaRPr>
          </a:p>
        </p:txBody>
      </p:sp>
      <p:sp>
        <p:nvSpPr>
          <p:cNvPr id="31" name="圆角矩形 30"/>
          <p:cNvSpPr>
            <a:spLocks noGrp="1"/>
          </p:cNvSpPr>
          <p:nvPr/>
        </p:nvSpPr>
        <p:spPr>
          <a:xfrm>
            <a:off x="6096000" y="3371850"/>
            <a:ext cx="2514600" cy="1219200"/>
          </a:xfrm>
          <a:prstGeom prst="roundRect">
            <a:avLst>
              <a:gd name="adj" fmla="val 6250"/>
            </a:avLst>
          </a:prstGeom>
          <a:solidFill>
            <a:srgbClr val="F3F6F8"/>
          </a:solidFill>
          <a:ln w="9525">
            <a:solidFill>
              <a:srgbClr val="D7E0E7"/>
            </a:solidFill>
            <a:prstDash val="solid"/>
          </a:ln>
        </p:spPr>
      </p:sp>
      <p:sp>
        <p:nvSpPr>
          <p:cNvPr id="32" name="圆角矩形 31"/>
          <p:cNvSpPr>
            <a:spLocks noGrp="1"/>
          </p:cNvSpPr>
          <p:nvPr/>
        </p:nvSpPr>
        <p:spPr>
          <a:xfrm>
            <a:off x="6096000" y="3371850"/>
            <a:ext cx="66675" cy="1219200"/>
          </a:xfrm>
          <a:prstGeom prst="roundRect">
            <a:avLst>
              <a:gd name="adj" fmla="val 50000"/>
            </a:avLst>
          </a:prstGeom>
          <a:solidFill>
            <a:srgbClr val="B7791F"/>
          </a:solidFill>
          <a:ln w="0">
            <a:noFill/>
            <a:prstDash val="solid"/>
          </a:ln>
        </p:spPr>
      </p:sp>
      <p:sp>
        <p:nvSpPr>
          <p:cNvPr id="33" name="矩形 32"/>
          <p:cNvSpPr>
            <a:spLocks noGrp="1"/>
          </p:cNvSpPr>
          <p:nvPr/>
        </p:nvSpPr>
        <p:spPr>
          <a:xfrm>
            <a:off x="6324600" y="354330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THREAT_MODEL</a:t>
            </a:r>
            <a:endParaRPr sz="1650" b="1">
              <a:solidFill>
                <a:srgbClr val="B7791F"/>
              </a:solidFill>
            </a:endParaRPr>
          </a:p>
        </p:txBody>
      </p:sp>
      <p:sp>
        <p:nvSpPr>
          <p:cNvPr id="34" name="矩形 33"/>
          <p:cNvSpPr>
            <a:spLocks noGrp="1"/>
          </p:cNvSpPr>
          <p:nvPr/>
        </p:nvSpPr>
        <p:spPr>
          <a:xfrm>
            <a:off x="63246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资产、边界、攻击、缓解</a:t>
            </a:r>
            <a:endParaRPr sz="1275" b="0">
              <a:solidFill>
                <a:srgbClr val="18212B"/>
              </a:solidFill>
            </a:endParaRPr>
          </a:p>
        </p:txBody>
      </p:sp>
      <p:sp>
        <p:nvSpPr>
          <p:cNvPr id="35" name="圆角矩形 34"/>
          <p:cNvSpPr>
            <a:spLocks noGrp="1"/>
          </p:cNvSpPr>
          <p:nvPr/>
        </p:nvSpPr>
        <p:spPr>
          <a:xfrm>
            <a:off x="8839200" y="3371850"/>
            <a:ext cx="2514600" cy="1219200"/>
          </a:xfrm>
          <a:prstGeom prst="roundRect">
            <a:avLst>
              <a:gd name="adj" fmla="val 6250"/>
            </a:avLst>
          </a:prstGeom>
          <a:solidFill>
            <a:srgbClr val="F3F6F8"/>
          </a:solidFill>
          <a:ln w="9525">
            <a:solidFill>
              <a:srgbClr val="D7E0E7"/>
            </a:solidFill>
            <a:prstDash val="solid"/>
          </a:ln>
        </p:spPr>
      </p:sp>
      <p:sp>
        <p:nvSpPr>
          <p:cNvPr id="36" name="圆角矩形 35"/>
          <p:cNvSpPr>
            <a:spLocks noGrp="1"/>
          </p:cNvSpPr>
          <p:nvPr/>
        </p:nvSpPr>
        <p:spPr>
          <a:xfrm>
            <a:off x="8839200" y="3371850"/>
            <a:ext cx="66675" cy="1219200"/>
          </a:xfrm>
          <a:prstGeom prst="roundRect">
            <a:avLst>
              <a:gd name="adj" fmla="val 50000"/>
            </a:avLst>
          </a:prstGeom>
          <a:solidFill>
            <a:srgbClr val="A23B3B"/>
          </a:solidFill>
          <a:ln w="0">
            <a:noFill/>
            <a:prstDash val="solid"/>
          </a:ln>
        </p:spPr>
      </p:sp>
      <p:sp>
        <p:nvSpPr>
          <p:cNvPr id="37" name="矩形 36"/>
          <p:cNvSpPr>
            <a:spLocks noGrp="1"/>
          </p:cNvSpPr>
          <p:nvPr/>
        </p:nvSpPr>
        <p:spPr>
          <a:xfrm>
            <a:off x="9067800" y="354330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README</a:t>
            </a:r>
            <a:endParaRPr sz="1650" b="1">
              <a:solidFill>
                <a:srgbClr val="A23B3B"/>
              </a:solidFill>
            </a:endParaRPr>
          </a:p>
        </p:txBody>
      </p:sp>
      <p:sp>
        <p:nvSpPr>
          <p:cNvPr id="38" name="矩形 37"/>
          <p:cNvSpPr>
            <a:spLocks noGrp="1"/>
          </p:cNvSpPr>
          <p:nvPr/>
        </p:nvSpPr>
        <p:spPr>
          <a:xfrm>
            <a:off x="90678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一键运行与复现</a:t>
            </a:r>
            <a:endParaRPr sz="1275" b="0">
              <a:solidFill>
                <a:srgbClr val="18212B"/>
              </a:solidFill>
            </a:endParaRPr>
          </a:p>
        </p:txBody>
      </p:sp>
      <p:sp>
        <p:nvSpPr>
          <p:cNvPr id="39" name="圆角矩形 3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40" name="矩形 3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最高评价不是使用最多组件，而是知道每个组件为何存在、如何证明有效，以及何时应该删除或升级人工。</a:t>
            </a:r>
            <a:endParaRPr sz="1350" b="1">
              <a:solidFill>
                <a:srgbClr val="163A5F"/>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答辩检验的是迁移能力，而不是背诵代码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现场变化会暴露你是否真正掌握系统机制</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66</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现场可能发生</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审查未见文件</a:t>
            </a:r>
            <a:endParaRPr sz="1275" b="0">
              <a:solidFill>
                <a:srgbClr val="18212B"/>
              </a:solidFill>
            </a:endParaRPr>
          </a:p>
          <a:p>
            <a:pPr algn="l">
              <a:defRPr sz="1275" b="0">
                <a:solidFill>
                  <a:srgbClr val="18212B"/>
                </a:solidFill>
              </a:defRPr>
            </a:pPr>
            <a:r>
              <a:rPr sz="1275" b="0">
                <a:solidFill>
                  <a:srgbClr val="18212B"/>
                </a:solidFill>
              </a:rPr>
              <a:t>制造工具 timeout</a:t>
            </a:r>
            <a:endParaRPr sz="1275" b="0">
              <a:solidFill>
                <a:srgbClr val="18212B"/>
              </a:solidFill>
            </a:endParaRPr>
          </a:p>
          <a:p>
            <a:pPr algn="l">
              <a:defRPr sz="1275" b="0">
                <a:solidFill>
                  <a:srgbClr val="18212B"/>
                </a:solidFill>
              </a:defRPr>
            </a:pPr>
            <a:r>
              <a:rPr sz="1275" b="0">
                <a:solidFill>
                  <a:srgbClr val="18212B"/>
                </a:solidFill>
              </a:rPr>
              <a:t>修改预算或 Schema</a:t>
            </a:r>
            <a:endParaRPr sz="1275" b="0">
              <a:solidFill>
                <a:srgbClr val="18212B"/>
              </a:solidFill>
            </a:endParaRPr>
          </a:p>
          <a:p>
            <a:pPr algn="l">
              <a:defRPr sz="1275" b="0">
                <a:solidFill>
                  <a:srgbClr val="18212B"/>
                </a:solidFill>
              </a:defRPr>
            </a:pPr>
            <a:r>
              <a:rPr sz="1275" b="0">
                <a:solidFill>
                  <a:srgbClr val="18212B"/>
                </a:solidFill>
              </a:rPr>
              <a:t>删除一个组件</a:t>
            </a:r>
            <a:endParaRPr sz="1275" b="0">
              <a:solidFill>
                <a:srgbClr val="18212B"/>
              </a:solidFill>
            </a:endParaRPr>
          </a:p>
          <a:p>
            <a:pPr algn="l">
              <a:defRPr sz="1275" b="0">
                <a:solidFill>
                  <a:srgbClr val="18212B"/>
                </a:solidFill>
              </a:defRPr>
            </a:pPr>
            <a:r>
              <a:rPr sz="1275" b="0">
                <a:solidFill>
                  <a:srgbClr val="18212B"/>
                </a:solidFill>
              </a:rPr>
              <a:t>注入越权指令</a:t>
            </a:r>
            <a:endParaRPr sz="1275" b="0">
              <a:solidFill>
                <a:srgbClr val="18212B"/>
              </a:solidFill>
            </a:endParaRPr>
          </a:p>
          <a:p>
            <a:pPr algn="l">
              <a:defRPr sz="1275" b="0">
                <a:solidFill>
                  <a:srgbClr val="18212B"/>
                </a:solidFill>
              </a:defRPr>
            </a:pPr>
            <a:r>
              <a:rPr sz="1275" b="0">
                <a:solidFill>
                  <a:srgbClr val="18212B"/>
                </a:solidFill>
              </a:rPr>
              <a:t>要求解释误报与漏报</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你需要展示</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沿 Trace 定位根因</a:t>
            </a:r>
            <a:endParaRPr sz="1275" b="0">
              <a:solidFill>
                <a:srgbClr val="18212B"/>
              </a:solidFill>
            </a:endParaRPr>
          </a:p>
          <a:p>
            <a:pPr algn="l">
              <a:defRPr sz="1275" b="0">
                <a:solidFill>
                  <a:srgbClr val="18212B"/>
                </a:solidFill>
              </a:defRPr>
            </a:pPr>
            <a:r>
              <a:rPr sz="1275" b="0">
                <a:solidFill>
                  <a:srgbClr val="18212B"/>
                </a:solidFill>
              </a:rPr>
              <a:t>预测指标变化</a:t>
            </a:r>
            <a:endParaRPr sz="1275" b="0">
              <a:solidFill>
                <a:srgbClr val="18212B"/>
              </a:solidFill>
            </a:endParaRPr>
          </a:p>
          <a:p>
            <a:pPr algn="l">
              <a:defRPr sz="1275" b="0">
                <a:solidFill>
                  <a:srgbClr val="18212B"/>
                </a:solidFill>
              </a:defRPr>
            </a:pPr>
            <a:r>
              <a:rPr sz="1275" b="0">
                <a:solidFill>
                  <a:srgbClr val="18212B"/>
                </a:solidFill>
              </a:rPr>
              <a:t>修改不变量与测试</a:t>
            </a:r>
            <a:endParaRPr sz="1275" b="0">
              <a:solidFill>
                <a:srgbClr val="18212B"/>
              </a:solidFill>
            </a:endParaRPr>
          </a:p>
          <a:p>
            <a:pPr algn="l">
              <a:defRPr sz="1275" b="0">
                <a:solidFill>
                  <a:srgbClr val="18212B"/>
                </a:solidFill>
              </a:defRPr>
            </a:pPr>
            <a:r>
              <a:rPr sz="1275" b="0">
                <a:solidFill>
                  <a:srgbClr val="18212B"/>
                </a:solidFill>
              </a:rPr>
              <a:t>解释证据链与限制</a:t>
            </a:r>
            <a:endParaRPr sz="1275" b="0">
              <a:solidFill>
                <a:srgbClr val="18212B"/>
              </a:solidFill>
            </a:endParaRPr>
          </a:p>
          <a:p>
            <a:pPr algn="l">
              <a:defRPr sz="1275" b="0">
                <a:solidFill>
                  <a:srgbClr val="18212B"/>
                </a:solidFill>
              </a:defRPr>
            </a:pPr>
            <a:r>
              <a:rPr sz="1275" b="0">
                <a:solidFill>
                  <a:srgbClr val="18212B"/>
                </a:solidFill>
              </a:rPr>
              <a:t>知道何时拒答或升级</a:t>
            </a:r>
            <a:endParaRPr sz="1275" b="0">
              <a:solidFill>
                <a:srgbClr val="18212B"/>
              </a:solidFill>
            </a:endParaRPr>
          </a:p>
          <a:p>
            <a:pPr algn="l">
              <a:defRPr sz="1275" b="0">
                <a:solidFill>
                  <a:srgbClr val="18212B"/>
                </a:solidFill>
              </a:defRPr>
            </a:pPr>
            <a:r>
              <a:rPr sz="1275" b="0">
                <a:solidFill>
                  <a:srgbClr val="18212B"/>
                </a:solidFill>
              </a:rPr>
              <a:t>保持统一接口</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能运行但不能解释、攻击、修改和重新评测，仍然不算掌握。</a:t>
            </a:r>
            <a:endParaRPr sz="1350" b="1">
              <a:solidFill>
                <a:srgbClr val="163A5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课程总结</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七层机制最终汇成三条主线</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可靠 Agent 不是某个单点技巧，而是三条系统能力协同</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课程总结</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67</a:t>
            </a:r>
            <a:endParaRPr sz="825" b="0">
              <a:solidFill>
                <a:srgbClr val="7D8994"/>
              </a:solidFill>
            </a:endParaRPr>
          </a:p>
        </p:txBody>
      </p:sp>
      <p:sp>
        <p:nvSpPr>
          <p:cNvPr id="7" name="圆角矩形 6"/>
          <p:cNvSpPr>
            <a:spLocks noGrp="1"/>
          </p:cNvSpPr>
          <p:nvPr/>
        </p:nvSpPr>
        <p:spPr>
          <a:xfrm>
            <a:off x="609600" y="1809750"/>
            <a:ext cx="3276600" cy="3333750"/>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控制</a:t>
            </a:r>
            <a:endParaRPr sz="1650" b="1">
              <a:solidFill>
                <a:srgbClr val="286F9E"/>
              </a:solidFill>
            </a:endParaRPr>
          </a:p>
        </p:txBody>
      </p:sp>
      <p:sp>
        <p:nvSpPr>
          <p:cNvPr id="10" name="矩形 9"/>
          <p:cNvSpPr>
            <a:spLocks noGrp="1"/>
          </p:cNvSpPr>
          <p:nvPr/>
        </p:nvSpPr>
        <p:spPr>
          <a:xfrm>
            <a:off x="8382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State / Action / Observation</a:t>
            </a:r>
            <a:endParaRPr sz="1275" b="0">
              <a:solidFill>
                <a:srgbClr val="18212B"/>
              </a:solidFill>
            </a:endParaRPr>
          </a:p>
          <a:p>
            <a:pPr algn="l">
              <a:defRPr sz="1275" b="0">
                <a:solidFill>
                  <a:srgbClr val="18212B"/>
                </a:solidFill>
              </a:defRPr>
            </a:pPr>
            <a:r>
              <a:rPr sz="1275" b="0">
                <a:solidFill>
                  <a:srgbClr val="18212B"/>
                </a:solidFill>
              </a:rPr>
              <a:t>Runtime / Budget / Stop</a:t>
            </a:r>
            <a:endParaRPr sz="1275" b="0">
              <a:solidFill>
                <a:srgbClr val="18212B"/>
              </a:solidFill>
            </a:endParaRPr>
          </a:p>
          <a:p>
            <a:pPr algn="l">
              <a:defRPr sz="1275" b="0">
                <a:solidFill>
                  <a:srgbClr val="18212B"/>
                </a:solidFill>
              </a:defRPr>
            </a:pPr>
            <a:r>
              <a:rPr sz="1275" b="0">
                <a:solidFill>
                  <a:srgbClr val="18212B"/>
                </a:solidFill>
              </a:rPr>
              <a:t>Planning / RePlan</a:t>
            </a:r>
            <a:endParaRPr sz="1275" b="0">
              <a:solidFill>
                <a:srgbClr val="18212B"/>
              </a:solidFill>
            </a:endParaRPr>
          </a:p>
        </p:txBody>
      </p:sp>
      <p:sp>
        <p:nvSpPr>
          <p:cNvPr id="11" name="圆角矩形 10"/>
          <p:cNvSpPr>
            <a:spLocks noGrp="1"/>
          </p:cNvSpPr>
          <p:nvPr/>
        </p:nvSpPr>
        <p:spPr>
          <a:xfrm>
            <a:off x="4343400" y="1809750"/>
            <a:ext cx="3276600" cy="3333750"/>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可信</a:t>
            </a:r>
            <a:endParaRPr sz="1650" b="1">
              <a:solidFill>
                <a:srgbClr val="2C7A7B"/>
              </a:solidFill>
            </a:endParaRPr>
          </a:p>
        </p:txBody>
      </p:sp>
      <p:sp>
        <p:nvSpPr>
          <p:cNvPr id="14" name="矩形 13"/>
          <p:cNvSpPr>
            <a:spLocks noGrp="1"/>
          </p:cNvSpPr>
          <p:nvPr/>
        </p:nvSpPr>
        <p:spPr>
          <a:xfrm>
            <a:off x="45720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Tool contract / Permission</a:t>
            </a:r>
            <a:endParaRPr sz="1275" b="0">
              <a:solidFill>
                <a:srgbClr val="18212B"/>
              </a:solidFill>
            </a:endParaRPr>
          </a:p>
          <a:p>
            <a:pPr algn="l">
              <a:defRPr sz="1275" b="0">
                <a:solidFill>
                  <a:srgbClr val="18212B"/>
                </a:solidFill>
              </a:defRPr>
            </a:pPr>
            <a:r>
              <a:rPr sz="1275" b="0">
                <a:solidFill>
                  <a:srgbClr val="18212B"/>
                </a:solidFill>
              </a:rPr>
              <a:t>Evidence / Citation</a:t>
            </a:r>
            <a:endParaRPr sz="1275" b="0">
              <a:solidFill>
                <a:srgbClr val="18212B"/>
              </a:solidFill>
            </a:endParaRPr>
          </a:p>
          <a:p>
            <a:pPr algn="l">
              <a:defRPr sz="1275" b="0">
                <a:solidFill>
                  <a:srgbClr val="18212B"/>
                </a:solidFill>
              </a:defRPr>
            </a:pPr>
            <a:r>
              <a:rPr sz="1275" b="0">
                <a:solidFill>
                  <a:srgbClr val="18212B"/>
                </a:solidFill>
              </a:rPr>
              <a:t>Memory governance / HITL</a:t>
            </a:r>
            <a:endParaRPr sz="1275" b="0">
              <a:solidFill>
                <a:srgbClr val="18212B"/>
              </a:solidFill>
            </a:endParaRPr>
          </a:p>
        </p:txBody>
      </p:sp>
      <p:sp>
        <p:nvSpPr>
          <p:cNvPr id="15" name="圆角矩形 14"/>
          <p:cNvSpPr>
            <a:spLocks noGrp="1"/>
          </p:cNvSpPr>
          <p:nvPr/>
        </p:nvSpPr>
        <p:spPr>
          <a:xfrm>
            <a:off x="8077200" y="1809750"/>
            <a:ext cx="3276600" cy="3333750"/>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3375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证明</a:t>
            </a:r>
            <a:endParaRPr sz="1650" b="1">
              <a:solidFill>
                <a:srgbClr val="B7791F"/>
              </a:solidFill>
            </a:endParaRPr>
          </a:p>
        </p:txBody>
      </p:sp>
      <p:sp>
        <p:nvSpPr>
          <p:cNvPr id="18" name="矩形 17"/>
          <p:cNvSpPr>
            <a:spLocks noGrp="1"/>
          </p:cNvSpPr>
          <p:nvPr/>
        </p:nvSpPr>
        <p:spPr>
          <a:xfrm>
            <a:off x="83058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Trace / Failure injection</a:t>
            </a:r>
            <a:endParaRPr sz="1275" b="0">
              <a:solidFill>
                <a:srgbClr val="18212B"/>
              </a:solidFill>
            </a:endParaRPr>
          </a:p>
          <a:p>
            <a:pPr algn="l">
              <a:defRPr sz="1275" b="0">
                <a:solidFill>
                  <a:srgbClr val="18212B"/>
                </a:solidFill>
              </a:defRPr>
            </a:pPr>
            <a:r>
              <a:rPr sz="1275" b="0">
                <a:solidFill>
                  <a:srgbClr val="18212B"/>
                </a:solidFill>
              </a:rPr>
              <a:t>Metrics / Repeats</a:t>
            </a:r>
            <a:endParaRPr sz="1275" b="0">
              <a:solidFill>
                <a:srgbClr val="18212B"/>
              </a:solidFill>
            </a:endParaRPr>
          </a:p>
          <a:p>
            <a:pPr algn="l">
              <a:defRPr sz="1275" b="0">
                <a:solidFill>
                  <a:srgbClr val="18212B"/>
                </a:solidFill>
              </a:defRPr>
            </a:pPr>
            <a:r>
              <a:rPr sz="1275" b="0">
                <a:solidFill>
                  <a:srgbClr val="18212B"/>
                </a:solidFill>
              </a:rPr>
              <a:t>Metamorphic / Ablation</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控制让系统可约束，可信让结论可核验，证明让改进可相信；三者缺一，Demo 都可能只是偶然成功。</a:t>
            </a:r>
            <a:endParaRPr sz="1350" b="1">
              <a:solidFill>
                <a:srgbClr val="163A5F"/>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课程总结</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结课后，你应该先问这十个问题</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它们比“用了哪个 Agent 框架”更能判断系统质量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课程总结</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68</a:t>
            </a:r>
            <a:endParaRPr sz="825" b="0">
              <a:solidFill>
                <a:srgbClr val="7D8994"/>
              </a:solidFill>
            </a:endParaRPr>
          </a:p>
        </p:txBody>
      </p:sp>
      <p:sp>
        <p:nvSpPr>
          <p:cNvPr id="7" name="矩形 6"/>
          <p:cNvSpPr>
            <a:spLocks noGrp="1"/>
          </p:cNvSpPr>
          <p:nvPr/>
        </p:nvSpPr>
        <p:spPr>
          <a:xfrm>
            <a:off x="781050" y="167640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1. 环境、状态、动作和终止定义了吗？</a:t>
            </a:r>
            <a:endParaRPr sz="1350" b="1">
              <a:solidFill>
                <a:srgbClr val="18212B"/>
              </a:solidFill>
            </a:endParaRPr>
          </a:p>
        </p:txBody>
      </p:sp>
      <p:sp>
        <p:nvSpPr>
          <p:cNvPr id="8" name="矩形 7"/>
          <p:cNvSpPr>
            <a:spLocks noGrp="1"/>
          </p:cNvSpPr>
          <p:nvPr/>
        </p:nvSpPr>
        <p:spPr>
          <a:xfrm>
            <a:off x="6191250" y="167640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2. 模型输出经过 Parse / Validate / Authorize 吗？</a:t>
            </a:r>
            <a:endParaRPr sz="1350" b="1">
              <a:solidFill>
                <a:srgbClr val="18212B"/>
              </a:solidFill>
            </a:endParaRPr>
          </a:p>
        </p:txBody>
      </p:sp>
      <p:sp>
        <p:nvSpPr>
          <p:cNvPr id="9" name="矩形 8"/>
          <p:cNvSpPr>
            <a:spLocks noGrp="1"/>
          </p:cNvSpPr>
          <p:nvPr/>
        </p:nvSpPr>
        <p:spPr>
          <a:xfrm>
            <a:off x="781050" y="241935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3. 步骤、调用、时间和重规划有硬预算吗？</a:t>
            </a:r>
            <a:endParaRPr sz="1350" b="1">
              <a:solidFill>
                <a:srgbClr val="18212B"/>
              </a:solidFill>
            </a:endParaRPr>
          </a:p>
        </p:txBody>
      </p:sp>
      <p:sp>
        <p:nvSpPr>
          <p:cNvPr id="10" name="矩形 9"/>
          <p:cNvSpPr>
            <a:spLocks noGrp="1"/>
          </p:cNvSpPr>
          <p:nvPr/>
        </p:nvSpPr>
        <p:spPr>
          <a:xfrm>
            <a:off x="6191250" y="241935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4. timeout 后副作用是否可能已发生？</a:t>
            </a:r>
            <a:endParaRPr sz="1350" b="1">
              <a:solidFill>
                <a:srgbClr val="18212B"/>
              </a:solidFill>
            </a:endParaRPr>
          </a:p>
        </p:txBody>
      </p:sp>
      <p:sp>
        <p:nvSpPr>
          <p:cNvPr id="11" name="矩形 10"/>
          <p:cNvSpPr>
            <a:spLocks noGrp="1"/>
          </p:cNvSpPr>
          <p:nvPr/>
        </p:nvSpPr>
        <p:spPr>
          <a:xfrm>
            <a:off x="781050" y="31623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5. 结论能回到 source_id + locator + quote 吗？</a:t>
            </a:r>
            <a:endParaRPr sz="1350" b="0">
              <a:solidFill>
                <a:srgbClr val="18212B"/>
              </a:solidFill>
            </a:endParaRPr>
          </a:p>
        </p:txBody>
      </p:sp>
      <p:sp>
        <p:nvSpPr>
          <p:cNvPr id="12" name="矩形 11"/>
          <p:cNvSpPr>
            <a:spLocks noGrp="1"/>
          </p:cNvSpPr>
          <p:nvPr/>
        </p:nvSpPr>
        <p:spPr>
          <a:xfrm>
            <a:off x="6191250" y="31623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6. 引用真的支持 claim，还是只主题相关？</a:t>
            </a:r>
            <a:endParaRPr sz="1350" b="0">
              <a:solidFill>
                <a:srgbClr val="18212B"/>
              </a:solidFill>
            </a:endParaRPr>
          </a:p>
        </p:txBody>
      </p:sp>
      <p:sp>
        <p:nvSpPr>
          <p:cNvPr id="13" name="矩形 12"/>
          <p:cNvSpPr>
            <a:spLocks noGrp="1"/>
          </p:cNvSpPr>
          <p:nvPr/>
        </p:nvSpPr>
        <p:spPr>
          <a:xfrm>
            <a:off x="781050" y="390525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7. Step success 与 Goal completion 分开了吗？</a:t>
            </a:r>
            <a:endParaRPr sz="1350" b="0">
              <a:solidFill>
                <a:srgbClr val="18212B"/>
              </a:solidFill>
            </a:endParaRPr>
          </a:p>
        </p:txBody>
      </p:sp>
      <p:sp>
        <p:nvSpPr>
          <p:cNvPr id="14" name="矩形 13"/>
          <p:cNvSpPr>
            <a:spLocks noGrp="1"/>
          </p:cNvSpPr>
          <p:nvPr/>
        </p:nvSpPr>
        <p:spPr>
          <a:xfrm>
            <a:off x="6191250" y="390525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8. 失败、拒答和 timeout 是否仍在评测分母？</a:t>
            </a:r>
            <a:endParaRPr sz="1350" b="0">
              <a:solidFill>
                <a:srgbClr val="18212B"/>
              </a:solidFill>
            </a:endParaRPr>
          </a:p>
        </p:txBody>
      </p:sp>
      <p:sp>
        <p:nvSpPr>
          <p:cNvPr id="15" name="矩形 14"/>
          <p:cNvSpPr>
            <a:spLocks noGrp="1"/>
          </p:cNvSpPr>
          <p:nvPr/>
        </p:nvSpPr>
        <p:spPr>
          <a:xfrm>
            <a:off x="781050" y="46482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9. Memory 是否可追溯、隔离、过期和删除？</a:t>
            </a:r>
            <a:endParaRPr sz="1350" b="0">
              <a:solidFill>
                <a:srgbClr val="18212B"/>
              </a:solidFill>
            </a:endParaRPr>
          </a:p>
        </p:txBody>
      </p:sp>
      <p:sp>
        <p:nvSpPr>
          <p:cNvPr id="16" name="矩形 15"/>
          <p:cNvSpPr>
            <a:spLocks noGrp="1"/>
          </p:cNvSpPr>
          <p:nvPr/>
        </p:nvSpPr>
        <p:spPr>
          <a:xfrm>
            <a:off x="6191250" y="46482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10. 哪些情况必须停止自动化并升级人工？</a:t>
            </a:r>
            <a:endParaRPr sz="1350" b="0">
              <a:solidFill>
                <a:srgbClr val="18212B"/>
              </a:solidFill>
            </a:endParaRPr>
          </a:p>
        </p:txBody>
      </p:sp>
      <p:sp>
        <p:nvSpPr>
          <p:cNvPr id="17" name="圆角矩形 1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8" name="矩形 1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如果这十问没有清楚答案，再强的模型、再复杂的框架，也不能把系统变成可靠 Agent。</a:t>
            </a:r>
            <a:endParaRPr sz="1350" b="1">
              <a:solidFill>
                <a:srgbClr val="163A5F"/>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课程总结</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建议阅读：把课堂概念连接到经典研究与工程</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阅读时始终追问 Claim、Evidence 与 Boundary</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课程总结</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69</a:t>
            </a:r>
            <a:endParaRPr sz="825" b="0">
              <a:solidFill>
                <a:srgbClr val="7D8994"/>
              </a:solidFill>
            </a:endParaRPr>
          </a:p>
        </p:txBody>
      </p:sp>
      <p:sp>
        <p:nvSpPr>
          <p:cNvPr id="7" name="圆角矩形 6"/>
          <p:cNvSpPr>
            <a:spLocks noGrp="1"/>
          </p:cNvSpPr>
          <p:nvPr/>
        </p:nvSpPr>
        <p:spPr>
          <a:xfrm>
            <a:off x="609600" y="1762125"/>
            <a:ext cx="5257800" cy="3714750"/>
          </a:xfrm>
          <a:prstGeom prst="roundRect">
            <a:avLst>
              <a:gd name="adj" fmla="val 2051"/>
            </a:avLst>
          </a:prstGeom>
          <a:solidFill>
            <a:srgbClr val="F3F6F8"/>
          </a:solidFill>
          <a:ln w="9525">
            <a:solidFill>
              <a:srgbClr val="D7E0E7"/>
            </a:solidFill>
            <a:prstDash val="solid"/>
          </a:ln>
        </p:spPr>
      </p:sp>
      <p:sp>
        <p:nvSpPr>
          <p:cNvPr id="8" name="圆角矩形 7"/>
          <p:cNvSpPr>
            <a:spLocks noGrp="1"/>
          </p:cNvSpPr>
          <p:nvPr/>
        </p:nvSpPr>
        <p:spPr>
          <a:xfrm>
            <a:off x="609600" y="1762125"/>
            <a:ext cx="66675" cy="3714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33575"/>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基础与研究</a:t>
            </a:r>
            <a:endParaRPr sz="1650" b="1">
              <a:solidFill>
                <a:srgbClr val="286F9E"/>
              </a:solidFill>
            </a:endParaRPr>
          </a:p>
        </p:txBody>
      </p:sp>
      <p:sp>
        <p:nvSpPr>
          <p:cNvPr id="10" name="矩形 9"/>
          <p:cNvSpPr>
            <a:spLocks noGrp="1"/>
          </p:cNvSpPr>
          <p:nvPr/>
        </p:nvSpPr>
        <p:spPr>
          <a:xfrm>
            <a:off x="838200" y="2314575"/>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Rational Agent：环境、感知、行动</a:t>
            </a:r>
            <a:endParaRPr sz="1275" b="0">
              <a:solidFill>
                <a:srgbClr val="18212B"/>
              </a:solidFill>
            </a:endParaRPr>
          </a:p>
          <a:p>
            <a:pPr algn="l">
              <a:defRPr sz="1275" b="0">
                <a:solidFill>
                  <a:srgbClr val="18212B"/>
                </a:solidFill>
              </a:defRPr>
            </a:pPr>
            <a:r>
              <a:rPr sz="1275" b="0">
                <a:solidFill>
                  <a:srgbClr val="18212B"/>
                </a:solidFill>
              </a:rPr>
              <a:t>ReAct：Reason/Act/Observation 交替</a:t>
            </a:r>
            <a:endParaRPr sz="1275" b="0">
              <a:solidFill>
                <a:srgbClr val="18212B"/>
              </a:solidFill>
            </a:endParaRPr>
          </a:p>
          <a:p>
            <a:pPr algn="l">
              <a:defRPr sz="1275" b="0">
                <a:solidFill>
                  <a:srgbClr val="18212B"/>
                </a:solidFill>
              </a:defRPr>
            </a:pPr>
            <a:r>
              <a:rPr sz="1275" b="0">
                <a:solidFill>
                  <a:srgbClr val="18212B"/>
                </a:solidFill>
              </a:rPr>
              <a:t>RAG：参数记忆与外部检索</a:t>
            </a:r>
            <a:endParaRPr sz="1275" b="0">
              <a:solidFill>
                <a:srgbClr val="18212B"/>
              </a:solidFill>
            </a:endParaRPr>
          </a:p>
          <a:p>
            <a:pPr algn="l">
              <a:defRPr sz="1275" b="0">
                <a:solidFill>
                  <a:srgbClr val="18212B"/>
                </a:solidFill>
              </a:defRPr>
            </a:pPr>
            <a:r>
              <a:rPr sz="1275" b="0">
                <a:solidFill>
                  <a:srgbClr val="18212B"/>
                </a:solidFill>
              </a:rPr>
              <a:t>Plan-and-Solve：先规划再求解</a:t>
            </a:r>
            <a:endParaRPr sz="1275" b="0">
              <a:solidFill>
                <a:srgbClr val="18212B"/>
              </a:solidFill>
            </a:endParaRPr>
          </a:p>
          <a:p>
            <a:pPr algn="l">
              <a:defRPr sz="1275" b="0">
                <a:solidFill>
                  <a:srgbClr val="18212B"/>
                </a:solidFill>
              </a:defRPr>
            </a:pPr>
            <a:r>
              <a:rPr sz="1275" b="0">
                <a:solidFill>
                  <a:srgbClr val="18212B"/>
                </a:solidFill>
              </a:rPr>
              <a:t>信息检索：Precision / Recall / MRR</a:t>
            </a:r>
            <a:endParaRPr sz="1275" b="0">
              <a:solidFill>
                <a:srgbClr val="18212B"/>
              </a:solidFill>
            </a:endParaRPr>
          </a:p>
        </p:txBody>
      </p:sp>
      <p:sp>
        <p:nvSpPr>
          <p:cNvPr id="11" name="圆角矩形 10"/>
          <p:cNvSpPr>
            <a:spLocks noGrp="1"/>
          </p:cNvSpPr>
          <p:nvPr/>
        </p:nvSpPr>
        <p:spPr>
          <a:xfrm>
            <a:off x="6324600" y="1762125"/>
            <a:ext cx="5257800" cy="3714750"/>
          </a:xfrm>
          <a:prstGeom prst="roundRect">
            <a:avLst>
              <a:gd name="adj" fmla="val 2051"/>
            </a:avLst>
          </a:prstGeom>
          <a:solidFill>
            <a:srgbClr val="F3F6F8"/>
          </a:solidFill>
          <a:ln w="9525">
            <a:solidFill>
              <a:srgbClr val="D7E0E7"/>
            </a:solidFill>
            <a:prstDash val="solid"/>
          </a:ln>
        </p:spPr>
      </p:sp>
      <p:sp>
        <p:nvSpPr>
          <p:cNvPr id="12" name="圆角矩形 11"/>
          <p:cNvSpPr>
            <a:spLocks noGrp="1"/>
          </p:cNvSpPr>
          <p:nvPr/>
        </p:nvSpPr>
        <p:spPr>
          <a:xfrm>
            <a:off x="6324600" y="1762125"/>
            <a:ext cx="66675" cy="3714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33575"/>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工程与治理</a:t>
            </a:r>
            <a:endParaRPr sz="1650" b="1">
              <a:solidFill>
                <a:srgbClr val="2C7A7B"/>
              </a:solidFill>
            </a:endParaRPr>
          </a:p>
        </p:txBody>
      </p:sp>
      <p:sp>
        <p:nvSpPr>
          <p:cNvPr id="14" name="矩形 13"/>
          <p:cNvSpPr>
            <a:spLocks noGrp="1"/>
          </p:cNvSpPr>
          <p:nvPr/>
        </p:nvSpPr>
        <p:spPr>
          <a:xfrm>
            <a:off x="6553200" y="2314575"/>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Rust Book：enum / trait / Result / test</a:t>
            </a:r>
            <a:endParaRPr sz="1275" b="0">
              <a:solidFill>
                <a:srgbClr val="18212B"/>
              </a:solidFill>
            </a:endParaRPr>
          </a:p>
          <a:p>
            <a:pPr algn="l">
              <a:defRPr sz="1275" b="0">
                <a:solidFill>
                  <a:srgbClr val="18212B"/>
                </a:solidFill>
              </a:defRPr>
            </a:pPr>
            <a:r>
              <a:rPr sz="1275" b="0">
                <a:solidFill>
                  <a:srgbClr val="18212B"/>
                </a:solidFill>
              </a:rPr>
              <a:t>Tokio：async / timeout / cancellation</a:t>
            </a:r>
            <a:endParaRPr sz="1275" b="0">
              <a:solidFill>
                <a:srgbClr val="18212B"/>
              </a:solidFill>
            </a:endParaRPr>
          </a:p>
          <a:p>
            <a:pPr algn="l">
              <a:defRPr sz="1275" b="0">
                <a:solidFill>
                  <a:srgbClr val="18212B"/>
                </a:solidFill>
              </a:defRPr>
            </a:pPr>
            <a:r>
              <a:rPr sz="1275" b="0">
                <a:solidFill>
                  <a:srgbClr val="18212B"/>
                </a:solidFill>
              </a:rPr>
              <a:t>OWASP LLM Top 10：注入、过度代理、资源消耗</a:t>
            </a:r>
            <a:endParaRPr sz="1275" b="0">
              <a:solidFill>
                <a:srgbClr val="18212B"/>
              </a:solidFill>
            </a:endParaRPr>
          </a:p>
          <a:p>
            <a:pPr algn="l">
              <a:defRPr sz="1275" b="0">
                <a:solidFill>
                  <a:srgbClr val="18212B"/>
                </a:solidFill>
              </a:defRPr>
            </a:pPr>
            <a:r>
              <a:rPr sz="1275" b="0">
                <a:solidFill>
                  <a:srgbClr val="18212B"/>
                </a:solidFill>
              </a:rPr>
              <a:t>NIST AI RMF：风险治理</a:t>
            </a:r>
            <a:endParaRPr sz="1275" b="0">
              <a:solidFill>
                <a:srgbClr val="18212B"/>
              </a:solidFill>
            </a:endParaRPr>
          </a:p>
          <a:p>
            <a:pPr algn="l">
              <a:defRPr sz="1275" b="0">
                <a:solidFill>
                  <a:srgbClr val="18212B"/>
                </a:solidFill>
              </a:defRPr>
            </a:pPr>
            <a:r>
              <a:rPr sz="1275" b="0">
                <a:solidFill>
                  <a:srgbClr val="18212B"/>
                </a:solidFill>
              </a:rPr>
              <a:t>Event Sourcing / Metamorphic Testing</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读论文四遍法：先看问题与主张，再看架构，再看对照实验，最后看结论不能推广到哪里。</a:t>
            </a:r>
            <a:endParaRPr sz="1350" b="1">
              <a:solidFill>
                <a:srgbClr val="163A5F"/>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52500"/>
            <a:ext cx="1905000" cy="381000"/>
          </a:xfrm>
          <a:prstGeom prst="rect">
            <a:avLst/>
          </a:prstGeom>
          <a:noFill/>
          <a:ln w="0">
            <a:noFill/>
            <a:prstDash val="solid"/>
          </a:ln>
        </p:spPr>
        <p:txBody>
          <a:bodyPr/>
          <a:lstStyle/>
          <a:p>
            <a:pPr algn="l">
              <a:defRPr sz="1350" b="1">
                <a:solidFill>
                  <a:srgbClr val="286F9E"/>
                </a:solidFill>
              </a:defRPr>
            </a:pPr>
            <a:r>
              <a:rPr sz="1350" b="1">
                <a:solidFill>
                  <a:srgbClr val="286F9E"/>
                </a:solidFill>
              </a:rPr>
              <a:t>结课</a:t>
            </a:r>
            <a:endParaRPr sz="1350" b="1">
              <a:solidFill>
                <a:srgbClr val="286F9E"/>
              </a:solidFill>
            </a:endParaRPr>
          </a:p>
        </p:txBody>
      </p:sp>
      <p:sp>
        <p:nvSpPr>
          <p:cNvPr id="3" name="矩形 2"/>
          <p:cNvSpPr>
            <a:spLocks noGrp="1"/>
          </p:cNvSpPr>
          <p:nvPr/>
        </p:nvSpPr>
        <p:spPr>
          <a:xfrm>
            <a:off x="762000" y="1809750"/>
            <a:ext cx="9334500" cy="685800"/>
          </a:xfrm>
          <a:prstGeom prst="rect">
            <a:avLst/>
          </a:prstGeom>
          <a:noFill/>
          <a:ln w="0">
            <a:noFill/>
            <a:prstDash val="solid"/>
          </a:ln>
        </p:spPr>
        <p:txBody>
          <a:bodyPr/>
          <a:lstStyle/>
          <a:p>
            <a:pPr algn="l">
              <a:defRPr sz="3600" b="1">
                <a:solidFill>
                  <a:srgbClr val="18212B"/>
                </a:solidFill>
              </a:defRPr>
            </a:pPr>
            <a:r>
              <a:rPr sz="3600" b="1">
                <a:solidFill>
                  <a:srgbClr val="18212B"/>
                </a:solidFill>
              </a:rPr>
              <a:t>会构建，更要会怀疑。</a:t>
            </a:r>
            <a:endParaRPr sz="3600" b="1">
              <a:solidFill>
                <a:srgbClr val="18212B"/>
              </a:solidFill>
            </a:endParaRPr>
          </a:p>
        </p:txBody>
      </p:sp>
      <p:sp>
        <p:nvSpPr>
          <p:cNvPr id="4" name="矩形 3"/>
          <p:cNvSpPr>
            <a:spLocks noGrp="1"/>
          </p:cNvSpPr>
          <p:nvPr/>
        </p:nvSpPr>
        <p:spPr>
          <a:xfrm>
            <a:off x="800100" y="2876550"/>
            <a:ext cx="8572500" cy="1428750"/>
          </a:xfrm>
          <a:prstGeom prst="rect">
            <a:avLst/>
          </a:prstGeom>
          <a:noFill/>
          <a:ln w="0">
            <a:noFill/>
            <a:prstDash val="solid"/>
          </a:ln>
        </p:spPr>
        <p:txBody>
          <a:bodyPr/>
          <a:lstStyle/>
          <a:p>
            <a:pPr algn="l">
              <a:defRPr sz="2100" b="0">
                <a:solidFill>
                  <a:srgbClr val="163A5F"/>
                </a:solidFill>
              </a:defRPr>
            </a:pPr>
            <a:r>
              <a:rPr sz="2100" b="0">
                <a:solidFill>
                  <a:srgbClr val="163A5F"/>
                </a:solidFill>
              </a:rPr>
              <a:t>先定义边界，再允许行动；</a:t>
            </a:r>
            <a:endParaRPr sz="2100" b="0">
              <a:solidFill>
                <a:srgbClr val="163A5F"/>
              </a:solidFill>
            </a:endParaRPr>
          </a:p>
          <a:p>
            <a:pPr algn="l">
              <a:defRPr sz="2100" b="0">
                <a:solidFill>
                  <a:srgbClr val="163A5F"/>
                </a:solidFill>
              </a:defRPr>
            </a:pPr>
            <a:r>
              <a:rPr sz="2100" b="0">
                <a:solidFill>
                  <a:srgbClr val="163A5F"/>
                </a:solidFill>
              </a:rPr>
              <a:t>先保留证据，再给出结论；</a:t>
            </a:r>
            <a:endParaRPr sz="2100" b="0">
              <a:solidFill>
                <a:srgbClr val="163A5F"/>
              </a:solidFill>
            </a:endParaRPr>
          </a:p>
          <a:p>
            <a:pPr algn="l">
              <a:defRPr sz="2100" b="0">
                <a:solidFill>
                  <a:srgbClr val="163A5F"/>
                </a:solidFill>
              </a:defRPr>
            </a:pPr>
            <a:r>
              <a:rPr sz="2100" b="0">
                <a:solidFill>
                  <a:srgbClr val="163A5F"/>
                </a:solidFill>
              </a:rPr>
              <a:t>先建立 Baseline，再声称改进。</a:t>
            </a:r>
            <a:endParaRPr sz="2100" b="0">
              <a:solidFill>
                <a:srgbClr val="163A5F"/>
              </a:solidFill>
            </a:endParaRPr>
          </a:p>
        </p:txBody>
      </p:sp>
      <p:sp>
        <p:nvSpPr>
          <p:cNvPr id="5" name="矩形 4"/>
          <p:cNvSpPr>
            <a:spLocks noGrp="1"/>
          </p:cNvSpPr>
          <p:nvPr/>
        </p:nvSpPr>
        <p:spPr>
          <a:xfrm>
            <a:off x="800100" y="4762500"/>
            <a:ext cx="2476500" cy="38100"/>
          </a:xfrm>
          <a:prstGeom prst="rect">
            <a:avLst/>
          </a:prstGeom>
          <a:solidFill>
            <a:srgbClr val="2C7A7B"/>
          </a:solidFill>
          <a:ln w="0">
            <a:noFill/>
            <a:prstDash val="solid"/>
          </a:ln>
        </p:spPr>
      </p:sp>
      <p:sp>
        <p:nvSpPr>
          <p:cNvPr id="6" name="矩形 5"/>
          <p:cNvSpPr>
            <a:spLocks noGrp="1"/>
          </p:cNvSpPr>
          <p:nvPr/>
        </p:nvSpPr>
        <p:spPr>
          <a:xfrm>
            <a:off x="800100" y="5143500"/>
            <a:ext cx="4572000" cy="323850"/>
          </a:xfrm>
          <a:prstGeom prst="rect">
            <a:avLst/>
          </a:prstGeom>
          <a:noFill/>
          <a:ln w="0">
            <a:noFill/>
            <a:prstDash val="solid"/>
          </a:ln>
        </p:spPr>
        <p:txBody>
          <a:bodyPr/>
          <a:lstStyle/>
          <a:p>
            <a:pPr algn="l">
              <a:defRPr sz="1500" b="0">
                <a:solidFill>
                  <a:srgbClr val="566573"/>
                </a:solidFill>
              </a:defRPr>
            </a:pPr>
            <a:r>
              <a:rPr sz="1500" b="0">
                <a:solidFill>
                  <a:srgbClr val="566573"/>
                </a:solidFill>
              </a:rPr>
              <a:t>Agent Systems 入门</a:t>
            </a:r>
            <a:endParaRPr sz="1500" b="0">
              <a:solidFill>
                <a:srgbClr val="566573"/>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70</a:t>
            </a:r>
            <a:endParaRPr sz="825" b="0">
              <a:solidFill>
                <a:srgbClr val="7D8994"/>
              </a:solidFill>
            </a:endParaRPr>
          </a:p>
        </p:txBody>
      </p:sp>
    </p:spTree>
  </p:cSld>
  <p:clrMapOvr>
    <a:masterClrMapping/>
  </p:clrMapOvr>
</p:sld>
</file>

<file path=ppt/tags/tag1.xml><?xml version="1.0" encoding="utf-8"?>
<p:tagLst xmlns:p="http://schemas.openxmlformats.org/presentationml/2006/main">
  <p:tag name="KSO_WM_DIAGRAM_VIRTUALLY_FRAME" val="{&quot;height&quot;:273.75,&quot;left&quot;:48,&quot;top&quot;:142.5,&quot;width&quot;:846}"/>
</p:tagLst>
</file>

<file path=ppt/tags/tag2.xml><?xml version="1.0" encoding="utf-8"?>
<p:tagLst xmlns:p="http://schemas.openxmlformats.org/presentationml/2006/main">
  <p:tag name="KSO_WM_DIAGRAM_VIRTUALLY_FRAME" val="{&quot;height&quot;:273.75,&quot;left&quot;:48,&quot;top&quot;:142.5,&quot;width&quot;:846}"/>
</p:tagLst>
</file>

<file path=ppt/tags/tag3.xml><?xml version="1.0" encoding="utf-8"?>
<p:tagLst xmlns:p="http://schemas.openxmlformats.org/presentationml/2006/main">
  <p:tag name="KSO_WM_DIAGRAM_VIRTUALLY_FRAME" val="{&quot;height&quot;:273.75,&quot;left&quot;:48,&quot;top&quot;:142.5,&quot;width&quot;:846}"/>
</p:tagLst>
</file>

<file path=ppt/tags/tag4.xml><?xml version="1.0" encoding="utf-8"?>
<p:tagLst xmlns:p="http://schemas.openxmlformats.org/presentationml/2006/main">
  <p:tag name="KSO_WM_DIAGRAM_VIRTUALLY_FRAME" val="{&quot;height&quot;:273.75,&quot;left&quot;:48,&quot;top&quot;:142.5,&quot;width&quot;:846}"/>
</p:tagLst>
</file>

<file path=ppt/tags/tag5.xml><?xml version="1.0" encoding="utf-8"?>
<p:tagLst xmlns:p="http://schemas.openxmlformats.org/presentationml/2006/main">
  <p:tag name="KSO_WM_DIAGRAM_VIRTUALLY_FRAME" val="{&quot;height&quot;:273.75,&quot;left&quot;:48,&quot;top&quot;:142.5,&quot;width&quot;:846}"/>
</p:tagLst>
</file>

<file path=ppt/tags/tag6.xml><?xml version="1.0" encoding="utf-8"?>
<p:tagLst xmlns:p="http://schemas.openxmlformats.org/presentationml/2006/main">
  <p:tag name="KSO_WM_DIAGRAM_VIRTUALLY_FRAME" val="{&quot;height&quot;:273.75,&quot;left&quot;:48,&quot;top&quot;:142.5,&quot;width&quot;:846}"/>
</p:tagLst>
</file>

<file path=ppt/tags/tag7.xml><?xml version="1.0" encoding="utf-8"?>
<p:tagLst xmlns:p="http://schemas.openxmlformats.org/presentationml/2006/main">
  <p:tag name="KSO_WM_DIAGRAM_VIRTUALLY_FRAME" val="{&quot;height&quot;:273.75,&quot;left&quot;:48,&quot;top&quot;:142.5,&quot;width&quot;:846}"/>
</p:tagLst>
</file>

<file path=ppt/tags/tag8.xml><?xml version="1.0" encoding="utf-8"?>
<p:tagLst xmlns:p="http://schemas.openxmlformats.org/presentationml/2006/main">
  <p:tag name="KSO_WM_DIAGRAM_VIRTUALLY_FRAME" val="{&quot;height&quot;:273.75,&quot;left&quot;:48,&quot;top&quot;:142.5,&quot;width&quot;:846}"/>
</p:tagLst>
</file>

<file path=ppt/tags/tag9.xml><?xml version="1.0" encoding="utf-8"?>
<p:tagLst xmlns:p="http://schemas.openxmlformats.org/presentationml/2006/main">
  <p:tag name="KSO_WM_DIAGRAM_VIRTUALLY_FRAME" val="{&quot;height&quot;:273.75,&quot;left&quot;:48,&quot;top&quot;:142.5,&quot;width&quot;:846}"/>
</p:tagLst>
</file>

<file path=ppt/tags/tag10.xml><?xml version="1.0" encoding="utf-8"?>
<p:tagLst xmlns:p="http://schemas.openxmlformats.org/presentationml/2006/main">
  <p:tag name="TABLE_ENDDRAG_ORIGIN_RECT" val="387*66"/>
  <p:tag name="TABLE_ENDDRAG_RECT" val="101*226*387*66"/>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35450</Words>
  <Application>WPS 演示</Application>
  <PresentationFormat>Converted Presentation</PresentationFormat>
  <Paragraphs>3436</Paragraphs>
  <Slides>101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101</vt:i4>
      </vt:variant>
    </vt:vector>
  </HeadingPairs>
  <TitlesOfParts>
    <vt:vector size="116" baseType="lpstr">
      <vt:lpstr>Arial</vt:lpstr>
      <vt:lpstr>宋体</vt:lpstr>
      <vt:lpstr>Wingdings</vt:lpstr>
      <vt:lpstr>Calibri</vt:lpstr>
      <vt:lpstr>微软雅黑</vt:lpstr>
      <vt:lpstr>Arial Unicode MS</vt:lpstr>
      <vt:lpstr>Helvetica Neue</vt:lpstr>
      <vt:lpstr>Menlo</vt:lpstr>
      <vt:lpstr>KSOFF8957A5C</vt:lpstr>
      <vt:lpstr>Liberation Mono</vt:lpstr>
      <vt:lpstr>KSOFF895EEBB</vt:lpstr>
      <vt:lpstr>-apple-system</vt:lpstr>
      <vt:lpstr>monospace</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Terry</cp:lastModifiedBy>
  <cp:revision>13</cp:revision>
  <dcterms:created xsi:type="dcterms:W3CDTF">2026-07-17T12:12:53Z</dcterms:created>
  <dcterms:modified xsi:type="dcterms:W3CDTF">2026-07-17T20:49:16Z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D0DAD7E0AD5B4E1884509CD96F2D8504_12</vt:lpwstr>
  </property>
  <property fmtid="{D5CDD505-2E9C-101B-9397-08002B2CF9AE}" pid="3" name="KSOProductBuildVer">
    <vt:lpwstr>2052-12.1.0.25225</vt:lpwstr>
  </property>
</Properties>
</file>